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345906" cy="755987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3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0" y="1816894"/>
            <a:ext cx="1451670" cy="647700"/>
          </a:xfrm>
          <a:prstGeom prst="roundRect">
            <a:avLst>
              <a:gd name="adj" fmla="val 17647"/>
            </a:avLst>
          </a:prstGeom>
          <a:solidFill>
            <a:srgbClr val="0F303F"/>
          </a:solidFill>
          <a:ln w="9525">
            <a:solidFill>
              <a:srgbClr val="244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946970" y="1816894"/>
            <a:ext cx="1451818" cy="647700"/>
          </a:xfrm>
          <a:prstGeom prst="roundRect">
            <a:avLst>
              <a:gd name="adj" fmla="val 17647"/>
            </a:avLst>
          </a:prstGeom>
          <a:solidFill>
            <a:srgbClr val="0F303F"/>
          </a:solidFill>
          <a:ln w="9525">
            <a:solidFill>
              <a:srgbClr val="244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513088" y="1816894"/>
            <a:ext cx="1451818" cy="647700"/>
          </a:xfrm>
          <a:prstGeom prst="roundRect">
            <a:avLst>
              <a:gd name="adj" fmla="val 17647"/>
            </a:avLst>
          </a:prstGeom>
          <a:solidFill>
            <a:srgbClr val="0F303F"/>
          </a:solidFill>
          <a:ln w="9525">
            <a:solidFill>
              <a:srgbClr val="244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1000" y="2893219"/>
            <a:ext cx="4583906" cy="590550"/>
          </a:xfrm>
          <a:prstGeom prst="roundRect">
            <a:avLst>
              <a:gd name="adj" fmla="val 19354"/>
            </a:avLst>
          </a:prstGeom>
          <a:solidFill>
            <a:srgbClr val="0F303F"/>
          </a:solidFill>
          <a:ln w="9525">
            <a:solidFill>
              <a:srgbClr val="244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2925" y="3026569"/>
            <a:ext cx="323850" cy="323850"/>
          </a:xfrm>
          <a:prstGeom prst="roundRect">
            <a:avLst>
              <a:gd name="adj" fmla="val 26470"/>
            </a:avLst>
          </a:prstGeom>
          <a:solidFill>
            <a:srgbClr val="0F303F"/>
          </a:solidFill>
          <a:ln w="9525">
            <a:solidFill>
              <a:srgbClr val="244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1000" y="3559969"/>
            <a:ext cx="4583906" cy="590550"/>
          </a:xfrm>
          <a:prstGeom prst="roundRect">
            <a:avLst>
              <a:gd name="adj" fmla="val 19354"/>
            </a:avLst>
          </a:prstGeom>
          <a:solidFill>
            <a:srgbClr val="0F303F"/>
          </a:solidFill>
          <a:ln w="9525">
            <a:solidFill>
              <a:srgbClr val="244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2925" y="3693319"/>
            <a:ext cx="323850" cy="323850"/>
          </a:xfrm>
          <a:prstGeom prst="roundRect">
            <a:avLst>
              <a:gd name="adj" fmla="val 26470"/>
            </a:avLst>
          </a:prstGeom>
          <a:solidFill>
            <a:srgbClr val="0F303F"/>
          </a:solidFill>
          <a:ln w="9525">
            <a:solidFill>
              <a:srgbClr val="244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1000" y="4226719"/>
            <a:ext cx="4583906" cy="590550"/>
          </a:xfrm>
          <a:prstGeom prst="roundRect">
            <a:avLst>
              <a:gd name="adj" fmla="val 19354"/>
            </a:avLst>
          </a:prstGeom>
          <a:solidFill>
            <a:srgbClr val="0F303F"/>
          </a:solidFill>
          <a:ln w="9525">
            <a:solidFill>
              <a:srgbClr val="244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2925" y="4360069"/>
            <a:ext cx="323850" cy="323850"/>
          </a:xfrm>
          <a:prstGeom prst="roundRect">
            <a:avLst>
              <a:gd name="adj" fmla="val 26470"/>
            </a:avLst>
          </a:prstGeom>
          <a:solidFill>
            <a:srgbClr val="0F303F"/>
          </a:solidFill>
          <a:ln w="9525">
            <a:solidFill>
              <a:srgbClr val="2442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1000" y="5179219"/>
            <a:ext cx="4583906" cy="1314450"/>
          </a:xfrm>
          <a:prstGeom prst="roundRect">
            <a:avLst>
              <a:gd name="adj" fmla="val 10144"/>
            </a:avLst>
          </a:prstGeom>
          <a:solidFill>
            <a:srgbClr val="003238"/>
          </a:solidFill>
          <a:ln w="19050">
            <a:solidFill>
              <a:srgbClr val="00E0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08845" y="1731169"/>
            <a:ext cx="209550" cy="209550"/>
          </a:xfrm>
          <a:prstGeom prst="ellipse">
            <a:avLst/>
          </a:prstGeom>
          <a:solidFill>
            <a:srgbClr val="B3261E"/>
          </a:solidFill>
          <a:ln w="19050">
            <a:solidFill>
              <a:srgbClr val="002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×</a:t>
            </a:r>
          </a:p>
        </p:txBody>
      </p:sp>
      <p:sp>
        <p:nvSpPr>
          <p:cNvPr id="13" name="Oval 12"/>
          <p:cNvSpPr/>
          <p:nvPr/>
        </p:nvSpPr>
        <p:spPr>
          <a:xfrm>
            <a:off x="3274963" y="1731169"/>
            <a:ext cx="209550" cy="209550"/>
          </a:xfrm>
          <a:prstGeom prst="ellipse">
            <a:avLst/>
          </a:prstGeom>
          <a:solidFill>
            <a:srgbClr val="B3261E"/>
          </a:solidFill>
          <a:ln w="19050">
            <a:solidFill>
              <a:srgbClr val="002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×</a:t>
            </a:r>
          </a:p>
        </p:txBody>
      </p:sp>
      <p:sp>
        <p:nvSpPr>
          <p:cNvPr id="14" name="Oval 13"/>
          <p:cNvSpPr/>
          <p:nvPr/>
        </p:nvSpPr>
        <p:spPr>
          <a:xfrm>
            <a:off x="4841081" y="1731169"/>
            <a:ext cx="209550" cy="209550"/>
          </a:xfrm>
          <a:prstGeom prst="ellipse">
            <a:avLst/>
          </a:prstGeom>
          <a:solidFill>
            <a:srgbClr val="B3261E"/>
          </a:solidFill>
          <a:ln w="19050">
            <a:solidFill>
              <a:srgbClr val="002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×</a:t>
            </a:r>
          </a:p>
        </p:txBody>
      </p:sp>
      <p:pic>
        <p:nvPicPr>
          <p:cNvPr id="15" name="Picture 14" descr="i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322" y="2035969"/>
            <a:ext cx="209550" cy="209550"/>
          </a:xfrm>
          <a:prstGeom prst="rect">
            <a:avLst/>
          </a:prstGeom>
        </p:spPr>
      </p:pic>
      <p:pic>
        <p:nvPicPr>
          <p:cNvPr id="16" name="Picture 15" descr="i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139" y="2035969"/>
            <a:ext cx="209550" cy="209550"/>
          </a:xfrm>
          <a:prstGeom prst="rect">
            <a:avLst/>
          </a:prstGeom>
        </p:spPr>
      </p:pic>
      <p:pic>
        <p:nvPicPr>
          <p:cNvPr id="17" name="Picture 16" descr="i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4620" y="2035969"/>
            <a:ext cx="209550" cy="209550"/>
          </a:xfrm>
          <a:prstGeom prst="rect">
            <a:avLst/>
          </a:prstGeom>
        </p:spPr>
      </p:pic>
      <p:pic>
        <p:nvPicPr>
          <p:cNvPr id="18" name="Picture 17" descr="i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8" y="3107531"/>
            <a:ext cx="161925" cy="161925"/>
          </a:xfrm>
          <a:prstGeom prst="rect">
            <a:avLst/>
          </a:prstGeom>
        </p:spPr>
      </p:pic>
      <p:pic>
        <p:nvPicPr>
          <p:cNvPr id="19" name="Picture 18" descr="i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8" y="3774281"/>
            <a:ext cx="161925" cy="161925"/>
          </a:xfrm>
          <a:prstGeom prst="rect">
            <a:avLst/>
          </a:prstGeom>
        </p:spPr>
      </p:pic>
      <p:pic>
        <p:nvPicPr>
          <p:cNvPr id="20" name="Picture 19" descr="i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888" y="4441031"/>
            <a:ext cx="161925" cy="161925"/>
          </a:xfrm>
          <a:prstGeom prst="rect">
            <a:avLst/>
          </a:prstGeom>
        </p:spPr>
      </p:pic>
      <p:pic>
        <p:nvPicPr>
          <p:cNvPr id="21" name="Picture 20" descr="i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6783" y="5693569"/>
            <a:ext cx="968573" cy="2857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1000" y="323850"/>
            <a:ext cx="4622006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25" b="1">
                <a:solidFill>
                  <a:srgbClr val="00E075"/>
                </a:solidFill>
                <a:latin typeface="Inter"/>
              </a:rPr>
              <a:t>ZO WERKT EDUFACE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000" y="533400"/>
            <a:ext cx="4622006" cy="8548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>
                <a:solidFill>
                  <a:srgbClr val="FFFFFF"/>
                </a:solidFill>
                <a:latin typeface="League Spartan"/>
              </a:rPr>
              <a:t>Geen ChatGPT.</a:t>
            </a:r>
          </a:p>
          <a:p>
            <a:pPr algn="l">
              <a:lnSpc>
                <a:spcPct val="102000"/>
              </a:lnSpc>
            </a:pPr>
            <a:r>
              <a:rPr sz="3300" b="1">
                <a:solidFill>
                  <a:srgbClr val="00E075"/>
                </a:solidFill>
                <a:latin typeface="League Spartan"/>
              </a:rPr>
              <a:t>Een eigen model.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1000" y="1578769"/>
            <a:ext cx="4622006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B2BDC2"/>
                </a:solidFill>
                <a:latin typeface="Inter"/>
              </a:rPr>
              <a:t>Wij draaien niet 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5597" y="2059781"/>
            <a:ext cx="615702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>
                <a:solidFill>
                  <a:srgbClr val="BFC8CC"/>
                </a:solidFill>
                <a:latin typeface="Inter"/>
              </a:rPr>
              <a:t>ChatGPT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95414" y="2059781"/>
            <a:ext cx="488305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>
                <a:solidFill>
                  <a:srgbClr val="BFC8CC"/>
                </a:solidFill>
                <a:latin typeface="Inter"/>
              </a:rPr>
              <a:t>Gemini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59895" y="2059781"/>
            <a:ext cx="491579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>
                <a:solidFill>
                  <a:srgbClr val="BFC8CC"/>
                </a:solidFill>
                <a:latin typeface="Inter"/>
              </a:rPr>
              <a:t>Claude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000" y="2655094"/>
            <a:ext cx="4622006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B2BDC2"/>
                </a:solidFill>
                <a:latin typeface="Inter"/>
              </a:rPr>
              <a:t>Maar op een eigen model, getraind 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075" y="3026569"/>
            <a:ext cx="3860006" cy="180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25" b="1">
                <a:solidFill>
                  <a:srgbClr val="FFFFFF"/>
                </a:solidFill>
                <a:latin typeface="Inter"/>
              </a:rPr>
              <a:t>Wetenschappelijke publicaties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075" y="3207544"/>
            <a:ext cx="3860006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37" b="0">
                <a:solidFill>
                  <a:srgbClr val="B2BDC2"/>
                </a:solidFill>
                <a:latin typeface="Inter"/>
              </a:rPr>
              <a:t>Papers en peer-reviewed artikelen, per vakgebied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075" y="3693319"/>
            <a:ext cx="3860006" cy="180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25" b="1">
                <a:solidFill>
                  <a:srgbClr val="FFFFFF"/>
                </a:solidFill>
                <a:latin typeface="Inter"/>
              </a:rPr>
              <a:t>Hoe docenten beoordelen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1075" y="3874294"/>
            <a:ext cx="3860006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37" b="0">
                <a:solidFill>
                  <a:srgbClr val="B2BDC2"/>
                </a:solidFill>
                <a:latin typeface="Inter"/>
              </a:rPr>
              <a:t>Onderzoek uit pedagogiek en leerwetenschap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075" y="4360069"/>
            <a:ext cx="3860006" cy="180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25" b="1">
                <a:solidFill>
                  <a:srgbClr val="FFFFFF"/>
                </a:solidFill>
                <a:latin typeface="Inter"/>
              </a:rPr>
              <a:t>Feedbackvoorbeelden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075" y="4541044"/>
            <a:ext cx="3860006" cy="142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37" b="0">
                <a:solidFill>
                  <a:srgbClr val="B2BDC2"/>
                </a:solidFill>
                <a:latin typeface="Inter"/>
              </a:rPr>
              <a:t>Specifiek voor het onderwijs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1000" y="4893469"/>
            <a:ext cx="4622006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0">
                <a:solidFill>
                  <a:srgbClr val="00E075"/>
                </a:solidFill>
                <a:latin typeface="Inter"/>
              </a:rPr>
              <a:t>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0550" y="5398294"/>
            <a:ext cx="1251793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25" b="1">
                <a:solidFill>
                  <a:srgbClr val="00E075"/>
                </a:solidFill>
                <a:latin typeface="Inter"/>
              </a:rPr>
              <a:t>HET EDUFACE-MODEL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0550" y="5598319"/>
            <a:ext cx="2525464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900" b="1">
                <a:solidFill>
                  <a:srgbClr val="FFFFFF"/>
                </a:solidFill>
                <a:latin typeface="League Spartan"/>
              </a:rPr>
              <a:t>250.000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0550" y="6160294"/>
            <a:ext cx="2525464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75" b="0">
                <a:solidFill>
                  <a:srgbClr val="B2BDC2"/>
                </a:solidFill>
                <a:latin typeface="Inter"/>
              </a:rPr>
              <a:t>onderwijsspecifieke feedbackvoorbeelden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1000" y="6997898"/>
            <a:ext cx="4622006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B2BDC2"/>
                </a:solidFill>
                <a:latin typeface="Inter"/>
              </a:rPr>
              <a:t>Ontwikkeld met hulp van de Universiteit Leiden en de Radboud Universiteit.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