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345906" cy="755987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1120080"/>
            <a:ext cx="1451670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6970" y="1120080"/>
            <a:ext cx="1451818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13088" y="1120080"/>
            <a:ext cx="1451818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2215455"/>
            <a:ext cx="4583906" cy="666750"/>
          </a:xfrm>
          <a:prstGeom prst="roundRect">
            <a:avLst>
              <a:gd name="adj" fmla="val 17142"/>
            </a:avLst>
          </a:prstGeom>
          <a:solidFill>
            <a:srgbClr val="003A3B"/>
          </a:solidFill>
          <a:ln w="9525">
            <a:solidFill>
              <a:srgbClr val="007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1975" y="237738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03A3B"/>
          </a:solidFill>
          <a:ln w="9525">
            <a:solidFill>
              <a:srgbClr val="00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2958405"/>
            <a:ext cx="4583906" cy="590550"/>
          </a:xfrm>
          <a:prstGeom prst="roundRect">
            <a:avLst>
              <a:gd name="adj" fmla="val 19354"/>
            </a:avLst>
          </a:prstGeom>
          <a:solidFill>
            <a:srgbClr val="123241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2925" y="308223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000" y="3625155"/>
            <a:ext cx="4583906" cy="590550"/>
          </a:xfrm>
          <a:prstGeom prst="roundRect">
            <a:avLst>
              <a:gd name="adj" fmla="val 19354"/>
            </a:avLst>
          </a:prstGeom>
          <a:noFill/>
          <a:ln w="9525">
            <a:solidFill>
              <a:srgbClr val="2442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2925" y="374898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1000" y="4634805"/>
            <a:ext cx="4583906" cy="2620268"/>
          </a:xfrm>
          <a:prstGeom prst="roundRect">
            <a:avLst>
              <a:gd name="adj" fmla="val 58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50" y="5411539"/>
            <a:ext cx="1066800" cy="1066800"/>
          </a:xfrm>
          <a:prstGeom prst="roundRect">
            <a:avLst>
              <a:gd name="adj" fmla="val 16071"/>
            </a:avLst>
          </a:prstGeom>
          <a:solidFill>
            <a:srgbClr val="F3F7F8"/>
          </a:solidFill>
          <a:ln w="9525"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08845" y="1034355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sp>
        <p:nvSpPr>
          <p:cNvPr id="14" name="Oval 13"/>
          <p:cNvSpPr/>
          <p:nvPr/>
        </p:nvSpPr>
        <p:spPr>
          <a:xfrm>
            <a:off x="3274963" y="1034355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sp>
        <p:nvSpPr>
          <p:cNvPr id="15" name="Oval 14"/>
          <p:cNvSpPr/>
          <p:nvPr/>
        </p:nvSpPr>
        <p:spPr>
          <a:xfrm>
            <a:off x="4841081" y="1034355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pic>
        <p:nvPicPr>
          <p:cNvPr id="16" name="Picture 15" descr="i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22" y="1339155"/>
            <a:ext cx="209550" cy="209550"/>
          </a:xfrm>
          <a:prstGeom prst="rect">
            <a:avLst/>
          </a:prstGeom>
        </p:spPr>
      </p:pic>
      <p:pic>
        <p:nvPicPr>
          <p:cNvPr id="17" name="Picture 16" descr="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139" y="1339155"/>
            <a:ext cx="209550" cy="209550"/>
          </a:xfrm>
          <a:prstGeom prst="rect">
            <a:avLst/>
          </a:prstGeom>
        </p:spPr>
      </p:pic>
      <p:pic>
        <p:nvPicPr>
          <p:cNvPr id="18" name="Picture 17" descr="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620" y="1339155"/>
            <a:ext cx="209550" cy="209550"/>
          </a:xfrm>
          <a:prstGeom prst="rect">
            <a:avLst/>
          </a:prstGeom>
        </p:spPr>
      </p:pic>
      <p:pic>
        <p:nvPicPr>
          <p:cNvPr id="19" name="Picture 18" descr="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" y="2467868"/>
            <a:ext cx="161925" cy="161925"/>
          </a:xfrm>
          <a:prstGeom prst="rect">
            <a:avLst/>
          </a:prstGeom>
        </p:spPr>
      </p:pic>
      <p:pic>
        <p:nvPicPr>
          <p:cNvPr id="20" name="Picture 19" descr="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" y="3172718"/>
            <a:ext cx="161925" cy="161925"/>
          </a:xfrm>
          <a:prstGeom prst="rect">
            <a:avLst/>
          </a:prstGeom>
        </p:spPr>
      </p:pic>
      <p:pic>
        <p:nvPicPr>
          <p:cNvPr id="21" name="Picture 20" descr="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" y="3839468"/>
            <a:ext cx="161925" cy="161925"/>
          </a:xfrm>
          <a:prstGeom prst="rect">
            <a:avLst/>
          </a:prstGeom>
        </p:spPr>
      </p:pic>
      <p:pic>
        <p:nvPicPr>
          <p:cNvPr id="22" name="Picture 21" descr="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8653" y="4310955"/>
            <a:ext cx="228600" cy="228600"/>
          </a:xfrm>
          <a:prstGeom prst="rect">
            <a:avLst/>
          </a:prstGeom>
        </p:spPr>
      </p:pic>
      <p:pic>
        <p:nvPicPr>
          <p:cNvPr id="23" name="Picture 22" descr="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5573464"/>
            <a:ext cx="742950" cy="7429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1000" y="381000"/>
            <a:ext cx="4622006" cy="291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250" b="1">
                <a:solidFill>
                  <a:srgbClr val="FFFFFF"/>
                </a:solidFill>
                <a:latin typeface="League Spartan"/>
              </a:rPr>
              <a:t>Eigen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881955"/>
            <a:ext cx="4622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B2BDC2"/>
                </a:solidFill>
                <a:latin typeface="Inter"/>
              </a:rPr>
              <a:t>Wij draaien niet 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597" y="1362968"/>
            <a:ext cx="615702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ChatGPT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5414" y="1362968"/>
            <a:ext cx="48830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Gemini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9895" y="1362968"/>
            <a:ext cx="491579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Claude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" y="1977330"/>
            <a:ext cx="4622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B2BDC2"/>
                </a:solidFill>
                <a:latin typeface="Inter"/>
              </a:rPr>
              <a:t>Maar op een eigen model, getraind 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2377380"/>
            <a:ext cx="3783806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75" b="1">
                <a:solidFill>
                  <a:srgbClr val="FFFFFF"/>
                </a:solidFill>
                <a:latin typeface="Inter"/>
              </a:rPr>
              <a:t>Hoe docenten beoordelen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" y="2567880"/>
            <a:ext cx="3783806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75" b="0">
                <a:solidFill>
                  <a:srgbClr val="D1D7DA"/>
                </a:solidFill>
                <a:latin typeface="Inter"/>
              </a:rPr>
              <a:t>Onderzoek uit pedagogiek en leerwetenschap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3091755"/>
            <a:ext cx="3821906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Inter"/>
              </a:rPr>
              <a:t>Wetenschappelijke publicaties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175" y="3272730"/>
            <a:ext cx="38219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B2BDC2"/>
                </a:solidFill>
                <a:latin typeface="Inter"/>
              </a:rPr>
              <a:t>Papers en peer-reviewed artikelen, per vakgebied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175" y="3758505"/>
            <a:ext cx="3821906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1">
                <a:solidFill>
                  <a:srgbClr val="D9DEE0"/>
                </a:solidFill>
                <a:latin typeface="Inter"/>
              </a:rPr>
              <a:t>Feedbackvoorbeelden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175" y="3939480"/>
            <a:ext cx="38219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B2BDC2"/>
                </a:solidFill>
                <a:latin typeface="Inter"/>
              </a:rPr>
              <a:t>Specifiek voor het onderwijs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3100" y="5449639"/>
            <a:ext cx="1146125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007B54"/>
                </a:solidFill>
                <a:latin typeface="Inter"/>
              </a:rPr>
              <a:t>Het Eduface-model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100" y="5659189"/>
            <a:ext cx="271670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500" b="1">
                <a:solidFill>
                  <a:srgbClr val="002333"/>
                </a:solidFill>
                <a:latin typeface="League Spartan"/>
              </a:rPr>
              <a:t>250.000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3100" y="6306889"/>
            <a:ext cx="2716709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2C4A57"/>
                </a:solidFill>
                <a:latin typeface="Inter"/>
              </a:rPr>
              <a:t>onderwijsspecifieke feedbackvoorbeelden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