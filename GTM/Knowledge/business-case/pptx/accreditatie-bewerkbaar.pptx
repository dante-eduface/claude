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066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0B1533"/>
                </a:solidFill>
                <a:latin typeface="Inter"/>
              </a:rPr>
              <a:t>ACCREDITATIE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787400"/>
            <a:ext cx="9525000" cy="825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>
                <a:solidFill>
                  <a:srgbClr val="1D2433"/>
                </a:solidFill>
                <a:latin typeface="Inter"/>
              </a:rPr>
              <a:t>Elke beoordeling blijft navolgbaar, de docent blijft eindverantwoordelijk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1778000"/>
            <a:ext cx="3386666" cy="3873500"/>
          </a:xfrm>
          <a:prstGeom prst="roundRect">
            <a:avLst>
              <a:gd name="adj" fmla="val 5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16000" y="2032000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avolgba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159000"/>
            <a:ext cx="355600" cy="355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16000" y="2819400"/>
            <a:ext cx="2878666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5B6474"/>
                </a:solidFill>
                <a:latin typeface="Inter"/>
              </a:rPr>
              <a:t>EIS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997200"/>
            <a:ext cx="2878666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>
                <a:solidFill>
                  <a:srgbClr val="1D2433"/>
                </a:solidFill>
                <a:latin typeface="Inter"/>
              </a:rPr>
              <a:t>Beoordeling is navolgbaar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16000" y="3632200"/>
            <a:ext cx="2878666" cy="0"/>
          </a:xfrm>
          <a:prstGeom prst="line">
            <a:avLst/>
          </a:prstGeom>
          <a:ln w="12700">
            <a:solidFill>
              <a:srgbClr val="D9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6000" y="3759200"/>
            <a:ext cx="2878666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0B1533"/>
                </a:solidFill>
                <a:latin typeface="Inter"/>
              </a:rPr>
              <a:t>MET EDUFACE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3937000"/>
            <a:ext cx="2878666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>
                <a:solidFill>
                  <a:srgbClr val="1D2433"/>
                </a:solidFill>
                <a:latin typeface="Inter"/>
              </a:rPr>
              <a:t>Elk cijfer heeft een onderbouwing per rubriccriterium.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D2433"/>
                </a:solidFill>
                <a:latin typeface="Inter"/>
              </a:rPr>
              <a:t>Een audit trail die voldoet aan de AI Act legt elke summatieve beoordeling vast.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5200" y="5067300"/>
            <a:ext cx="2980266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7600" y="5067300"/>
            <a:ext cx="2675466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>
                <a:solidFill>
                  <a:srgbClr val="1D2433"/>
                </a:solidFill>
                <a:latin typeface="Inter"/>
              </a:rPr>
              <a:t>Blijft: de docent stelt het cijfer vast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666" y="1778000"/>
            <a:ext cx="3386666" cy="3873500"/>
          </a:xfrm>
          <a:prstGeom prst="roundRect">
            <a:avLst>
              <a:gd name="adj" fmla="val 5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56666" y="2032000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onsis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666" y="2159000"/>
            <a:ext cx="355600" cy="355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656666" y="2819400"/>
            <a:ext cx="2878666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5B6474"/>
                </a:solidFill>
                <a:latin typeface="Inter"/>
              </a:rPr>
              <a:t>EIS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6666" y="2997200"/>
            <a:ext cx="2878666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>
                <a:solidFill>
                  <a:srgbClr val="1D2433"/>
                </a:solidFill>
                <a:latin typeface="Inter"/>
              </a:rPr>
              <a:t>Beoordelaars oordelen consistent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656666" y="3632200"/>
            <a:ext cx="2878667" cy="0"/>
          </a:xfrm>
          <a:prstGeom prst="line">
            <a:avLst/>
          </a:prstGeom>
          <a:ln w="12700">
            <a:solidFill>
              <a:srgbClr val="D9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656666" y="3759200"/>
            <a:ext cx="2878666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0B1533"/>
                </a:solidFill>
                <a:latin typeface="Inter"/>
              </a:rPr>
              <a:t>MET EDUFACE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56666" y="3937000"/>
            <a:ext cx="2878666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>
                <a:solidFill>
                  <a:srgbClr val="1D2433"/>
                </a:solidFill>
                <a:latin typeface="Inter"/>
              </a:rPr>
              <a:t>Een overzicht toont welke beoordelaar afwijkt van het team.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05866" y="5067300"/>
            <a:ext cx="2980266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8266" y="5067300"/>
            <a:ext cx="2675466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>
                <a:solidFill>
                  <a:srgbClr val="1D2433"/>
                </a:solidFill>
                <a:latin typeface="Inter"/>
              </a:rPr>
              <a:t>Blijft: kalibratie twee keer per jaar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3333" y="1778000"/>
            <a:ext cx="3386666" cy="3873500"/>
          </a:xfrm>
          <a:prstGeom prst="roundRect">
            <a:avLst>
              <a:gd name="adj" fmla="val 5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97333" y="2032000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ommiss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4333" y="2159000"/>
            <a:ext cx="355600" cy="3556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297333" y="2819400"/>
            <a:ext cx="2878666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5B6474"/>
                </a:solidFill>
                <a:latin typeface="Inter"/>
              </a:rPr>
              <a:t>EIS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7333" y="2997200"/>
            <a:ext cx="2878666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>
                <a:solidFill>
                  <a:srgbClr val="1D2433"/>
                </a:solidFill>
                <a:latin typeface="Inter"/>
              </a:rPr>
              <a:t>De examencommissie borgt de kwaliteit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297333" y="3632200"/>
            <a:ext cx="2878667" cy="0"/>
          </a:xfrm>
          <a:prstGeom prst="line">
            <a:avLst/>
          </a:prstGeom>
          <a:ln w="12700">
            <a:solidFill>
              <a:srgbClr val="D9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297333" y="3759200"/>
            <a:ext cx="2878666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>
                <a:solidFill>
                  <a:srgbClr val="0B1533"/>
                </a:solidFill>
                <a:latin typeface="Inter"/>
              </a:rPr>
              <a:t>MET EDUFACE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97333" y="3937000"/>
            <a:ext cx="2878666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>
                <a:solidFill>
                  <a:srgbClr val="1D2433"/>
                </a:solidFill>
                <a:latin typeface="Inter"/>
              </a:rPr>
              <a:t>Per beoordeling is de onderbouwing direct in te zien.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46533" y="5067300"/>
            <a:ext cx="2980266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98933" y="5067300"/>
            <a:ext cx="2675466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>
                <a:solidFill>
                  <a:srgbClr val="1D2433"/>
                </a:solidFill>
                <a:latin typeface="Inter"/>
              </a:rPr>
              <a:t>Blijft: de steekproef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2000" y="5854700"/>
            <a:ext cx="50800" cy="609600"/>
          </a:xfrm>
          <a:prstGeom prst="rect">
            <a:avLst/>
          </a:prstGeom>
          <a:solidFill>
            <a:srgbClr val="0B1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2800" y="5854700"/>
            <a:ext cx="10617200" cy="609600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6000" y="5854700"/>
            <a:ext cx="10160000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>
                <a:solidFill>
                  <a:srgbClr val="0B1533"/>
                </a:solidFill>
                <a:latin typeface="Inter"/>
              </a:rPr>
              <a:t>WAAROM NU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1D2433"/>
                </a:solidFill>
                <a:latin typeface="Inter"/>
              </a:rPr>
              <a:t>Bij nieuwe accreditaties is consistent beoordelen een aandachtspunt. De Pabo zit nu in accreditatie.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