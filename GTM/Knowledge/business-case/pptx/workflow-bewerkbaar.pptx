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Inter"/>
              </a:rPr>
              <a:t>DE HUIDIGE SITUATIE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382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1D2433"/>
                </a:solidFill>
                <a:latin typeface="Inter"/>
              </a:rPr>
              <a:t>Docenten besteden meer tijd aan feedback dan aan lezen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44600"/>
            <a:ext cx="1066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B6474"/>
                </a:solidFill>
                <a:latin typeface="Inter"/>
              </a:rPr>
              <a:t>Het lezen van een opdracht blijft werk van de docent. De winst zit in het beoordelen en formuleren van de feedback. Percentages zijn aandelen van de totale nakijktijd per opdracht.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050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D2433"/>
                </a:solidFill>
                <a:latin typeface="Inter"/>
              </a:rPr>
              <a:t>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9431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D2433"/>
                </a:solidFill>
                <a:latin typeface="Inter"/>
              </a:rPr>
              <a:t>100% van de nakijktijd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286000"/>
            <a:ext cx="5080000" cy="1397000"/>
          </a:xfrm>
          <a:prstGeom prst="roundRect">
            <a:avLst>
              <a:gd name="adj" fmla="val 9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2463800"/>
            <a:ext cx="467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5B6474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26797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D2433"/>
                </a:solidFill>
                <a:latin typeface="Inter"/>
              </a:rPr>
              <a:t>Docent leest de opdracht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3238500"/>
            <a:ext cx="4673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Inter"/>
              </a:rPr>
              <a:t>40%</a:t>
            </a:r>
          </a:p>
        </p:txBody>
      </p:sp>
      <p:sp>
        <p:nvSpPr>
          <p:cNvPr id="11" name="Chevron 10"/>
          <p:cNvSpPr/>
          <p:nvPr/>
        </p:nvSpPr>
        <p:spPr>
          <a:xfrm>
            <a:off x="6038850" y="2895600"/>
            <a:ext cx="114300" cy="177800"/>
          </a:xfrm>
          <a:prstGeom prst="chevron">
            <a:avLst/>
          </a:prstGeom>
          <a:solidFill>
            <a:srgbClr val="5B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0000" y="2286000"/>
            <a:ext cx="5080000" cy="1397000"/>
          </a:xfrm>
          <a:prstGeom prst="roundRect">
            <a:avLst>
              <a:gd name="adj" fmla="val 9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200" y="2463800"/>
            <a:ext cx="467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5B6474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6797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D2433"/>
                </a:solidFill>
                <a:latin typeface="Inter"/>
              </a:rPr>
              <a:t>Docent beoordeelt per criterium en formuleert de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238500"/>
            <a:ext cx="4673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Inter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0640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D2433"/>
                </a:solidFill>
                <a:latin typeface="Inter"/>
              </a:rPr>
              <a:t>Met Eduface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41021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D2433"/>
                </a:solidFill>
                <a:latin typeface="Inter"/>
              </a:rPr>
              <a:t>70% van de nakijktijd, 30% minder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445000"/>
            <a:ext cx="5080000" cy="1397000"/>
          </a:xfrm>
          <a:prstGeom prst="roundRect">
            <a:avLst>
              <a:gd name="adj" fmla="val 9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200" y="4622800"/>
            <a:ext cx="467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5B6474"/>
                </a:solidFill>
                <a:latin typeface="Inte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48387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D2433"/>
                </a:solidFill>
                <a:latin typeface="Inter"/>
              </a:rPr>
              <a:t>Docent leest de opdracht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" y="5397500"/>
            <a:ext cx="4673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Inter"/>
              </a:rPr>
              <a:t>40%, gelijk aan nu</a:t>
            </a:r>
          </a:p>
        </p:txBody>
      </p:sp>
      <p:sp>
        <p:nvSpPr>
          <p:cNvPr id="22" name="Chevron 21"/>
          <p:cNvSpPr/>
          <p:nvPr/>
        </p:nvSpPr>
        <p:spPr>
          <a:xfrm>
            <a:off x="6038850" y="5054600"/>
            <a:ext cx="114300" cy="177800"/>
          </a:xfrm>
          <a:prstGeom prst="chevron">
            <a:avLst/>
          </a:prstGeom>
          <a:solidFill>
            <a:srgbClr val="5B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0000" y="4445000"/>
            <a:ext cx="5080000" cy="1397000"/>
          </a:xfrm>
          <a:prstGeom prst="roundRect">
            <a:avLst>
              <a:gd name="adj" fmla="val 9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622800"/>
            <a:ext cx="467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5B6474"/>
                </a:solidFill>
                <a:latin typeface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4838700"/>
            <a:ext cx="4673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D2433"/>
                </a:solidFill>
                <a:latin typeface="Inter"/>
              </a:rPr>
              <a:t>Docent controleert het voorstel van Eduface en past de feedback aan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5397500"/>
            <a:ext cx="4673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Inter"/>
              </a:rPr>
              <a:t>30%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