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Nakijken nu</c:v>
                </c:pt>
              </c:strCache>
            </c:strRef>
          </c:tx>
          <c:spPr>
            <a:ln w="31750">
              <a:solidFill>
                <a:srgbClr val="9AA3B2"/>
              </a:solidFill>
            </a:ln>
          </c:spPr>
          <c:marker>
            <c:symbol val="none"/>
          </c:marker>
          <c:dLbls>
            <c:dLbl>
              <c:idx val="23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100" b="1">
                        <a:solidFill>
                          <a:srgbClr val="1D2433"/>
                        </a:solidFill>
                        <a:latin typeface="Inter"/>
                      </a:rPr>
                      <a:t>€ 82.740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mnd 1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mnd 6</c:v>
                </c:pt>
                <c:pt idx="6">
                  <c:v>       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mnd 12</c:v>
                </c:pt>
                <c:pt idx="12">
                  <c:v>             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mnd 18</c:v>
                </c:pt>
                <c:pt idx="18">
                  <c:v>                   </c:v>
                </c:pt>
                <c:pt idx="19">
                  <c:v>                    </c:v>
                </c:pt>
                <c:pt idx="20">
                  <c:v>                     </c:v>
                </c:pt>
                <c:pt idx="21">
                  <c:v>                      </c:v>
                </c:pt>
                <c:pt idx="22">
                  <c:v>                       </c:v>
                </c:pt>
                <c:pt idx="23">
                  <c:v>mnd 24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3083</c:v>
                </c:pt>
                <c:pt idx="1">
                  <c:v>6166</c:v>
                </c:pt>
                <c:pt idx="2">
                  <c:v>9249</c:v>
                </c:pt>
                <c:pt idx="3">
                  <c:v>12332</c:v>
                </c:pt>
                <c:pt idx="4">
                  <c:v>15415</c:v>
                </c:pt>
                <c:pt idx="5">
                  <c:v>18498</c:v>
                </c:pt>
                <c:pt idx="6">
                  <c:v>21580</c:v>
                </c:pt>
                <c:pt idx="7">
                  <c:v>24663</c:v>
                </c:pt>
                <c:pt idx="8">
                  <c:v>27746</c:v>
                </c:pt>
                <c:pt idx="9">
                  <c:v>30829</c:v>
                </c:pt>
                <c:pt idx="10">
                  <c:v>33912</c:v>
                </c:pt>
                <c:pt idx="11">
                  <c:v>36995</c:v>
                </c:pt>
                <c:pt idx="12">
                  <c:v>40807</c:v>
                </c:pt>
                <c:pt idx="13">
                  <c:v>44619</c:v>
                </c:pt>
                <c:pt idx="14">
                  <c:v>48431</c:v>
                </c:pt>
                <c:pt idx="15">
                  <c:v>52243</c:v>
                </c:pt>
                <c:pt idx="16">
                  <c:v>56055</c:v>
                </c:pt>
                <c:pt idx="17">
                  <c:v>59868</c:v>
                </c:pt>
                <c:pt idx="18">
                  <c:v>63680</c:v>
                </c:pt>
                <c:pt idx="19">
                  <c:v>67492</c:v>
                </c:pt>
                <c:pt idx="20">
                  <c:v>71304</c:v>
                </c:pt>
                <c:pt idx="21">
                  <c:v>75116</c:v>
                </c:pt>
                <c:pt idx="22">
                  <c:v>78928</c:v>
                </c:pt>
                <c:pt idx="23">
                  <c:v>82740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Eduface</c:v>
                </c:pt>
              </c:strCache>
            </c:strRef>
          </c:tx>
          <c:spPr>
            <a:ln w="31750">
              <a:solidFill>
                <a:srgbClr val="0B1533"/>
              </a:solidFill>
            </a:ln>
          </c:spPr>
          <c:marker>
            <c:symbol val="none"/>
          </c:marker>
          <c:dLbls>
            <c:dLbl>
              <c:idx val="23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100" b="1">
                        <a:solidFill>
                          <a:srgbClr val="1D2433"/>
                        </a:solidFill>
                        <a:latin typeface="Inter"/>
                      </a:rPr>
                      <a:t>€ 36.000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mnd 1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mnd 6</c:v>
                </c:pt>
                <c:pt idx="6">
                  <c:v>       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mnd 12</c:v>
                </c:pt>
                <c:pt idx="12">
                  <c:v>             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mnd 18</c:v>
                </c:pt>
                <c:pt idx="18">
                  <c:v>                   </c:v>
                </c:pt>
                <c:pt idx="19">
                  <c:v>                    </c:v>
                </c:pt>
                <c:pt idx="20">
                  <c:v>                     </c:v>
                </c:pt>
                <c:pt idx="21">
                  <c:v>                      </c:v>
                </c:pt>
                <c:pt idx="22">
                  <c:v>                       </c:v>
                </c:pt>
                <c:pt idx="23">
                  <c:v>mnd 24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1500</c:v>
                </c:pt>
                <c:pt idx="1">
                  <c:v>3000</c:v>
                </c:pt>
                <c:pt idx="2">
                  <c:v>4500</c:v>
                </c:pt>
                <c:pt idx="3">
                  <c:v>6000</c:v>
                </c:pt>
                <c:pt idx="4">
                  <c:v>7500</c:v>
                </c:pt>
                <c:pt idx="5">
                  <c:v>9000</c:v>
                </c:pt>
                <c:pt idx="6">
                  <c:v>10500</c:v>
                </c:pt>
                <c:pt idx="7">
                  <c:v>12000</c:v>
                </c:pt>
                <c:pt idx="8">
                  <c:v>13500</c:v>
                </c:pt>
                <c:pt idx="9">
                  <c:v>15000</c:v>
                </c:pt>
                <c:pt idx="10">
                  <c:v>16500</c:v>
                </c:pt>
                <c:pt idx="11">
                  <c:v>18000</c:v>
                </c:pt>
                <c:pt idx="12">
                  <c:v>19500</c:v>
                </c:pt>
                <c:pt idx="13">
                  <c:v>21000</c:v>
                </c:pt>
                <c:pt idx="14">
                  <c:v>22500</c:v>
                </c:pt>
                <c:pt idx="15">
                  <c:v>24000</c:v>
                </c:pt>
                <c:pt idx="16">
                  <c:v>25500</c:v>
                </c:pt>
                <c:pt idx="17">
                  <c:v>27000</c:v>
                </c:pt>
                <c:pt idx="18">
                  <c:v>28500</c:v>
                </c:pt>
                <c:pt idx="19">
                  <c:v>30000</c:v>
                </c:pt>
                <c:pt idx="20">
                  <c:v>31500</c:v>
                </c:pt>
                <c:pt idx="21">
                  <c:v>33000</c:v>
                </c:pt>
                <c:pt idx="22">
                  <c:v>34500</c:v>
                </c:pt>
                <c:pt idx="23">
                  <c:v>36000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3B2"/>
            </a:solidFill>
          </a:ln>
        </c:spPr>
        <c:txPr>
          <a:bodyPr/>
          <a:lstStyle/>
          <a:p>
            <a:pPr>
              <a:defRPr sz="1000">
                <a:solidFill>
                  <a:srgbClr val="5B6474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tickLblSkip val="6"/>
        <c:noMultiLvlLbl val="0"/>
      </c:catAx>
      <c:valAx>
        <c:axId val="2140495176"/>
        <c:scaling>
          <c:max val="90000.0"/>
          <c:min val="0.0"/>
        </c:scaling>
        <c:delete val="0"/>
        <c:axPos val="l"/>
        <c:majorGridlines>
          <c:spPr>
            <a:ln>
              <a:solidFill>
                <a:srgbClr val="ECEEF2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474"/>
                </a:solidFill>
              </a:defRPr>
            </a:pPr>
          </a:p>
        </c:txPr>
        <c:crossAx val="2118791784"/>
        <c:crosses val="autoZero"/>
        <c:majorUnit val="30000.0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5B6474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44500"/>
            <a:ext cx="1066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0B1533"/>
                </a:solidFill>
                <a:latin typeface="Inter"/>
              </a:rPr>
              <a:t>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47700"/>
            <a:ext cx="1066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1D2433"/>
                </a:solidFill>
                <a:latin typeface="Inter"/>
              </a:rPr>
              <a:t>Eduface kost de helft van wat nakijken nu kost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66800"/>
            <a:ext cx="9525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B6474"/>
                </a:solidFill>
                <a:latin typeface="Inter"/>
              </a:rPr>
              <a:t>Nakijken kost nu gemiddeld € 35 per opdracht, door eigen docenten en externe beoordelaars samen. Eduface kost een vast bedrag per maand, ook als het aantal opdrachten groeit.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1600200"/>
            <a:ext cx="10668000" cy="0"/>
          </a:xfrm>
          <a:prstGeom prst="line">
            <a:avLst/>
          </a:prstGeom>
          <a:ln w="12700">
            <a:solidFill>
              <a:srgbClr val="D9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62000" y="2235200"/>
            <a:ext cx="10668000" cy="0"/>
          </a:xfrm>
          <a:prstGeom prst="line">
            <a:avLst/>
          </a:prstGeom>
          <a:ln w="12700">
            <a:solidFill>
              <a:srgbClr val="D9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62000" y="1689100"/>
            <a:ext cx="2032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D2433"/>
                </a:solidFill>
                <a:latin typeface="Inter"/>
              </a:rPr>
              <a:t>€ 1.500</a:t>
            </a:r>
          </a:p>
          <a:p>
            <a:r>
              <a:rPr sz="1200" b="0">
                <a:solidFill>
                  <a:srgbClr val="5B6474"/>
                </a:solidFill>
                <a:latin typeface="Inter"/>
              </a:rPr>
              <a:t>per maand, vooraf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1000" y="1689100"/>
            <a:ext cx="2032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D2433"/>
                </a:solidFill>
                <a:latin typeface="Inter"/>
              </a:rPr>
              <a:t>€ 18.000</a:t>
            </a:r>
          </a:p>
          <a:p>
            <a:r>
              <a:rPr sz="1200" b="0">
                <a:solidFill>
                  <a:srgbClr val="5B6474"/>
                </a:solidFill>
                <a:latin typeface="Inter"/>
              </a:rPr>
              <a:t>per jaar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0" y="1689100"/>
            <a:ext cx="2032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D2433"/>
                </a:solidFill>
                <a:latin typeface="Inter"/>
              </a:rPr>
              <a:t>€ 35</a:t>
            </a:r>
          </a:p>
          <a:p>
            <a:r>
              <a:rPr sz="1200" b="0">
                <a:solidFill>
                  <a:srgbClr val="5B6474"/>
                </a:solidFill>
                <a:latin typeface="Inter"/>
              </a:rPr>
              <a:t>gemiddeld per opdracht 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362200"/>
            <a:ext cx="1066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D2433"/>
                </a:solidFill>
                <a:latin typeface="Inter"/>
              </a:rPr>
              <a:t>Opgeteld na twee jaar: nakijken nu € 82.740, Eduface € 36.000. Verschil € 46.740.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98500" y="2603500"/>
          <a:ext cx="10731500" cy="279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762000" y="5537200"/>
            <a:ext cx="50800" cy="584200"/>
          </a:xfrm>
          <a:prstGeom prst="rect">
            <a:avLst/>
          </a:prstGeom>
          <a:solidFill>
            <a:srgbClr val="0B1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2800" y="5537200"/>
            <a:ext cx="10617200" cy="58420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0600" y="5537200"/>
            <a:ext cx="102108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>
                <a:solidFill>
                  <a:srgbClr val="0B1533"/>
                </a:solidFill>
                <a:latin typeface="Inter"/>
              </a:rPr>
              <a:t>BIJ GROEI</a:t>
            </a:r>
          </a:p>
          <a:p>
            <a:r>
              <a:rPr sz="1400" b="1">
                <a:solidFill>
                  <a:srgbClr val="1D2433"/>
                </a:solidFill>
                <a:latin typeface="Inter"/>
              </a:rPr>
              <a:t>Jaar 2 telt 250 opdrachten meer. De kosten van nakijken stijgen mee, de prijs van Eduface blijft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6248400"/>
            <a:ext cx="10668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>
                <a:solidFill>
                  <a:srgbClr val="5B6474"/>
                </a:solidFill>
                <a:latin typeface="Inter"/>
              </a:rPr>
              <a:t>Jaar 1: 1.057 opdrachten. jaar 2: 1.307 opdrachten. Prijs blijft gelijk zolang het aantal studenten binnen dezelfde staffel valt. € 35 is een gemiddeld tarief over alle opdrachttypes, van kennischeck tot thesis, intern en extern. Uren van eigen docenten tellen mee: die kunnen ook naar lesgeven en training.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