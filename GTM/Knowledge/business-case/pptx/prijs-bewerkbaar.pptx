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444500"/>
            <a:ext cx="1066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0B1533"/>
                </a:solidFill>
                <a:latin typeface="Inter"/>
              </a:rPr>
              <a:t>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0400"/>
            <a:ext cx="10668000" cy="44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3000" b="1">
                <a:solidFill>
                  <a:srgbClr val="1D2433"/>
                </a:solidFill>
                <a:latin typeface="Inter"/>
              </a:rPr>
              <a:t>Dit kost Eduface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333500"/>
            <a:ext cx="10668000" cy="2032000"/>
          </a:xfrm>
          <a:prstGeom prst="roundRect">
            <a:avLst>
              <a:gd name="adj" fmla="val 7000"/>
            </a:avLst>
          </a:prstGeom>
          <a:solidFill>
            <a:srgbClr val="0B1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33500" y="1333500"/>
            <a:ext cx="9525000" cy="20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6800" b="1">
                <a:solidFill>
                  <a:srgbClr val="FFFFFF"/>
                </a:solidFill>
                <a:latin typeface="Inter"/>
              </a:rPr>
              <a:t>€ 1.500</a:t>
            </a:r>
          </a:p>
          <a:p>
            <a:pPr>
              <a:spcBef>
                <a:spcPts val="800"/>
              </a:spcBef>
            </a:pPr>
            <a:r>
              <a:rPr sz="2000" b="0">
                <a:solidFill>
                  <a:srgbClr val="FFFFFF"/>
                </a:solidFill>
                <a:latin typeface="Inter"/>
              </a:rPr>
              <a:t>per maand, vooraf betaald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C9CED9"/>
                </a:solidFill>
                <a:latin typeface="Inter"/>
              </a:rPr>
              <a:t>€ 18.000 per jaar, exclusief btw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3479800"/>
            <a:ext cx="5257800" cy="787400"/>
          </a:xfrm>
          <a:prstGeom prst="roundRect">
            <a:avLst>
              <a:gd name="adj" fmla="val 12000"/>
            </a:avLst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479800"/>
            <a:ext cx="46990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0B1533"/>
                </a:solidFill>
                <a:latin typeface="Inter"/>
              </a:rPr>
              <a:t>Eerste 400 studenten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D2433"/>
                </a:solidFill>
                <a:latin typeface="Inter"/>
              </a:rPr>
              <a:t>€ 3,75 per student per maand, samen € 1.500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479800"/>
            <a:ext cx="5257800" cy="787400"/>
          </a:xfrm>
          <a:prstGeom prst="roundRect">
            <a:avLst>
              <a:gd name="adj" fmla="val 12000"/>
            </a:avLst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1600" y="3479800"/>
            <a:ext cx="46990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0B1533"/>
                </a:solidFill>
                <a:latin typeface="Inter"/>
              </a:rPr>
              <a:t>Elke student daarboven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1D2433"/>
                </a:solidFill>
                <a:latin typeface="Inter"/>
              </a:rPr>
              <a:t>€ 3 per student per maand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521200"/>
            <a:ext cx="1066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100" b="1">
                <a:solidFill>
                  <a:srgbClr val="0B1533"/>
                </a:solidFill>
                <a:latin typeface="Inter"/>
              </a:rPr>
              <a:t>WAT DE INSTELLING ERVOOR KRIJGT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4749800"/>
            <a:ext cx="10668000" cy="533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4838700"/>
            <a:ext cx="355600" cy="355600"/>
          </a:xfrm>
          <a:prstGeom prst="ellipse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nsis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300" y="4927600"/>
            <a:ext cx="177800" cy="177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47800" y="4749800"/>
            <a:ext cx="4191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D2433"/>
                </a:solidFill>
                <a:latin typeface="Inter"/>
              </a:rPr>
              <a:t>Uniforme beoordeling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8500" y="4749800"/>
            <a:ext cx="5461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1D2433"/>
                </a:solidFill>
                <a:latin typeface="Inter"/>
              </a:rPr>
              <a:t>Elke opdracht wordt langs dezelfde criteria beoordeeld, door elke beoordelaar.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5359400"/>
            <a:ext cx="10668000" cy="533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448300"/>
            <a:ext cx="355600" cy="355600"/>
          </a:xfrm>
          <a:prstGeom prst="ellipse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koppe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00" y="5537200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47800" y="5359400"/>
            <a:ext cx="4191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D2433"/>
                </a:solidFill>
                <a:latin typeface="Inter"/>
              </a:rPr>
              <a:t>Integratie in NEO 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8500" y="5359400"/>
            <a:ext cx="5461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1D2433"/>
                </a:solidFill>
                <a:latin typeface="Inter"/>
              </a:rPr>
              <a:t>Opdrachten en cijfers lopen via NEO. Docenten en studenten werken in de omgeving die ze kennen.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2000" y="5969000"/>
            <a:ext cx="10668000" cy="533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6057900"/>
            <a:ext cx="355600" cy="355600"/>
          </a:xfrm>
          <a:prstGeom prst="ellipse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eed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300" y="6146800"/>
            <a:ext cx="177800" cy="177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47800" y="5969000"/>
            <a:ext cx="4191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>
                <a:solidFill>
                  <a:srgbClr val="1D2433"/>
                </a:solidFill>
                <a:latin typeface="Inter"/>
              </a:rPr>
              <a:t>Formatieve feedback van 50% naar 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8500" y="5969000"/>
            <a:ext cx="54610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1D2433"/>
                </a:solidFill>
                <a:latin typeface="Inter"/>
              </a:rPr>
              <a:t>Elke student krijgt formatieve feedback. Nu is dat de helft.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