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0400"/>
            <a:ext cx="10668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3000" b="1">
                <a:solidFill>
                  <a:srgbClr val="1D2433"/>
                </a:solidFill>
                <a:latin typeface="Inter"/>
              </a:rPr>
              <a:t>Dit kost Eduface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333500"/>
            <a:ext cx="10668000" cy="2032000"/>
          </a:xfrm>
          <a:prstGeom prst="roundRect">
            <a:avLst>
              <a:gd name="adj" fmla="val 7000"/>
            </a:avLst>
          </a:prstGeom>
          <a:solidFill>
            <a:srgbClr val="0B1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33500" y="1333500"/>
            <a:ext cx="9525000" cy="20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6800" b="1">
                <a:solidFill>
                  <a:srgbClr val="FFFFFF"/>
                </a:solidFill>
                <a:latin typeface="Inter"/>
              </a:rPr>
              <a:t>€ 1.500</a:t>
            </a:r>
          </a:p>
          <a:p>
            <a:pPr>
              <a:spcBef>
                <a:spcPts val="800"/>
              </a:spcBef>
            </a:pPr>
            <a:r>
              <a:rPr sz="2000" b="0">
                <a:solidFill>
                  <a:srgbClr val="FFFFFF"/>
                </a:solidFill>
                <a:latin typeface="Inter"/>
              </a:rPr>
              <a:t>per maand, vooraf betaald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C9CED9"/>
                </a:solidFill>
                <a:latin typeface="Inter"/>
              </a:rPr>
              <a:t>€ 18.000 per jaar, exclusief btw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479800"/>
            <a:ext cx="5257800" cy="787400"/>
          </a:xfrm>
          <a:prstGeom prst="roundRect">
            <a:avLst>
              <a:gd name="adj" fmla="val 12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479800"/>
            <a:ext cx="46990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0B1533"/>
                </a:solidFill>
                <a:latin typeface="Inter"/>
              </a:rPr>
              <a:t>Eerste 400 studenten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€ 3,75 per student per maand, samen € 1.500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479800"/>
            <a:ext cx="5257800" cy="787400"/>
          </a:xfrm>
          <a:prstGeom prst="roundRect">
            <a:avLst>
              <a:gd name="adj" fmla="val 12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1600" y="3479800"/>
            <a:ext cx="46990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0B1533"/>
                </a:solidFill>
                <a:latin typeface="Inter"/>
              </a:rPr>
              <a:t>Elke student daarboven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€ 3 per student per maand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5212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WAT DE INSTELLING ERVOOR KRIJGT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4775200"/>
            <a:ext cx="34544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600" y="5003800"/>
            <a:ext cx="457200" cy="4572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si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5105400"/>
            <a:ext cx="254000" cy="25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600" y="5588000"/>
            <a:ext cx="29972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Uniforme beoordeling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D2433"/>
                </a:solidFill>
                <a:latin typeface="Inter"/>
              </a:rPr>
              <a:t>Elke opdracht wordt langs dezelfde criteria beoordeeld, door elke beoordelaar.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8800" y="4775200"/>
            <a:ext cx="34544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97400" y="5003800"/>
            <a:ext cx="457200" cy="4572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koppe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5105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97400" y="5588000"/>
            <a:ext cx="29972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Integratie in NEO LMS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D2433"/>
                </a:solidFill>
                <a:latin typeface="Inter"/>
              </a:rPr>
              <a:t>Opdrachten en cijfers lopen via NEO. Docenten en studenten werken in de omgeving die ze kennen.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5600" y="4775200"/>
            <a:ext cx="34544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04200" y="5003800"/>
            <a:ext cx="457200" cy="4572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eed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800" y="5105400"/>
            <a:ext cx="2540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04200" y="5588000"/>
            <a:ext cx="2997200" cy="825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Formatieve feedback van 50% naar 100%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D2433"/>
                </a:solidFill>
                <a:latin typeface="Inter"/>
              </a:rPr>
              <a:t>Elke student krijgt formatieve feedback. Nu is dat de helft.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