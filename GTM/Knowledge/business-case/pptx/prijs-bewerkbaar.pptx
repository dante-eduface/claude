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445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0B1533"/>
                </a:solidFill>
                <a:latin typeface="Inter"/>
              </a:rPr>
              <a:t>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0400"/>
            <a:ext cx="10668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3000" b="1">
                <a:solidFill>
                  <a:srgbClr val="1D2433"/>
                </a:solidFill>
                <a:latin typeface="Inter"/>
              </a:rPr>
              <a:t>Dit kost Eduface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206500"/>
            <a:ext cx="10668000" cy="1778000"/>
          </a:xfrm>
          <a:prstGeom prst="roundRect">
            <a:avLst>
              <a:gd name="adj" fmla="val 8000"/>
            </a:avLst>
          </a:prstGeom>
          <a:solidFill>
            <a:srgbClr val="0B1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6500" y="1206500"/>
            <a:ext cx="4826000" cy="17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5600" b="1">
                <a:solidFill>
                  <a:srgbClr val="FFFFFF"/>
                </a:solidFill>
                <a:latin typeface="Inter"/>
              </a:rPr>
              <a:t>€ 1.500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FFFFFF"/>
                </a:solidFill>
                <a:latin typeface="Inter"/>
              </a:rPr>
              <a:t>per maand, vooraf betaald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C9CED9"/>
                </a:solidFill>
                <a:latin typeface="Inter"/>
              </a:rPr>
              <a:t>€ 18.000 per jaar, exclusief btw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77000" y="1485900"/>
            <a:ext cx="0" cy="1219200"/>
          </a:xfrm>
          <a:prstGeom prst="line">
            <a:avLst/>
          </a:prstGeom>
          <a:ln w="12700">
            <a:solidFill>
              <a:srgbClr val="3A45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0" y="1206500"/>
            <a:ext cx="4191000" cy="17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Eerste 400 studenten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C9CED9"/>
                </a:solidFill>
                <a:latin typeface="Inter"/>
              </a:rPr>
              <a:t>€ 3,75 per student per maand, samen € 1.500</a:t>
            </a:r>
          </a:p>
          <a:p>
            <a:pPr>
              <a:spcBef>
                <a:spcPts val="180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Elke student daarboven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C9CED9"/>
                </a:solidFill>
                <a:latin typeface="Inter"/>
              </a:rPr>
              <a:t>€ 3 per student per maand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1750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0B1533"/>
                </a:solidFill>
                <a:latin typeface="Inter"/>
              </a:rPr>
              <a:t>WAT DE INSTELLING ERVOOR KRIJGT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3416300"/>
            <a:ext cx="10668000" cy="952500"/>
          </a:xfrm>
          <a:prstGeom prst="roundRect">
            <a:avLst>
              <a:gd name="adj" fmla="val 14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6000" y="358775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nsi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400" y="3740150"/>
            <a:ext cx="3048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9600" y="3416300"/>
            <a:ext cx="92710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1D2433"/>
                </a:solidFill>
                <a:latin typeface="Inter"/>
              </a:rPr>
              <a:t>Uniforme beoordeling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D2433"/>
                </a:solidFill>
                <a:latin typeface="Inter"/>
              </a:rPr>
              <a:t>Elke opdracht wordt langs dezelfde criteria beoordeeld, door elke beoordelaar.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4470400"/>
            <a:ext cx="10668000" cy="952500"/>
          </a:xfrm>
          <a:prstGeom prst="roundRect">
            <a:avLst>
              <a:gd name="adj" fmla="val 14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6000" y="464185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oppe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400" y="4794250"/>
            <a:ext cx="30480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9600" y="4470400"/>
            <a:ext cx="92710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1D2433"/>
                </a:solidFill>
                <a:latin typeface="Inter"/>
              </a:rPr>
              <a:t>Integratie in NEO LMS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D2433"/>
                </a:solidFill>
                <a:latin typeface="Inter"/>
              </a:rPr>
              <a:t>Opdrachten en cijfers lopen via NEO. Docenten en studenten werken in de omgeving die ze kennen.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5524500"/>
            <a:ext cx="10668000" cy="952500"/>
          </a:xfrm>
          <a:prstGeom prst="roundRect">
            <a:avLst>
              <a:gd name="adj" fmla="val 14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6000" y="569595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eed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400" y="5848350"/>
            <a:ext cx="30480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9600" y="5524500"/>
            <a:ext cx="57150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1D2433"/>
                </a:solidFill>
                <a:latin typeface="Inter"/>
              </a:rPr>
              <a:t>Formatieve feedback voor elke student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1D2433"/>
                </a:solidFill>
                <a:latin typeface="Inter"/>
              </a:rPr>
              <a:t>Nu krijgt de helft van de studenten formatieve feedback. Met Eduface is dat iedereen.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0" y="5524500"/>
            <a:ext cx="34290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3200" b="1">
                <a:solidFill>
                  <a:srgbClr val="0B1533"/>
                </a:solidFill>
                <a:latin typeface="Inter"/>
              </a:rPr>
              <a:t>50% → 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