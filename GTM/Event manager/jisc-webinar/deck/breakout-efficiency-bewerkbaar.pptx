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1651000"/>
            <a:ext cx="4826000" cy="4826000"/>
          </a:xfrm>
          <a:prstGeom prst="ellipse">
            <a:avLst/>
          </a:prstGeom>
          <a:solidFill>
            <a:srgbClr val="0A3A47"/>
          </a:solidFill>
          <a:ln>
            <a:solidFill>
              <a:srgbClr val="0A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52000" y="2540000"/>
            <a:ext cx="3048000" cy="3048000"/>
          </a:xfrm>
          <a:prstGeom prst="ellipse">
            <a:avLst/>
          </a:prstGeom>
          <a:solidFill>
            <a:srgbClr val="0F4C57"/>
          </a:solidFill>
          <a:ln>
            <a:solidFill>
              <a:srgbClr val="0F4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41000" y="3429000"/>
            <a:ext cx="1270000" cy="12700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BREAKOUT ROOM  ·  OPERATIONAL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86000"/>
            <a:ext cx="7620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Keeping the lecturer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in the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100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with [name], Eduface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Three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387600" y="3302000"/>
            <a:ext cx="74168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4310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0" y="3079750"/>
            <a:ext cx="444500" cy="44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000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Vote on</a:t>
            </a:r>
          </a:p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five statements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5150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usercheck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3750" y="3079750"/>
            <a:ext cx="444500" cy="44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70400" y="4000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How we keep the lecturer</a:t>
            </a:r>
          </a:p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in the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5990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gespre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150" y="3079750"/>
            <a:ext cx="444500" cy="44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78800" y="4000500"/>
            <a:ext cx="3251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Discussion</a:t>
            </a:r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ji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Formative feedback that no lecturer has read first is acceptable.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2573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32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91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Time saved on marking would go back into teaching at my institution.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732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91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Most lecturers would accept AI feedback without changing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8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891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Students care whether a person wrote their feedback.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8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097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05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STATEMENT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651000"/>
            <a:ext cx="9906000" cy="215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Summative feedback should always be signed off by a lecturer.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7200" y="4191000"/>
            <a:ext cx="2032000" cy="635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7200" y="43688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79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938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09700" y="53975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25600" y="53975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87500"/>
            <a:ext cx="3810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E075"/>
                </a:solidFill>
                <a:latin typeface="League Spartan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1016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Human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How the lecturer stays in charge of summative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SUMMATIVE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The AI drafts.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The lecturer decides.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1135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rubric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475" y="3095625"/>
            <a:ext cx="476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064000"/>
            <a:ext cx="3251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AI drafts a comment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per rubric criterion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100" y="3111500"/>
            <a:ext cx="256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1975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filepen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75" y="3095625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70400" y="4064000"/>
            <a:ext cx="3251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Lecturer reads,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edits and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67500" y="3111500"/>
            <a:ext cx="256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815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usercheck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275" y="3095625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78800" y="4064000"/>
            <a:ext cx="3251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Only approved feedback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reaches the student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2000" y="5207000"/>
            <a:ext cx="1905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295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7B54"/>
                </a:solidFill>
                <a:latin typeface="Inter"/>
              </a:rPr>
              <a:t>Lecturer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57500" y="52959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Every comment is reviewed before the student sees it.</a:t>
            </a:r>
          </a:p>
        </p:txBody>
      </p:sp>
      <p:pic>
        <p:nvPicPr>
          <p:cNvPr id="18" name="Picture 17" descr="logo_navy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_jis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WE SEE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97000"/>
            <a:ext cx="5715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0" b="1">
                <a:solidFill>
                  <a:srgbClr val="007B54"/>
                </a:solidFill>
                <a:latin typeface="League Spartan"/>
              </a:rPr>
              <a:t>97%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365500"/>
            <a:ext cx="546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002333"/>
                </a:solidFill>
                <a:latin typeface="Inter"/>
              </a:rPr>
              <a:t>of summative assignments get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002333"/>
                </a:solidFill>
                <a:latin typeface="Inter"/>
              </a:rPr>
              <a:t>extra feedback from the lecturer,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002333"/>
                </a:solidFill>
                <a:latin typeface="Inter"/>
              </a:rPr>
              <a:t>on top of the AI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85000" y="1587500"/>
            <a:ext cx="4445000" cy="3175000"/>
          </a:xfrm>
          <a:prstGeom prst="roundRect">
            <a:avLst>
              <a:gd name="adj" fmla="val 5600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6000" y="1968500"/>
            <a:ext cx="3810000" cy="241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Lecturers don’t outsource their judgement.</a:t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They work with the AI to give the student better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350000"/>
            <a:ext cx="749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Eduface platform data, summative assessments.</a:t>
            </a:r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THE LECTURER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Every comment waits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for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34000" y="1460500"/>
            <a:ext cx="6223000" cy="2984500"/>
          </a:xfrm>
          <a:prstGeom prst="roundRect">
            <a:avLst>
              <a:gd name="adj" fmla="val 510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d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1651000"/>
            <a:ext cx="5842000" cy="2731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302000"/>
            <a:ext cx="4064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Approve, edit or add.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Nothing goes to the student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without the lecturer.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350000"/>
            <a:ext cx="749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Product screen from eduface.me</a:t>
            </a:r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AN IDEA WE’D LIKE YOUR VIEW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698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 nudge against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rubber-stamping</a:t>
            </a:r>
          </a:p>
        </p:txBody>
      </p:sp>
      <p:sp>
        <p:nvSpPr>
          <p:cNvPr id="4" name="Oval 3"/>
          <p:cNvSpPr/>
          <p:nvPr/>
        </p:nvSpPr>
        <p:spPr>
          <a:xfrm>
            <a:off x="7620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6" name="Oval 5"/>
          <p:cNvSpPr/>
          <p:nvPr/>
        </p:nvSpPr>
        <p:spPr>
          <a:xfrm>
            <a:off x="13462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462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8" name="Oval 7"/>
          <p:cNvSpPr/>
          <p:nvPr/>
        </p:nvSpPr>
        <p:spPr>
          <a:xfrm>
            <a:off x="19304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04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146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12" name="Oval 11"/>
          <p:cNvSpPr/>
          <p:nvPr/>
        </p:nvSpPr>
        <p:spPr>
          <a:xfrm>
            <a:off x="30988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88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14" name="Oval 13"/>
          <p:cNvSpPr/>
          <p:nvPr/>
        </p:nvSpPr>
        <p:spPr>
          <a:xfrm>
            <a:off x="36830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30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16" name="Oval 15"/>
          <p:cNvSpPr/>
          <p:nvPr/>
        </p:nvSpPr>
        <p:spPr>
          <a:xfrm>
            <a:off x="42672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72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18" name="Oval 17"/>
          <p:cNvSpPr/>
          <p:nvPr/>
        </p:nvSpPr>
        <p:spPr>
          <a:xfrm>
            <a:off x="48514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514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20" name="Oval 19"/>
          <p:cNvSpPr/>
          <p:nvPr/>
        </p:nvSpPr>
        <p:spPr>
          <a:xfrm>
            <a:off x="54356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56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22" name="Oval 21"/>
          <p:cNvSpPr/>
          <p:nvPr/>
        </p:nvSpPr>
        <p:spPr>
          <a:xfrm>
            <a:off x="6019800" y="2984500"/>
            <a:ext cx="431800" cy="4318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9800" y="30607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007B54"/>
                </a:solidFill>
                <a:latin typeface="League Spartan"/>
              </a:rPr>
              <a:t>✓</a:t>
            </a:r>
          </a:p>
        </p:txBody>
      </p:sp>
      <p:sp>
        <p:nvSpPr>
          <p:cNvPr id="24" name="Oval 23"/>
          <p:cNvSpPr/>
          <p:nvPr/>
        </p:nvSpPr>
        <p:spPr>
          <a:xfrm>
            <a:off x="6604000" y="2984500"/>
            <a:ext cx="431800" cy="431800"/>
          </a:xfrm>
          <a:prstGeom prst="ellipse">
            <a:avLst/>
          </a:prstGeom>
          <a:solidFill>
            <a:srgbClr val="FDF0DF"/>
          </a:solidFill>
          <a:ln>
            <a:solidFill>
              <a:srgbClr val="FDF0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4000" y="3048000"/>
            <a:ext cx="4318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E07B00"/>
                </a:solidFill>
                <a:latin typeface="League Spartan"/>
              </a:rP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78700" y="2794000"/>
            <a:ext cx="4051300" cy="825500"/>
          </a:xfrm>
          <a:prstGeom prst="roundRect">
            <a:avLst>
              <a:gd name="adj" fmla="val 18461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300" y="2959100"/>
            <a:ext cx="35941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10 approved without a single change.</a:t>
            </a:r>
          </a:p>
          <a:p>
            <a:pPr algn="l">
              <a:lnSpc>
                <a:spcPct val="130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Take a closer look at this one?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3180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When a lecturer approves a long run of drafts untouched,</a:t>
            </a:r>
          </a:p>
          <a:p>
            <a:pPr algn="l">
              <a:lnSpc>
                <a:spcPct val="13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the platform asks them to look again.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6350000"/>
            <a:ext cx="7493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Concept for discussion, not a current feature.</a:t>
            </a:r>
          </a:p>
        </p:txBody>
      </p:sp>
      <p:pic>
        <p:nvPicPr>
          <p:cNvPr id="30" name="Picture 29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10668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4450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One assignment, from AI draft to approved feedback.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22500"/>
            <a:ext cx="10160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What should a lecturer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always add that AI can’t?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064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The 97% says lecturers already know.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What does “human in the loop” mean at your institution in practice?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573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2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When is approving without edits fine, and when is it a warning sign?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2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Who is accountable for summative feedback: the lecturer, the module lead or the institution?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DISCUSSION  · 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Where would you spend the time you get back?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097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9525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Back to the</a:t>
            </a:r>
          </a:p>
          <a:p>
            <a:pPr algn="l">
              <a:lnSpc>
                <a:spcPct val="105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main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Bring one thing you heard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78070" y="6172200"/>
            <a:ext cx="1904330" cy="5334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0470" y="6311900"/>
            <a:ext cx="939800" cy="25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922670" y="6261100"/>
            <a:ext cx="127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jis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070" y="6261100"/>
            <a:ext cx="354930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