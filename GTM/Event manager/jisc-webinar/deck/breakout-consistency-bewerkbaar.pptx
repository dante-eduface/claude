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63000" y="1651000"/>
            <a:ext cx="4826000" cy="4826000"/>
          </a:xfrm>
          <a:prstGeom prst="ellipse">
            <a:avLst/>
          </a:prstGeom>
          <a:solidFill>
            <a:srgbClr val="0A3A47"/>
          </a:solidFill>
          <a:ln>
            <a:solidFill>
              <a:srgbClr val="0A3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52000" y="2540000"/>
            <a:ext cx="3048000" cy="3048000"/>
          </a:xfrm>
          <a:prstGeom prst="ellipse">
            <a:avLst/>
          </a:prstGeom>
          <a:solidFill>
            <a:srgbClr val="0F4C57"/>
          </a:solidFill>
          <a:ln>
            <a:solidFill>
              <a:srgbClr val="0F4C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41000" y="3429000"/>
            <a:ext cx="1270000" cy="1270000"/>
          </a:xfrm>
          <a:prstGeom prst="ellipse">
            <a:avLst/>
          </a:prstGeom>
          <a:solidFill>
            <a:srgbClr val="00E075"/>
          </a:solidFill>
          <a:ln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905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E075"/>
                </a:solidFill>
                <a:latin typeface="Inter"/>
              </a:rPr>
              <a:t>BREAKOUT ROOM  ·  CONSISTENCY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286000"/>
            <a:ext cx="7620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League Spartan"/>
              </a:rPr>
              <a:t>Consistency without</a:t>
            </a:r>
          </a:p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League Spartan"/>
              </a:rPr>
              <a:t>showing AI grades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81000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9CBD2"/>
                </a:solidFill>
                <a:latin typeface="Inter"/>
              </a:rPr>
              <a:t>with Dante Torbed, Eduface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78070" y="6172200"/>
            <a:ext cx="1904330" cy="5334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Three parts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387600" y="3302000"/>
            <a:ext cx="7416800" cy="2540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43100" y="2857500"/>
            <a:ext cx="889000" cy="889000"/>
          </a:xfrm>
          <a:prstGeom prst="roundRect">
            <a:avLst>
              <a:gd name="adj" fmla="val 24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check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350" y="3079750"/>
            <a:ext cx="444500" cy="444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4000500"/>
            <a:ext cx="3251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002333"/>
                </a:solidFill>
                <a:latin typeface="Inter"/>
              </a:rPr>
              <a:t>Vote on</a:t>
            </a:r>
          </a:p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002333"/>
                </a:solidFill>
                <a:latin typeface="Inter"/>
              </a:rPr>
              <a:t>five statements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51500" y="2857500"/>
            <a:ext cx="889000" cy="889000"/>
          </a:xfrm>
          <a:prstGeom prst="roundRect">
            <a:avLst>
              <a:gd name="adj" fmla="val 24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oogdicht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50" y="3079750"/>
            <a:ext cx="444500" cy="444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70400" y="4000500"/>
            <a:ext cx="3251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333"/>
                </a:solidFill>
                <a:latin typeface="Inter"/>
              </a:rPr>
              <a:t>A short demo:</a:t>
            </a:r>
          </a:p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333"/>
                </a:solidFill>
                <a:latin typeface="Inter"/>
              </a:rPr>
              <a:t>the consistency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59900" y="2857500"/>
            <a:ext cx="889000" cy="889000"/>
          </a:xfrm>
          <a:prstGeom prst="roundRect">
            <a:avLst>
              <a:gd name="adj" fmla="val 24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-gesprek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150" y="3079750"/>
            <a:ext cx="444500" cy="444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78800" y="4000500"/>
            <a:ext cx="3251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002333"/>
                </a:solidFill>
                <a:latin typeface="Inter"/>
              </a:rPr>
              <a:t>Discussion</a:t>
            </a:r>
          </a:p>
        </p:txBody>
      </p:sp>
      <p:pic>
        <p:nvPicPr>
          <p:cNvPr id="14" name="Picture 13" descr="logo_navy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jis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STATEMENT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651000"/>
            <a:ext cx="9906000" cy="215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In the short term, AI will have an impact at my institution on…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4191000"/>
            <a:ext cx="4445000" cy="635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4368800"/>
            <a:ext cx="4445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07B54"/>
                </a:solidFill>
                <a:latin typeface="Inter"/>
              </a:rPr>
              <a:t>A   Formative feedback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10200" y="4191000"/>
            <a:ext cx="4445000" cy="635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10200" y="4368800"/>
            <a:ext cx="4445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E07B00"/>
                </a:solidFill>
                <a:latin typeface="Inter"/>
              </a:rPr>
              <a:t>B   Formative and summative feedback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53975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573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732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891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050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STATEMENT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651000"/>
            <a:ext cx="9906000" cy="215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Two markers on the same module would give the same assignment a different mark.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4191000"/>
            <a:ext cx="2032000" cy="635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43688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07B54"/>
                </a:solidFill>
                <a:latin typeface="Inter"/>
              </a:rPr>
              <a:t>Agree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97200" y="4191000"/>
            <a:ext cx="2032000" cy="635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7200" y="43688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E07B00"/>
                </a:solidFill>
                <a:latin typeface="Inter"/>
              </a:rPr>
              <a:t>Disagree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7900" y="53975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732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891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050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STATEMENT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651000"/>
            <a:ext cx="9906000" cy="215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Our current moderation catches most inconsistent marking.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4191000"/>
            <a:ext cx="2032000" cy="635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43688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07B54"/>
                </a:solidFill>
                <a:latin typeface="Inter"/>
              </a:rPr>
              <a:t>Agree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97200" y="4191000"/>
            <a:ext cx="2032000" cy="635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7200" y="43688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E07B00"/>
                </a:solidFill>
                <a:latin typeface="Inter"/>
              </a:rPr>
              <a:t>Disagree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79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93800" y="53975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891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050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STATEMENT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651000"/>
            <a:ext cx="9906000" cy="215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Students notice when feedback differs between markers.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4191000"/>
            <a:ext cx="2032000" cy="635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43688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07B54"/>
                </a:solidFill>
                <a:latin typeface="Inter"/>
              </a:rPr>
              <a:t>Agree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97200" y="4191000"/>
            <a:ext cx="2032000" cy="635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7200" y="43688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E07B00"/>
                </a:solidFill>
                <a:latin typeface="Inter"/>
              </a:rPr>
              <a:t>Disagree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79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938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09700" y="53975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050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STATEMENT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651000"/>
            <a:ext cx="9906000" cy="215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I would trust an AI that flags marks more than an AI that proposes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4191000"/>
            <a:ext cx="2032000" cy="635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43688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07B54"/>
                </a:solidFill>
                <a:latin typeface="Inter"/>
              </a:rPr>
              <a:t>Agree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97200" y="4191000"/>
            <a:ext cx="2032000" cy="635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7200" y="43688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E07B00"/>
                </a:solidFill>
                <a:latin typeface="Inter"/>
              </a:rPr>
              <a:t>Disagree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79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938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097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25600" y="53975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587500"/>
            <a:ext cx="3810000" cy="165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E075"/>
                </a:solidFill>
                <a:latin typeface="League Spartan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429000"/>
            <a:ext cx="10160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League Spartan"/>
              </a:rPr>
              <a:t>The consistency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9CBD2"/>
                </a:solidFill>
                <a:latin typeface="Inter"/>
              </a:rPr>
              <a:t>AI that checks marking, without grading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78070" y="6172200"/>
            <a:ext cx="1904330" cy="5334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FA9B4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THE CONSISTENCY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It reads every paper.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It never shows a grade.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286000"/>
            <a:ext cx="5105400" cy="2984500"/>
          </a:xfrm>
          <a:prstGeom prst="roundRect">
            <a:avLst>
              <a:gd name="adj" fmla="val 5957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2514600"/>
            <a:ext cx="4495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2333"/>
                </a:solidFill>
                <a:latin typeface="League Spartan"/>
              </a:rPr>
              <a:t>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175000"/>
            <a:ext cx="3175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7B54"/>
                </a:solidFill>
                <a:latin typeface="League Spartan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0500" y="3213100"/>
            <a:ext cx="4089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Analyses each paper in the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810000"/>
            <a:ext cx="3175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7B54"/>
                </a:solidFill>
                <a:latin typeface="League Spartan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0500" y="3848100"/>
            <a:ext cx="4089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Flags marks outside the expected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445000"/>
            <a:ext cx="3175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7B54"/>
                </a:solidFill>
                <a:latin typeface="League Spartan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0500" y="4483100"/>
            <a:ext cx="4089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Adds comments, if you want them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600" y="2286000"/>
            <a:ext cx="5105400" cy="2984500"/>
          </a:xfrm>
          <a:prstGeom prst="roundRect">
            <a:avLst>
              <a:gd name="adj" fmla="val 5957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514600"/>
            <a:ext cx="4495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2333"/>
                </a:solidFill>
                <a:latin typeface="League Spartan"/>
              </a:rPr>
              <a:t>It doesn’t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175000"/>
            <a:ext cx="3175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5B7480"/>
                </a:solidFill>
                <a:latin typeface="League Spartan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3100" y="3213100"/>
            <a:ext cx="4089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Show an AI grade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810000"/>
            <a:ext cx="3175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5B7480"/>
                </a:solidFill>
                <a:latin typeface="League Spartan"/>
              </a:rP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3100" y="3848100"/>
            <a:ext cx="4089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Change the lecturer’s 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445000"/>
            <a:ext cx="3175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5B7480"/>
                </a:solidFill>
                <a:latin typeface="League Spartan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3100" y="4483100"/>
            <a:ext cx="4089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Make any decision</a:t>
            </a:r>
          </a:p>
        </p:txBody>
      </p:sp>
      <p:pic>
        <p:nvPicPr>
          <p:cNvPr id="20" name="Picture 19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WHAT THE MARKER SEES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A signal, not a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905000"/>
            <a:ext cx="106680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905000"/>
            <a:ext cx="10668000" cy="3810000"/>
          </a:xfrm>
          <a:prstGeom prst="roundRect">
            <a:avLst>
              <a:gd name="adj" fmla="val 4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4700" y="1917700"/>
            <a:ext cx="10642600" cy="3784600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828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B7480"/>
                </a:solidFill>
                <a:latin typeface="Inter"/>
              </a:rPr>
              <a:t>Essay 2  ·  Module EDU201  ·  your marking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76500"/>
            <a:ext cx="215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7480"/>
                </a:solidFill>
                <a:latin typeface="Inter"/>
              </a:rPr>
              <a:t>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0" y="2476500"/>
            <a:ext cx="215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7480"/>
                </a:solidFill>
                <a:latin typeface="Inter"/>
              </a:rPr>
              <a:t>YOUR 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9000" y="2476500"/>
            <a:ext cx="215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7480"/>
                </a:solidFill>
                <a:latin typeface="Inter"/>
              </a:rPr>
              <a:t>AI 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0" y="2476500"/>
            <a:ext cx="215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7480"/>
                </a:solidFill>
                <a:latin typeface="Inter"/>
              </a:rPr>
              <a:t>CONSISTENCY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679700"/>
            <a:ext cx="10160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6000" y="28194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2333"/>
                </a:solidFill>
                <a:latin typeface="Inter"/>
              </a:rPr>
              <a:t>#1042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0" y="28194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2333"/>
                </a:solidFill>
                <a:latin typeface="League Spartan"/>
              </a:rPr>
              <a:t>65</a:t>
            </a:r>
          </a:p>
        </p:txBody>
      </p:sp>
      <p:pic>
        <p:nvPicPr>
          <p:cNvPr id="15" name="Picture 14" descr="icon-oogdicht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280670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86500" y="283210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7480"/>
                </a:solidFill>
                <a:latin typeface="Inter"/>
              </a:rPr>
              <a:t>Hidden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0" y="28194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DD9DE"/>
                </a:solidFill>
                <a:latin typeface="Inter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6000" y="3238500"/>
            <a:ext cx="10160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6000" y="33782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2333"/>
                </a:solidFill>
                <a:latin typeface="Inter"/>
              </a:rPr>
              <a:t>#1043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0" y="33782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2333"/>
                </a:solidFill>
                <a:latin typeface="League Spartan"/>
              </a:rPr>
              <a:t>58</a:t>
            </a:r>
          </a:p>
        </p:txBody>
      </p:sp>
      <p:pic>
        <p:nvPicPr>
          <p:cNvPr id="21" name="Picture 20" descr="icon-oogdicht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3365500"/>
            <a:ext cx="22860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86500" y="339090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7480"/>
                </a:solidFill>
                <a:latin typeface="Inter"/>
              </a:rPr>
              <a:t>Hidden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0" y="33782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DD9DE"/>
                </a:solidFill>
                <a:latin typeface="Inter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6000" y="3797300"/>
            <a:ext cx="10160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6000" y="39370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2333"/>
                </a:solidFill>
                <a:latin typeface="Inter"/>
              </a:rPr>
              <a:t>#1044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0000" y="39370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2333"/>
                </a:solidFill>
                <a:latin typeface="League Spartan"/>
              </a:rPr>
              <a:t>72</a:t>
            </a:r>
          </a:p>
        </p:txBody>
      </p:sp>
      <p:pic>
        <p:nvPicPr>
          <p:cNvPr id="27" name="Picture 26" descr="icon-oogdicht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3924300"/>
            <a:ext cx="228600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86500" y="394970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7480"/>
                </a:solidFill>
                <a:latin typeface="Inter"/>
              </a:rPr>
              <a:t>Hidden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8000" y="39370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DD9DE"/>
                </a:solidFill>
                <a:latin typeface="Inter"/>
              </a:rPr>
              <a:t>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9000" y="4381500"/>
            <a:ext cx="10414000" cy="482600"/>
          </a:xfrm>
          <a:prstGeom prst="roundRect">
            <a:avLst>
              <a:gd name="adj" fmla="val 18421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6000" y="4356100"/>
            <a:ext cx="10160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6000" y="44958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2333"/>
                </a:solidFill>
                <a:latin typeface="Inter"/>
              </a:rPr>
              <a:t>#1045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0" y="44958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2333"/>
                </a:solidFill>
                <a:latin typeface="League Spartan"/>
              </a:rPr>
              <a:t>41</a:t>
            </a:r>
          </a:p>
        </p:txBody>
      </p:sp>
      <p:pic>
        <p:nvPicPr>
          <p:cNvPr id="34" name="Picture 33" descr="icon-oogdicht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4483100"/>
            <a:ext cx="228600" cy="2286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286500" y="450850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7480"/>
                </a:solidFill>
                <a:latin typeface="Inter"/>
              </a:rPr>
              <a:t>Hidden</a:t>
            </a:r>
          </a:p>
        </p:txBody>
      </p:sp>
      <p:pic>
        <p:nvPicPr>
          <p:cNvPr id="36" name="Picture 35" descr="icon-vlag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4483100"/>
            <a:ext cx="228600" cy="228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445500" y="44958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07B00"/>
                </a:solidFill>
                <a:latin typeface="Inter"/>
              </a:rPr>
              <a:t>Outside expected range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6000" y="4914900"/>
            <a:ext cx="10160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6000" y="50546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02333"/>
                </a:solidFill>
                <a:latin typeface="Inter"/>
              </a:rPr>
              <a:t>#1046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0000" y="50546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2333"/>
                </a:solidFill>
                <a:latin typeface="League Spartan"/>
              </a:rPr>
              <a:t>67</a:t>
            </a:r>
          </a:p>
        </p:txBody>
      </p:sp>
      <p:pic>
        <p:nvPicPr>
          <p:cNvPr id="41" name="Picture 40" descr="icon-oogdicht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5041900"/>
            <a:ext cx="228600" cy="2286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286500" y="506730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7480"/>
                </a:solidFill>
                <a:latin typeface="Inter"/>
              </a:rPr>
              <a:t>Hidden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28000" y="50546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DD9DE"/>
                </a:solidFill>
                <a:latin typeface="Inter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000" y="6350000"/>
            <a:ext cx="749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7480"/>
                </a:solidFill>
                <a:latin typeface="Inter"/>
              </a:rPr>
              <a:t>Illustrative screen, fictional data.</a:t>
            </a:r>
          </a:p>
        </p:txBody>
      </p:sp>
      <p:pic>
        <p:nvPicPr>
          <p:cNvPr id="45" name="Picture 44" descr="logo_navy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_jis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095500"/>
            <a:ext cx="10668000" cy="20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League Spartan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4450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9CBD2"/>
                </a:solidFill>
                <a:latin typeface="Inter"/>
              </a:rPr>
              <a:t>Same marking, one signal, no AI grade.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78070" y="6172200"/>
            <a:ext cx="1904330" cy="5334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FA9B4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E075"/>
                </a:solidFill>
                <a:latin typeface="Inter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222500"/>
            <a:ext cx="10160000" cy="20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League Spartan"/>
              </a:rPr>
              <a:t>Is consistency without</a:t>
            </a:r>
          </a:p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League Spartan"/>
              </a:rPr>
              <a:t>AI grades enough?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064000"/>
            <a:ext cx="9525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9CBD2"/>
                </a:solidFill>
                <a:latin typeface="Inter"/>
              </a:rPr>
              <a:t>Or is it a first step towards something more?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78070" y="6172200"/>
            <a:ext cx="1904330" cy="5334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FA9B4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DISCUSSION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02333"/>
                </a:solidFill>
                <a:latin typeface="League Spartan"/>
              </a:rPr>
              <a:t>Where would a signal like this have helped you last year?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800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573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732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891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DISCUSSION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02333"/>
                </a:solidFill>
                <a:latin typeface="League Spartan"/>
              </a:rPr>
              <a:t>Who should receive the signal: the marker, the module leader or the moderator?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7900" y="50800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732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891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DISCUSSION  · 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02333"/>
                </a:solidFill>
                <a:latin typeface="League Spartan"/>
              </a:rPr>
              <a:t>What would need to be true before you trust a flag?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79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93800" y="50800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891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DISCUSSION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02333"/>
                </a:solidFill>
                <a:latin typeface="League Spartan"/>
              </a:rPr>
              <a:t>How would you explain this to your students?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79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938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09700" y="50800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095500"/>
            <a:ext cx="9525000" cy="165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League Spartan"/>
              </a:rPr>
              <a:t>Back to the</a:t>
            </a:r>
          </a:p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League Spartan"/>
              </a:rPr>
              <a:t>main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37000"/>
            <a:ext cx="9525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9CBD2"/>
                </a:solidFill>
                <a:latin typeface="Inter"/>
              </a:rPr>
              <a:t>Bring one thing you heard 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78070" y="6172200"/>
            <a:ext cx="1904330" cy="5334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