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63000" y="1651000"/>
            <a:ext cx="4826000" cy="4826000"/>
          </a:xfrm>
          <a:prstGeom prst="ellipse">
            <a:avLst/>
          </a:prstGeom>
          <a:solidFill>
            <a:srgbClr val="0A3A47"/>
          </a:solidFill>
          <a:ln>
            <a:solidFill>
              <a:srgbClr val="0A3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52000" y="2540000"/>
            <a:ext cx="3048000" cy="3048000"/>
          </a:xfrm>
          <a:prstGeom prst="ellipse">
            <a:avLst/>
          </a:prstGeom>
          <a:solidFill>
            <a:srgbClr val="0F4C57"/>
          </a:solidFill>
          <a:ln>
            <a:solidFill>
              <a:srgbClr val="0F4C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41000" y="3429000"/>
            <a:ext cx="1270000" cy="12700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E075"/>
                </a:solidFill>
                <a:latin typeface="Inter"/>
              </a:rPr>
              <a:t>JISC  ×  EDUFACE  ·  WEBINAR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86000"/>
            <a:ext cx="7620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What 20+ AI feedback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implementations taught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8100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Consistency, efficiency and the risk nobody planned for</a:t>
            </a:r>
          </a:p>
        </p:txBody>
      </p:sp>
      <p:pic>
        <p:nvPicPr>
          <p:cNvPr id="9" name="Picture 8" descr="logo_whit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69000"/>
            <a:ext cx="14097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Lessons from 20+ pilots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and implementations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730500"/>
            <a:ext cx="1663700" cy="9525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_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047175"/>
            <a:ext cx="1244600" cy="3191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603500" y="2730500"/>
            <a:ext cx="1663700" cy="9525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_hhs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050" y="2985328"/>
            <a:ext cx="1244600" cy="4428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45000" y="2730500"/>
            <a:ext cx="1663700" cy="9525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_t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550" y="3049014"/>
            <a:ext cx="1244600" cy="3154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86500" y="2730500"/>
            <a:ext cx="1663700" cy="9525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_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050" y="3065184"/>
            <a:ext cx="1244600" cy="28313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682750" y="3860800"/>
            <a:ext cx="1663700" cy="9525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_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1806" y="4083050"/>
            <a:ext cx="1205589" cy="508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524250" y="3860800"/>
            <a:ext cx="1663700" cy="9525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4250" y="4210050"/>
            <a:ext cx="1663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Bath Spa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65750" y="3860800"/>
            <a:ext cx="1663700" cy="9525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5750" y="4210050"/>
            <a:ext cx="1663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7th logo</a:t>
            </a:r>
          </a:p>
        </p:txBody>
      </p:sp>
      <p:sp>
        <p:nvSpPr>
          <p:cNvPr id="18" name="Oval 17"/>
          <p:cNvSpPr/>
          <p:nvPr/>
        </p:nvSpPr>
        <p:spPr>
          <a:xfrm>
            <a:off x="9017000" y="2857500"/>
            <a:ext cx="1778000" cy="17780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7000" y="3302000"/>
            <a:ext cx="177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>
                <a:solidFill>
                  <a:srgbClr val="002333"/>
                </a:solidFill>
                <a:latin typeface="League Spartan"/>
              </a:rPr>
              <a:t>+20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6500" y="47879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pilots &amp; implementations</a:t>
            </a:r>
          </a:p>
        </p:txBody>
      </p:sp>
      <p:pic>
        <p:nvPicPr>
          <p:cNvPr id="21" name="Picture 20" descr="logo_navy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0200" y="6324600"/>
            <a:ext cx="939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Consistency is more than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the same grade</a:t>
            </a:r>
          </a:p>
        </p:txBody>
      </p:sp>
      <p:sp>
        <p:nvSpPr>
          <p:cNvPr id="4" name="Oval 3"/>
          <p:cNvSpPr/>
          <p:nvPr/>
        </p:nvSpPr>
        <p:spPr>
          <a:xfrm>
            <a:off x="6286500" y="1333500"/>
            <a:ext cx="4699000" cy="4699000"/>
          </a:xfrm>
          <a:prstGeom prst="ellipse">
            <a:avLst/>
          </a:prstGeom>
          <a:solidFill>
            <a:srgbClr val="F3F7F8"/>
          </a:solidFill>
          <a:ln>
            <a:solidFill>
              <a:srgbClr val="F3F7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8500" y="2095500"/>
            <a:ext cx="3175000" cy="3175000"/>
          </a:xfrm>
          <a:prstGeom prst="ellipse">
            <a:avLst/>
          </a:prstGeom>
          <a:solidFill>
            <a:srgbClr val="E2FBEF"/>
          </a:solidFill>
          <a:ln>
            <a:solidFill>
              <a:srgbClr val="E2F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8750" y="2825750"/>
            <a:ext cx="1714500" cy="1714500"/>
          </a:xfrm>
          <a:prstGeom prst="ellipse">
            <a:avLst/>
          </a:prstGeom>
          <a:solidFill>
            <a:srgbClr val="002333"/>
          </a:solidFill>
          <a:ln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8750" y="3517900"/>
            <a:ext cx="17145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Same 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0" y="2317750"/>
            <a:ext cx="3175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7B54"/>
                </a:solidFill>
                <a:latin typeface="League Spartan"/>
              </a:rPr>
              <a:t>Same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1587500"/>
            <a:ext cx="4699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Same voice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4025900"/>
            <a:ext cx="2825750" cy="19050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3650" y="3975100"/>
            <a:ext cx="114300" cy="114300"/>
          </a:xfrm>
          <a:prstGeom prst="ellipse">
            <a:avLst/>
          </a:prstGeom>
          <a:solidFill>
            <a:srgbClr val="E07B00"/>
          </a:solidFill>
          <a:ln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3556000"/>
            <a:ext cx="38100" cy="952500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0600" y="3556000"/>
            <a:ext cx="4064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Where most evaluations stop: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run it twice, compare the mark.</a:t>
            </a:r>
          </a:p>
        </p:txBody>
      </p:sp>
      <p:pic>
        <p:nvPicPr>
          <p:cNvPr id="14" name="Picture 13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200" y="6324600"/>
            <a:ext cx="939800" cy="25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