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0.png"/><Relationship Id="rId7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19.png"/><Relationship Id="rId4" Type="http://schemas.openxmlformats.org/officeDocument/2006/relationships/image" Target="../media/image32.png"/><Relationship Id="rId5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63000" y="1651000"/>
            <a:ext cx="4826000" cy="4826000"/>
          </a:xfrm>
          <a:prstGeom prst="ellipse">
            <a:avLst/>
          </a:prstGeom>
          <a:solidFill>
            <a:srgbClr val="0A3A47"/>
          </a:solidFill>
          <a:ln>
            <a:solidFill>
              <a:srgbClr val="0A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52000" y="2540000"/>
            <a:ext cx="3048000" cy="3048000"/>
          </a:xfrm>
          <a:prstGeom prst="ellipse">
            <a:avLst/>
          </a:prstGeom>
          <a:solidFill>
            <a:srgbClr val="0F4C57"/>
          </a:solidFill>
          <a:ln>
            <a:solidFill>
              <a:srgbClr val="0F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41000" y="3429000"/>
            <a:ext cx="1270000" cy="12700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JISC  ×  EDUFACE  ·  WEBINAR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286000"/>
            <a:ext cx="7620000" cy="209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What 20+ AI feedback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implementations taught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8100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Consistency, efficiency and the risk nobody planned for</a:t>
            </a:r>
          </a:p>
        </p:txBody>
      </p:sp>
      <p:pic>
        <p:nvPicPr>
          <p:cNvPr id="9" name="Picture 8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969000"/>
            <a:ext cx="14097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Four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4050" y="3302000"/>
            <a:ext cx="8343900" cy="254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795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gespre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3079750"/>
            <a:ext cx="444500" cy="44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 conversation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with Jisc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08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lamp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100" y="3079750"/>
            <a:ext cx="444500" cy="444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33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What we learned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 20+ implementations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21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deur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3079750"/>
            <a:ext cx="444500" cy="444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46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Breakout rooms: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you choose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34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check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3079750"/>
            <a:ext cx="444500" cy="444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059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Wrap-up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4826000"/>
            <a:ext cx="23241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Consistency  or  Efficiency</a:t>
            </a:r>
          </a:p>
        </p:txBody>
      </p:sp>
      <p:pic>
        <p:nvPicPr>
          <p:cNvPr id="18" name="Picture 17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IN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22500"/>
            <a:ext cx="6985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1">
                <a:solidFill>
                  <a:srgbClr val="FFFFFF"/>
                </a:solidFill>
                <a:latin typeface="League Spartan"/>
              </a:rPr>
              <a:t>[Name]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115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B9CBD2"/>
                </a:solidFill>
                <a:latin typeface="Inter"/>
              </a:rPr>
              <a:t>[Role], Jisc</a:t>
            </a:r>
          </a:p>
        </p:txBody>
      </p:sp>
      <p:sp>
        <p:nvSpPr>
          <p:cNvPr id="6" name="Oval 5"/>
          <p:cNvSpPr/>
          <p:nvPr/>
        </p:nvSpPr>
        <p:spPr>
          <a:xfrm>
            <a:off x="8001000" y="1587500"/>
            <a:ext cx="3302000" cy="3302000"/>
          </a:xfrm>
          <a:prstGeom prst="ellipse">
            <a:avLst/>
          </a:prstGeom>
          <a:solidFill>
            <a:srgbClr val="0F4C57"/>
          </a:solidFill>
          <a:ln>
            <a:solidFill>
              <a:srgbClr val="0F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31115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B4"/>
                </a:solidFill>
                <a:latin typeface="Inter"/>
              </a:rPr>
              <a:t>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064000"/>
            <a:ext cx="635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E075"/>
                </a:solidFill>
                <a:latin typeface="Inter"/>
              </a:rPr>
              <a:t>What does the sector expect from AI feedback,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E075"/>
                </a:solidFill>
                <a:latin typeface="Inter"/>
              </a:rPr>
              <a:t>and what is actually working?</a:t>
            </a:r>
          </a:p>
        </p:txBody>
      </p:sp>
      <p:pic>
        <p:nvPicPr>
          <p:cNvPr id="9" name="Picture 8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5715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0" b="1">
                <a:solidFill>
                  <a:srgbClr val="007B54"/>
                </a:solidFill>
                <a:latin typeface="League Spartan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5207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002333"/>
                </a:solidFill>
                <a:latin typeface="Inter"/>
              </a:rPr>
              <a:t>colleges and universities in Jisc's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002333"/>
                </a:solidFill>
                <a:latin typeface="Inter"/>
              </a:rPr>
              <a:t>AI in marking and feedback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45000"/>
            <a:ext cx="520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September 2025 to August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31000" y="1587500"/>
            <a:ext cx="4699000" cy="3302000"/>
          </a:xfrm>
          <a:prstGeom prst="roundRect">
            <a:avLst>
              <a:gd name="adj" fmla="val 5384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12000" y="1905000"/>
            <a:ext cx="406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0E075"/>
                </a:solidFill>
                <a:latin typeface="League Spartan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0" y="2476500"/>
            <a:ext cx="4064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002333"/>
                </a:solidFill>
                <a:latin typeface="Inter"/>
              </a:rPr>
              <a:t>These tools shouldn't be used as a final marker. Humans should always be reviewing the feedback.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43180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2333"/>
                </a:solidFill>
                <a:latin typeface="Inter"/>
              </a:rPr>
              <a:t>Tom Moule, Jisc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Jisc National Centre for AI, May 2026 · Times Higher Education, 27 March 2026</a:t>
            </a:r>
          </a:p>
        </p:txBody>
      </p:sp>
      <p:pic>
        <p:nvPicPr>
          <p:cNvPr id="11" name="Picture 10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Lessons from 20+ pilots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and implementations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_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3047175"/>
            <a:ext cx="1244600" cy="3191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6035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_hh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050" y="2985328"/>
            <a:ext cx="1244600" cy="4428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4450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_t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550" y="3049014"/>
            <a:ext cx="1244600" cy="315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865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_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050" y="3065184"/>
            <a:ext cx="1244600" cy="2831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827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_u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1806" y="4083050"/>
            <a:ext cx="1205589" cy="508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5242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4250" y="4210050"/>
            <a:ext cx="16637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Bath Spa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657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5750" y="4210050"/>
            <a:ext cx="16637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7th logo</a:t>
            </a:r>
          </a:p>
        </p:txBody>
      </p:sp>
      <p:sp>
        <p:nvSpPr>
          <p:cNvPr id="18" name="Oval 17"/>
          <p:cNvSpPr/>
          <p:nvPr/>
        </p:nvSpPr>
        <p:spPr>
          <a:xfrm>
            <a:off x="9017000" y="2857500"/>
            <a:ext cx="1778000" cy="17780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7000" y="3302000"/>
            <a:ext cx="177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>
                <a:solidFill>
                  <a:srgbClr val="002333"/>
                </a:solidFill>
                <a:latin typeface="League Spartan"/>
              </a:rPr>
              <a:t>+20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500" y="47879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pilots &amp; implementations</a:t>
            </a:r>
          </a:p>
        </p:txBody>
      </p:sp>
      <p:pic>
        <p:nvPicPr>
          <p:cNvPr id="21" name="Picture 20" descr="logo_navy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This is not a product demo.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These are the patterns we saw.</a:t>
            </a:r>
          </a:p>
        </p:txBody>
      </p:sp>
      <p:pic>
        <p:nvPicPr>
          <p:cNvPr id="4" name="Picture 3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INSTITUTIONS BRING US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Three reasons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1</a:t>
            </a:r>
          </a:p>
        </p:txBody>
      </p:sp>
      <p:pic>
        <p:nvPicPr>
          <p:cNvPr id="6" name="Picture 5" descr="icon-slot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600" y="2794000"/>
            <a:ext cx="762000" cy="76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Data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Staff already use AI to mark,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outside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04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52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2</a:t>
            </a:r>
          </a:p>
        </p:txBody>
      </p:sp>
      <p:pic>
        <p:nvPicPr>
          <p:cNvPr id="11" name="Picture 10" descr="icon-weegschaa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794000"/>
            <a:ext cx="762000" cy="76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04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Grading and feedback,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formative and summative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88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836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3</a:t>
            </a:r>
          </a:p>
        </p:txBody>
      </p:sp>
      <p:pic>
        <p:nvPicPr>
          <p:cNvPr id="16" name="Picture 15" descr="icon-klok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400" y="2794000"/>
            <a:ext cx="7620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788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Efficiency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88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Time back for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lecturers</a:t>
            </a:r>
          </a:p>
        </p:txBody>
      </p:sp>
      <p:pic>
        <p:nvPicPr>
          <p:cNvPr id="19" name="Picture 18" descr="logo_nav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1 · DATA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Staff are already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using AI to mark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99200" y="13589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23000" y="1270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23000" y="1270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23000" y="1270000"/>
            <a:ext cx="4699000" cy="381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1498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OMROEP BRABANT · EARLY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1803400"/>
            <a:ext cx="419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Docent bouwt AI-tool die studentgegevens naar ChatGPT stuurt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2768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Lecturer builds AI tool that sends student data to ChatGPT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7200" y="36449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31000" y="3556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31000" y="3556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1000" y="3556000"/>
            <a:ext cx="4699000" cy="381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5000" y="3784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THE NEW YORK TIMES · MAY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5000" y="4089400"/>
            <a:ext cx="419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The Professors Are Using ChatGPT, and Some Students Aren't Happy About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3556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When it reaches the press,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it is no longer an IT issue.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omroepbrabant.nl/nieuws/6002910 · nytimes.com, 14 May 2025</a:t>
            </a:r>
          </a:p>
        </p:txBody>
      </p:sp>
      <p:pic>
        <p:nvPicPr>
          <p:cNvPr id="19" name="Picture 1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Banning it doesn't stop it.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A safe alternative does.</a:t>
            </a:r>
          </a:p>
        </p:txBody>
      </p:sp>
      <p:pic>
        <p:nvPicPr>
          <p:cNvPr id="4" name="Picture 3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3810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Grading and feedback, formative and summative</a:t>
            </a:r>
          </a:p>
        </p:txBody>
      </p:sp>
      <p:pic>
        <p:nvPicPr>
          <p:cNvPr id="6" name="Picture 5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Consistency is more than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the same grade</a:t>
            </a:r>
          </a:p>
        </p:txBody>
      </p:sp>
      <p:sp>
        <p:nvSpPr>
          <p:cNvPr id="4" name="Oval 3"/>
          <p:cNvSpPr/>
          <p:nvPr/>
        </p:nvSpPr>
        <p:spPr>
          <a:xfrm>
            <a:off x="6286500" y="1333500"/>
            <a:ext cx="4699000" cy="4699000"/>
          </a:xfrm>
          <a:prstGeom prst="ellipse">
            <a:avLst/>
          </a:prstGeom>
          <a:solidFill>
            <a:srgbClr val="F3F7F8"/>
          </a:solidFill>
          <a:ln>
            <a:solidFill>
              <a:srgbClr val="F3F7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48500" y="2095500"/>
            <a:ext cx="3175000" cy="3175000"/>
          </a:xfrm>
          <a:prstGeom prst="ellipse">
            <a:avLst/>
          </a:prstGeom>
          <a:solidFill>
            <a:srgbClr val="E2FBEF"/>
          </a:solidFill>
          <a:ln>
            <a:solidFill>
              <a:srgbClr val="E2F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8750" y="2825750"/>
            <a:ext cx="1714500" cy="1714500"/>
          </a:xfrm>
          <a:prstGeom prst="ellipse">
            <a:avLst/>
          </a:prstGeom>
          <a:solidFill>
            <a:srgbClr val="002333"/>
          </a:solidFill>
          <a:ln>
            <a:solidFill>
              <a:srgbClr val="002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8750" y="3517900"/>
            <a:ext cx="17145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Same 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8500" y="2317750"/>
            <a:ext cx="317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7B54"/>
                </a:solidFill>
                <a:latin typeface="League Spartan"/>
              </a:rPr>
              <a:t>Same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0" y="1587500"/>
            <a:ext cx="4699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Same voice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26000" y="4025900"/>
            <a:ext cx="2825750" cy="1905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3650" y="3975100"/>
            <a:ext cx="114300" cy="1143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3556000"/>
            <a:ext cx="38100" cy="9525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3556000"/>
            <a:ext cx="40640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Where most evaluations stop: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run it twice, compare the mark.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THE PROBLEM IS 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397000"/>
            <a:ext cx="6985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2333"/>
                </a:solidFill>
                <a:latin typeface="League Spartan"/>
              </a:rPr>
              <a:t>9 of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6350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002333"/>
                </a:solidFill>
                <a:latin typeface="Inter"/>
              </a:rPr>
              <a:t>assignments were ranked both best and worst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002333"/>
                </a:solidFill>
                <a:latin typeface="Inter"/>
              </a:rPr>
              <a:t>by different experienced examiners</a:t>
            </a:r>
          </a:p>
        </p:txBody>
      </p:sp>
      <p:sp>
        <p:nvSpPr>
          <p:cNvPr id="5" name="Oval 4"/>
          <p:cNvSpPr/>
          <p:nvPr/>
        </p:nvSpPr>
        <p:spPr>
          <a:xfrm>
            <a:off x="82550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39200" y="16510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234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076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91800" y="16510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550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39200" y="22352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34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076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91800" y="22352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50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39200" y="28194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234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76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91800" y="28194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55000" y="34036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92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234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07600" y="34036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5000" y="41275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work, opposite rankings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Bloxham et al., Assessment &amp; Evaluation in Higher Education, 2016 · 24 examiners, 20 UK universities</a:t>
            </a:r>
          </a:p>
        </p:txBody>
      </p:sp>
      <p:pic>
        <p:nvPicPr>
          <p:cNvPr id="27" name="Picture 2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Where inconsistency hurts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795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groep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2952750"/>
            <a:ext cx="444500" cy="44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0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Many markers,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one module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33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608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historie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100" y="2952750"/>
            <a:ext cx="4445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703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Paper 80 is marked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differently from paper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6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421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ongelijk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2952750"/>
            <a:ext cx="444500" cy="444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516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Students compare,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then appeal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59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234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oogdicht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2952750"/>
            <a:ext cx="444500" cy="4445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329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Moderation only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sees a sample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IT MATTERS TO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698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Consistent feedback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can build on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Draft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60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65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2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60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65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65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2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9700" y="3810000"/>
            <a:ext cx="5842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04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44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Draft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44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26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44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49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26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44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49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26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8100" y="3810000"/>
            <a:ext cx="5842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88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28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Final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28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233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410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28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33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410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28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33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10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pic>
        <p:nvPicPr>
          <p:cNvPr id="39" name="Picture 3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WHERE WE WANT TO GET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League Spartan"/>
              </a:rPr>
              <a:t>A student sees their own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League Spartan"/>
              </a:rPr>
              <a:t>growth across the degree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5308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0975" y="529537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0350" y="528214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9725" y="5268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89100" y="525568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68475" y="524245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47850" y="52292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27225" y="521599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06600" y="5202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85975" y="5189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65350" y="517630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44725" y="516307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24100" y="5149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03475" y="513662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82850" y="512339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62225" y="5110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41600" y="5096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20975" y="508370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800350" y="50704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879725" y="505724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59100" y="504401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038475" y="5030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117850" y="501755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197225" y="500432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6600" y="4991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55975" y="497257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35350" y="495405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14725" y="4935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94100" y="491701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73475" y="489849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52850" y="4879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2225" y="486145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11600" y="4842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90975" y="48244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0350" y="480589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149725" y="478737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229100" y="4768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08475" y="475032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87850" y="473180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67225" y="47132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546600" y="4694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625975" y="467624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705350" y="4657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784725" y="463920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64100" y="462068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43475" y="4602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22850" y="458364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02225" y="456512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181600" y="4546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260975" y="4525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40350" y="4504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419725" y="4483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499100" y="4461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578475" y="4440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657850" y="4419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737225" y="4398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816600" y="4377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895975" y="4356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975350" y="4334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054725" y="4313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34100" y="4292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13475" y="4271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292850" y="4250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72225" y="4229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51600" y="4207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30975" y="4186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610350" y="4165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689725" y="4144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769100" y="4123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48475" y="4102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927850" y="4080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007225" y="4059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086600" y="4038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165975" y="4017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45350" y="3996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324725" y="3975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404100" y="3953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483475" y="3932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562850" y="3911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642225" y="3890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721600" y="3869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800975" y="3848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880350" y="3826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959725" y="3805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039100" y="3784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118475" y="3763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197850" y="3742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277225" y="3721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356600" y="3699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435975" y="3678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15350" y="3657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594725" y="3636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674100" y="3615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753475" y="3594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832850" y="3572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912225" y="3551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991600" y="3530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065683" y="3506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139767" y="3482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213850" y="3459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287933" y="34353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362017" y="3411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436100" y="3387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10183" y="3363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584267" y="3340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658350" y="33162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732433" y="32924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806517" y="32686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880600" y="3244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954683" y="32210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028767" y="31972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102850" y="31734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176933" y="3149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251017" y="3125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325100" y="3101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99183" y="3078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3267" y="30543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547350" y="3030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621433" y="3006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695517" y="2982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289050" y="5226050"/>
            <a:ext cx="215900" cy="2159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168650" y="4883150"/>
            <a:ext cx="266700" cy="2667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048250" y="4413250"/>
            <a:ext cx="317500" cy="3175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927850" y="3879850"/>
            <a:ext cx="368300" cy="3683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807450" y="3346450"/>
            <a:ext cx="419100" cy="4191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60050" y="2749550"/>
            <a:ext cx="469900" cy="4699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6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8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2000" y="6096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Illustration</a:t>
            </a:r>
          </a:p>
        </p:txBody>
      </p:sp>
      <p:pic>
        <p:nvPicPr>
          <p:cNvPr id="135" name="Picture 134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We started with general LLMs.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Then we built our own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286000"/>
            <a:ext cx="4826000" cy="3048000"/>
          </a:xfrm>
          <a:prstGeom prst="roundRect">
            <a:avLst>
              <a:gd name="adj" fmla="val 5833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44771" y="385153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369358" y="337393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8270" y="343274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73888" y="380109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11944" y="369982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81882" y="366309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80665" y="405020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974021" y="384424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59779" y="254829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21623" y="328545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08146" y="3529470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86065" y="3184885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10834" y="378376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10231" y="4445000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5481" y="4247689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3915" y="312867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271989" y="349450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77781" y="369955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86709" y="300304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26253" y="4261509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89040" y="369743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08091" y="269515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96016" y="431081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93143" y="337016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68382" y="3083746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966595" y="352001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635500"/>
            <a:ext cx="482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002333"/>
                </a:solidFill>
                <a:latin typeface="League Spartan"/>
              </a:rPr>
              <a:t>General LLM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9911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paper, different focus each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3000" y="2286000"/>
            <a:ext cx="4826000" cy="3048000"/>
          </a:xfrm>
          <a:prstGeom prst="roundRect">
            <a:avLst>
              <a:gd name="adj" fmla="val 5833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24469" y="375838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869765" y="378723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9129" y="364456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77656" y="3238386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850944" y="340644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477894" y="324679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98061" y="3426154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086127" y="305927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126896" y="361451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40090" y="369742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72445" y="294035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60821" y="3376002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44915" y="3794943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20799" y="3594444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721837" y="366219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192706" y="3707337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17138" y="368990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088268" y="3869352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69569" y="368548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46624" y="340108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930175" y="3113203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571730" y="3805249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178067" y="394963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828773" y="351929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749460" y="3714867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678048" y="383608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23000" y="4635500"/>
            <a:ext cx="482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002333"/>
                </a:solidFill>
                <a:latin typeface="League Spartan"/>
              </a:rPr>
              <a:t>Purpose-built model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3000" y="49911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paper, same criteria, same voice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Illustration, not a measurement. Model trained on 250,000 education-specific feedback examples.</a:t>
            </a:r>
          </a:p>
        </p:txBody>
      </p:sp>
      <p:pic>
        <p:nvPicPr>
          <p:cNvPr id="63" name="Picture 62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INSTITUTIONS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Two lessons on consistency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302000"/>
          </a:xfrm>
          <a:prstGeom prst="roundRect">
            <a:avLst>
              <a:gd name="adj" fmla="val 5384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rubric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349500"/>
            <a:ext cx="609600" cy="60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7600" y="3175000"/>
            <a:ext cx="43942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The gap was in the rubric,</a:t>
            </a:r>
          </a:p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not in the markers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4127500"/>
            <a:ext cx="4394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Six markers, one module. One marked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“critical analysis” lower every time: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they read the descriptor differently.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600" y="2032000"/>
            <a:ext cx="5105400" cy="3302000"/>
          </a:xfrm>
          <a:prstGeom prst="roundRect">
            <a:avLst>
              <a:gd name="adj" fmla="val 5384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studenten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0" y="2349500"/>
            <a:ext cx="60960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0200" y="3175000"/>
            <a:ext cx="43942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Students act on feedback</a:t>
            </a:r>
          </a:p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they recognise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0200" y="4127500"/>
            <a:ext cx="4394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Three formative rounds, a different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focus each time: students ignored it.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Same criteria every round: they used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Typical scenarios from our implementations, institutions not named.</a:t>
            </a:r>
          </a:p>
        </p:txBody>
      </p:sp>
      <p:pic>
        <p:nvPicPr>
          <p:cNvPr id="13" name="Picture 12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WHEN AI GRADING IS A STEP TOO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Not ready for AI grades?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Use it to moderate.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97000" y="4680426"/>
            <a:ext cx="228600" cy="39957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39900" y="4664299"/>
            <a:ext cx="228600" cy="415701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82800" y="4637332"/>
            <a:ext cx="228600" cy="44266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5700" y="4594752"/>
            <a:ext cx="228600" cy="48524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68600" y="4531368"/>
            <a:ext cx="228600" cy="54863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11500" y="4442591"/>
            <a:ext cx="228600" cy="637409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54400" y="4325928"/>
            <a:ext cx="228600" cy="75407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97300" y="4182657"/>
            <a:ext cx="228600" cy="897343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40200" y="4019218"/>
            <a:ext cx="228600" cy="106078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3100" y="3847694"/>
            <a:ext cx="228600" cy="123230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26000" y="3684884"/>
            <a:ext cx="228600" cy="139511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68900" y="3549856"/>
            <a:ext cx="228600" cy="15301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11800" y="3460356"/>
            <a:ext cx="228600" cy="16196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54700" y="3429000"/>
            <a:ext cx="228600" cy="1651000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7600" y="3460356"/>
            <a:ext cx="228600" cy="16196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40500" y="3549856"/>
            <a:ext cx="228600" cy="15301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83400" y="3684884"/>
            <a:ext cx="228600" cy="139511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6300" y="3847694"/>
            <a:ext cx="228600" cy="123230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69200" y="4019218"/>
            <a:ext cx="228600" cy="106078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12100" y="4182657"/>
            <a:ext cx="228600" cy="897343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55000" y="4325928"/>
            <a:ext cx="228600" cy="75407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7900" y="4442591"/>
            <a:ext cx="228600" cy="637409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40800" y="4531368"/>
            <a:ext cx="228600" cy="54863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83700" y="2984500"/>
            <a:ext cx="228600" cy="2095500"/>
          </a:xfrm>
          <a:prstGeom prst="roundRect">
            <a:avLst>
              <a:gd name="adj" fmla="val 22222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26600" y="4637332"/>
            <a:ext cx="228600" cy="44266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9500" y="4664299"/>
            <a:ext cx="228600" cy="415701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312400" y="4680426"/>
            <a:ext cx="228600" cy="39957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55300" y="4689543"/>
            <a:ext cx="228600" cy="390457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-vlag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7500" y="2476500"/>
            <a:ext cx="381000" cy="381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728200" y="2540000"/>
            <a:ext cx="1905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07B00"/>
                </a:solidFill>
                <a:latin typeface="Inter"/>
              </a:rPr>
              <a:t>Flagged: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E07B00"/>
                </a:solidFill>
                <a:latin typeface="Inter"/>
              </a:rPr>
              <a:t>far from expected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2000" y="5092700"/>
            <a:ext cx="106680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" y="52705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AI grade stays hidden. Only large deviations reach the moderator.</a:t>
            </a:r>
          </a:p>
        </p:txBody>
      </p:sp>
      <p:pic>
        <p:nvPicPr>
          <p:cNvPr id="36" name="Picture 35" descr="logo_navy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3810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E075"/>
                </a:solidFill>
                <a:latin typeface="League Spart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Time saved on marking and feedback</a:t>
            </a:r>
          </a:p>
        </p:txBody>
      </p:sp>
      <p:pic>
        <p:nvPicPr>
          <p:cNvPr id="6" name="Picture 5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Two flavours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905000"/>
            <a:ext cx="5105400" cy="3556000"/>
          </a:xfrm>
          <a:prstGeom prst="roundRect">
            <a:avLst>
              <a:gd name="adj" fmla="val 5000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maan-m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222500"/>
            <a:ext cx="508000" cy="50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78000" y="2298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League Spartan"/>
              </a:rPr>
              <a:t>Formative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3048000"/>
            <a:ext cx="4394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0E075"/>
                </a:solidFill>
                <a:latin typeface="League Spartan"/>
              </a:rPr>
              <a:t>03:00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4064000"/>
            <a:ext cx="4394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Student asks for feedback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when it suits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17600" y="4940300"/>
            <a:ext cx="2286000" cy="330200"/>
          </a:xfrm>
          <a:prstGeom prst="roundRect">
            <a:avLst>
              <a:gd name="adj" fmla="val 50000"/>
            </a:avLst>
          </a:prstGeom>
          <a:solidFill>
            <a:srgbClr val="0F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76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0E075"/>
                </a:solidFill>
                <a:latin typeface="Inter"/>
              </a:rPr>
              <a:t>No human in the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600" y="1905000"/>
            <a:ext cx="5105400" cy="3556000"/>
          </a:xfrm>
          <a:prstGeom prst="roundRect">
            <a:avLst>
              <a:gd name="adj" fmla="val 5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userchec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0" y="2222500"/>
            <a:ext cx="508000" cy="50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40600" y="2298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2333"/>
                </a:solidFill>
                <a:latin typeface="League Spartan"/>
              </a:rPr>
              <a:t>Summative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0200" y="3048000"/>
            <a:ext cx="4394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007B54"/>
                </a:solidFill>
                <a:latin typeface="League Spartan"/>
              </a:rPr>
              <a:t>Lecturer +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4064000"/>
            <a:ext cx="4394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Time saved on writing,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not on reading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80200" y="4940300"/>
            <a:ext cx="2286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02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07B54"/>
                </a:solidFill>
                <a:latin typeface="Inter"/>
              </a:rPr>
              <a:t>Human in the loop</a:t>
            </a:r>
          </a:p>
        </p:txBody>
      </p:sp>
      <p:pic>
        <p:nvPicPr>
          <p:cNvPr id="18" name="Picture 17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WHERE THE TIME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Academics already work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far beyond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11500"/>
            <a:ext cx="228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75000" y="2984500"/>
            <a:ext cx="5861538" cy="635000"/>
          </a:xfrm>
          <a:prstGeom prst="roundRect">
            <a:avLst>
              <a:gd name="adj" fmla="val 14000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85538" y="3124200"/>
            <a:ext cx="1460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>
                <a:solidFill>
                  <a:srgbClr val="002333"/>
                </a:solidFill>
                <a:latin typeface="League Spartan"/>
              </a:rPr>
              <a:t>37.5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191000"/>
            <a:ext cx="228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Actual average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5000" y="4064000"/>
            <a:ext cx="7956062" cy="635000"/>
          </a:xfrm>
          <a:prstGeom prst="roundRect">
            <a:avLst>
              <a:gd name="adj" fmla="val 14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80062" y="4203700"/>
            <a:ext cx="1460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League Spartan"/>
              </a:rPr>
              <a:t>50.9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5000" y="5207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07B00"/>
                </a:solidFill>
                <a:latin typeface="Inter"/>
              </a:rPr>
              <a:t>+13.4 hours a week beyond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UCU workload survey, 2016, n ≈ 12,100 (older data)</a:t>
            </a:r>
          </a:p>
        </p:txBody>
      </p:sp>
      <p:pic>
        <p:nvPicPr>
          <p:cNvPr id="12" name="Picture 11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 HEAR FROM INSTITUTIONS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The cost of no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32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FOR LECTURERS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476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schoolbord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67335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87500" y="2730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Marking instead of mentoring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4290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klo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3625850"/>
            <a:ext cx="406400" cy="406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87500" y="36830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Structural overtime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2032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FOR INSTITUTIONS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600" y="2476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pen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673350"/>
            <a:ext cx="406400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50100" y="2730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No formative feedback at 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600" y="34290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prijs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625850"/>
            <a:ext cx="406400" cy="406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50100" y="36830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Paying external markers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600" y="4381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tudenten-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57835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50100" y="4635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Fewer staff, more students</a:t>
            </a:r>
          </a:p>
        </p:txBody>
      </p:sp>
      <p:pic>
        <p:nvPicPr>
          <p:cNvPr id="21" name="Picture 20" descr="logo_navy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ACCURACY MATTERS TO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Time saved depends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on accuracy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78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rubric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5" y="3095625"/>
            <a:ext cx="476250" cy="47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Your rubric and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instructions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550" y="3111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91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mod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225" y="3095625"/>
            <a:ext cx="476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33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The model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follows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850" y="3111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104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filepen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525" y="3095625"/>
            <a:ext cx="476250" cy="4762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46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Feedback you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would give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8150" y="3111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17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check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9825" y="3095625"/>
            <a:ext cx="476250" cy="476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059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Approve,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don't rewrite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080000"/>
            <a:ext cx="10668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07B00"/>
                </a:solidFill>
                <a:latin typeface="Inter"/>
              </a:rPr>
              <a:t>Inaccurate feedback costs more time to fix than to write yourself.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Tuning is the investment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413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5B7480"/>
                </a:solidFill>
                <a:latin typeface="League Spartan"/>
              </a:rPr>
              <a:t>~6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points from the lecturer’s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mark, on average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413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007B54"/>
                </a:solidFill>
                <a:latin typeface="League Spartan"/>
              </a:rPr>
              <a:t>~2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09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points for lecturers who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tuned the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88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8800" y="2413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002333"/>
                </a:solidFill>
                <a:latin typeface="League Spartan"/>
              </a:rPr>
              <a:t>2–3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93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minutes review time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per submission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One pilot, Bath Spa University, June 2026: 435 submissions, 6 modules, 13 markers.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WHERE WE WANT TO GET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Lecturer time moves from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typing to 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38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13000" y="3048000"/>
            <a:ext cx="5539740" cy="698500"/>
          </a:xfrm>
          <a:prstGeom prst="roundRect">
            <a:avLst>
              <a:gd name="adj" fmla="val 12727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90800" y="3263900"/>
            <a:ext cx="527304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Writing feedback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3540" y="3048000"/>
            <a:ext cx="3375660" cy="698500"/>
          </a:xfrm>
          <a:prstGeom prst="roundRect">
            <a:avLst>
              <a:gd name="adj" fmla="val 12727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1340" y="3263900"/>
            <a:ext cx="310896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2333"/>
                </a:solidFill>
                <a:latin typeface="Inter"/>
              </a:rPr>
              <a:t>Teaching &amp; mentoring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381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With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3000" y="4191000"/>
            <a:ext cx="2203450" cy="698500"/>
          </a:xfrm>
          <a:prstGeom prst="roundRect">
            <a:avLst>
              <a:gd name="adj" fmla="val 12727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800" y="4406900"/>
            <a:ext cx="193675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Checking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7250" y="4191000"/>
            <a:ext cx="6711950" cy="698500"/>
          </a:xfrm>
          <a:prstGeom prst="roundRect">
            <a:avLst>
              <a:gd name="adj" fmla="val 12727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5050" y="4406900"/>
            <a:ext cx="644525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2333"/>
                </a:solidFill>
                <a:latin typeface="Inter"/>
              </a:rPr>
              <a:t>Teaching &amp; mentoring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Illustration, not a measurement.</a:t>
            </a:r>
          </a:p>
        </p:txBody>
      </p:sp>
      <p:pic>
        <p:nvPicPr>
          <p:cNvPr id="15" name="Picture 1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“Won’t lecturers just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click approve?”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4450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The question we always get.</a:t>
            </a:r>
          </a:p>
        </p:txBody>
      </p:sp>
      <p:pic>
        <p:nvPicPr>
          <p:cNvPr id="5" name="Picture 4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Approving is still judging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wisselen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100" y="2476500"/>
            <a:ext cx="635000" cy="63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25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 alternative today is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often no feedback at 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rubric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0" y="2476500"/>
            <a:ext cx="635000" cy="635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09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It gives the feedback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 lecturer set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88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historie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900" y="2476500"/>
            <a:ext cx="635000" cy="63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93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Every edit is logged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in the audit trail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0165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7B54"/>
                </a:solidFill>
                <a:latin typeface="League Spartan"/>
              </a:rPr>
              <a:t>The AI assists. The academic decides.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BREAKOUT ROOMS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Choose your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deur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200" y="2984500"/>
            <a:ext cx="889000" cy="88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4127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5720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with Dante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6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deu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800" y="2984500"/>
            <a:ext cx="889000" cy="88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24600" y="4127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45720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with [name]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715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Statements · vote · discuss · short talk · questions</a:t>
            </a:r>
          </a:p>
        </p:txBody>
      </p:sp>
      <p:pic>
        <p:nvPicPr>
          <p:cNvPr id="13" name="Picture 12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ROOM ·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Agree or disagree?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49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2413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Same grade with different feedback is consistent enough.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07500" y="2413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0" y="2489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2350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23500" y="2489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5560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000" y="36195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Students care more about fair grades than consistent feedback.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07500" y="36195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07500" y="36957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23500" y="36195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23500" y="36957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4508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6000" y="4762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1000" y="4826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AI should flag unusual marks, not propose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07500" y="4826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7500" y="4902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23500" y="4826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3500" y="4902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pic>
        <p:nvPicPr>
          <p:cNvPr id="25" name="Picture 2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ROOM · OPERATIONAL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Agree or disagree?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49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2413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Formative feedback no lecturer has read first is acceptable.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07500" y="2413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0" y="2489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2350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23500" y="2489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5560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000" y="36195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Time saved on marking will be cut, not given back to students.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07500" y="36195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07500" y="36957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23500" y="36195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23500" y="36957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4508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6000" y="4762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1000" y="4826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Approving AI feedback with small edits is still my feedback.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07500" y="4826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7500" y="4902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23500" y="4826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3500" y="4902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pic>
        <p:nvPicPr>
          <p:cNvPr id="25" name="Picture 2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BACK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What we heard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2860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800" y="2984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6800" y="3746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6800" y="4508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246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2984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9400" y="3746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29400" y="4508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9525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Which of these would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you test first?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37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Slides and sources follow by email.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45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E075"/>
                </a:solidFill>
                <a:latin typeface="Inter"/>
              </a:rPr>
              <a:t>info@eduface.me  ·  eduface.me</a:t>
            </a:r>
          </a:p>
        </p:txBody>
      </p:sp>
      <p:pic>
        <p:nvPicPr>
          <p:cNvPr id="6" name="Picture 5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969000"/>
            <a:ext cx="1409700" cy="38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