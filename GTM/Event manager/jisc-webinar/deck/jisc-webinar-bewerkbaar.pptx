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63000" y="1651000"/>
            <a:ext cx="4826000" cy="4826000"/>
          </a:xfrm>
          <a:prstGeom prst="ellipse">
            <a:avLst/>
          </a:prstGeom>
          <a:solidFill>
            <a:srgbClr val="0A3A47"/>
          </a:solidFill>
          <a:ln>
            <a:solidFill>
              <a:srgbClr val="0A3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52000" y="2540000"/>
            <a:ext cx="3048000" cy="3048000"/>
          </a:xfrm>
          <a:prstGeom prst="ellipse">
            <a:avLst/>
          </a:prstGeom>
          <a:solidFill>
            <a:srgbClr val="0F4C57"/>
          </a:solidFill>
          <a:ln>
            <a:solidFill>
              <a:srgbClr val="0F4C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41000" y="3429000"/>
            <a:ext cx="1270000" cy="12700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E075"/>
                </a:solidFill>
                <a:latin typeface="Inter"/>
              </a:rPr>
              <a:t>JISC  ×  EDUFACE  ·  WEBINAR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286000"/>
            <a:ext cx="7620000" cy="209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The business outcomes of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AI marking and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100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Lessons from 20+ pilots and implementations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5791200"/>
            <a:ext cx="3130550" cy="736600"/>
          </a:xfrm>
          <a:prstGeom prst="roundRect">
            <a:avLst>
              <a:gd name="adj" fmla="val 189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969000"/>
            <a:ext cx="1409700" cy="381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324100" y="5930900"/>
            <a:ext cx="12700" cy="457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9200" y="5969000"/>
            <a:ext cx="10477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Four parts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24050" y="3302000"/>
            <a:ext cx="8343900" cy="2540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79550" y="2857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gesprek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0" y="3079750"/>
            <a:ext cx="444500" cy="444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40005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In conversation</a:t>
            </a:r>
          </a:p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with Jisc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0850" y="2857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lamp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00" y="3079750"/>
            <a:ext cx="444500" cy="444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3300" y="40005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What we learned</a:t>
            </a:r>
          </a:p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in 20+ implementations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2150" y="2857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deur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3079750"/>
            <a:ext cx="444500" cy="444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24600" y="40005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02333"/>
                </a:solidFill>
                <a:latin typeface="Inter"/>
              </a:rPr>
              <a:t>Breakout rooms:</a:t>
            </a:r>
          </a:p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002333"/>
                </a:solidFill>
                <a:latin typeface="Inter"/>
              </a:rPr>
              <a:t>you choose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23450" y="2857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check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700" y="3079750"/>
            <a:ext cx="444500" cy="444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05900" y="4000500"/>
            <a:ext cx="232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Wrap-up</a:t>
            </a:r>
          </a:p>
          <a:p>
            <a:pPr algn="ctr">
              <a:lnSpc>
                <a:spcPct val="125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together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600" y="4826000"/>
            <a:ext cx="23241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07B00"/>
                </a:solidFill>
                <a:latin typeface="Inter"/>
              </a:rPr>
              <a:t>Consistency  or  Efficiency</a:t>
            </a:r>
          </a:p>
        </p:txBody>
      </p:sp>
      <p:pic>
        <p:nvPicPr>
          <p:cNvPr id="18" name="Picture 17" descr="logo_navy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_jisc_placehol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E075"/>
                </a:solidFill>
                <a:latin typeface="Inter"/>
              </a:rPr>
              <a:t>IN CONVERSATION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22500"/>
            <a:ext cx="6985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1">
                <a:solidFill>
                  <a:srgbClr val="FFFFFF"/>
                </a:solidFill>
                <a:latin typeface="League Spartan"/>
              </a:rPr>
              <a:t>Hannah Lawrence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11500"/>
            <a:ext cx="698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B9CBD2"/>
                </a:solidFill>
                <a:latin typeface="Inter"/>
              </a:rPr>
              <a:t>Licence Manager, Jisc</a:t>
            </a:r>
          </a:p>
        </p:txBody>
      </p:sp>
      <p:sp>
        <p:nvSpPr>
          <p:cNvPr id="6" name="Oval 5"/>
          <p:cNvSpPr/>
          <p:nvPr/>
        </p:nvSpPr>
        <p:spPr>
          <a:xfrm>
            <a:off x="8001000" y="1587500"/>
            <a:ext cx="3302000" cy="3302000"/>
          </a:xfrm>
          <a:prstGeom prst="ellipse">
            <a:avLst/>
          </a:prstGeom>
          <a:solidFill>
            <a:srgbClr val="0F4C57"/>
          </a:solidFill>
          <a:ln>
            <a:solidFill>
              <a:srgbClr val="0F4C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31115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8FA9B4"/>
                </a:solidFill>
                <a:latin typeface="Inter"/>
              </a:rPr>
              <a:t>photo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064000"/>
            <a:ext cx="6350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E075"/>
                </a:solidFill>
                <a:latin typeface="Inter"/>
              </a:rPr>
              <a:t>What does the sector expect from AI feedback,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E075"/>
                </a:solidFill>
                <a:latin typeface="Inter"/>
              </a:rPr>
              <a:t>and what is actually working?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64650" y="6210300"/>
            <a:ext cx="23177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IN CONVERSATION WITH JISC  ·  1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What do you see institutions struggling with most right now when it comes to AI?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573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732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91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05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IN CONVERSATION WITH JISC  ·  2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What made Jisc decide to start the AI in marking and feedback pilot?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79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732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91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05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587500"/>
            <a:ext cx="5715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0" b="1">
                <a:solidFill>
                  <a:srgbClr val="007B54"/>
                </a:solidFill>
                <a:latin typeface="League Spartan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29000"/>
            <a:ext cx="52070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002333"/>
                </a:solidFill>
                <a:latin typeface="Inter"/>
              </a:rPr>
              <a:t>colleges and universities in Jisc's</a:t>
            </a:r>
          </a:p>
          <a:p>
            <a:pPr algn="l">
              <a:lnSpc>
                <a:spcPct val="125000"/>
              </a:lnSpc>
            </a:pPr>
            <a:r>
              <a:rPr sz="2000" b="0">
                <a:solidFill>
                  <a:srgbClr val="002333"/>
                </a:solidFill>
                <a:latin typeface="Inter"/>
              </a:rPr>
              <a:t>AI in marking and feedback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445000"/>
            <a:ext cx="5207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September 2025 to August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31000" y="1587500"/>
            <a:ext cx="4699000" cy="3302000"/>
          </a:xfrm>
          <a:prstGeom prst="roundRect">
            <a:avLst>
              <a:gd name="adj" fmla="val 5384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12000" y="1905000"/>
            <a:ext cx="4064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0E075"/>
                </a:solidFill>
                <a:latin typeface="League Spartan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0" y="2476500"/>
            <a:ext cx="4064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>
                <a:solidFill>
                  <a:srgbClr val="002333"/>
                </a:solidFill>
                <a:latin typeface="Inter"/>
              </a:rPr>
              <a:t>These tools shouldn't be used as a final marker. Humans should always be reviewing the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0" y="43180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Tom Moule, Jisc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350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Jisc National Centre for AI, May 2026 · Times Higher Education, 27 March 2026</a:t>
            </a:r>
          </a:p>
        </p:txBody>
      </p:sp>
      <p:pic>
        <p:nvPicPr>
          <p:cNvPr id="11" name="Picture 10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IN CONVERSATION WITH JISC  ·  3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The pilot points towards formative feedback. What makes AI so valuable there?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79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938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6891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05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IN CONVERSATION WITH JISC  ·  4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Where do institutions tend to get stuck when they try it?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79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938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097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05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IN CONVERSATION WITH JISC  ·  5 OF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002333"/>
                </a:solidFill>
                <a:latin typeface="League Spartan"/>
              </a:rPr>
              <a:t>What's one piece of advice you'd give an institution starting next term?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779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938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09700" y="50800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25600" y="5080000"/>
            <a:ext cx="4064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WHAT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Lessons from 20+ pilots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and implementations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7305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_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047175"/>
            <a:ext cx="1244600" cy="3191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603500" y="27305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_hhs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050" y="2985328"/>
            <a:ext cx="1244600" cy="4428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445000" y="27305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_t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550" y="3049014"/>
            <a:ext cx="1244600" cy="315472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86500" y="27305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_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0" y="3065184"/>
            <a:ext cx="1244600" cy="28313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682750" y="38608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l_u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806" y="4083050"/>
            <a:ext cx="1205589" cy="508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524250" y="38608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4250" y="4210050"/>
            <a:ext cx="1663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Bath Spa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65750" y="3860800"/>
            <a:ext cx="1663700" cy="952500"/>
          </a:xfrm>
          <a:prstGeom prst="roundRect">
            <a:avLst>
              <a:gd name="adj" fmla="val 16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5750" y="4210050"/>
            <a:ext cx="16637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7th logo</a:t>
            </a:r>
          </a:p>
        </p:txBody>
      </p:sp>
      <p:sp>
        <p:nvSpPr>
          <p:cNvPr id="18" name="Oval 17"/>
          <p:cNvSpPr/>
          <p:nvPr/>
        </p:nvSpPr>
        <p:spPr>
          <a:xfrm>
            <a:off x="9017000" y="2857500"/>
            <a:ext cx="1778000" cy="17780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7000" y="3302000"/>
            <a:ext cx="177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002333"/>
                </a:solidFill>
                <a:latin typeface="League Spartan"/>
              </a:rPr>
              <a:t>+20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6500" y="47879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pilots &amp; implementations</a:t>
            </a:r>
          </a:p>
        </p:txBody>
      </p:sp>
      <p:pic>
        <p:nvPicPr>
          <p:cNvPr id="21" name="Picture 20" descr="logo_navy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_jisc_placehol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95500"/>
            <a:ext cx="10668000" cy="20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League Spartan"/>
              </a:rPr>
              <a:t>This is not a product demo.</a:t>
            </a:r>
          </a:p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League Spartan"/>
              </a:rPr>
              <a:t>These are the patterns we saw.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64650" y="6210300"/>
            <a:ext cx="23177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WHY INSTITUTIONS BRING US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Three reasons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32000"/>
            <a:ext cx="3251200" cy="3302000"/>
          </a:xfrm>
          <a:prstGeom prst="roundRect">
            <a:avLst>
              <a:gd name="adj" fmla="val 5468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286000"/>
            <a:ext cx="762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5B7480"/>
                </a:solidFill>
                <a:latin typeface="League Spartan"/>
              </a:rPr>
              <a:t>1</a:t>
            </a:r>
          </a:p>
        </p:txBody>
      </p:sp>
      <p:pic>
        <p:nvPicPr>
          <p:cNvPr id="6" name="Picture 5" descr="icon-slot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0" y="2794000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3873500"/>
            <a:ext cx="32512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02333"/>
                </a:solidFill>
                <a:latin typeface="League Spartan"/>
              </a:rPr>
              <a:t>Data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445000"/>
            <a:ext cx="32512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Staff already use AI to mark,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outside policy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0400" y="2032000"/>
            <a:ext cx="3251200" cy="3302000"/>
          </a:xfrm>
          <a:prstGeom prst="roundRect">
            <a:avLst>
              <a:gd name="adj" fmla="val 5468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5200" y="2286000"/>
            <a:ext cx="762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5B7480"/>
                </a:solidFill>
                <a:latin typeface="League Spartan"/>
              </a:rPr>
              <a:t>2</a:t>
            </a:r>
          </a:p>
        </p:txBody>
      </p:sp>
      <p:pic>
        <p:nvPicPr>
          <p:cNvPr id="11" name="Picture 10" descr="icon-weegschaal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794000"/>
            <a:ext cx="762000" cy="762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70400" y="3873500"/>
            <a:ext cx="32512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02333"/>
                </a:solidFill>
                <a:latin typeface="League Spartan"/>
              </a:rPr>
              <a:t>Consistency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0400" y="4445000"/>
            <a:ext cx="32512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Grading and feedback,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formative and summative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8800" y="2032000"/>
            <a:ext cx="3251200" cy="3302000"/>
          </a:xfrm>
          <a:prstGeom prst="roundRect">
            <a:avLst>
              <a:gd name="adj" fmla="val 5468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3600" y="2286000"/>
            <a:ext cx="762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5B7480"/>
                </a:solidFill>
                <a:latin typeface="League Spartan"/>
              </a:rPr>
              <a:t>3</a:t>
            </a:r>
          </a:p>
        </p:txBody>
      </p:sp>
      <p:pic>
        <p:nvPicPr>
          <p:cNvPr id="16" name="Picture 15" descr="icon-klok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3400" y="2794000"/>
            <a:ext cx="762000" cy="762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178800" y="3873500"/>
            <a:ext cx="32512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002333"/>
                </a:solidFill>
                <a:latin typeface="League Spartan"/>
              </a:rPr>
              <a:t>Efficiency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8800" y="4445000"/>
            <a:ext cx="32512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Time back for</a:t>
            </a:r>
          </a:p>
          <a:p>
            <a:pPr algn="ctr">
              <a:lnSpc>
                <a:spcPct val="130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lecturers</a:t>
            </a:r>
          </a:p>
        </p:txBody>
      </p:sp>
      <p:pic>
        <p:nvPicPr>
          <p:cNvPr id="19" name="Picture 18" descr="logo_navy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_jisc_placehol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1 · DATA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4826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Staff are already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using AI to mark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99200" y="1358900"/>
            <a:ext cx="4699000" cy="1905000"/>
          </a:xfrm>
          <a:prstGeom prst="roundRect">
            <a:avLst>
              <a:gd name="adj" fmla="val 6666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23000" y="1270000"/>
            <a:ext cx="4699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23000" y="1270000"/>
            <a:ext cx="4699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23000" y="1270000"/>
            <a:ext cx="4699000" cy="3810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7000" y="14986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7480"/>
                </a:solidFill>
                <a:latin typeface="Inter"/>
              </a:rPr>
              <a:t>OMROEP BRABANT · EARLY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0" y="1803400"/>
            <a:ext cx="4191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Docent bouwt AI-tool die studentgegevens naar ChatGPT stuurt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27686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Lecturer builds AI tool that sends student data to ChatGPT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07200" y="3644900"/>
            <a:ext cx="4699000" cy="1905000"/>
          </a:xfrm>
          <a:prstGeom prst="roundRect">
            <a:avLst>
              <a:gd name="adj" fmla="val 6666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31000" y="3556000"/>
            <a:ext cx="4699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31000" y="3556000"/>
            <a:ext cx="4699000" cy="1905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31000" y="3556000"/>
            <a:ext cx="4699000" cy="3810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5000" y="3784600"/>
            <a:ext cx="419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B7480"/>
                </a:solidFill>
                <a:latin typeface="Inter"/>
              </a:rPr>
              <a:t>THE NEW YORK TIMES · MAY 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5000" y="4089400"/>
            <a:ext cx="4191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The Professors Are Using ChatGPT, and Some Students Aren't Happy About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556000"/>
            <a:ext cx="4826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002333"/>
                </a:solidFill>
                <a:latin typeface="Inter"/>
              </a:rPr>
              <a:t>When it reaches the press,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002333"/>
                </a:solidFill>
                <a:latin typeface="Inter"/>
              </a:rPr>
              <a:t>it is no longer an IT issue.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350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omroepbrabant.nl/nieuws/6002910 · nytimes.com, 14 May 2025</a:t>
            </a:r>
          </a:p>
        </p:txBody>
      </p:sp>
      <p:pic>
        <p:nvPicPr>
          <p:cNvPr id="19" name="Picture 18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95500"/>
            <a:ext cx="10668000" cy="20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League Spartan"/>
              </a:rPr>
              <a:t>Banning it doesn't stop it.</a:t>
            </a:r>
          </a:p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League Spartan"/>
              </a:rPr>
              <a:t>A safe alternative does.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64650" y="6210300"/>
            <a:ext cx="23177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587500"/>
            <a:ext cx="3810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E075"/>
                </a:solidFill>
                <a:latin typeface="League Spartan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29000"/>
            <a:ext cx="10160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Consistency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Grading and feedback, formative and summative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4650" y="6210300"/>
            <a:ext cx="23177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Consistency is more than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the same grade</a:t>
            </a:r>
          </a:p>
        </p:txBody>
      </p:sp>
      <p:sp>
        <p:nvSpPr>
          <p:cNvPr id="4" name="Oval 3"/>
          <p:cNvSpPr/>
          <p:nvPr/>
        </p:nvSpPr>
        <p:spPr>
          <a:xfrm>
            <a:off x="6286500" y="1333500"/>
            <a:ext cx="4699000" cy="4699000"/>
          </a:xfrm>
          <a:prstGeom prst="ellipse">
            <a:avLst/>
          </a:prstGeom>
          <a:solidFill>
            <a:srgbClr val="F3F7F8"/>
          </a:solidFill>
          <a:ln>
            <a:solidFill>
              <a:srgbClr val="F3F7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8500" y="2095500"/>
            <a:ext cx="3175000" cy="3175000"/>
          </a:xfrm>
          <a:prstGeom prst="ellipse">
            <a:avLst/>
          </a:prstGeom>
          <a:solidFill>
            <a:srgbClr val="E2FBEF"/>
          </a:solidFill>
          <a:ln>
            <a:solidFill>
              <a:srgbClr val="E2F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8750" y="2825750"/>
            <a:ext cx="1714500" cy="1714500"/>
          </a:xfrm>
          <a:prstGeom prst="ellipse">
            <a:avLst/>
          </a:prstGeom>
          <a:solidFill>
            <a:srgbClr val="002333"/>
          </a:solidFill>
          <a:ln>
            <a:solidFill>
              <a:srgbClr val="002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8750" y="3517900"/>
            <a:ext cx="17145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League Spartan"/>
              </a:rPr>
              <a:t>Same grade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8500" y="2317750"/>
            <a:ext cx="3175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7B54"/>
                </a:solidFill>
                <a:latin typeface="League Spartan"/>
              </a:rPr>
              <a:t>Same criteria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1587500"/>
            <a:ext cx="46990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Same voice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26000" y="4025900"/>
            <a:ext cx="2825750" cy="1905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13650" y="3975100"/>
            <a:ext cx="114300" cy="1143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2000" y="3556000"/>
            <a:ext cx="38100" cy="952500"/>
          </a:xfrm>
          <a:prstGeom prst="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600" y="3556000"/>
            <a:ext cx="406400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Where most evaluations stop:</a:t>
            </a:r>
          </a:p>
          <a:p>
            <a:pPr algn="l">
              <a:lnSpc>
                <a:spcPct val="130000"/>
              </a:lnSpc>
            </a:pPr>
            <a:r>
              <a:rPr sz="1700" b="0">
                <a:solidFill>
                  <a:srgbClr val="002333"/>
                </a:solidFill>
                <a:latin typeface="Inter"/>
              </a:rPr>
              <a:t>run it twice, compare the mark.</a:t>
            </a:r>
          </a:p>
        </p:txBody>
      </p:sp>
      <p:pic>
        <p:nvPicPr>
          <p:cNvPr id="14" name="Picture 13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THE PROBLEM IS 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397000"/>
            <a:ext cx="69850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2333"/>
                </a:solidFill>
                <a:latin typeface="League Spartan"/>
              </a:rPr>
              <a:t>9 of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75000"/>
            <a:ext cx="63500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002333"/>
                </a:solidFill>
                <a:latin typeface="Inter"/>
              </a:rPr>
              <a:t>assignments were ranked both best and worst</a:t>
            </a:r>
          </a:p>
          <a:p>
            <a:pPr algn="l">
              <a:lnSpc>
                <a:spcPct val="130000"/>
              </a:lnSpc>
            </a:pPr>
            <a:r>
              <a:rPr sz="2100" b="0">
                <a:solidFill>
                  <a:srgbClr val="002333"/>
                </a:solidFill>
                <a:latin typeface="Inter"/>
              </a:rPr>
              <a:t>by different experienced examiners</a:t>
            </a:r>
          </a:p>
        </p:txBody>
      </p:sp>
      <p:sp>
        <p:nvSpPr>
          <p:cNvPr id="5" name="Oval 4"/>
          <p:cNvSpPr/>
          <p:nvPr/>
        </p:nvSpPr>
        <p:spPr>
          <a:xfrm>
            <a:off x="8255000" y="1651000"/>
            <a:ext cx="406400" cy="4064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39200" y="16510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23400" y="1651000"/>
            <a:ext cx="406400" cy="4064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07600" y="1651000"/>
            <a:ext cx="406400" cy="4064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91800" y="16510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55000" y="22352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839200" y="2235200"/>
            <a:ext cx="406400" cy="4064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423400" y="22352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07600" y="22352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91800" y="2235200"/>
            <a:ext cx="406400" cy="4064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55000" y="28194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839200" y="2819400"/>
            <a:ext cx="406400" cy="4064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23400" y="28194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07600" y="28194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91800" y="2819400"/>
            <a:ext cx="406400" cy="4064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55000" y="3403600"/>
            <a:ext cx="406400" cy="4064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39200" y="34036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23400" y="34036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07600" y="3403600"/>
            <a:ext cx="406400" cy="406400"/>
          </a:xfrm>
          <a:prstGeom prst="ellipse">
            <a:avLst/>
          </a:prstGeom>
          <a:solidFill>
            <a:srgbClr val="E07B00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91800" y="3403600"/>
            <a:ext cx="406400" cy="406400"/>
          </a:xfrm>
          <a:prstGeom prst="ellipse">
            <a:avLst/>
          </a:prstGeom>
          <a:solidFill>
            <a:srgbClr val="E7EEF0"/>
          </a:solidFill>
          <a:ln>
            <a:solidFill>
              <a:srgbClr val="E7EE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55000" y="4127500"/>
            <a:ext cx="2921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Same work, opposite rankings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6350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Bloxham et al., Assessment &amp; Evaluation in Higher Education, 2016 · 24 examiners, 20 UK universities</a:t>
            </a:r>
          </a:p>
        </p:txBody>
      </p:sp>
      <p:pic>
        <p:nvPicPr>
          <p:cNvPr id="27" name="Picture 26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Where inconsistency hurts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286000"/>
            <a:ext cx="2324100" cy="2540000"/>
          </a:xfrm>
          <a:prstGeom prst="roundRect">
            <a:avLst>
              <a:gd name="adj" fmla="val 765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79550" y="2730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groep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800" y="2952750"/>
            <a:ext cx="444500" cy="444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9000" y="3937000"/>
            <a:ext cx="20701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Many markers,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one module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3300" y="2286000"/>
            <a:ext cx="2324100" cy="2540000"/>
          </a:xfrm>
          <a:prstGeom prst="roundRect">
            <a:avLst>
              <a:gd name="adj" fmla="val 765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60850" y="2730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con-historie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100" y="2952750"/>
            <a:ext cx="444500" cy="444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70300" y="3937000"/>
            <a:ext cx="20701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Paper 80 is marked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differently from paper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600" y="2286000"/>
            <a:ext cx="2324100" cy="2540000"/>
          </a:xfrm>
          <a:prstGeom prst="roundRect">
            <a:avLst>
              <a:gd name="adj" fmla="val 765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42150" y="2730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-ongelijk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400" y="2952750"/>
            <a:ext cx="444500" cy="444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51600" y="3937000"/>
            <a:ext cx="20701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Students compare,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then appeal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05900" y="2286000"/>
            <a:ext cx="2324100" cy="2540000"/>
          </a:xfrm>
          <a:prstGeom prst="roundRect">
            <a:avLst>
              <a:gd name="adj" fmla="val 765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23450" y="2730500"/>
            <a:ext cx="889000" cy="889000"/>
          </a:xfrm>
          <a:prstGeom prst="roundRect">
            <a:avLst>
              <a:gd name="adj" fmla="val 24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oogdicht-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5700" y="2952750"/>
            <a:ext cx="444500" cy="4445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32900" y="3937000"/>
            <a:ext cx="20701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Moderation only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sees a sample</a:t>
            </a:r>
          </a:p>
        </p:txBody>
      </p:sp>
      <p:pic>
        <p:nvPicPr>
          <p:cNvPr id="20" name="Picture 19" descr="logo_navy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jisc_placehol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WHY IT MATTERS TO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698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Consistent feedback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can build on itself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667000"/>
            <a:ext cx="3251200" cy="25400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857500"/>
            <a:ext cx="32512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Draft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3365500"/>
            <a:ext cx="2743200" cy="4191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6500" y="34798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7B54"/>
                </a:solidFill>
                <a:latin typeface="Inter"/>
              </a:rPr>
              <a:t>Argument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4200" y="34798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007B54"/>
                </a:solidFill>
                <a:latin typeface="Inter"/>
              </a:rP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000" y="3911600"/>
            <a:ext cx="27432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6500" y="40259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4200" y="40259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CDD9DE"/>
                </a:solidFill>
                <a:latin typeface="Inter"/>
              </a:rPr>
              <a:t>·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6000" y="4457700"/>
            <a:ext cx="27432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6500" y="45720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4200" y="45720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CDD9DE"/>
                </a:solidFill>
                <a:latin typeface="Inter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9700" y="3810000"/>
            <a:ext cx="584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DD9DE"/>
                </a:solidFill>
                <a:latin typeface="League Spartan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70400" y="2667000"/>
            <a:ext cx="3251200" cy="25400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4400" y="2857500"/>
            <a:ext cx="32512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Draft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4400" y="3365500"/>
            <a:ext cx="2743200" cy="4191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4900" y="34798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7B54"/>
                </a:solidFill>
                <a:latin typeface="Inter"/>
              </a:rPr>
              <a:t>Argument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2600" y="34798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007B54"/>
                </a:solidFill>
                <a:latin typeface="Inter"/>
              </a:rPr>
              <a:t>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24400" y="3911600"/>
            <a:ext cx="2743200" cy="4191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4900" y="40259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7B54"/>
                </a:solidFill>
                <a:latin typeface="Inter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2600" y="40259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007B54"/>
                </a:solidFill>
                <a:latin typeface="Inter"/>
              </a:rPr>
              <a:t>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24400" y="4457700"/>
            <a:ext cx="2743200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4900" y="45720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32600" y="45720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CDD9DE"/>
                </a:solidFill>
                <a:latin typeface="Inter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8100" y="3810000"/>
            <a:ext cx="5842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800" b="1">
                <a:solidFill>
                  <a:srgbClr val="CDD9DE"/>
                </a:solidFill>
                <a:latin typeface="League Spartan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78800" y="2667000"/>
            <a:ext cx="3251200" cy="25400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2800" y="2857500"/>
            <a:ext cx="32512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2333"/>
                </a:solidFill>
                <a:latin typeface="League Spartan"/>
              </a:rPr>
              <a:t>Final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32800" y="3365500"/>
            <a:ext cx="2743200" cy="4191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3300" y="34798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7B54"/>
                </a:solidFill>
                <a:latin typeface="Inter"/>
              </a:rPr>
              <a:t>Argument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41000" y="34798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007B54"/>
                </a:solidFill>
                <a:latin typeface="Inter"/>
              </a:rPr>
              <a:t>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32800" y="3911600"/>
            <a:ext cx="2743200" cy="4191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23300" y="40259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7B54"/>
                </a:solidFill>
                <a:latin typeface="Inter"/>
              </a:rPr>
              <a:t>Evidence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41000" y="40259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007B54"/>
                </a:solidFill>
                <a:latin typeface="Inter"/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32800" y="4457700"/>
            <a:ext cx="2743200" cy="4191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23300" y="45720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07B54"/>
                </a:solidFill>
                <a:latin typeface="Inter"/>
              </a:rPr>
              <a:t>Structure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41000" y="4572000"/>
            <a:ext cx="444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1">
                <a:solidFill>
                  <a:srgbClr val="007B54"/>
                </a:solidFill>
                <a:latin typeface="Inter"/>
              </a:rPr>
              <a:t>✓</a:t>
            </a:r>
          </a:p>
        </p:txBody>
      </p:sp>
      <p:pic>
        <p:nvPicPr>
          <p:cNvPr id="39" name="Picture 38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E075"/>
                </a:solidFill>
                <a:latin typeface="Inter"/>
              </a:rPr>
              <a:t>WHERE WE WANT TO GET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89000"/>
            <a:ext cx="825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League Spartan"/>
              </a:rPr>
              <a:t>A student sees their own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League Spartan"/>
              </a:rPr>
              <a:t>growth across the degree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5308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0975" y="5295371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30350" y="528214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9725" y="526891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89100" y="525568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68475" y="5242454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47850" y="5229225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27225" y="5215996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006600" y="52027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85975" y="518953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165350" y="517630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44725" y="5163079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24100" y="514985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03475" y="5136621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82850" y="512339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62225" y="511016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41600" y="50969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720975" y="5083704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800350" y="5070475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879725" y="5057246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59100" y="504401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038475" y="503078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117850" y="501755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197225" y="5004329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76600" y="49911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355975" y="4972579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35350" y="495405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514725" y="493553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94100" y="491701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73475" y="4898496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52850" y="4879975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32225" y="4861454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11600" y="48429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3990975" y="482441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70350" y="480589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149725" y="4787371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229100" y="476885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308475" y="4750329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87850" y="473180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7225" y="471328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46600" y="46947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25975" y="4676246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705350" y="4657725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784725" y="4639204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864100" y="462068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943475" y="460216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022850" y="458364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102225" y="4565121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81600" y="4546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60975" y="45254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40350" y="45042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19725" y="44831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499100" y="44619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578475" y="44407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657850" y="4419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737225" y="43984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816600" y="43772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95975" y="43561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975350" y="43349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054725" y="43137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134100" y="4292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13475" y="42714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292850" y="42502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372225" y="42291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451600" y="42079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6530975" y="41867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610350" y="4165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689725" y="41444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769100" y="41232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848475" y="41021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6927850" y="40809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007225" y="40597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086600" y="4038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165975" y="40174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245350" y="39962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324725" y="39751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404100" y="39539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483475" y="39327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562850" y="3911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642225" y="38904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721600" y="38692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800975" y="38481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7880350" y="38269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7959725" y="38057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8039100" y="3784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8118475" y="37634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197850" y="37422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8277225" y="37211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356600" y="36999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435975" y="36787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515350" y="3657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594725" y="36364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8674100" y="36152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8753475" y="35941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8832850" y="3572933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912225" y="3551767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991600" y="3530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9065683" y="350678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9139767" y="3482975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9213850" y="345916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287933" y="343535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362017" y="341153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436100" y="3387725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510183" y="336391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9584267" y="33401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9658350" y="331628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9732433" y="3292475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806517" y="326866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880600" y="324485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9954683" y="322103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10028767" y="3197225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102850" y="317341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0176933" y="314960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0251017" y="312578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325100" y="3101975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0399183" y="307816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473267" y="3054350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0547350" y="3030538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10621433" y="3006725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0695517" y="2982912"/>
            <a:ext cx="50800" cy="50800"/>
          </a:xfrm>
          <a:prstGeom prst="ellipse">
            <a:avLst/>
          </a:prstGeom>
          <a:solidFill>
            <a:srgbClr val="2D6470"/>
          </a:solidFill>
          <a:ln>
            <a:solidFill>
              <a:srgbClr val="2D64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289050" y="5226050"/>
            <a:ext cx="215900" cy="2159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3168650" y="4883150"/>
            <a:ext cx="266700" cy="2667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048250" y="4413250"/>
            <a:ext cx="317500" cy="3175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6927850" y="3879850"/>
            <a:ext cx="368300" cy="3683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807450" y="3346450"/>
            <a:ext cx="419100" cy="4191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0560050" y="2749550"/>
            <a:ext cx="469900" cy="469900"/>
          </a:xfrm>
          <a:prstGeom prst="ellipse">
            <a:avLst/>
          </a:prstGeom>
          <a:solidFill>
            <a:srgbClr val="00E075"/>
          </a:solidFill>
          <a:ln>
            <a:solidFill>
              <a:srgbClr val="00E0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62000" y="5651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B9CBD2"/>
                </a:solidFill>
                <a:latin typeface="Inter"/>
              </a:rPr>
              <a:t>Year 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572000" y="5651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B9CBD2"/>
                </a:solidFill>
                <a:latin typeface="Inter"/>
              </a:rPr>
              <a:t>Year 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382000" y="56515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B9CBD2"/>
                </a:solidFill>
                <a:latin typeface="Inter"/>
              </a:rPr>
              <a:t>Year 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62000" y="6096000"/>
            <a:ext cx="762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Illustration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264650" y="6210300"/>
            <a:ext cx="23177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6" name="Picture 135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37" name="Rectangle 136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OUR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>
                <a:solidFill>
                  <a:srgbClr val="002333"/>
                </a:solidFill>
                <a:latin typeface="League Spartan"/>
              </a:rPr>
              <a:t>We started with general LLMs.</a:t>
            </a:r>
          </a:p>
          <a:p>
            <a:pPr algn="l">
              <a:lnSpc>
                <a:spcPct val="105000"/>
              </a:lnSpc>
            </a:pPr>
            <a:r>
              <a:rPr sz="3600" b="1">
                <a:solidFill>
                  <a:srgbClr val="002333"/>
                </a:solidFill>
                <a:latin typeface="League Spartan"/>
              </a:rPr>
              <a:t>Then we built our own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286000"/>
            <a:ext cx="4826000" cy="3048000"/>
          </a:xfrm>
          <a:prstGeom prst="roundRect">
            <a:avLst>
              <a:gd name="adj" fmla="val 5833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344771" y="3851531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369358" y="3373938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88270" y="3432743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73888" y="3801093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11944" y="3699828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81882" y="3663091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80665" y="4050207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974021" y="3844242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59779" y="2548294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21623" y="3285457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08146" y="3529470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86065" y="3184885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810834" y="3783762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10231" y="4445000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015481" y="4247689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3915" y="3128671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1989" y="3494504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77781" y="3699554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86709" y="3003048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126253" y="4261509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89040" y="3697434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08091" y="2695152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96016" y="4310813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893143" y="3370167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468382" y="3083746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966595" y="3520012"/>
            <a:ext cx="139700" cy="139700"/>
          </a:xfrm>
          <a:prstGeom prst="ellipse">
            <a:avLst/>
          </a:prstGeom>
          <a:solidFill>
            <a:srgbClr val="CDD9DE"/>
          </a:solidFill>
          <a:ln>
            <a:solidFill>
              <a:srgbClr val="CD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463550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02333"/>
                </a:solidFill>
                <a:latin typeface="League Spartan"/>
              </a:rPr>
              <a:t>General LLM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991100"/>
            <a:ext cx="4826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Same paper, different focus each run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000" y="2286000"/>
            <a:ext cx="4826000" cy="3048000"/>
          </a:xfrm>
          <a:prstGeom prst="roundRect">
            <a:avLst>
              <a:gd name="adj" fmla="val 5833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24469" y="3758388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869765" y="3787235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39129" y="3644560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77656" y="3238386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50944" y="3406440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477894" y="3246791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298061" y="3426154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086127" y="3059278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126896" y="3614515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40090" y="3697428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972445" y="2940355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60821" y="3376002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44915" y="3794943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020799" y="3594444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721837" y="3662191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92706" y="3707337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817138" y="3689908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088268" y="3869352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969569" y="3685480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46624" y="3401081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930175" y="3113203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571730" y="3805249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178067" y="3949631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828773" y="3519295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749460" y="3714867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678048" y="3836085"/>
            <a:ext cx="139700" cy="139700"/>
          </a:xfrm>
          <a:prstGeom prst="ellipse">
            <a:avLst/>
          </a:prstGeom>
          <a:solidFill>
            <a:srgbClr val="007B54"/>
          </a:solidFill>
          <a:ln>
            <a:solidFill>
              <a:srgbClr val="007B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23000" y="463550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002333"/>
                </a:solidFill>
                <a:latin typeface="League Spartan"/>
              </a:rPr>
              <a:t>Purpose-built model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23000" y="4991100"/>
            <a:ext cx="4826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Same paper, same criteria, same voice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2000" y="6350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Illustration, not a measurement. Model trained on 250,000 education-specific feedback examples.</a:t>
            </a:r>
          </a:p>
        </p:txBody>
      </p:sp>
      <p:pic>
        <p:nvPicPr>
          <p:cNvPr id="63" name="Picture 62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WHAT INSTITUTIONS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Two lessons on consistency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32000"/>
            <a:ext cx="5105400" cy="3302000"/>
          </a:xfrm>
          <a:prstGeom prst="roundRect">
            <a:avLst>
              <a:gd name="adj" fmla="val 5384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rubric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2349500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7600" y="3175000"/>
            <a:ext cx="43942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The gap was in the rubric,</a:t>
            </a:r>
          </a:p>
          <a:p>
            <a:pPr algn="l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not in the markers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4127500"/>
            <a:ext cx="43942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Six markers, one module. One marked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“critical analysis” lower every time: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they read the descriptor differently.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600" y="2032000"/>
            <a:ext cx="5105400" cy="3302000"/>
          </a:xfrm>
          <a:prstGeom prst="roundRect">
            <a:avLst>
              <a:gd name="adj" fmla="val 5384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studenten-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2349500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80200" y="3175000"/>
            <a:ext cx="439420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Students act on feedback</a:t>
            </a:r>
          </a:p>
          <a:p>
            <a:pPr algn="l">
              <a:lnSpc>
                <a:spcPct val="110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they recognise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0200" y="4127500"/>
            <a:ext cx="4394200" cy="10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Three formative rounds, a different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focus each time: students ignored it.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Same criteria every round: they used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350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Typical scenarios from our implementations, institutions not named.</a:t>
            </a:r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_placeho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WHEN AI GRADING IS A STEP TOO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825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Not ready for AI grades?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Use it to moderate.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97000" y="4680426"/>
            <a:ext cx="228600" cy="399574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39900" y="4664299"/>
            <a:ext cx="228600" cy="415701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82800" y="4637332"/>
            <a:ext cx="228600" cy="442668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425700" y="4594752"/>
            <a:ext cx="228600" cy="485248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8600" y="4531368"/>
            <a:ext cx="228600" cy="548632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111500" y="4442591"/>
            <a:ext cx="228600" cy="637409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54400" y="4325928"/>
            <a:ext cx="228600" cy="754072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97300" y="4182657"/>
            <a:ext cx="228600" cy="897343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140200" y="4019218"/>
            <a:ext cx="228600" cy="1060782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3100" y="3847694"/>
            <a:ext cx="228600" cy="1232306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26000" y="3684884"/>
            <a:ext cx="228600" cy="1395116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68900" y="3549856"/>
            <a:ext cx="228600" cy="1530144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511800" y="3460356"/>
            <a:ext cx="228600" cy="1619644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4700" y="3429000"/>
            <a:ext cx="228600" cy="1651000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7600" y="3460356"/>
            <a:ext cx="228600" cy="1619644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40500" y="3549856"/>
            <a:ext cx="228600" cy="1530144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83400" y="3684884"/>
            <a:ext cx="228600" cy="1395116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6300" y="3847694"/>
            <a:ext cx="228600" cy="1232306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69200" y="4019218"/>
            <a:ext cx="228600" cy="1060782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12100" y="4182657"/>
            <a:ext cx="228600" cy="897343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55000" y="4325928"/>
            <a:ext cx="228600" cy="754072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97900" y="4442591"/>
            <a:ext cx="228600" cy="637409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40800" y="4531368"/>
            <a:ext cx="228600" cy="548632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3700" y="2984500"/>
            <a:ext cx="228600" cy="2095500"/>
          </a:xfrm>
          <a:prstGeom prst="roundRect">
            <a:avLst>
              <a:gd name="adj" fmla="val 22222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26600" y="4637332"/>
            <a:ext cx="228600" cy="442668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69500" y="4664299"/>
            <a:ext cx="228600" cy="415701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312400" y="4680426"/>
            <a:ext cx="228600" cy="399574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55300" y="4689543"/>
            <a:ext cx="228600" cy="390457"/>
          </a:xfrm>
          <a:prstGeom prst="roundRect">
            <a:avLst>
              <a:gd name="adj" fmla="val 2222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vlag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0" y="2476500"/>
            <a:ext cx="381000" cy="381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9728200" y="2540000"/>
            <a:ext cx="1905000" cy="63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E07B00"/>
                </a:solidFill>
                <a:latin typeface="Inter"/>
              </a:rPr>
              <a:t>Flagged: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E07B00"/>
                </a:solidFill>
                <a:latin typeface="Inter"/>
              </a:rPr>
              <a:t>far from expected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2000" y="5092700"/>
            <a:ext cx="106680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000" y="52705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AI grade stays hidden. Only large deviations reach the moderator.</a:t>
            </a:r>
          </a:p>
        </p:txBody>
      </p:sp>
      <p:pic>
        <p:nvPicPr>
          <p:cNvPr id="36" name="Picture 35" descr="logo_navy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logo_jisc_placehol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587500"/>
            <a:ext cx="3810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>
                <a:solidFill>
                  <a:srgbClr val="00E075"/>
                </a:solidFill>
                <a:latin typeface="League Spartan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429000"/>
            <a:ext cx="10160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League Spartan"/>
              </a:rPr>
              <a:t>Operational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3815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Time saved on marking and feedback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4650" y="6210300"/>
            <a:ext cx="23177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Two flavours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1905000"/>
            <a:ext cx="5105400" cy="3556000"/>
          </a:xfrm>
          <a:prstGeom prst="roundRect">
            <a:avLst>
              <a:gd name="adj" fmla="val 5000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maan-m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2222500"/>
            <a:ext cx="508000" cy="50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8000" y="22987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League Spartan"/>
              </a:rPr>
              <a:t>Formative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048000"/>
            <a:ext cx="43942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0E075"/>
                </a:solidFill>
                <a:latin typeface="League Spartan"/>
              </a:rPr>
              <a:t>03:00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4064000"/>
            <a:ext cx="4394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Student asks for feedback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FFFFFF"/>
                </a:solidFill>
                <a:latin typeface="Inter"/>
              </a:rPr>
              <a:t>when it suits them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17600" y="4940300"/>
            <a:ext cx="2286000" cy="330200"/>
          </a:xfrm>
          <a:prstGeom prst="roundRect">
            <a:avLst>
              <a:gd name="adj" fmla="val 50000"/>
            </a:avLst>
          </a:prstGeom>
          <a:solidFill>
            <a:srgbClr val="0F4C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7600" y="50038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0E075"/>
                </a:solidFill>
                <a:latin typeface="Inter"/>
              </a:rPr>
              <a:t>No human in the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4600" y="1905000"/>
            <a:ext cx="5105400" cy="3556000"/>
          </a:xfrm>
          <a:prstGeom prst="roundRect">
            <a:avLst>
              <a:gd name="adj" fmla="val 5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userchec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0200" y="2222500"/>
            <a:ext cx="508000" cy="50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40600" y="22987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Summative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0200" y="3048000"/>
            <a:ext cx="43942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007B54"/>
                </a:solidFill>
                <a:latin typeface="League Spartan"/>
              </a:rPr>
              <a:t>Lecturer +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80200" y="4064000"/>
            <a:ext cx="4394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Time saved on writing,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not on reading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80200" y="4940300"/>
            <a:ext cx="2286000" cy="330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0200" y="50038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007B54"/>
                </a:solidFill>
                <a:latin typeface="Inter"/>
              </a:rPr>
              <a:t>Human in the loop</a:t>
            </a:r>
          </a:p>
        </p:txBody>
      </p:sp>
      <p:pic>
        <p:nvPicPr>
          <p:cNvPr id="18" name="Picture 17" descr="logo_navy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ogo_jisc_placeho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WHERE THE TIME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825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Academics already work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far beyond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1115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75000" y="2984500"/>
            <a:ext cx="5861538" cy="635000"/>
          </a:xfrm>
          <a:prstGeom prst="roundRect">
            <a:avLst>
              <a:gd name="adj" fmla="val 14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85538" y="3124200"/>
            <a:ext cx="1460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>
                <a:solidFill>
                  <a:srgbClr val="002333"/>
                </a:solidFill>
                <a:latin typeface="League Spartan"/>
              </a:rPr>
              <a:t>37.5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191000"/>
            <a:ext cx="2286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Actual average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75000" y="4064000"/>
            <a:ext cx="7956062" cy="635000"/>
          </a:xfrm>
          <a:prstGeom prst="roundRect">
            <a:avLst>
              <a:gd name="adj" fmla="val 14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80062" y="4203700"/>
            <a:ext cx="14605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League Spartan"/>
              </a:rPr>
              <a:t>50.9 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5000" y="52070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07B00"/>
                </a:solidFill>
                <a:latin typeface="Inter"/>
              </a:rPr>
              <a:t>+13.4 hours a week beyond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350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UCU workload survey, 2016, n ≈ 12,100 (older data)</a:t>
            </a:r>
          </a:p>
        </p:txBody>
      </p:sp>
      <p:pic>
        <p:nvPicPr>
          <p:cNvPr id="12" name="Picture 11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WHAT WE HEAR FROM INSTITUTIONS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The cost of no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3200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FOR LECTURERS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2000" y="2476500"/>
            <a:ext cx="5105400" cy="800100"/>
          </a:xfrm>
          <a:prstGeom prst="roundRect">
            <a:avLst>
              <a:gd name="adj" fmla="val 22222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schoolbord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673350"/>
            <a:ext cx="406400" cy="406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87500" y="27305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Inter"/>
              </a:rPr>
              <a:t>Marking instead of mentoring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3429000"/>
            <a:ext cx="5105400" cy="800100"/>
          </a:xfrm>
          <a:prstGeom prst="roundRect">
            <a:avLst>
              <a:gd name="adj" fmla="val 22222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klo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3625850"/>
            <a:ext cx="406400" cy="406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7500" y="36830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Inter"/>
              </a:rPr>
              <a:t>Structural overtime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032000"/>
            <a:ext cx="5105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07B00"/>
                </a:solidFill>
                <a:latin typeface="Inter"/>
              </a:rPr>
              <a:t>FOR INSTITUTIONS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4600" y="2476500"/>
            <a:ext cx="5105400" cy="800100"/>
          </a:xfrm>
          <a:prstGeom prst="roundRect">
            <a:avLst>
              <a:gd name="adj" fmla="val 22222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pen-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673350"/>
            <a:ext cx="406400" cy="406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50100" y="27305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Inter"/>
              </a:rPr>
              <a:t>No formative feedback at 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600" y="3429000"/>
            <a:ext cx="5105400" cy="800100"/>
          </a:xfrm>
          <a:prstGeom prst="roundRect">
            <a:avLst>
              <a:gd name="adj" fmla="val 22222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prijs-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3625850"/>
            <a:ext cx="406400" cy="406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50100" y="36830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Inter"/>
              </a:rPr>
              <a:t>Paying external markers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600" y="4381500"/>
            <a:ext cx="5105400" cy="800100"/>
          </a:xfrm>
          <a:prstGeom prst="roundRect">
            <a:avLst>
              <a:gd name="adj" fmla="val 22222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con-studenten-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4578350"/>
            <a:ext cx="406400" cy="406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150100" y="4635500"/>
            <a:ext cx="40894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Inter"/>
              </a:rPr>
              <a:t>Fewer staff, more students</a:t>
            </a:r>
          </a:p>
        </p:txBody>
      </p:sp>
      <p:pic>
        <p:nvPicPr>
          <p:cNvPr id="21" name="Picture 20" descr="logo_navy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ogo_jisc_placehold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WHY ACCURACY MATTERS TO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825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Time saved depends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on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47800" y="285750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rubric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3095625"/>
            <a:ext cx="476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000500"/>
            <a:ext cx="23241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Your rubric and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5550" y="3111500"/>
            <a:ext cx="16383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CDD9DE"/>
                </a:solidFill>
                <a:latin typeface="League Spartan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29100" y="285750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model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7225" y="3095625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3300" y="4000500"/>
            <a:ext cx="23241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The model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follows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6850" y="3111500"/>
            <a:ext cx="16383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CDD9DE"/>
                </a:solidFill>
                <a:latin typeface="League Spartan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10400" y="285750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-filepen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8525" y="3095625"/>
            <a:ext cx="476250" cy="4762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24600" y="4000500"/>
            <a:ext cx="23241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Feedback you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would give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8150" y="3111500"/>
            <a:ext cx="16383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000" b="1">
                <a:solidFill>
                  <a:srgbClr val="CDD9DE"/>
                </a:solidFill>
                <a:latin typeface="League Spartan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91700" y="2857500"/>
            <a:ext cx="952500" cy="952500"/>
          </a:xfrm>
          <a:prstGeom prst="roundRect">
            <a:avLst>
              <a:gd name="adj" fmla="val 24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heck-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29825" y="3095625"/>
            <a:ext cx="476250" cy="4762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05900" y="4000500"/>
            <a:ext cx="23241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Approve,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don't rewrite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5080000"/>
            <a:ext cx="10668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E07B00"/>
                </a:solidFill>
                <a:latin typeface="Inter"/>
              </a:rPr>
              <a:t>Inaccurate feedback costs more time to fix than to write yourself.</a:t>
            </a:r>
          </a:p>
        </p:txBody>
      </p:sp>
      <p:pic>
        <p:nvPicPr>
          <p:cNvPr id="20" name="Picture 19" descr="logo_navy_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logo_jisc_placehold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OUR LESSONS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825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Tuning is the investment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95500"/>
            <a:ext cx="3251200" cy="2921000"/>
          </a:xfrm>
          <a:prstGeom prst="roundRect">
            <a:avLst>
              <a:gd name="adj" fmla="val 6086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2413000"/>
            <a:ext cx="325120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0" b="1">
                <a:solidFill>
                  <a:srgbClr val="5B7480"/>
                </a:solidFill>
                <a:latin typeface="League Spartan"/>
              </a:rPr>
              <a:t>~6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937000"/>
            <a:ext cx="2870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points from the lecturer’s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mark, on average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0400" y="2095500"/>
            <a:ext cx="3251200" cy="2921000"/>
          </a:xfrm>
          <a:prstGeom prst="roundRect">
            <a:avLst>
              <a:gd name="adj" fmla="val 6086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0400" y="2413000"/>
            <a:ext cx="325120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0" b="1">
                <a:solidFill>
                  <a:srgbClr val="007B54"/>
                </a:solidFill>
                <a:latin typeface="League Spartan"/>
              </a:rPr>
              <a:t>~2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900" y="3937000"/>
            <a:ext cx="2870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points for lecturers who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tuned the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8800" y="2095500"/>
            <a:ext cx="3251200" cy="2921000"/>
          </a:xfrm>
          <a:prstGeom prst="roundRect">
            <a:avLst>
              <a:gd name="adj" fmla="val 6086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8800" y="2413000"/>
            <a:ext cx="325120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0" b="1">
                <a:solidFill>
                  <a:srgbClr val="002333"/>
                </a:solidFill>
                <a:latin typeface="League Spartan"/>
              </a:rPr>
              <a:t>2–3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9300" y="3937000"/>
            <a:ext cx="2870200" cy="698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minutes review time</a:t>
            </a:r>
          </a:p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002333"/>
                </a:solidFill>
                <a:latin typeface="Inter"/>
              </a:rPr>
              <a:t>per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50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One pilot, Bath Spa University, June 2026: 435 submissions, 6 modules, 13 markers.</a:t>
            </a:r>
          </a:p>
        </p:txBody>
      </p:sp>
      <p:pic>
        <p:nvPicPr>
          <p:cNvPr id="14" name="Picture 13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WHERE WE WANT TO GET 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8255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Lecturer time moves from</a:t>
            </a:r>
          </a:p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typing to teaching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38500"/>
            <a:ext cx="1524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Inter"/>
              </a:rPr>
              <a:t>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13000" y="3048000"/>
            <a:ext cx="5539740" cy="698500"/>
          </a:xfrm>
          <a:prstGeom prst="roundRect">
            <a:avLst>
              <a:gd name="adj" fmla="val 12727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90800" y="3263900"/>
            <a:ext cx="527304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Writing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3540" y="3048000"/>
            <a:ext cx="3375660" cy="698500"/>
          </a:xfrm>
          <a:prstGeom prst="roundRect">
            <a:avLst>
              <a:gd name="adj" fmla="val 12727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1340" y="3263900"/>
            <a:ext cx="310896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Inter"/>
              </a:rPr>
              <a:t>Teaching &amp; mentoring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381500"/>
            <a:ext cx="1524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02333"/>
                </a:solidFill>
                <a:latin typeface="Inter"/>
              </a:rPr>
              <a:t>With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3000" y="4191000"/>
            <a:ext cx="2203450" cy="698500"/>
          </a:xfrm>
          <a:prstGeom prst="roundRect">
            <a:avLst>
              <a:gd name="adj" fmla="val 12727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0800" y="4406900"/>
            <a:ext cx="193675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Inter"/>
              </a:rPr>
              <a:t>Checking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250" y="4191000"/>
            <a:ext cx="6711950" cy="698500"/>
          </a:xfrm>
          <a:prstGeom prst="roundRect">
            <a:avLst>
              <a:gd name="adj" fmla="val 12727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5050" y="4406900"/>
            <a:ext cx="644525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Inter"/>
              </a:rPr>
              <a:t>Teaching &amp; mentoring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350000"/>
            <a:ext cx="8890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B7480"/>
                </a:solidFill>
                <a:latin typeface="Inter"/>
              </a:rPr>
              <a:t>Illustration, not a measurement.</a:t>
            </a:r>
          </a:p>
        </p:txBody>
      </p:sp>
      <p:pic>
        <p:nvPicPr>
          <p:cNvPr id="15" name="Picture 14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95500"/>
            <a:ext cx="10668000" cy="20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League Spartan"/>
              </a:rPr>
              <a:t>“Won’t lecturers just</a:t>
            </a:r>
          </a:p>
          <a:p>
            <a:pPr algn="l">
              <a:lnSpc>
                <a:spcPct val="108000"/>
              </a:lnSpc>
            </a:pPr>
            <a:r>
              <a:rPr sz="4400" b="1">
                <a:solidFill>
                  <a:srgbClr val="FFFFFF"/>
                </a:solidFill>
                <a:latin typeface="League Spartan"/>
              </a:rPr>
              <a:t>click approve?”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4445000"/>
            <a:ext cx="9525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The question we always get.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264650" y="6210300"/>
            <a:ext cx="23177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8FA9B4"/>
                </a:solidFill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OUR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Approving is still judging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95500"/>
            <a:ext cx="3251200" cy="2540000"/>
          </a:xfrm>
          <a:prstGeom prst="roundRect">
            <a:avLst>
              <a:gd name="adj" fmla="val 7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wisselend-a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0" y="2476500"/>
            <a:ext cx="635000" cy="63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2500" y="3429000"/>
            <a:ext cx="28702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The alternative today is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often no feedback at 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0400" y="2095500"/>
            <a:ext cx="3251200" cy="2540000"/>
          </a:xfrm>
          <a:prstGeom prst="roundRect">
            <a:avLst>
              <a:gd name="adj" fmla="val 7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-rubric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2476500"/>
            <a:ext cx="635000" cy="635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60900" y="3429000"/>
            <a:ext cx="28702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It gives the feedback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the lecturer set 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8800" y="2095500"/>
            <a:ext cx="3251200" cy="2540000"/>
          </a:xfrm>
          <a:prstGeom prst="roundRect">
            <a:avLst>
              <a:gd name="adj" fmla="val 70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-historie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0" y="2476500"/>
            <a:ext cx="635000" cy="63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369300" y="3429000"/>
            <a:ext cx="287020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Every edit is logged</a:t>
            </a:r>
          </a:p>
          <a:p>
            <a:pPr algn="ctr">
              <a:lnSpc>
                <a:spcPct val="130000"/>
              </a:lnSpc>
            </a:pPr>
            <a:r>
              <a:rPr sz="1600" b="1">
                <a:solidFill>
                  <a:srgbClr val="002333"/>
                </a:solidFill>
                <a:latin typeface="Inter"/>
              </a:rPr>
              <a:t>in the audit trail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50165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07B54"/>
                </a:solidFill>
                <a:latin typeface="League Spartan"/>
              </a:rPr>
              <a:t>The AI assists. The academic decides.</a:t>
            </a:r>
          </a:p>
        </p:txBody>
      </p:sp>
      <p:pic>
        <p:nvPicPr>
          <p:cNvPr id="14" name="Picture 13" descr="logo_navy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jisc_placehold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BREAKOUT ROOMS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Choose your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32000"/>
            <a:ext cx="5105400" cy="3429000"/>
          </a:xfrm>
          <a:prstGeom prst="roundRect">
            <a:avLst>
              <a:gd name="adj" fmla="val 5185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con-deur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2984500"/>
            <a:ext cx="889000" cy="88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4127500"/>
            <a:ext cx="5105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Consistency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572000"/>
            <a:ext cx="5105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with Dante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600" y="2032000"/>
            <a:ext cx="5105400" cy="3429000"/>
          </a:xfrm>
          <a:prstGeom prst="roundRect">
            <a:avLst>
              <a:gd name="adj" fmla="val 5185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deur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800" y="2984500"/>
            <a:ext cx="889000" cy="889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4600" y="4127500"/>
            <a:ext cx="51054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300" b="1">
                <a:solidFill>
                  <a:srgbClr val="002333"/>
                </a:solidFill>
                <a:latin typeface="League Spartan"/>
              </a:rPr>
              <a:t>Operational 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4572000"/>
            <a:ext cx="51054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B7480"/>
                </a:solidFill>
                <a:latin typeface="Inter"/>
              </a:rPr>
              <a:t>with [name]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Statements · vote · discuss · short talk · questions</a:t>
            </a:r>
          </a:p>
        </p:txBody>
      </p:sp>
      <p:pic>
        <p:nvPicPr>
          <p:cNvPr id="13" name="Picture 12" descr="logo_navy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ogo_jisc_placehol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ROOM · 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Agree or disagree?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95500"/>
            <a:ext cx="10668000" cy="1016000"/>
          </a:xfrm>
          <a:prstGeom prst="roundRect">
            <a:avLst>
              <a:gd name="adj" fmla="val 175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495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7B54"/>
                </a:solidFill>
                <a:latin typeface="League Spart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2413000"/>
            <a:ext cx="7302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2333"/>
                </a:solidFill>
                <a:latin typeface="Inter"/>
              </a:rPr>
              <a:t>Same grade with different feedback is consistent enough.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7500" y="2413000"/>
            <a:ext cx="889000" cy="381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7500" y="2489200"/>
            <a:ext cx="88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23500" y="2413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23500" y="24892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302000"/>
            <a:ext cx="10668000" cy="1016000"/>
          </a:xfrm>
          <a:prstGeom prst="roundRect">
            <a:avLst>
              <a:gd name="adj" fmla="val 175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35560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7B54"/>
                </a:solidFill>
                <a:latin typeface="League Spart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1000" y="3619500"/>
            <a:ext cx="7302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2333"/>
                </a:solidFill>
                <a:latin typeface="Inter"/>
              </a:rPr>
              <a:t>Students care more about fair grades than consistent feedback.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07500" y="3619500"/>
            <a:ext cx="889000" cy="381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7500" y="3695700"/>
            <a:ext cx="88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23500" y="36195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23500" y="36957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4508500"/>
            <a:ext cx="10668000" cy="1016000"/>
          </a:xfrm>
          <a:prstGeom prst="roundRect">
            <a:avLst>
              <a:gd name="adj" fmla="val 175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000" y="47625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7B54"/>
                </a:solidFill>
                <a:latin typeface="League Spart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1000" y="4826000"/>
            <a:ext cx="7302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2333"/>
                </a:solidFill>
                <a:latin typeface="Inter"/>
              </a:rPr>
              <a:t>AI should flag unusual marks, not propose them.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7500" y="4826000"/>
            <a:ext cx="889000" cy="381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7500" y="4902200"/>
            <a:ext cx="88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23500" y="4826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3500" y="49022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pic>
        <p:nvPicPr>
          <p:cNvPr id="25" name="Picture 24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ROOM · OPERATIONAL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Agree or disagree?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95500"/>
            <a:ext cx="10668000" cy="1016000"/>
          </a:xfrm>
          <a:prstGeom prst="roundRect">
            <a:avLst>
              <a:gd name="adj" fmla="val 175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3495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7B54"/>
                </a:solidFill>
                <a:latin typeface="League Spart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51000" y="2413000"/>
            <a:ext cx="7302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2333"/>
                </a:solidFill>
                <a:latin typeface="Inter"/>
              </a:rPr>
              <a:t>Formative feedback no lecturer has read first is acceptable.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7500" y="2413000"/>
            <a:ext cx="889000" cy="381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7500" y="2489200"/>
            <a:ext cx="88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23500" y="2413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23500" y="24892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2000" y="3302000"/>
            <a:ext cx="10668000" cy="1016000"/>
          </a:xfrm>
          <a:prstGeom prst="roundRect">
            <a:avLst>
              <a:gd name="adj" fmla="val 175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6000" y="35560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7B54"/>
                </a:solidFill>
                <a:latin typeface="League Spartan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1000" y="3619500"/>
            <a:ext cx="7302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2333"/>
                </a:solidFill>
                <a:latin typeface="Inter"/>
              </a:rPr>
              <a:t>Time saved on marking will be cut, not given back to students.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07500" y="3619500"/>
            <a:ext cx="889000" cy="381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7500" y="3695700"/>
            <a:ext cx="88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23500" y="36195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23500" y="36957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" y="4508500"/>
            <a:ext cx="10668000" cy="1016000"/>
          </a:xfrm>
          <a:prstGeom prst="roundRect">
            <a:avLst>
              <a:gd name="adj" fmla="val 17500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6000" y="4762500"/>
            <a:ext cx="508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7B54"/>
                </a:solidFill>
                <a:latin typeface="League Spart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1000" y="4826000"/>
            <a:ext cx="73025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02333"/>
                </a:solidFill>
                <a:latin typeface="Inter"/>
              </a:rPr>
              <a:t>Approving AI feedback with small edits is still my feedback.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7500" y="4826000"/>
            <a:ext cx="889000" cy="381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07500" y="4902200"/>
            <a:ext cx="889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Agree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23500" y="4826000"/>
            <a:ext cx="1016000" cy="381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3500" y="4902200"/>
            <a:ext cx="1016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07B00"/>
                </a:solidFill>
                <a:latin typeface="Inter"/>
              </a:rPr>
              <a:t>Disagree</a:t>
            </a:r>
          </a:p>
        </p:txBody>
      </p:sp>
      <p:pic>
        <p:nvPicPr>
          <p:cNvPr id="25" name="Picture 24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B54"/>
                </a:solidFill>
                <a:latin typeface="Inter"/>
              </a:rPr>
              <a:t>BACK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8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002333"/>
                </a:solidFill>
                <a:latin typeface="League Spartan"/>
              </a:rPr>
              <a:t>What we heard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2032000"/>
            <a:ext cx="5105400" cy="3429000"/>
          </a:xfrm>
          <a:prstGeom prst="roundRect">
            <a:avLst>
              <a:gd name="adj" fmla="val 5185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286000"/>
            <a:ext cx="4495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Consistency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6800" y="2984500"/>
            <a:ext cx="44958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6800" y="3746500"/>
            <a:ext cx="44958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66800" y="4508500"/>
            <a:ext cx="44958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24600" y="2032000"/>
            <a:ext cx="5105400" cy="3429000"/>
          </a:xfrm>
          <a:prstGeom prst="roundRect">
            <a:avLst>
              <a:gd name="adj" fmla="val 5185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495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2333"/>
                </a:solidFill>
                <a:latin typeface="League Spartan"/>
              </a:rPr>
              <a:t>Operational efficiency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2984500"/>
            <a:ext cx="44958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3746500"/>
            <a:ext cx="44958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29400" y="4508500"/>
            <a:ext cx="4495800" cy="1905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45500" y="6375400"/>
            <a:ext cx="381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AAFB8"/>
                </a:solidFill>
                <a:latin typeface="Inter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095500"/>
            <a:ext cx="9525000" cy="165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Which of these would</a:t>
            </a:r>
          </a:p>
          <a:p>
            <a:pPr algn="l">
              <a:lnSpc>
                <a:spcPct val="105000"/>
              </a:lnSpc>
            </a:pPr>
            <a:r>
              <a:rPr sz="4800" b="1">
                <a:solidFill>
                  <a:srgbClr val="FFFFFF"/>
                </a:solidFill>
                <a:latin typeface="League Spartan"/>
              </a:rPr>
              <a:t>you test first?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9525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B9CBD2"/>
                </a:solidFill>
                <a:latin typeface="Inter"/>
              </a:rPr>
              <a:t>Slides and sources follow by email.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4445000"/>
            <a:ext cx="9525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0E075"/>
                </a:solidFill>
                <a:latin typeface="Inter"/>
              </a:rPr>
              <a:t>info@eduface.me  ·  eduface.me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64650" y="6210300"/>
            <a:ext cx="231775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navy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0" y="6311900"/>
            <a:ext cx="939800" cy="254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509250" y="6299200"/>
            <a:ext cx="12700" cy="2794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jisc_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650" y="6299200"/>
            <a:ext cx="768350" cy="279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