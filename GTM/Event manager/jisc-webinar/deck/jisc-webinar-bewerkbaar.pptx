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63000" y="1651000"/>
            <a:ext cx="4826000" cy="4826000"/>
          </a:xfrm>
          <a:prstGeom prst="ellipse">
            <a:avLst/>
          </a:prstGeom>
          <a:solidFill>
            <a:srgbClr val="0A3A47"/>
          </a:solidFill>
          <a:ln>
            <a:solidFill>
              <a:srgbClr val="0A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52000" y="2540000"/>
            <a:ext cx="3048000" cy="3048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41000" y="3429000"/>
            <a:ext cx="1270000" cy="1270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JISC  ×  EDUFACE  ·  WEBINAR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286000"/>
            <a:ext cx="7620000" cy="209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The business outcomes of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AI marking and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8100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Lessons from 20+ pilots and implementations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4200" y="5740400"/>
            <a:ext cx="2589843" cy="8382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24100" y="5930900"/>
            <a:ext cx="12700" cy="4572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200" y="5905500"/>
            <a:ext cx="507043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Four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4050" y="3302000"/>
            <a:ext cx="8343900" cy="254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espre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3079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conversation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with Jisc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08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lamp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3079750"/>
            <a:ext cx="444500" cy="444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What we learned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20+ implementations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21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deur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3079750"/>
            <a:ext cx="4445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46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Breakout rooms: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you choose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34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3079750"/>
            <a:ext cx="444500" cy="444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059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Wrap-up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4826000"/>
            <a:ext cx="23241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Consistency  or  Efficiency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IN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22500"/>
            <a:ext cx="698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1">
                <a:solidFill>
                  <a:srgbClr val="FFFFFF"/>
                </a:solidFill>
                <a:latin typeface="League Spartan"/>
              </a:rPr>
              <a:t>Hannah Lawrence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115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B9CBD2"/>
                </a:solidFill>
                <a:latin typeface="Inter"/>
              </a:rPr>
              <a:t>Licence Manager, Jisc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1587500"/>
            <a:ext cx="3302000" cy="3302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1115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B4"/>
                </a:solidFill>
                <a:latin typeface="Inter"/>
              </a:rPr>
              <a:t>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064000"/>
            <a:ext cx="635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What does the sector expect from AI feedback,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and what is actually working?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do you see institutions struggling with most right now when it comes to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573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made Jisc decide to start the AI in marking and feedback pilot?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571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0" b="1">
                <a:solidFill>
                  <a:srgbClr val="007B54"/>
                </a:solidFill>
                <a:latin typeface="League Spartan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5207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colleges and universities in Jisc's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AI in marking and feedback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520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September 2025 to August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31000" y="1587500"/>
            <a:ext cx="4699000" cy="3302000"/>
          </a:xfrm>
          <a:prstGeom prst="roundRect">
            <a:avLst>
              <a:gd name="adj" fmla="val 5384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0" y="1905000"/>
            <a:ext cx="406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76500"/>
            <a:ext cx="4064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These tools shouldn't be used as a final marker. Humans should always be reviewing the feedback.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4318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2333"/>
                </a:solidFill>
                <a:latin typeface="Inter"/>
              </a:rPr>
              <a:t>Tom Moule, Jisc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Jisc National Centre for AI, May 2026 · Times Higher Education, 27 March 2026</a:t>
            </a:r>
          </a:p>
        </p:txBody>
      </p:sp>
      <p:pic>
        <p:nvPicPr>
          <p:cNvPr id="11" name="Picture 10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The pilot points towards formative feedback. What makes AI so valuable there?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Where do institutions tend to get stuck when they try it?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What's one piece of advice you'd give an institution starting next term?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256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Lessons from 20+ pilots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and implementations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_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3047175"/>
            <a:ext cx="1244600" cy="3191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603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_hh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050" y="2985328"/>
            <a:ext cx="1244600" cy="4428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45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_t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550" y="3049014"/>
            <a:ext cx="1244600" cy="315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050" y="3065184"/>
            <a:ext cx="1244600" cy="2831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82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_u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806" y="4083050"/>
            <a:ext cx="1205589" cy="508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5242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42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Bath Spa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5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57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7th logo</a:t>
            </a:r>
          </a:p>
        </p:txBody>
      </p:sp>
      <p:sp>
        <p:nvSpPr>
          <p:cNvPr id="18" name="Oval 17"/>
          <p:cNvSpPr/>
          <p:nvPr/>
        </p:nvSpPr>
        <p:spPr>
          <a:xfrm>
            <a:off x="9017000" y="2857500"/>
            <a:ext cx="1778000" cy="1778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7000" y="3302000"/>
            <a:ext cx="177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002333"/>
                </a:solidFill>
                <a:latin typeface="League Spartan"/>
              </a:rPr>
              <a:t>+20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0" y="47879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pilots &amp; implementations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ji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This is not a product demo.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These are the patterns we saw.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INSTITUTIONS BRING US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Three reasons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pic>
        <p:nvPicPr>
          <p:cNvPr id="6" name="Picture 5" descr="icon-slot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0" y="2794000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Data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Staff already use AI to mark,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outside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04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52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2</a:t>
            </a:r>
          </a:p>
        </p:txBody>
      </p:sp>
      <p:pic>
        <p:nvPicPr>
          <p:cNvPr id="11" name="Picture 10" descr="icon-weegschaa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794000"/>
            <a:ext cx="762000" cy="76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04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Grading and feedback,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formative and summative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88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36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3</a:t>
            </a:r>
          </a:p>
        </p:txBody>
      </p:sp>
      <p:pic>
        <p:nvPicPr>
          <p:cNvPr id="16" name="Picture 15" descr="icon-klok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400" y="27940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788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88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Time back for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lecturers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ji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1 · DATA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Staff already use AI,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outside policy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99200" y="1358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23000" y="1270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149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THE GUARDIAN · 20 NOVEMBER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1803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'We could have asked ChatGPT': students fight back over course taught by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276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University of Staffordshire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7200" y="3644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0" y="3556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0" y="378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OMROEP BRABANT (NL) · EARLY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0" y="4089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Docent bouwt AI-tool die studentgegevens naar ChatGPT stuurt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0" y="505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Lecturer builds AI tool that sends student data to ChatGPT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556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When it reaches the press,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it is no longer an IT issue.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theguardian.com/education/2025/nov/20 · omroepbrabant.nl/nieuws/6002910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Banning it doesn't stop it.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A safe alternative does.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Grading and feedback, formative and summative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Consistency is more than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same grade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7000" y="2222500"/>
            <a:ext cx="8763000" cy="889000"/>
          </a:xfrm>
          <a:prstGeom prst="roundRect">
            <a:avLst>
              <a:gd name="adj" fmla="val 1714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1000" y="24384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0" y="24130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Same 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0" y="2514600"/>
            <a:ext cx="4953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Run the same assignment twice, get the same grade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67000" y="3302000"/>
            <a:ext cx="8763000" cy="889000"/>
          </a:xfrm>
          <a:prstGeom prst="roundRect">
            <a:avLst>
              <a:gd name="adj" fmla="val 1714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1000" y="35179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34925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Same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000" y="3594100"/>
            <a:ext cx="4953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 feedback addresses the same parts of the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67000" y="4381500"/>
            <a:ext cx="8763000" cy="889000"/>
          </a:xfrm>
          <a:prstGeom prst="roundRect">
            <a:avLst>
              <a:gd name="adj" fmla="val 1714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1000" y="45974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0" y="45720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Same 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4673600"/>
            <a:ext cx="4953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 feedback is written the same way, every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49500" y="2286000"/>
            <a:ext cx="25400" cy="7620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2413000"/>
            <a:ext cx="1460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5B7480"/>
                </a:solidFill>
                <a:latin typeface="Inter"/>
              </a:rPr>
              <a:t>What most</a:t>
            </a:r>
          </a:p>
          <a:p>
            <a:pPr algn="r">
              <a:lnSpc>
                <a:spcPct val="120000"/>
              </a:lnSpc>
            </a:pPr>
            <a:r>
              <a:rPr sz="1300" b="1">
                <a:solidFill>
                  <a:srgbClr val="5B7480"/>
                </a:solidFill>
                <a:latin typeface="Inter"/>
              </a:rPr>
              <a:t>people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9500" y="3365500"/>
            <a:ext cx="25400" cy="18415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000500"/>
            <a:ext cx="1460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</a:t>
            </a:r>
          </a:p>
          <a:p>
            <a:pPr algn="r">
              <a:lnSpc>
                <a:spcPct val="12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also check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 PROBLEM IS 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397000"/>
            <a:ext cx="6985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2333"/>
                </a:solidFill>
                <a:latin typeface="League Spartan"/>
              </a:rPr>
              <a:t>9 of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635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assignments were ranked both best and worst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by different experienced examiners</a:t>
            </a:r>
          </a:p>
        </p:txBody>
      </p:sp>
      <p:sp>
        <p:nvSpPr>
          <p:cNvPr id="5" name="Oval 4"/>
          <p:cNvSpPr/>
          <p:nvPr/>
        </p:nvSpPr>
        <p:spPr>
          <a:xfrm>
            <a:off x="82550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392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234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076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550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392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34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076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918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50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392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234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76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918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550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92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234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076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0" y="41275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work, opposite rankings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Bloxham et al., Assessment &amp; Evaluation in Higher Education, 2016 · 24 examiners, 20 UK universities</a:t>
            </a:r>
          </a:p>
        </p:txBody>
      </p:sp>
      <p:pic>
        <p:nvPicPr>
          <p:cNvPr id="27" name="Picture 2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Where inconsistency hurts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roep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2952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Many markers,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one module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33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608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histori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2952750"/>
            <a:ext cx="4445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703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Paper 80 is marked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differently from paper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21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ongelijk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2952750"/>
            <a:ext cx="444500" cy="444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516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Students compare,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then appeal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59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234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oogdicht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2952750"/>
            <a:ext cx="444500" cy="444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329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Moderation only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sees a sample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IT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698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Consistent feedback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can build on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60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65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65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65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97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04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44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26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49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26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4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49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26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88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28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28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410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28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33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410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28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33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10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pic>
        <p:nvPicPr>
          <p:cNvPr id="39" name="Picture 3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WHERE WE WANT TO GET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A student sees their own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growth across the degree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530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0975" y="5295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0350" y="52821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9725" y="5268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89100" y="5255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8475" y="5242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47850" y="5229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7225" y="52159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06600" y="520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85975" y="5189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65350" y="51763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44725" y="51630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24100" y="5149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03475" y="51366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82850" y="51233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62225" y="5110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41600" y="509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0975" y="50837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00350" y="5070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79725" y="5057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59100" y="5044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38475" y="5030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17850" y="50175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97225" y="5004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6600" y="499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55975" y="49725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35350" y="49540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14725" y="4935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4100" y="4917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73475" y="48984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52850" y="4879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2225" y="4861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11600" y="484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90975" y="4824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0350" y="48058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49725" y="4787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29100" y="4768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08475" y="4750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7850" y="47318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67225" y="4713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46600" y="4694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5975" y="4676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05350" y="465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84725" y="46392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64100" y="4620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43475" y="4602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22850" y="45836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02225" y="45651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181600" y="4546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60975" y="4525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40350" y="4504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419725" y="4483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9100" y="4461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78475" y="4440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57850" y="441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37225" y="4398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16600" y="4377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95975" y="4356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75350" y="4334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54725" y="4313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34100" y="4292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13475" y="4271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92850" y="4250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2225" y="4229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51600" y="4207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30975" y="4186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10350" y="4165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689725" y="4144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69100" y="4123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48475" y="4102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927850" y="4080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07225" y="4059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086600" y="403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165975" y="4017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45350" y="3996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24725" y="3975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404100" y="3953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83475" y="393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62850" y="3911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2225" y="3890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721600" y="3869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800975" y="3848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880350" y="382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959725" y="3805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39100" y="3784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8475" y="3763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197850" y="3742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7225" y="372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356600" y="3699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435975" y="3678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5350" y="3657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594725" y="3636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674100" y="3615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753475" y="3594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32850" y="357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12225" y="3551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991600" y="3530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065683" y="3506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139767" y="3482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213850" y="3459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287933" y="3435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362017" y="3411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436100" y="338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10183" y="3363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584267" y="3340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58350" y="3316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732433" y="3292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806517" y="32686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880600" y="3244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54683" y="32210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8767" y="3197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02850" y="3173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176933" y="314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251017" y="3125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325100" y="3101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99183" y="3078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3267" y="3054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547350" y="3030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621433" y="3006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695517" y="2982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289050" y="5226050"/>
            <a:ext cx="215900" cy="215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168650" y="4883150"/>
            <a:ext cx="266700" cy="2667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048250" y="4413250"/>
            <a:ext cx="317500" cy="3175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927850" y="3879850"/>
            <a:ext cx="368300" cy="3683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07450" y="3346450"/>
            <a:ext cx="419100" cy="4191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60050" y="2749550"/>
            <a:ext cx="469900" cy="469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6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2000" y="6096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Illustration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37" name="Rectangle 13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We started with general LLMs.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Then we built our own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44771" y="385153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69358" y="337393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8270" y="343274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73888" y="380109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11944" y="369982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1882" y="366309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80665" y="405020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74021" y="384424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59779" y="254829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1623" y="328545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08146" y="352947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86065" y="3184885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10834" y="378376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10231" y="444500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5481" y="424768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3915" y="312867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1989" y="349450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7781" y="369955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86709" y="300304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26253" y="426150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9040" y="369743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8091" y="269515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6016" y="431081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93143" y="337016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68382" y="3083746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966595" y="352001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General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different focus each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24469" y="375838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869765" y="378723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29" y="364456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77656" y="3238386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850944" y="340644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77894" y="32467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98061" y="342615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86127" y="305927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26896" y="361451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0090" y="369742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2445" y="294035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60821" y="337600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44915" y="379494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20799" y="359444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1837" y="36621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92706" y="370733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17138" y="368990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088268" y="386935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69569" y="368548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46624" y="340108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30175" y="311320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71730" y="3805249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78067" y="394963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28773" y="351929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749460" y="371486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78048" y="383608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Purpose-built model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same criteria, same voice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 Model trained on 250,000 education-specific feedback examples.</a:t>
            </a:r>
          </a:p>
        </p:txBody>
      </p:sp>
      <p:pic>
        <p:nvPicPr>
          <p:cNvPr id="63" name="Picture 62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INSTITUTIONS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lessons on consistency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349500"/>
            <a:ext cx="6096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76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 gap was in the rubric,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not in the markers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Six markers, one module. One marked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“critical analysis” lower every time: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they read the descriptor differently.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studenten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349500"/>
            <a:ext cx="60960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02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Students act on feedback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they 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02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Three formative rounds, a different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focus each time: students ignored it.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Same criteria every round: they used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Typical scenarios from our implementations, institutions not named.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“AI grading isn’t aligned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with our policy.”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An objection we hear often.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WHEN AI GRADING IS A STEP TOO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Not ready for AI grades?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Use it to moderate.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970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99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828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5700" y="4594752"/>
            <a:ext cx="228600" cy="48524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686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115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44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973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40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31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60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89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118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4700" y="3429000"/>
            <a:ext cx="228600" cy="1651000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76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405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834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63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69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121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550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79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408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83700" y="2984500"/>
            <a:ext cx="228600" cy="2095500"/>
          </a:xfrm>
          <a:prstGeom prst="roundRect">
            <a:avLst>
              <a:gd name="adj" fmla="val 22222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266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95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124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5300" y="4689543"/>
            <a:ext cx="228600" cy="390457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vlag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476500"/>
            <a:ext cx="381000" cy="381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28200" y="2540000"/>
            <a:ext cx="1905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Flagged: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far from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5092700"/>
            <a:ext cx="106680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5270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AI grade stays hidden. Only large deviations reach the moderator.</a:t>
            </a:r>
          </a:p>
        </p:txBody>
      </p:sp>
      <p:pic>
        <p:nvPicPr>
          <p:cNvPr id="36" name="Picture 35" descr="logo_navy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ogo_jis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Time saved on marking and 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flavours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aan-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222500"/>
            <a:ext cx="508000" cy="50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780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League Spartan"/>
              </a:rPr>
              <a:t>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03:00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Student asks for feedback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when it suits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76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0F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76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E075"/>
                </a:solidFill>
                <a:latin typeface="Inter"/>
              </a:rPr>
              <a:t>No human in the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userchec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222500"/>
            <a:ext cx="508000" cy="50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406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2333"/>
                </a:solidFill>
                <a:latin typeface="League Spartan"/>
              </a:rPr>
              <a:t>Summative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2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007B54"/>
                </a:solidFill>
                <a:latin typeface="League Spartan"/>
              </a:rPr>
              <a:t>Lecturer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saved on writing,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not on reading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02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02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7B54"/>
                </a:solidFill>
                <a:latin typeface="Inter"/>
              </a:rPr>
              <a:t>Human in the loop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HEAR FROM INSTITUTIONS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cost of no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FOR LECTURERS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choolbord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67335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75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Marking instead of mentoring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klo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625850"/>
            <a:ext cx="406400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875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Structural overtime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FOR INSTITUTIONS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pen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67335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01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No formative feedback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6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prijs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62585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501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Paying external markers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4381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tudenten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57835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50100" y="4635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Fewer staff, more students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ji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Editing AI feedback can cost more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time than writing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8448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Writing feedback yourself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8000" y="2667000"/>
            <a:ext cx="3911600" cy="660400"/>
          </a:xfrm>
          <a:prstGeom prst="roundRect">
            <a:avLst>
              <a:gd name="adj" fmla="val 13461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37973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Fixing inaccurate AI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8000" y="3619500"/>
            <a:ext cx="6045200" cy="660400"/>
          </a:xfrm>
          <a:prstGeom prst="roundRect">
            <a:avLst>
              <a:gd name="adj" fmla="val 13461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7498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Approving accurate AI feedback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8000" y="4572000"/>
            <a:ext cx="1564640" cy="660400"/>
          </a:xfrm>
          <a:prstGeom prst="roundRect">
            <a:avLst>
              <a:gd name="adj" fmla="val 1346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 of time per assignment, not a measurement.</a:t>
            </a:r>
          </a:p>
        </p:txBody>
      </p:sp>
      <p:pic>
        <p:nvPicPr>
          <p:cNvPr id="11" name="Picture 10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THEREFORE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Accuracy is the most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important factor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3222625"/>
            <a:ext cx="476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Your rubric and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550" y="3238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91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mod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225" y="3222625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model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follows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850" y="3238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104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filep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525" y="3222625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6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Feedback you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would give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8150" y="3238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17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9825" y="3222625"/>
            <a:ext cx="476250" cy="476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059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Approve,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don't rewrite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Tuning is the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4765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0" b="1">
                <a:solidFill>
                  <a:srgbClr val="5B7480"/>
                </a:solidFill>
                <a:latin typeface="League Spartan"/>
              </a:rPr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accuracy on average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4765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0" b="1">
                <a:solidFill>
                  <a:srgbClr val="007B54"/>
                </a:solidFill>
                <a:latin typeface="League Spartan"/>
              </a:rPr>
              <a:t>98%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9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accuracy for lecturers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who tuned the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8800" y="24765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0" b="1">
                <a:solidFill>
                  <a:srgbClr val="002333"/>
                </a:solidFill>
                <a:latin typeface="League Spartan"/>
              </a:rPr>
              <a:t>−85%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3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spent typing feedback,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up to 20 min per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Accuracy: Bath Spa pilot, June 2026 (435 submissions, 13 markers). Typing time: Eduface implementations.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WE WANT TO GET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Lecturer time moves from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typing to 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38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13000" y="3048000"/>
            <a:ext cx="553974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0800" y="3263900"/>
            <a:ext cx="527304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Writing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3540" y="3048000"/>
            <a:ext cx="3375660" cy="698500"/>
          </a:xfrm>
          <a:prstGeom prst="roundRect">
            <a:avLst>
              <a:gd name="adj" fmla="val 12727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1340" y="3263900"/>
            <a:ext cx="310896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381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With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3000" y="4191000"/>
            <a:ext cx="220345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800" y="4406900"/>
            <a:ext cx="19367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Checking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7250" y="4191000"/>
            <a:ext cx="6711950" cy="698500"/>
          </a:xfrm>
          <a:prstGeom prst="roundRect">
            <a:avLst>
              <a:gd name="adj" fmla="val 12727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5050" y="4406900"/>
            <a:ext cx="64452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</a:t>
            </a:r>
          </a:p>
        </p:txBody>
      </p:sp>
      <p:pic>
        <p:nvPicPr>
          <p:cNvPr id="15" name="Picture 1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“Won’t lecturers just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click approve?”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The question we always 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Approving is still judging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wisselen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100" y="2476500"/>
            <a:ext cx="635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25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alternative today is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often no feedback at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rubric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0" y="2476500"/>
            <a:ext cx="635000" cy="63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09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It gives the feedback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lecturer set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historie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0" y="2476500"/>
            <a:ext cx="635000" cy="63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93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Every edit is logged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in the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0165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7B54"/>
                </a:solidFill>
                <a:latin typeface="League Spartan"/>
              </a:rPr>
              <a:t>The AI assists. The academic decides.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BREAKOUT ROOMS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Choose your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deur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200" y="2984500"/>
            <a:ext cx="889000" cy="88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Dante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deu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800" y="2984500"/>
            <a:ext cx="889000" cy="88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246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1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Statements · vote · discuss · short talk · questions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BACK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What we heard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68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68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952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Which of these would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you test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Slides and sources follow by email.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E075"/>
                </a:solidFill>
                <a:latin typeface="Inter"/>
              </a:rPr>
              <a:t>info@eduface.me  ·  eduface.me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