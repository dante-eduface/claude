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0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6.png"/><Relationship Id="rId6" Type="http://schemas.openxmlformats.org/officeDocument/2006/relationships/image" Target="../media/image1.png"/><Relationship Id="rId7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19.png"/><Relationship Id="rId4" Type="http://schemas.openxmlformats.org/officeDocument/2006/relationships/image" Target="../media/image32.png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63000" y="1651000"/>
            <a:ext cx="4826000" cy="4826000"/>
          </a:xfrm>
          <a:prstGeom prst="ellipse">
            <a:avLst/>
          </a:prstGeom>
          <a:solidFill>
            <a:srgbClr val="0A3A47"/>
          </a:solidFill>
          <a:ln>
            <a:solidFill>
              <a:srgbClr val="0A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52000" y="2540000"/>
            <a:ext cx="3048000" cy="3048000"/>
          </a:xfrm>
          <a:prstGeom prst="ellipse">
            <a:avLst/>
          </a:prstGeom>
          <a:solidFill>
            <a:srgbClr val="0F4C57"/>
          </a:solidFill>
          <a:ln>
            <a:solidFill>
              <a:srgbClr val="0F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41000" y="3429000"/>
            <a:ext cx="1270000" cy="12700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90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JISC  ×  EDUFACE  ·  WEBINAR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286000"/>
            <a:ext cx="7620000" cy="209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The business outcomes of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AI marking and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8100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Lessons from 20+ pilots and implementations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4200" y="5740400"/>
            <a:ext cx="2589843" cy="8382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969000"/>
            <a:ext cx="1409700" cy="381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24100" y="5930900"/>
            <a:ext cx="12700" cy="4572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200" y="5905500"/>
            <a:ext cx="507043" cy="5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Four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24050" y="3302000"/>
            <a:ext cx="8343900" cy="25400"/>
          </a:xfrm>
          <a:prstGeom prst="rect">
            <a:avLst/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795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gesprek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3079750"/>
            <a:ext cx="444500" cy="44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 conversation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with Jisc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08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lamp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100" y="3079750"/>
            <a:ext cx="444500" cy="444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33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What we learned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in 20+ implementations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21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deur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3079750"/>
            <a:ext cx="444500" cy="444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46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Breakout rooms:</a:t>
            </a:r>
          </a:p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you choose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3450" y="2857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check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3079750"/>
            <a:ext cx="444500" cy="444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05900" y="4000500"/>
            <a:ext cx="23241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Wrap-up</a:t>
            </a:r>
          </a:p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002333"/>
                </a:solidFill>
                <a:latin typeface="Inter"/>
              </a:rPr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600" y="4826000"/>
            <a:ext cx="23241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Consistency  or  Efficiency</a:t>
            </a:r>
          </a:p>
        </p:txBody>
      </p:sp>
      <p:pic>
        <p:nvPicPr>
          <p:cNvPr id="18" name="Picture 17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_jis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IN CONVERSATION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22500"/>
            <a:ext cx="6985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1">
                <a:solidFill>
                  <a:srgbClr val="FFFFFF"/>
                </a:solidFill>
                <a:latin typeface="League Spartan"/>
              </a:rPr>
              <a:t>Hannah Lawrence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115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B9CBD2"/>
                </a:solidFill>
                <a:latin typeface="Inter"/>
              </a:rPr>
              <a:t>Licence Manager, Jisc</a:t>
            </a:r>
          </a:p>
        </p:txBody>
      </p:sp>
      <p:sp>
        <p:nvSpPr>
          <p:cNvPr id="6" name="Oval 5"/>
          <p:cNvSpPr/>
          <p:nvPr/>
        </p:nvSpPr>
        <p:spPr>
          <a:xfrm>
            <a:off x="8001000" y="1587500"/>
            <a:ext cx="3302000" cy="3302000"/>
          </a:xfrm>
          <a:prstGeom prst="ellipse">
            <a:avLst/>
          </a:prstGeom>
          <a:solidFill>
            <a:srgbClr val="0F4C57"/>
          </a:solidFill>
          <a:ln>
            <a:solidFill>
              <a:srgbClr val="0F4C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31115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B4"/>
                </a:solidFill>
                <a:latin typeface="Inter"/>
              </a:rPr>
              <a:t>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064000"/>
            <a:ext cx="635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E075"/>
                </a:solidFill>
                <a:latin typeface="Inter"/>
              </a:rPr>
              <a:t>Why AI marking and feedback has a place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00E075"/>
                </a:solidFill>
                <a:latin typeface="Inter"/>
              </a:rPr>
              <a:t>in Jisc’s new digital assessment framework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1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 do you see institutions struggling with most right now when it comes to AI?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573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732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2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Why did Jisc decide to include AI marking and feedback in the new digital assessment framework?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732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3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 does a framework like this make easier for institutions?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6891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4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 should institutions look for when they choose an AI marking and feedback tool?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097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05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IN CONVERSATION WITH JISC  ·  5 OF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What's one piece of advice you'd give an institution starting next term?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779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938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09700" y="50800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007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256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HANNAH ASKS EDUFACE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905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2333"/>
                </a:solidFill>
                <a:latin typeface="League Spartan"/>
              </a:rPr>
              <a:t>Where do institutions tend to get stuck when they try it?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80000"/>
            <a:ext cx="406400" cy="12700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Lessons from 20+ pilots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and implementations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_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3047175"/>
            <a:ext cx="1244600" cy="3191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6035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_hh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050" y="2985328"/>
            <a:ext cx="1244600" cy="4428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4450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_t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550" y="3049014"/>
            <a:ext cx="1244600" cy="315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86500" y="27305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_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050" y="3065184"/>
            <a:ext cx="1244600" cy="28313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827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_u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1806" y="4083050"/>
            <a:ext cx="1205589" cy="508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5242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4250" y="4210050"/>
            <a:ext cx="16637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Bath Spa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65750" y="3860800"/>
            <a:ext cx="1663700" cy="952500"/>
          </a:xfrm>
          <a:prstGeom prst="roundRect">
            <a:avLst>
              <a:gd name="adj" fmla="val 16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5750" y="4210050"/>
            <a:ext cx="16637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7th logo</a:t>
            </a:r>
          </a:p>
        </p:txBody>
      </p:sp>
      <p:sp>
        <p:nvSpPr>
          <p:cNvPr id="18" name="Oval 17"/>
          <p:cNvSpPr/>
          <p:nvPr/>
        </p:nvSpPr>
        <p:spPr>
          <a:xfrm>
            <a:off x="9017000" y="2857500"/>
            <a:ext cx="1778000" cy="17780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7000" y="3302000"/>
            <a:ext cx="1778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>
                <a:solidFill>
                  <a:srgbClr val="002333"/>
                </a:solidFill>
                <a:latin typeface="League Spartan"/>
              </a:rPr>
              <a:t>+20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6500" y="47879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pilots &amp; implementations</a:t>
            </a:r>
          </a:p>
        </p:txBody>
      </p:sp>
      <p:pic>
        <p:nvPicPr>
          <p:cNvPr id="21" name="Picture 20" descr="logo_navy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ji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This is not a product demo.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These are the patterns we saw.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INSTITUTIONS BRING US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Three reasons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1</a:t>
            </a:r>
          </a:p>
        </p:txBody>
      </p:sp>
      <p:pic>
        <p:nvPicPr>
          <p:cNvPr id="6" name="Picture 5" descr="icon-slot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600" y="2794000"/>
            <a:ext cx="762000" cy="76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Data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Staff already use AI to mark,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outside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04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52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2</a:t>
            </a:r>
          </a:p>
        </p:txBody>
      </p:sp>
      <p:pic>
        <p:nvPicPr>
          <p:cNvPr id="11" name="Picture 10" descr="icon-weegschaal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2794000"/>
            <a:ext cx="762000" cy="76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04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04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Grading and feedback,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formative and summative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8800" y="2032000"/>
            <a:ext cx="3251200" cy="3302000"/>
          </a:xfrm>
          <a:prstGeom prst="roundRect">
            <a:avLst>
              <a:gd name="adj" fmla="val 5468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83600" y="22860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3</a:t>
            </a:r>
          </a:p>
        </p:txBody>
      </p:sp>
      <p:pic>
        <p:nvPicPr>
          <p:cNvPr id="16" name="Picture 15" descr="icon-klok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400" y="2794000"/>
            <a:ext cx="7620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78800" y="3873500"/>
            <a:ext cx="32512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02333"/>
                </a:solidFill>
                <a:latin typeface="League Spartan"/>
              </a:rPr>
              <a:t>Efficiency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8800" y="4445000"/>
            <a:ext cx="3251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Time back for</a:t>
            </a:r>
          </a:p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lecturers</a:t>
            </a:r>
          </a:p>
        </p:txBody>
      </p:sp>
      <p:pic>
        <p:nvPicPr>
          <p:cNvPr id="19" name="Picture 18" descr="logo_nav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ji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1 · DATA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Staff already use AI,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outside policy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99200" y="13589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223000" y="1270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23000" y="1270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23000" y="1270000"/>
            <a:ext cx="4699000" cy="381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7000" y="1498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THE GUARDIAN · 20 NOVEMBER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0" y="1803400"/>
            <a:ext cx="419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'We could have asked ChatGPT': students fight back over course taught by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0" y="2768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University of Staffordshire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7200" y="36449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31000" y="3556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31000" y="3556000"/>
            <a:ext cx="4699000" cy="1905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31000" y="3556000"/>
            <a:ext cx="4699000" cy="3810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85000" y="3784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B7480"/>
                </a:solidFill>
                <a:latin typeface="Inter"/>
              </a:rPr>
              <a:t>OMROEP BRABANT (NL) · EARLY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5000" y="4089400"/>
            <a:ext cx="4191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Docent bouwt AI-tool die studentgegevens naar ChatGPT stuurt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0" y="5054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7480"/>
                </a:solidFill>
                <a:latin typeface="Inter"/>
              </a:rPr>
              <a:t>Lecturer builds AI tool that sends student data to ChatGPT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556000"/>
            <a:ext cx="4826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When it reaches the press,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002333"/>
                </a:solidFill>
                <a:latin typeface="Inter"/>
              </a:rPr>
              <a:t>it is no longer an IT issue.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theguardian.com/education/2025/nov/20 · omroepbrabant.nl/nieuws/6002910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Banning it doesn't stop it.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A safe alternative does.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3810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E075"/>
                </a:solidFill>
                <a:latin typeface="League Spart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eague Spartan"/>
              </a:rPr>
              <a:t>Consistency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Grading and feedback, formative and summative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Consistency is more than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the same grade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7000" y="2222500"/>
            <a:ext cx="8763000" cy="889000"/>
          </a:xfrm>
          <a:prstGeom prst="roundRect">
            <a:avLst>
              <a:gd name="adj" fmla="val 17142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1000" y="24384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B7480"/>
                </a:solidFill>
                <a:latin typeface="League Spart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56000" y="2413000"/>
            <a:ext cx="2667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Same 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3000" y="2514600"/>
            <a:ext cx="4953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Run the same assignment twice, get the same grade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67000" y="3302000"/>
            <a:ext cx="8763000" cy="889000"/>
          </a:xfrm>
          <a:prstGeom prst="roundRect">
            <a:avLst>
              <a:gd name="adj" fmla="val 1714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1000" y="35179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6000" y="3492500"/>
            <a:ext cx="2667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Same focus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000" y="3594100"/>
            <a:ext cx="4953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The feedback addresses the same parts of the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67000" y="4381500"/>
            <a:ext cx="8763000" cy="889000"/>
          </a:xfrm>
          <a:prstGeom prst="roundRect">
            <a:avLst>
              <a:gd name="adj" fmla="val 1714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1000" y="45974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07B54"/>
                </a:solidFill>
                <a:latin typeface="League Sparta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6000" y="4572000"/>
            <a:ext cx="2667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Same style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000" y="4673600"/>
            <a:ext cx="4953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The feedback is written the same way, every 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49500" y="2286000"/>
            <a:ext cx="25400" cy="7620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2413000"/>
            <a:ext cx="1460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5B7480"/>
                </a:solidFill>
                <a:latin typeface="Inter"/>
              </a:rPr>
              <a:t>What most</a:t>
            </a:r>
          </a:p>
          <a:p>
            <a:pPr algn="r">
              <a:lnSpc>
                <a:spcPct val="120000"/>
              </a:lnSpc>
            </a:pPr>
            <a:r>
              <a:rPr sz="1300" b="1">
                <a:solidFill>
                  <a:srgbClr val="5B7480"/>
                </a:solidFill>
                <a:latin typeface="Inter"/>
              </a:rPr>
              <a:t>people check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49500" y="3365500"/>
            <a:ext cx="25400" cy="1841500"/>
          </a:xfrm>
          <a:prstGeom prst="rect">
            <a:avLst/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4000500"/>
            <a:ext cx="14605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</a:t>
            </a:r>
          </a:p>
          <a:p>
            <a:pPr algn="r">
              <a:lnSpc>
                <a:spcPct val="12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also check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THE PROBLEM IS 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397000"/>
            <a:ext cx="6985000" cy="190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2333"/>
                </a:solidFill>
                <a:latin typeface="League Spartan"/>
              </a:rPr>
              <a:t>9 of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63500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002333"/>
                </a:solidFill>
                <a:latin typeface="Inter"/>
              </a:rPr>
              <a:t>assignments were ranked both best and worst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002333"/>
                </a:solidFill>
                <a:latin typeface="Inter"/>
              </a:rPr>
              <a:t>by different experienced examiners</a:t>
            </a:r>
          </a:p>
        </p:txBody>
      </p:sp>
      <p:sp>
        <p:nvSpPr>
          <p:cNvPr id="5" name="Oval 4"/>
          <p:cNvSpPr/>
          <p:nvPr/>
        </p:nvSpPr>
        <p:spPr>
          <a:xfrm>
            <a:off x="82550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39200" y="16510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234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07600" y="16510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91800" y="16510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550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39200" y="22352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34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07600" y="22352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91800" y="22352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50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39200" y="28194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234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07600" y="28194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91800" y="28194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55000" y="34036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92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234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07600" y="3403600"/>
            <a:ext cx="406400" cy="406400"/>
          </a:xfrm>
          <a:prstGeom prst="ellipse">
            <a:avLst/>
          </a:prstGeom>
          <a:solidFill>
            <a:srgbClr val="E07B00"/>
          </a:solidFill>
          <a:ln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3403600"/>
            <a:ext cx="406400" cy="406400"/>
          </a:xfrm>
          <a:prstGeom prst="ellipse">
            <a:avLst/>
          </a:prstGeom>
          <a:solidFill>
            <a:srgbClr val="E7EEF0"/>
          </a:solidFill>
          <a:ln>
            <a:solidFill>
              <a:srgbClr val="E7EE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5000" y="4127500"/>
            <a:ext cx="2921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work, opposite rankings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Bloxham et al., Assessment &amp; Evaluation in Higher Education, 2016 · 24 examiners, 20 UK universities</a:t>
            </a:r>
          </a:p>
        </p:txBody>
      </p:sp>
      <p:pic>
        <p:nvPicPr>
          <p:cNvPr id="27" name="Picture 2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Where inconsistency hurts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795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groep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800" y="2952750"/>
            <a:ext cx="444500" cy="444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0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Many markers,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one module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33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608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-historie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3100" y="2952750"/>
            <a:ext cx="4445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703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Paper 80 is marked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differently from paper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6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0421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-ongelijk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4400" y="2952750"/>
            <a:ext cx="444500" cy="444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516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Students compare,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then appeal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5900" y="2286000"/>
            <a:ext cx="2324100" cy="2540000"/>
          </a:xfrm>
          <a:prstGeom prst="roundRect">
            <a:avLst>
              <a:gd name="adj" fmla="val 765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23450" y="2730500"/>
            <a:ext cx="889000" cy="889000"/>
          </a:xfrm>
          <a:prstGeom prst="roundRect">
            <a:avLst>
              <a:gd name="adj" fmla="val 24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con-oogdicht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5700" y="2952750"/>
            <a:ext cx="444500" cy="4445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32900" y="3937000"/>
            <a:ext cx="20701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Moderation only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sees a sample</a:t>
            </a:r>
          </a:p>
        </p:txBody>
      </p:sp>
      <p:pic>
        <p:nvPicPr>
          <p:cNvPr id="20" name="Picture 19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ogo_jis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WHY IT MATTERS TO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698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Consistent feedback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can build on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Draft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60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65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2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60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65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42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65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42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49700" y="3810000"/>
            <a:ext cx="5842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04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44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Draft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44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26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44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49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26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244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149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326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CDD9DE"/>
                </a:solidFill>
                <a:latin typeface="Inter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8100" y="3810000"/>
            <a:ext cx="5842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8800" y="26670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2800" y="2857500"/>
            <a:ext cx="32512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2333"/>
                </a:solidFill>
                <a:latin typeface="League Spartan"/>
              </a:rPr>
              <a:t>Final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2800" y="33655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23300" y="3479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Argument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41000" y="34798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2800" y="39116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3300" y="4025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41000" y="40259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2800" y="4457700"/>
            <a:ext cx="2743200" cy="419100"/>
          </a:xfrm>
          <a:prstGeom prst="roundRect">
            <a:avLst>
              <a:gd name="adj" fmla="val 50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23300" y="4572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7B54"/>
                </a:solidFill>
                <a:latin typeface="Inter"/>
              </a:rPr>
              <a:t>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1000" y="4572000"/>
            <a:ext cx="444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007B54"/>
                </a:solidFill>
                <a:latin typeface="Inter"/>
              </a:rPr>
              <a:t>✓</a:t>
            </a:r>
          </a:p>
        </p:txBody>
      </p:sp>
      <p:pic>
        <p:nvPicPr>
          <p:cNvPr id="39" name="Picture 38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E075"/>
                </a:solidFill>
                <a:latin typeface="Inter"/>
              </a:rPr>
              <a:t>WHERE WE WANT TO GET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League Spartan"/>
              </a:rPr>
              <a:t>A student sees their own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League Spartan"/>
              </a:rPr>
              <a:t>growth across the degree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5308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50975" y="529537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0350" y="528214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9725" y="5268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89100" y="525568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68475" y="524245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47850" y="52292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27225" y="521599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06600" y="5202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85975" y="5189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65350" y="517630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44725" y="516307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324100" y="5149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03475" y="513662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82850" y="512339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62225" y="5110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41600" y="5096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20975" y="508370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800350" y="50704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879725" y="505724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59100" y="504401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038475" y="5030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117850" y="501755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197225" y="500432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76600" y="4991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55975" y="497257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35350" y="495405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14725" y="4935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94100" y="491701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73475" y="489849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52850" y="4879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2225" y="486145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911600" y="4842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990975" y="48244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070350" y="480589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149725" y="478737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229100" y="4768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08475" y="4750329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87850" y="473180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67225" y="47132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546600" y="4694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625975" y="4676246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705350" y="4657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784725" y="4639204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64100" y="462068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943475" y="4602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022850" y="458364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02225" y="4565121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181600" y="4546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260975" y="4525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340350" y="4504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419725" y="4483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499100" y="4461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578475" y="4440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657850" y="4419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737225" y="4398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816600" y="4377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895975" y="4356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975350" y="4334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054725" y="4313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134100" y="4292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13475" y="4271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292850" y="4250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72225" y="4229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451600" y="4207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530975" y="4186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610350" y="4165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689725" y="4144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769100" y="4123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48475" y="4102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927850" y="4080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007225" y="4059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086600" y="4038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165975" y="4017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245350" y="3996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324725" y="3975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404100" y="3953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483475" y="3932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562850" y="3911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642225" y="3890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721600" y="3869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800975" y="3848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7880350" y="3826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959725" y="3805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039100" y="3784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118475" y="3763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197850" y="3742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277225" y="3721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356600" y="3699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435975" y="3678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515350" y="3657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594725" y="36364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674100" y="36152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753475" y="3594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832850" y="3572933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912225" y="3551767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991600" y="3530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065683" y="3506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139767" y="3482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213850" y="3459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287933" y="34353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362017" y="3411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436100" y="3387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10183" y="3363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584267" y="33401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9658350" y="33162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732433" y="32924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806517" y="32686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880600" y="32448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954683" y="32210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028767" y="31972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102850" y="31734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176933" y="314960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251017" y="312578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325100" y="310197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99183" y="307816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3267" y="3054350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547350" y="3030538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621433" y="3006725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695517" y="2982912"/>
            <a:ext cx="50800" cy="50800"/>
          </a:xfrm>
          <a:prstGeom prst="ellipse">
            <a:avLst/>
          </a:prstGeom>
          <a:solidFill>
            <a:srgbClr val="2D6470"/>
          </a:solidFill>
          <a:ln>
            <a:solidFill>
              <a:srgbClr val="2D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289050" y="5226050"/>
            <a:ext cx="215900" cy="2159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3168650" y="4883150"/>
            <a:ext cx="266700" cy="2667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048250" y="4413250"/>
            <a:ext cx="317500" cy="3175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927850" y="3879850"/>
            <a:ext cx="368300" cy="3683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807450" y="3346450"/>
            <a:ext cx="419100" cy="4191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560050" y="2749550"/>
            <a:ext cx="469900" cy="469900"/>
          </a:xfrm>
          <a:prstGeom prst="ellipse">
            <a:avLst/>
          </a:prstGeom>
          <a:solidFill>
            <a:srgbClr val="00E075"/>
          </a:solidFill>
          <a:ln>
            <a:solidFill>
              <a:srgbClr val="00E0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6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82000" y="56515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B9CBD2"/>
                </a:solidFill>
                <a:latin typeface="Inter"/>
              </a:rPr>
              <a:t>Year 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2000" y="6096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Illustration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6" name="Picture 135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37" name="Rectangle 13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We started with general LLMs.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Then we built our own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2286000"/>
            <a:ext cx="4826000" cy="3048000"/>
          </a:xfrm>
          <a:prstGeom prst="roundRect">
            <a:avLst>
              <a:gd name="adj" fmla="val 5833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344771" y="385153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369358" y="337393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8270" y="343274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73888" y="380109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11944" y="369982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81882" y="366309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80665" y="405020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974021" y="384424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59779" y="254829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21623" y="328545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08146" y="3529470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86065" y="3184885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10834" y="378376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10231" y="4445000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5481" y="4247689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3915" y="3128671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271989" y="349450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77781" y="369955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86709" y="3003048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26253" y="4261509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89040" y="3697434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08091" y="269515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96016" y="4310813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893143" y="3370167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68382" y="3083746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966595" y="3520012"/>
            <a:ext cx="139700" cy="139700"/>
          </a:xfrm>
          <a:prstGeom prst="ellipse">
            <a:avLst/>
          </a:prstGeom>
          <a:solidFill>
            <a:srgbClr val="CDD9DE"/>
          </a:solidFill>
          <a:ln>
            <a:solidFill>
              <a:srgbClr val="CDD9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635500"/>
            <a:ext cx="482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002333"/>
                </a:solidFill>
                <a:latin typeface="League Spartan"/>
              </a:rPr>
              <a:t>General LLM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9911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paper, different focus each run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23000" y="2286000"/>
            <a:ext cx="4826000" cy="3048000"/>
          </a:xfrm>
          <a:prstGeom prst="roundRect">
            <a:avLst>
              <a:gd name="adj" fmla="val 5833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24469" y="375838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869765" y="378723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9129" y="364456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77656" y="3238386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850944" y="340644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477894" y="324679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298061" y="3426154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086127" y="305927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126896" y="361451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40090" y="369742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72445" y="294035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760821" y="3376002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44915" y="3794943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20799" y="3594444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721837" y="366219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192706" y="3707337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817138" y="3689908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088268" y="3869352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69569" y="3685480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46624" y="340108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930175" y="3113203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571730" y="3805249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178067" y="3949631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828773" y="351929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749460" y="3714867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678048" y="3836085"/>
            <a:ext cx="139700" cy="139700"/>
          </a:xfrm>
          <a:prstGeom prst="ellipse">
            <a:avLst/>
          </a:prstGeom>
          <a:solidFill>
            <a:srgbClr val="007B54"/>
          </a:solidFill>
          <a:ln>
            <a:solidFill>
              <a:srgbClr val="007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23000" y="4635500"/>
            <a:ext cx="4826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002333"/>
                </a:solidFill>
                <a:latin typeface="League Spartan"/>
              </a:rPr>
              <a:t>Purpose-built model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3000" y="4991100"/>
            <a:ext cx="482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Same paper, same criteria, same voice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Illustration, not a measurement. Model trained on 250,000 education-specific feedback examples.</a:t>
            </a:r>
          </a:p>
        </p:txBody>
      </p:sp>
      <p:pic>
        <p:nvPicPr>
          <p:cNvPr id="63" name="Picture 62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INSTITUTIONS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Two lessons on consistency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302000"/>
          </a:xfrm>
          <a:prstGeom prst="roundRect">
            <a:avLst>
              <a:gd name="adj" fmla="val 5384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rubric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349500"/>
            <a:ext cx="609600" cy="60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7600" y="3175000"/>
            <a:ext cx="43942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The gap was in the rubric,</a:t>
            </a:r>
          </a:p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not in the markers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4127500"/>
            <a:ext cx="4394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Six markers, one module. One marked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“critical analysis” lower every time: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they read the descriptor differently.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600" y="2032000"/>
            <a:ext cx="5105400" cy="3302000"/>
          </a:xfrm>
          <a:prstGeom prst="roundRect">
            <a:avLst>
              <a:gd name="adj" fmla="val 5384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studenten-amb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0" y="2349500"/>
            <a:ext cx="609600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0200" y="3175000"/>
            <a:ext cx="4394200" cy="825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Students act on feedback</a:t>
            </a:r>
          </a:p>
          <a:p>
            <a:pPr algn="l">
              <a:lnSpc>
                <a:spcPct val="110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they recognise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80200" y="4127500"/>
            <a:ext cx="43942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Three formative rounds, a different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focus each time: students ignored it.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02333"/>
                </a:solidFill>
                <a:latin typeface="Inter"/>
              </a:rPr>
              <a:t>Same criteria every round: they used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Typical scenarios from our implementations, institutions not named.</a:t>
            </a:r>
          </a:p>
        </p:txBody>
      </p:sp>
      <p:pic>
        <p:nvPicPr>
          <p:cNvPr id="13" name="Picture 12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ji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“AI grading isn’t aligned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with our policy.”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4450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An objection we hear often.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WHEN AI GRADING IS A STEP TOO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Not ready for AI grades?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Use it to moderate.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97000" y="4680426"/>
            <a:ext cx="228600" cy="39957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39900" y="4664299"/>
            <a:ext cx="228600" cy="415701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82800" y="4637332"/>
            <a:ext cx="228600" cy="44266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5700" y="4594752"/>
            <a:ext cx="228600" cy="48524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68600" y="4531368"/>
            <a:ext cx="228600" cy="54863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111500" y="4442591"/>
            <a:ext cx="228600" cy="637409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54400" y="4325928"/>
            <a:ext cx="228600" cy="75407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97300" y="4182657"/>
            <a:ext cx="228600" cy="897343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40200" y="4019218"/>
            <a:ext cx="228600" cy="106078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3100" y="3847694"/>
            <a:ext cx="228600" cy="123230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26000" y="3684884"/>
            <a:ext cx="228600" cy="139511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68900" y="3549856"/>
            <a:ext cx="228600" cy="15301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11800" y="3460356"/>
            <a:ext cx="228600" cy="16196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54700" y="3429000"/>
            <a:ext cx="228600" cy="1651000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7600" y="3460356"/>
            <a:ext cx="228600" cy="16196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40500" y="3549856"/>
            <a:ext cx="228600" cy="153014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83400" y="3684884"/>
            <a:ext cx="228600" cy="139511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26300" y="3847694"/>
            <a:ext cx="228600" cy="1232306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69200" y="4019218"/>
            <a:ext cx="228600" cy="106078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12100" y="4182657"/>
            <a:ext cx="228600" cy="897343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55000" y="4325928"/>
            <a:ext cx="228600" cy="75407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7900" y="4442591"/>
            <a:ext cx="228600" cy="637409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940800" y="4531368"/>
            <a:ext cx="228600" cy="548632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283700" y="2984500"/>
            <a:ext cx="228600" cy="2095500"/>
          </a:xfrm>
          <a:prstGeom prst="roundRect">
            <a:avLst>
              <a:gd name="adj" fmla="val 22222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26600" y="4637332"/>
            <a:ext cx="228600" cy="442668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9500" y="4664299"/>
            <a:ext cx="228600" cy="415701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312400" y="4680426"/>
            <a:ext cx="228600" cy="399574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55300" y="4689543"/>
            <a:ext cx="228600" cy="390457"/>
          </a:xfrm>
          <a:prstGeom prst="roundRect">
            <a:avLst>
              <a:gd name="adj" fmla="val 22222"/>
            </a:avLst>
          </a:prstGeom>
          <a:solidFill>
            <a:srgbClr val="E7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-vlag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7500" y="2476500"/>
            <a:ext cx="381000" cy="381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728200" y="2540000"/>
            <a:ext cx="1905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07B00"/>
                </a:solidFill>
                <a:latin typeface="Inter"/>
              </a:rPr>
              <a:t>Flagged: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E07B00"/>
                </a:solidFill>
                <a:latin typeface="Inter"/>
              </a:rPr>
              <a:t>far from expected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2000" y="5092700"/>
            <a:ext cx="106680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" y="52705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AI grade stays hidden. Only large deviations reach the moderator.</a:t>
            </a:r>
          </a:p>
        </p:txBody>
      </p:sp>
      <p:pic>
        <p:nvPicPr>
          <p:cNvPr id="36" name="Picture 35" descr="logo_navy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ogo_jis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1587500"/>
            <a:ext cx="3810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E075"/>
                </a:solidFill>
                <a:latin typeface="League Spart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4290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Time saved on marking and feedback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Two flavours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1905000"/>
            <a:ext cx="5105400" cy="3556000"/>
          </a:xfrm>
          <a:prstGeom prst="roundRect">
            <a:avLst>
              <a:gd name="adj" fmla="val 5000"/>
            </a:avLst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maan-m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222500"/>
            <a:ext cx="508000" cy="50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78000" y="2298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League Spartan"/>
              </a:rPr>
              <a:t>Formative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3048000"/>
            <a:ext cx="4394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00E075"/>
                </a:solidFill>
                <a:latin typeface="League Spartan"/>
              </a:rPr>
              <a:t>03:00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4064000"/>
            <a:ext cx="4394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Student asks for feedback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when it suits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17600" y="4940300"/>
            <a:ext cx="2286000" cy="330200"/>
          </a:xfrm>
          <a:prstGeom prst="roundRect">
            <a:avLst>
              <a:gd name="adj" fmla="val 50000"/>
            </a:avLst>
          </a:prstGeom>
          <a:solidFill>
            <a:srgbClr val="0F4C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76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0E075"/>
                </a:solidFill>
                <a:latin typeface="Inter"/>
              </a:rPr>
              <a:t>No human in the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600" y="1905000"/>
            <a:ext cx="5105400" cy="3556000"/>
          </a:xfrm>
          <a:prstGeom prst="roundRect">
            <a:avLst>
              <a:gd name="adj" fmla="val 5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con-userchec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200" y="2222500"/>
            <a:ext cx="508000" cy="50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40600" y="2298700"/>
            <a:ext cx="317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2333"/>
                </a:solidFill>
                <a:latin typeface="League Spartan"/>
              </a:rPr>
              <a:t>Summative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0200" y="3048000"/>
            <a:ext cx="4394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007B54"/>
                </a:solidFill>
                <a:latin typeface="League Spartan"/>
              </a:rPr>
              <a:t>Lecturer +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0200" y="4064000"/>
            <a:ext cx="4394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Time saved on writing,</a:t>
            </a:r>
          </a:p>
          <a:p>
            <a:pPr algn="l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not on reading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80200" y="4940300"/>
            <a:ext cx="2286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02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07B54"/>
                </a:solidFill>
                <a:latin typeface="Inter"/>
              </a:rPr>
              <a:t>Human in the loop</a:t>
            </a:r>
          </a:p>
        </p:txBody>
      </p:sp>
      <p:pic>
        <p:nvPicPr>
          <p:cNvPr id="18" name="Picture 17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_ji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WHAT WE HEAR FROM INSTITUTIONS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The cost of no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32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FOR LECTURERS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2476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con-schoolbord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673350"/>
            <a:ext cx="406400" cy="40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87500" y="2730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Marking instead of mentoring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34290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klok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3625850"/>
            <a:ext cx="406400" cy="406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87500" y="36830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Structural overtime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203200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07B00"/>
                </a:solidFill>
                <a:latin typeface="Inter"/>
              </a:rPr>
              <a:t>FOR INSTITUTIONS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600" y="2476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pen-amb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673350"/>
            <a:ext cx="406400" cy="406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50100" y="2730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No formative feedback at 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600" y="34290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-prijs-amb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625850"/>
            <a:ext cx="406400" cy="406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50100" y="36830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Paying external markers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600" y="4381500"/>
            <a:ext cx="5105400" cy="800100"/>
          </a:xfrm>
          <a:prstGeom prst="roundRect">
            <a:avLst>
              <a:gd name="adj" fmla="val 22222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studenten-amb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578350"/>
            <a:ext cx="406400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50100" y="4635500"/>
            <a:ext cx="40894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Fewer staff, more students</a:t>
            </a:r>
          </a:p>
        </p:txBody>
      </p:sp>
      <p:pic>
        <p:nvPicPr>
          <p:cNvPr id="21" name="Picture 20" descr="logo_navy_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_jis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160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Editing AI feedback can cost more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002333"/>
                </a:solidFill>
                <a:latin typeface="League Spartan"/>
              </a:rPr>
              <a:t>time than writing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8448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Writing feedback yourself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8000" y="2667000"/>
            <a:ext cx="3911600" cy="660400"/>
          </a:xfrm>
          <a:prstGeom prst="roundRect">
            <a:avLst>
              <a:gd name="adj" fmla="val 13461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37973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Fixing inaccurate AI feedback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8000" y="3619500"/>
            <a:ext cx="6045200" cy="660400"/>
          </a:xfrm>
          <a:prstGeom prst="roundRect">
            <a:avLst>
              <a:gd name="adj" fmla="val 13461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749800"/>
            <a:ext cx="3302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Approving accurate AI feedback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8000" y="4572000"/>
            <a:ext cx="1564640" cy="660400"/>
          </a:xfrm>
          <a:prstGeom prst="roundRect">
            <a:avLst>
              <a:gd name="adj" fmla="val 13461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 of time per assignment, not a measurement.</a:t>
            </a:r>
          </a:p>
        </p:txBody>
      </p:sp>
      <p:pic>
        <p:nvPicPr>
          <p:cNvPr id="11" name="Picture 10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THEREFORE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Accuracy is the most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important factor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7800" y="2984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rubric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25" y="3222625"/>
            <a:ext cx="476250" cy="47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4127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Your rubric and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instructions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550" y="3238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9100" y="2984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model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225" y="3222625"/>
            <a:ext cx="476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43300" y="4127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The model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follows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6850" y="3238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10400" y="2984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filepen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525" y="3222625"/>
            <a:ext cx="476250" cy="4762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4600" y="4127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Feedback you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would give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8150" y="3238500"/>
            <a:ext cx="16383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DD9DE"/>
                </a:solidFill>
                <a:latin typeface="League Spartan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91700" y="2984500"/>
            <a:ext cx="952500" cy="952500"/>
          </a:xfrm>
          <a:prstGeom prst="roundRect">
            <a:avLst>
              <a:gd name="adj" fmla="val 24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con-check-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9825" y="3222625"/>
            <a:ext cx="476250" cy="4762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105900" y="4127500"/>
            <a:ext cx="23241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Approve,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don't rewrite</a:t>
            </a:r>
          </a:p>
        </p:txBody>
      </p:sp>
      <p:pic>
        <p:nvPicPr>
          <p:cNvPr id="19" name="Picture 18" descr="logo_navy_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jis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Tuning is the investment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4765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0" b="1">
                <a:solidFill>
                  <a:srgbClr val="5B7480"/>
                </a:solidFill>
                <a:latin typeface="League Spartan"/>
              </a:rPr>
              <a:t>94%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accuracy on average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4765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0" b="1">
                <a:solidFill>
                  <a:srgbClr val="007B54"/>
                </a:solidFill>
                <a:latin typeface="League Spartan"/>
              </a:rPr>
              <a:t>98%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09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accuracy for lecturers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who tuned the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8800" y="2095500"/>
            <a:ext cx="3251200" cy="2921000"/>
          </a:xfrm>
          <a:prstGeom prst="roundRect">
            <a:avLst>
              <a:gd name="adj" fmla="val 6086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8800" y="2476500"/>
            <a:ext cx="3251200" cy="139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0" b="1">
                <a:solidFill>
                  <a:srgbClr val="002333"/>
                </a:solidFill>
                <a:latin typeface="League Spartan"/>
              </a:rPr>
              <a:t>−85%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9300" y="3937000"/>
            <a:ext cx="287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time spent typing feedback,</a:t>
            </a:r>
          </a:p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002333"/>
                </a:solidFill>
                <a:latin typeface="Inter"/>
              </a:rPr>
              <a:t>up to 20 min per assignment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Accuracy: Bath Spa pilot, June 2026 (435 submissions, 13 markers). Typing time: Eduface implementations.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WHERE WE WANT TO GET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8255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Lecturer time moves from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typing to 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38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13000" y="3048000"/>
            <a:ext cx="5539740" cy="698500"/>
          </a:xfrm>
          <a:prstGeom prst="roundRect">
            <a:avLst>
              <a:gd name="adj" fmla="val 12727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90800" y="3263900"/>
            <a:ext cx="527304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Writing feedback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3540" y="3048000"/>
            <a:ext cx="3375660" cy="698500"/>
          </a:xfrm>
          <a:prstGeom prst="roundRect">
            <a:avLst>
              <a:gd name="adj" fmla="val 12727"/>
            </a:avLst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1340" y="3263900"/>
            <a:ext cx="310896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2333"/>
                </a:solidFill>
                <a:latin typeface="Inter"/>
              </a:rPr>
              <a:t>Teaching &amp; mentoring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381500"/>
            <a:ext cx="1524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2333"/>
                </a:solidFill>
                <a:latin typeface="Inter"/>
              </a:rPr>
              <a:t>With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3000" y="4191000"/>
            <a:ext cx="2203450" cy="698500"/>
          </a:xfrm>
          <a:prstGeom prst="roundRect">
            <a:avLst>
              <a:gd name="adj" fmla="val 12727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800" y="4406900"/>
            <a:ext cx="193675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Inter"/>
              </a:rPr>
              <a:t>Checking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7250" y="4191000"/>
            <a:ext cx="6711950" cy="698500"/>
          </a:xfrm>
          <a:prstGeom prst="roundRect">
            <a:avLst>
              <a:gd name="adj" fmla="val 12727"/>
            </a:avLst>
          </a:prstGeom>
          <a:solidFill>
            <a:srgbClr val="00E0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5050" y="4406900"/>
            <a:ext cx="6445250" cy="279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2333"/>
                </a:solidFill>
                <a:latin typeface="Inter"/>
              </a:rPr>
              <a:t>Teaching &amp; mentoring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350000"/>
            <a:ext cx="7493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B7480"/>
                </a:solidFill>
                <a:latin typeface="Inter"/>
              </a:rPr>
              <a:t>Illustration, not a measurement.</a:t>
            </a:r>
          </a:p>
        </p:txBody>
      </p:sp>
      <p:pic>
        <p:nvPicPr>
          <p:cNvPr id="15" name="Picture 14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10668000" cy="20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“Won’t lecturers just</a:t>
            </a:r>
          </a:p>
          <a:p>
            <a:pPr algn="l">
              <a:lnSpc>
                <a:spcPct val="108000"/>
              </a:lnSpc>
            </a:pPr>
            <a:r>
              <a:rPr sz="4400" b="1">
                <a:solidFill>
                  <a:srgbClr val="FFFFFF"/>
                </a:solidFill>
                <a:latin typeface="League Spartan"/>
              </a:rPr>
              <a:t>click approve?”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4450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The question we always 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8FA9B4"/>
                </a:solidFill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OUR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Approving is still judging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D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wisselend-amb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100" y="2476500"/>
            <a:ext cx="635000" cy="63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25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 alternative today is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often no feedback at 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704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con-rubric-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0" y="2476500"/>
            <a:ext cx="635000" cy="635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09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It gives the feedback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the lecturer set 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8800" y="2095500"/>
            <a:ext cx="3251200" cy="2540000"/>
          </a:xfrm>
          <a:prstGeom prst="roundRect">
            <a:avLst>
              <a:gd name="adj" fmla="val 7000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con-historie-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900" y="2476500"/>
            <a:ext cx="635000" cy="635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69300" y="3429000"/>
            <a:ext cx="28702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Every edit is logged</a:t>
            </a:r>
          </a:p>
          <a:p>
            <a:pPr algn="ctr">
              <a:lnSpc>
                <a:spcPct val="130000"/>
              </a:lnSpc>
            </a:pPr>
            <a:r>
              <a:rPr sz="1600" b="1">
                <a:solidFill>
                  <a:srgbClr val="002333"/>
                </a:solidFill>
                <a:latin typeface="Inter"/>
              </a:rPr>
              <a:t>in the audit trail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0165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7B54"/>
                </a:solidFill>
                <a:latin typeface="League Spartan"/>
              </a:rPr>
              <a:t>The AI assists. The academic decides.</a:t>
            </a:r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ji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BREAKOUT ROOMS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Choose your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con-deur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200" y="2984500"/>
            <a:ext cx="889000" cy="88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4127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5720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with Dante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6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deur-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800" y="2984500"/>
            <a:ext cx="889000" cy="88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24600" y="4127500"/>
            <a:ext cx="51054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002333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4572000"/>
            <a:ext cx="51054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5B7480"/>
                </a:solidFill>
                <a:latin typeface="Inter"/>
              </a:rPr>
              <a:t>with [name]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715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B7480"/>
                </a:solidFill>
                <a:latin typeface="Inter"/>
              </a:rPr>
              <a:t>Statements · vote · discuss · short talk · questions</a:t>
            </a:r>
          </a:p>
        </p:txBody>
      </p:sp>
      <p:pic>
        <p:nvPicPr>
          <p:cNvPr id="13" name="Picture 12" descr="logo_navy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ji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0960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7B54"/>
                </a:solidFill>
                <a:latin typeface="Inter"/>
              </a:rPr>
              <a:t>BACK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889000"/>
            <a:ext cx="10668000" cy="1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02333"/>
                </a:solidFill>
                <a:latin typeface="League Spartan"/>
              </a:rPr>
              <a:t>What we heard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E2F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22860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Consistency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800" y="2984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6800" y="3746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66800" y="4508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24600" y="2032000"/>
            <a:ext cx="5105400" cy="3429000"/>
          </a:xfrm>
          <a:prstGeom prst="roundRect">
            <a:avLst>
              <a:gd name="adj" fmla="val 5185"/>
            </a:avLst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4958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2333"/>
                </a:solidFill>
                <a:latin typeface="League Spartan"/>
              </a:rPr>
              <a:t>Operational efficiency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2984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9400" y="3746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29400" y="4508500"/>
            <a:ext cx="4495800" cy="1905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45500" y="6375400"/>
            <a:ext cx="381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AFB8"/>
                </a:solidFill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095500"/>
            <a:ext cx="9525000" cy="165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Which of these would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FFFFF"/>
                </a:solidFill>
                <a:latin typeface="League Spartan"/>
              </a:rPr>
              <a:t>you test first?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37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9CBD2"/>
                </a:solidFill>
                <a:latin typeface="Inter"/>
              </a:rPr>
              <a:t>Slides and sources follow by email.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45000"/>
            <a:ext cx="9525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E075"/>
                </a:solidFill>
                <a:latin typeface="Inter"/>
              </a:rPr>
              <a:t>info@eduface.me  ·  eduface.me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78070" y="6172200"/>
            <a:ext cx="1904330" cy="533400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navy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0470" y="6311900"/>
            <a:ext cx="939800" cy="254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0922670" y="6261100"/>
            <a:ext cx="12700" cy="355600"/>
          </a:xfrm>
          <a:prstGeom prst="rect">
            <a:avLst/>
          </a:prstGeom>
          <a:solidFill>
            <a:srgbClr val="CD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j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5070" y="6261100"/>
            <a:ext cx="354930" cy="355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