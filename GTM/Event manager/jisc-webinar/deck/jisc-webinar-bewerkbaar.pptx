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0.png"/><Relationship Id="rId7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19.png"/><Relationship Id="rId4" Type="http://schemas.openxmlformats.org/officeDocument/2006/relationships/image" Target="../media/image32.png"/><Relationship Id="rId5" Type="http://schemas.openxmlformats.org/officeDocument/2006/relationships/image" Target="../media/image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63000" y="1651000"/>
            <a:ext cx="4826000" cy="4826000"/>
          </a:xfrm>
          <a:prstGeom prst="ellipse">
            <a:avLst/>
          </a:prstGeom>
          <a:solidFill>
            <a:srgbClr val="0A3A47"/>
          </a:solidFill>
          <a:ln>
            <a:solidFill>
              <a:srgbClr val="0A3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52000" y="2540000"/>
            <a:ext cx="3048000" cy="3048000"/>
          </a:xfrm>
          <a:prstGeom prst="ellipse">
            <a:avLst/>
          </a:prstGeom>
          <a:solidFill>
            <a:srgbClr val="0F4C57"/>
          </a:solidFill>
          <a:ln>
            <a:solidFill>
              <a:srgbClr val="0F4C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41000" y="3429000"/>
            <a:ext cx="1270000" cy="12700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1905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E075"/>
                </a:solidFill>
                <a:latin typeface="Inter"/>
              </a:rPr>
              <a:t>JISC  ×  EDUFACE  ·  WEBINAR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2286000"/>
            <a:ext cx="7620000" cy="2095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>
                <a:solidFill>
                  <a:srgbClr val="FFFFFF"/>
                </a:solidFill>
                <a:latin typeface="League Spartan"/>
              </a:rPr>
              <a:t>What 20+ AI feedback</a:t>
            </a:r>
          </a:p>
          <a:p>
            <a:pPr algn="l">
              <a:lnSpc>
                <a:spcPct val="105000"/>
              </a:lnSpc>
            </a:pPr>
            <a:r>
              <a:rPr sz="4800" b="1">
                <a:solidFill>
                  <a:srgbClr val="FFFFFF"/>
                </a:solidFill>
                <a:latin typeface="League Spartan"/>
              </a:rPr>
              <a:t>implementations taught 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810000"/>
            <a:ext cx="698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9CBD2"/>
                </a:solidFill>
                <a:latin typeface="Inter"/>
              </a:rPr>
              <a:t>Consistency, efficiency and the risk nobody planned for</a:t>
            </a:r>
          </a:p>
        </p:txBody>
      </p:sp>
      <p:pic>
        <p:nvPicPr>
          <p:cNvPr id="9" name="Picture 8" descr="logo_white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5969000"/>
            <a:ext cx="1409700" cy="381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Four parts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24050" y="3302000"/>
            <a:ext cx="8343900" cy="2540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79550" y="2857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-gesprek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800" y="3079750"/>
            <a:ext cx="444500" cy="444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4000500"/>
            <a:ext cx="23241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In conversation</a:t>
            </a:r>
          </a:p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with Jisc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0850" y="2857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lamp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3100" y="3079750"/>
            <a:ext cx="444500" cy="444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43300" y="4000500"/>
            <a:ext cx="23241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What we learned</a:t>
            </a:r>
          </a:p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in 20+ implementations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2150" y="2857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deur-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400" y="3079750"/>
            <a:ext cx="444500" cy="444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4600" y="4000500"/>
            <a:ext cx="23241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Breakout rooms:</a:t>
            </a:r>
          </a:p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you choose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23450" y="2857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-check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5700" y="3079750"/>
            <a:ext cx="444500" cy="4445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05900" y="4000500"/>
            <a:ext cx="23241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Wrap-up</a:t>
            </a:r>
          </a:p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4600" y="4826000"/>
            <a:ext cx="23241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07B00"/>
                </a:solidFill>
                <a:latin typeface="Inter"/>
              </a:rPr>
              <a:t>Consistency  or  Efficiency</a:t>
            </a:r>
          </a:p>
        </p:txBody>
      </p:sp>
      <p:pic>
        <p:nvPicPr>
          <p:cNvPr id="18" name="Picture 17" descr="logo_navy_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1905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E075"/>
                </a:solidFill>
                <a:latin typeface="Inter"/>
              </a:rPr>
              <a:t>IN CONVERSATION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222500"/>
            <a:ext cx="6985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500" b="1">
                <a:solidFill>
                  <a:srgbClr val="FFFFFF"/>
                </a:solidFill>
                <a:latin typeface="League Spartan"/>
              </a:rPr>
              <a:t>[Name]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111500"/>
            <a:ext cx="698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B9CBD2"/>
                </a:solidFill>
                <a:latin typeface="Inter"/>
              </a:rPr>
              <a:t>[Role], Jisc</a:t>
            </a:r>
          </a:p>
        </p:txBody>
      </p:sp>
      <p:sp>
        <p:nvSpPr>
          <p:cNvPr id="6" name="Oval 5"/>
          <p:cNvSpPr/>
          <p:nvPr/>
        </p:nvSpPr>
        <p:spPr>
          <a:xfrm>
            <a:off x="8001000" y="1587500"/>
            <a:ext cx="3302000" cy="3302000"/>
          </a:xfrm>
          <a:prstGeom prst="ellipse">
            <a:avLst/>
          </a:prstGeom>
          <a:solidFill>
            <a:srgbClr val="0F4C57"/>
          </a:solidFill>
          <a:ln>
            <a:solidFill>
              <a:srgbClr val="0F4C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31115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8FA9B4"/>
                </a:solidFill>
                <a:latin typeface="Inter"/>
              </a:rPr>
              <a:t>photo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064000"/>
            <a:ext cx="6350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E075"/>
                </a:solidFill>
                <a:latin typeface="Inter"/>
              </a:rPr>
              <a:t>What does the sector expect from AI feedback,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E075"/>
                </a:solidFill>
                <a:latin typeface="Inter"/>
              </a:rPr>
              <a:t>and what is actually working?</a:t>
            </a:r>
          </a:p>
        </p:txBody>
      </p:sp>
      <p:pic>
        <p:nvPicPr>
          <p:cNvPr id="9" name="Picture 8" descr="logo_white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IN CONVERSATION WITH JISC  ·  1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05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2333"/>
                </a:solidFill>
                <a:latin typeface="League Spartan"/>
              </a:rPr>
              <a:t>What do you see institutions struggling with most right now when it comes to AI?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80000"/>
            <a:ext cx="406400" cy="127000"/>
          </a:xfrm>
          <a:prstGeom prst="roundRect">
            <a:avLst>
              <a:gd name="adj" fmla="val 50000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573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732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6891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IN CONVERSATION WITH JISC  ·  2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05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2333"/>
                </a:solidFill>
                <a:latin typeface="League Spartan"/>
              </a:rPr>
              <a:t>What made Jisc decide to start the AI in marking and feedback pilot?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77900" y="5080000"/>
            <a:ext cx="406400" cy="127000"/>
          </a:xfrm>
          <a:prstGeom prst="roundRect">
            <a:avLst>
              <a:gd name="adj" fmla="val 50000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732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6891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587500"/>
            <a:ext cx="5715000" cy="165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0" b="1">
                <a:solidFill>
                  <a:srgbClr val="007B54"/>
                </a:solidFill>
                <a:latin typeface="League Spartan"/>
              </a:rPr>
              <a:t>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429000"/>
            <a:ext cx="52070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002333"/>
                </a:solidFill>
                <a:latin typeface="Inter"/>
              </a:rPr>
              <a:t>colleges and universities in Jisc's</a:t>
            </a:r>
          </a:p>
          <a:p>
            <a:pPr algn="l">
              <a:lnSpc>
                <a:spcPct val="125000"/>
              </a:lnSpc>
            </a:pPr>
            <a:r>
              <a:rPr sz="2000" b="0">
                <a:solidFill>
                  <a:srgbClr val="002333"/>
                </a:solidFill>
                <a:latin typeface="Inter"/>
              </a:rPr>
              <a:t>AI in marking and feedback 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445000"/>
            <a:ext cx="5207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September 2025 to August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31000" y="1587500"/>
            <a:ext cx="4699000" cy="3302000"/>
          </a:xfrm>
          <a:prstGeom prst="roundRect">
            <a:avLst>
              <a:gd name="adj" fmla="val 5384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12000" y="1905000"/>
            <a:ext cx="4064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00E075"/>
                </a:solidFill>
                <a:latin typeface="League Spartan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0" y="2476500"/>
            <a:ext cx="4064000" cy="165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002333"/>
                </a:solidFill>
                <a:latin typeface="Inter"/>
              </a:rPr>
              <a:t>These tools shouldn't be used as a final marker. Humans should always be reviewing the feedback.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0" y="4318000"/>
            <a:ext cx="406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2333"/>
                </a:solidFill>
                <a:latin typeface="Inter"/>
              </a:rPr>
              <a:t>Tom Moule, Jisc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6350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Jisc National Centre for AI, May 2026 · Times Higher Education, 27 March 2026</a:t>
            </a:r>
          </a:p>
        </p:txBody>
      </p:sp>
      <p:pic>
        <p:nvPicPr>
          <p:cNvPr id="11" name="Picture 10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IN CONVERSATION WITH JISC  ·  3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05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2333"/>
                </a:solidFill>
                <a:latin typeface="League Spartan"/>
              </a:rPr>
              <a:t>The pilot points towards formative feedback. What makes AI so valuable there?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779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93800" y="5080000"/>
            <a:ext cx="406400" cy="127000"/>
          </a:xfrm>
          <a:prstGeom prst="roundRect">
            <a:avLst>
              <a:gd name="adj" fmla="val 50000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6891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IN CONVERSATION WITH JISC  ·  4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05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2333"/>
                </a:solidFill>
                <a:latin typeface="League Spartan"/>
              </a:rPr>
              <a:t>Where do institutions tend to get stuck when they try it?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779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938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09700" y="5080000"/>
            <a:ext cx="406400" cy="127000"/>
          </a:xfrm>
          <a:prstGeom prst="roundRect">
            <a:avLst>
              <a:gd name="adj" fmla="val 50000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IN CONVERSATION WITH JISC  ·  5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05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2333"/>
                </a:solidFill>
                <a:latin typeface="League Spartan"/>
              </a:rPr>
              <a:t>What's one piece of advice you'd give an institution starting next term?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779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938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097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25600" y="5080000"/>
            <a:ext cx="406400" cy="127000"/>
          </a:xfrm>
          <a:prstGeom prst="roundRect">
            <a:avLst>
              <a:gd name="adj" fmla="val 50000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WHAT WE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Lessons from 20+ pilots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and implementations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7305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_h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50" y="3047175"/>
            <a:ext cx="1244600" cy="31915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603500" y="27305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_hhs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3050" y="2985328"/>
            <a:ext cx="1244600" cy="44284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445000" y="27305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_t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550" y="3049014"/>
            <a:ext cx="1244600" cy="3154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86500" y="27305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_r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6050" y="3065184"/>
            <a:ext cx="1244600" cy="28313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682750" y="38608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_u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11806" y="4083050"/>
            <a:ext cx="1205589" cy="508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3524250" y="38608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4250" y="4210050"/>
            <a:ext cx="16637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Bath Spa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65750" y="38608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65750" y="4210050"/>
            <a:ext cx="16637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7th logo</a:t>
            </a:r>
          </a:p>
        </p:txBody>
      </p:sp>
      <p:sp>
        <p:nvSpPr>
          <p:cNvPr id="18" name="Oval 17"/>
          <p:cNvSpPr/>
          <p:nvPr/>
        </p:nvSpPr>
        <p:spPr>
          <a:xfrm>
            <a:off x="9017000" y="2857500"/>
            <a:ext cx="1778000" cy="17780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17000" y="3302000"/>
            <a:ext cx="1778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>
                <a:solidFill>
                  <a:srgbClr val="002333"/>
                </a:solidFill>
                <a:latin typeface="League Spartan"/>
              </a:rPr>
              <a:t>+20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6500" y="47879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pilots &amp; implementations</a:t>
            </a:r>
          </a:p>
        </p:txBody>
      </p:sp>
      <p:pic>
        <p:nvPicPr>
          <p:cNvPr id="21" name="Picture 20" descr="logo_navy_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095500"/>
            <a:ext cx="10668000" cy="20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This is not a product demo.</a:t>
            </a:r>
          </a:p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These are the patterns we saw.</a:t>
            </a:r>
          </a:p>
        </p:txBody>
      </p:sp>
      <p:pic>
        <p:nvPicPr>
          <p:cNvPr id="4" name="Picture 3" descr="logo_white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WHY INSTITUTIONS BRING US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Three reasons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32000"/>
            <a:ext cx="3251200" cy="3302000"/>
          </a:xfrm>
          <a:prstGeom prst="roundRect">
            <a:avLst>
              <a:gd name="adj" fmla="val 5468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6800" y="2286000"/>
            <a:ext cx="762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5B7480"/>
                </a:solidFill>
                <a:latin typeface="League Spartan"/>
              </a:rPr>
              <a:t>1</a:t>
            </a:r>
          </a:p>
        </p:txBody>
      </p:sp>
      <p:pic>
        <p:nvPicPr>
          <p:cNvPr id="6" name="Picture 5" descr="icon-slot-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600" y="2794000"/>
            <a:ext cx="762000" cy="76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3873500"/>
            <a:ext cx="32512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002333"/>
                </a:solidFill>
                <a:latin typeface="League Spartan"/>
              </a:rPr>
              <a:t>Data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445000"/>
            <a:ext cx="3251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Staff already use AI to mark,</a:t>
            </a:r>
          </a:p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outside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70400" y="2032000"/>
            <a:ext cx="3251200" cy="3302000"/>
          </a:xfrm>
          <a:prstGeom prst="roundRect">
            <a:avLst>
              <a:gd name="adj" fmla="val 5468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5200" y="2286000"/>
            <a:ext cx="762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5B7480"/>
                </a:solidFill>
                <a:latin typeface="League Spartan"/>
              </a:rPr>
              <a:t>2</a:t>
            </a:r>
          </a:p>
        </p:txBody>
      </p:sp>
      <p:pic>
        <p:nvPicPr>
          <p:cNvPr id="11" name="Picture 10" descr="icon-weegschaal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2794000"/>
            <a:ext cx="762000" cy="76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70400" y="3873500"/>
            <a:ext cx="32512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002333"/>
                </a:solidFill>
                <a:latin typeface="League Spartan"/>
              </a:rPr>
              <a:t>Consistency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0400" y="4445000"/>
            <a:ext cx="3251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Grading and feedback,</a:t>
            </a:r>
          </a:p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formative and summative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78800" y="2032000"/>
            <a:ext cx="3251200" cy="3302000"/>
          </a:xfrm>
          <a:prstGeom prst="roundRect">
            <a:avLst>
              <a:gd name="adj" fmla="val 5468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83600" y="2286000"/>
            <a:ext cx="762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5B7480"/>
                </a:solidFill>
                <a:latin typeface="League Spartan"/>
              </a:rPr>
              <a:t>3</a:t>
            </a:r>
          </a:p>
        </p:txBody>
      </p:sp>
      <p:pic>
        <p:nvPicPr>
          <p:cNvPr id="16" name="Picture 15" descr="icon-klok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3400" y="2794000"/>
            <a:ext cx="762000" cy="762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78800" y="3873500"/>
            <a:ext cx="32512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002333"/>
                </a:solidFill>
                <a:latin typeface="League Spartan"/>
              </a:rPr>
              <a:t>Efficiency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8800" y="4445000"/>
            <a:ext cx="3251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Time back for</a:t>
            </a:r>
          </a:p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lecturers</a:t>
            </a:r>
          </a:p>
        </p:txBody>
      </p:sp>
      <p:pic>
        <p:nvPicPr>
          <p:cNvPr id="19" name="Picture 18" descr="logo_navy_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1 · DATA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4826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Staff are already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using AI to mark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99200" y="13589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223000" y="12700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23000" y="12700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23000" y="1270000"/>
            <a:ext cx="4699000" cy="38100"/>
          </a:xfrm>
          <a:prstGeom prst="rect">
            <a:avLst/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0" y="1498600"/>
            <a:ext cx="419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B7480"/>
                </a:solidFill>
                <a:latin typeface="Inter"/>
              </a:rPr>
              <a:t>OMROEP BRABANT · EARLY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0" y="1803400"/>
            <a:ext cx="419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Docent bouwt AI-tool die studentgegevens naar ChatGPT stuurt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0" y="2768600"/>
            <a:ext cx="419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Lecturer builds AI tool that sends student data to ChatGPT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07200" y="36449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31000" y="35560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31000" y="35560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31000" y="3556000"/>
            <a:ext cx="4699000" cy="38100"/>
          </a:xfrm>
          <a:prstGeom prst="rect">
            <a:avLst/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85000" y="3784600"/>
            <a:ext cx="419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B7480"/>
                </a:solidFill>
                <a:latin typeface="Inter"/>
              </a:rPr>
              <a:t>THE NEW YORK TIMES · MAY 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5000" y="4089400"/>
            <a:ext cx="419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The Professors Are Using ChatGPT, and Some Students Aren't Happy About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3556000"/>
            <a:ext cx="4826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002333"/>
                </a:solidFill>
                <a:latin typeface="Inter"/>
              </a:rPr>
              <a:t>When it reaches the press,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002333"/>
                </a:solidFill>
                <a:latin typeface="Inter"/>
              </a:rPr>
              <a:t>it is no longer an IT issue.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6350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omroepbrabant.nl/nieuws/6002910 · nytimes.com, 14 May 2025</a:t>
            </a:r>
          </a:p>
        </p:txBody>
      </p:sp>
      <p:pic>
        <p:nvPicPr>
          <p:cNvPr id="19" name="Picture 18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095500"/>
            <a:ext cx="10668000" cy="20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Banning it doesn't stop it.</a:t>
            </a:r>
          </a:p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A safe alternative does.</a:t>
            </a:r>
          </a:p>
        </p:txBody>
      </p:sp>
      <p:pic>
        <p:nvPicPr>
          <p:cNvPr id="4" name="Picture 3" descr="logo_white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1587500"/>
            <a:ext cx="3810000" cy="165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E075"/>
                </a:solidFill>
                <a:latin typeface="League Spartan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429000"/>
            <a:ext cx="10160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League Spartan"/>
              </a:rPr>
              <a:t>Consistency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9CBD2"/>
                </a:solidFill>
                <a:latin typeface="Inter"/>
              </a:rPr>
              <a:t>Grading and feedback, formative and summative</a:t>
            </a:r>
          </a:p>
        </p:txBody>
      </p:sp>
      <p:pic>
        <p:nvPicPr>
          <p:cNvPr id="6" name="Picture 5" descr="logo_white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CONSISTENCY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571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Consistency is more than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the same grade</a:t>
            </a:r>
          </a:p>
        </p:txBody>
      </p:sp>
      <p:sp>
        <p:nvSpPr>
          <p:cNvPr id="4" name="Oval 3"/>
          <p:cNvSpPr/>
          <p:nvPr/>
        </p:nvSpPr>
        <p:spPr>
          <a:xfrm>
            <a:off x="6286500" y="1333500"/>
            <a:ext cx="4699000" cy="4699000"/>
          </a:xfrm>
          <a:prstGeom prst="ellipse">
            <a:avLst/>
          </a:prstGeom>
          <a:solidFill>
            <a:srgbClr val="F3F7F8"/>
          </a:solidFill>
          <a:ln>
            <a:solidFill>
              <a:srgbClr val="F3F7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048500" y="2095500"/>
            <a:ext cx="3175000" cy="3175000"/>
          </a:xfrm>
          <a:prstGeom prst="ellipse">
            <a:avLst/>
          </a:prstGeom>
          <a:solidFill>
            <a:srgbClr val="E2FBEF"/>
          </a:solidFill>
          <a:ln>
            <a:solidFill>
              <a:srgbClr val="E2F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8750" y="2825750"/>
            <a:ext cx="1714500" cy="1714500"/>
          </a:xfrm>
          <a:prstGeom prst="ellipse">
            <a:avLst/>
          </a:prstGeom>
          <a:solidFill>
            <a:srgbClr val="002333"/>
          </a:solidFill>
          <a:ln>
            <a:solidFill>
              <a:srgbClr val="002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8750" y="3517900"/>
            <a:ext cx="17145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Same grade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8500" y="2317750"/>
            <a:ext cx="317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007B54"/>
                </a:solidFill>
                <a:latin typeface="League Spartan"/>
              </a:rPr>
              <a:t>Same criteria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0" y="1587500"/>
            <a:ext cx="4699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Same voice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26000" y="4025900"/>
            <a:ext cx="2825750" cy="19050"/>
          </a:xfrm>
          <a:prstGeom prst="rect">
            <a:avLst/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13650" y="3975100"/>
            <a:ext cx="114300" cy="1143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3556000"/>
            <a:ext cx="38100" cy="952500"/>
          </a:xfrm>
          <a:prstGeom prst="rect">
            <a:avLst/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0600" y="3556000"/>
            <a:ext cx="40640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Where most evaluations stop: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run it twice, compare the mark.</a:t>
            </a:r>
          </a:p>
        </p:txBody>
      </p:sp>
      <p:pic>
        <p:nvPicPr>
          <p:cNvPr id="14" name="Picture 13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THE PROBLEM IS 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397000"/>
            <a:ext cx="69850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2333"/>
                </a:solidFill>
                <a:latin typeface="League Spartan"/>
              </a:rPr>
              <a:t>9 of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6350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002333"/>
                </a:solidFill>
                <a:latin typeface="Inter"/>
              </a:rPr>
              <a:t>assignments were ranked both best and worst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002333"/>
                </a:solidFill>
                <a:latin typeface="Inter"/>
              </a:rPr>
              <a:t>by different experienced examiners</a:t>
            </a:r>
          </a:p>
        </p:txBody>
      </p:sp>
      <p:sp>
        <p:nvSpPr>
          <p:cNvPr id="5" name="Oval 4"/>
          <p:cNvSpPr/>
          <p:nvPr/>
        </p:nvSpPr>
        <p:spPr>
          <a:xfrm>
            <a:off x="8255000" y="16510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39200" y="16510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23400" y="16510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07600" y="16510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91800" y="16510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55000" y="22352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39200" y="22352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3400" y="22352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07600" y="22352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91800" y="22352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55000" y="28194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39200" y="28194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23400" y="28194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07600" y="28194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91800" y="28194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55000" y="34036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39200" y="34036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23400" y="34036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07600" y="34036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91800" y="34036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55000" y="4127500"/>
            <a:ext cx="292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Same work, opposite rankings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6350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Bloxham et al., Assessment &amp; Evaluation in Higher Education, 2016 · 24 examiners, 20 UK universities</a:t>
            </a:r>
          </a:p>
        </p:txBody>
      </p:sp>
      <p:pic>
        <p:nvPicPr>
          <p:cNvPr id="27" name="Picture 26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CONSISTENCY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Where inconsistency hurts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286000"/>
            <a:ext cx="2324100" cy="2540000"/>
          </a:xfrm>
          <a:prstGeom prst="roundRect">
            <a:avLst>
              <a:gd name="adj" fmla="val 765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79550" y="2730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-groep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800" y="2952750"/>
            <a:ext cx="444500" cy="444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000" y="3937000"/>
            <a:ext cx="20701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Many markers,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one module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43300" y="2286000"/>
            <a:ext cx="2324100" cy="2540000"/>
          </a:xfrm>
          <a:prstGeom prst="roundRect">
            <a:avLst>
              <a:gd name="adj" fmla="val 765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60850" y="2730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-historie-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3100" y="2952750"/>
            <a:ext cx="444500" cy="444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70300" y="3937000"/>
            <a:ext cx="20701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Paper 80 is marked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differently from paper 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4600" y="2286000"/>
            <a:ext cx="2324100" cy="2540000"/>
          </a:xfrm>
          <a:prstGeom prst="roundRect">
            <a:avLst>
              <a:gd name="adj" fmla="val 765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042150" y="2730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ongelijk-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400" y="2952750"/>
            <a:ext cx="444500" cy="4445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51600" y="3937000"/>
            <a:ext cx="20701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Students compare,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then appeal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05900" y="2286000"/>
            <a:ext cx="2324100" cy="2540000"/>
          </a:xfrm>
          <a:prstGeom prst="roundRect">
            <a:avLst>
              <a:gd name="adj" fmla="val 765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23450" y="2730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-oogdicht-amb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5700" y="2952750"/>
            <a:ext cx="444500" cy="4445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232900" y="3937000"/>
            <a:ext cx="20701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Moderation only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sees a sample</a:t>
            </a:r>
          </a:p>
        </p:txBody>
      </p:sp>
      <p:pic>
        <p:nvPicPr>
          <p:cNvPr id="20" name="Picture 19" descr="logo_navy_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WHY IT MATTERS TO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698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Consistent feedback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can build on itself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6670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857500"/>
            <a:ext cx="32512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Draft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6000" y="33655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6500" y="34798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Argument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24200" y="34798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6000" y="39116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6500" y="4025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4200" y="40259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CDD9DE"/>
                </a:solidFill>
                <a:latin typeface="Inter"/>
              </a:rPr>
              <a:t>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6000" y="44577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6500" y="45720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4200" y="45720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CDD9DE"/>
                </a:solidFill>
                <a:latin typeface="Inter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49700" y="3810000"/>
            <a:ext cx="5842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CDD9DE"/>
                </a:solidFill>
                <a:latin typeface="League Spartan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70400" y="26670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24400" y="2857500"/>
            <a:ext cx="32512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Draft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24400" y="33655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4900" y="34798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Argument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2600" y="34798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24400" y="39116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4900" y="4025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2600" y="40259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24400" y="44577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14900" y="45720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Structure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32600" y="45720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CDD9DE"/>
                </a:solidFill>
                <a:latin typeface="Inter"/>
              </a:rPr>
              <a:t>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58100" y="3810000"/>
            <a:ext cx="5842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CDD9DE"/>
                </a:solidFill>
                <a:latin typeface="League Spartan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78800" y="26670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32800" y="2857500"/>
            <a:ext cx="32512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Final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32800" y="33655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23300" y="34798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Argument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41000" y="34798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32800" y="39116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23300" y="4025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Evidence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41000" y="40259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32800" y="44577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23300" y="45720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41000" y="45720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pic>
        <p:nvPicPr>
          <p:cNvPr id="39" name="Picture 38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E075"/>
                </a:solidFill>
                <a:latin typeface="Inter"/>
              </a:rPr>
              <a:t>WHERE WE WANT TO GET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League Spartan"/>
              </a:rPr>
              <a:t>A student sees their own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League Spartan"/>
              </a:rPr>
              <a:t>growth across the degree</a:t>
            </a:r>
          </a:p>
        </p:txBody>
      </p:sp>
      <p:sp>
        <p:nvSpPr>
          <p:cNvPr id="5" name="Oval 4"/>
          <p:cNvSpPr/>
          <p:nvPr/>
        </p:nvSpPr>
        <p:spPr>
          <a:xfrm>
            <a:off x="1371600" y="5308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50975" y="5295371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30350" y="528214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9725" y="526891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89100" y="525568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68475" y="5242454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847850" y="522922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27225" y="5215996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06600" y="5202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085975" y="518953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165350" y="517630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44725" y="5163079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324100" y="514985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03475" y="5136621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82850" y="512339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62225" y="511016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641600" y="5096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720975" y="5083704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800350" y="507047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879725" y="5057246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959100" y="504401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038475" y="503078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117850" y="501755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197225" y="5004329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276600" y="4991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355975" y="4972579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435350" y="495405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514725" y="493553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594100" y="491701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673475" y="4898496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752850" y="487997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832225" y="4861454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911600" y="4842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990975" y="482441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070350" y="480589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149725" y="4787371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229100" y="476885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308475" y="4750329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87850" y="473180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467225" y="471328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546600" y="4694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625975" y="4676246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705350" y="465772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784725" y="4639204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864100" y="462068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943475" y="460216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022850" y="458364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102225" y="4565121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181600" y="4546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260975" y="4525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340350" y="4504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419725" y="4483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499100" y="4461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578475" y="4440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657850" y="4419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737225" y="4398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816600" y="4377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895975" y="4356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975350" y="4334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054725" y="4313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134100" y="4292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213475" y="4271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292850" y="4250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372225" y="4229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451600" y="4207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530975" y="4186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610350" y="4165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689725" y="4144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769100" y="4123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848475" y="4102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927850" y="4080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007225" y="4059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086600" y="4038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165975" y="4017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7245350" y="3996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324725" y="3975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7404100" y="3953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7483475" y="3932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7562850" y="3911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642225" y="3890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721600" y="3869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7800975" y="3848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7880350" y="3826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959725" y="3805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039100" y="3784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118475" y="3763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197850" y="3742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277225" y="3721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356600" y="3699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8435975" y="3678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515350" y="3657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594725" y="3636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8674100" y="3615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8753475" y="3594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8832850" y="3572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912225" y="3551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991600" y="3530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9065683" y="350678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9139767" y="348297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9213850" y="345916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9287933" y="343535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9362017" y="341153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436100" y="338772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10183" y="336391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584267" y="3340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9658350" y="331628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9732433" y="329247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9806517" y="326866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9880600" y="324485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9954683" y="322103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0028767" y="319722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102850" y="317341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0176933" y="3149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0251017" y="312578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0325100" y="310197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99183" y="307816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473267" y="305435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0547350" y="303053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0621433" y="300672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0695517" y="298291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289050" y="5226050"/>
            <a:ext cx="215900" cy="2159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3168650" y="4883150"/>
            <a:ext cx="266700" cy="2667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5048250" y="4413250"/>
            <a:ext cx="317500" cy="3175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927850" y="3879850"/>
            <a:ext cx="368300" cy="3683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807450" y="3346450"/>
            <a:ext cx="419100" cy="4191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560050" y="2749550"/>
            <a:ext cx="469900" cy="4699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62000" y="56515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B9CBD2"/>
                </a:solidFill>
                <a:latin typeface="Inter"/>
              </a:rPr>
              <a:t>Year 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72000" y="56515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B9CBD2"/>
                </a:solidFill>
                <a:latin typeface="Inter"/>
              </a:rPr>
              <a:t>Year 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82000" y="56515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B9CBD2"/>
                </a:solidFill>
                <a:latin typeface="Inter"/>
              </a:rPr>
              <a:t>Year 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62000" y="6096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Illustration</a:t>
            </a:r>
          </a:p>
        </p:txBody>
      </p:sp>
      <p:pic>
        <p:nvPicPr>
          <p:cNvPr id="135" name="Picture 134" descr="logo_white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OUR LESSON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002333"/>
                </a:solidFill>
                <a:latin typeface="League Spartan"/>
              </a:rPr>
              <a:t>We started with general LLMs.</a:t>
            </a:r>
          </a:p>
          <a:p>
            <a:pPr algn="l">
              <a:lnSpc>
                <a:spcPct val="105000"/>
              </a:lnSpc>
            </a:pPr>
            <a:r>
              <a:rPr sz="3600" b="1">
                <a:solidFill>
                  <a:srgbClr val="002333"/>
                </a:solidFill>
                <a:latin typeface="League Spartan"/>
              </a:rPr>
              <a:t>Then we built our own model.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2286000"/>
            <a:ext cx="4826000" cy="3048000"/>
          </a:xfrm>
          <a:prstGeom prst="roundRect">
            <a:avLst>
              <a:gd name="adj" fmla="val 5833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344771" y="3851531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369358" y="3373938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88270" y="3432743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473888" y="3801093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11944" y="3699828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81882" y="3663091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80665" y="4050207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974021" y="3844242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59779" y="2548294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21623" y="3285457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808146" y="3529470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986065" y="3184885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10834" y="3783762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10231" y="4445000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15481" y="4247689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3915" y="3128671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271989" y="3494504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077781" y="3699554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186709" y="3003048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126253" y="4261509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889040" y="3697434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08091" y="2695152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596016" y="4310813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893143" y="3370167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468382" y="3083746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966595" y="3520012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4635500"/>
            <a:ext cx="4826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002333"/>
                </a:solidFill>
                <a:latin typeface="League Spartan"/>
              </a:rPr>
              <a:t>General LLM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4991100"/>
            <a:ext cx="4826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Same paper, different focus each run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23000" y="2286000"/>
            <a:ext cx="4826000" cy="3048000"/>
          </a:xfrm>
          <a:prstGeom prst="roundRect">
            <a:avLst>
              <a:gd name="adj" fmla="val 5833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124469" y="3758388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869765" y="3787235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39129" y="3644560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677656" y="3238386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850944" y="3406440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477894" y="3246791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298061" y="3426154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086127" y="3059278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126896" y="3614515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140090" y="3697428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72445" y="2940355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760821" y="3376002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244915" y="3794943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020799" y="3594444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721837" y="3662191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192706" y="3707337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817138" y="3689908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088268" y="3869352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969569" y="3685480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946624" y="3401081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930175" y="3113203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571730" y="3805249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178067" y="3949631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828773" y="3519295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749460" y="3714867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678048" y="3836085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23000" y="4635500"/>
            <a:ext cx="4826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002333"/>
                </a:solidFill>
                <a:latin typeface="League Spartan"/>
              </a:rPr>
              <a:t>Purpose-built model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23000" y="4991100"/>
            <a:ext cx="4826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Same paper, same criteria, same voice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000" y="6350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Illustration, not a measurement. Model trained on 250,000 education-specific feedback examples.</a:t>
            </a:r>
          </a:p>
        </p:txBody>
      </p:sp>
      <p:pic>
        <p:nvPicPr>
          <p:cNvPr id="63" name="Picture 62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WHAT INSTITUTIONS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Two lessons on consistency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32000"/>
            <a:ext cx="5105400" cy="3302000"/>
          </a:xfrm>
          <a:prstGeom prst="roundRect">
            <a:avLst>
              <a:gd name="adj" fmla="val 5384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rubric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00" y="2349500"/>
            <a:ext cx="609600" cy="609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7600" y="3175000"/>
            <a:ext cx="4394200" cy="825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The gap was in the rubric,</a:t>
            </a:r>
          </a:p>
          <a:p>
            <a:pPr algn="l">
              <a:lnSpc>
                <a:spcPct val="110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not in the markers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4127500"/>
            <a:ext cx="43942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Six markers, one module. One marked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“critical analysis” lower every time: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they read the descriptor differently.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600" y="2032000"/>
            <a:ext cx="5105400" cy="3302000"/>
          </a:xfrm>
          <a:prstGeom prst="roundRect">
            <a:avLst>
              <a:gd name="adj" fmla="val 5384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studenten-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0200" y="2349500"/>
            <a:ext cx="609600" cy="609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80200" y="3175000"/>
            <a:ext cx="4394200" cy="825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Students act on feedback</a:t>
            </a:r>
          </a:p>
          <a:p>
            <a:pPr algn="l">
              <a:lnSpc>
                <a:spcPct val="110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they recognise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80200" y="4127500"/>
            <a:ext cx="43942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Three formative rounds, a different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focus each time: students ignored it.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Same criteria every round: they used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6350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Typical scenarios from our implementations, institutions not named.</a:t>
            </a:r>
          </a:p>
        </p:txBody>
      </p:sp>
      <p:pic>
        <p:nvPicPr>
          <p:cNvPr id="13" name="Picture 12" descr="logo_navy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WHEN AI GRADING IS A STEP TOO FAR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Not ready for AI grades?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Use it to moderate.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97000" y="4680426"/>
            <a:ext cx="228600" cy="39957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739900" y="4664299"/>
            <a:ext cx="228600" cy="415701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082800" y="4637332"/>
            <a:ext cx="228600" cy="442668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25700" y="4594752"/>
            <a:ext cx="228600" cy="485248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68600" y="4531368"/>
            <a:ext cx="228600" cy="54863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111500" y="4442591"/>
            <a:ext cx="228600" cy="637409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54400" y="4325928"/>
            <a:ext cx="228600" cy="75407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97300" y="4182657"/>
            <a:ext cx="228600" cy="897343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40200" y="4019218"/>
            <a:ext cx="228600" cy="106078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83100" y="3847694"/>
            <a:ext cx="228600" cy="1232306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26000" y="3684884"/>
            <a:ext cx="228600" cy="1395116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68900" y="3549856"/>
            <a:ext cx="228600" cy="153014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11800" y="3460356"/>
            <a:ext cx="228600" cy="161964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54700" y="3429000"/>
            <a:ext cx="228600" cy="1651000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7600" y="3460356"/>
            <a:ext cx="228600" cy="161964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40500" y="3549856"/>
            <a:ext cx="228600" cy="153014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83400" y="3684884"/>
            <a:ext cx="228600" cy="1395116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226300" y="3847694"/>
            <a:ext cx="228600" cy="1232306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69200" y="4019218"/>
            <a:ext cx="228600" cy="106078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12100" y="4182657"/>
            <a:ext cx="228600" cy="897343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55000" y="4325928"/>
            <a:ext cx="228600" cy="75407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597900" y="4442591"/>
            <a:ext cx="228600" cy="637409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940800" y="4531368"/>
            <a:ext cx="228600" cy="54863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283700" y="2984500"/>
            <a:ext cx="228600" cy="2095500"/>
          </a:xfrm>
          <a:prstGeom prst="roundRect">
            <a:avLst>
              <a:gd name="adj" fmla="val 22222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26600" y="4637332"/>
            <a:ext cx="228600" cy="442668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969500" y="4664299"/>
            <a:ext cx="228600" cy="415701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312400" y="4680426"/>
            <a:ext cx="228600" cy="39957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655300" y="4689543"/>
            <a:ext cx="228600" cy="390457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con-vlag-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7500" y="2476500"/>
            <a:ext cx="381000" cy="3810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728200" y="2540000"/>
            <a:ext cx="19050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07B00"/>
                </a:solidFill>
                <a:latin typeface="Inter"/>
              </a:rPr>
              <a:t>Flagged: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E07B00"/>
                </a:solidFill>
                <a:latin typeface="Inter"/>
              </a:rPr>
              <a:t>far from expected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2000" y="5092700"/>
            <a:ext cx="106680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2000" y="5270500"/>
            <a:ext cx="1066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AI grade stays hidden. Only large deviations reach the moderator.</a:t>
            </a:r>
          </a:p>
        </p:txBody>
      </p:sp>
      <p:pic>
        <p:nvPicPr>
          <p:cNvPr id="36" name="Picture 35" descr="logo_navy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1587500"/>
            <a:ext cx="3810000" cy="165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E075"/>
                </a:solidFill>
                <a:latin typeface="League Spartan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429000"/>
            <a:ext cx="10160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League Spartan"/>
              </a:rPr>
              <a:t>Operational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9CBD2"/>
                </a:solidFill>
                <a:latin typeface="Inter"/>
              </a:rPr>
              <a:t>Time saved on marking and feedback</a:t>
            </a:r>
          </a:p>
        </p:txBody>
      </p:sp>
      <p:pic>
        <p:nvPicPr>
          <p:cNvPr id="6" name="Picture 5" descr="logo_white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Two flavours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1905000"/>
            <a:ext cx="5105400" cy="3556000"/>
          </a:xfrm>
          <a:prstGeom prst="roundRect">
            <a:avLst>
              <a:gd name="adj" fmla="val 5000"/>
            </a:avLst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maan-m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00" y="2222500"/>
            <a:ext cx="508000" cy="50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78000" y="2298700"/>
            <a:ext cx="317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FFFFF"/>
                </a:solidFill>
                <a:latin typeface="League Spartan"/>
              </a:rPr>
              <a:t>Formative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3048000"/>
            <a:ext cx="43942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00E075"/>
                </a:solidFill>
                <a:latin typeface="League Spartan"/>
              </a:rPr>
              <a:t>03:00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4064000"/>
            <a:ext cx="43942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Student asks for feedback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when it suits them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17600" y="4940300"/>
            <a:ext cx="2286000" cy="330200"/>
          </a:xfrm>
          <a:prstGeom prst="roundRect">
            <a:avLst>
              <a:gd name="adj" fmla="val 50000"/>
            </a:avLst>
          </a:prstGeom>
          <a:solidFill>
            <a:srgbClr val="0F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7600" y="50038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0E075"/>
                </a:solidFill>
                <a:latin typeface="Inter"/>
              </a:rPr>
              <a:t>No human in the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4600" y="1905000"/>
            <a:ext cx="5105400" cy="3556000"/>
          </a:xfrm>
          <a:prstGeom prst="roundRect">
            <a:avLst>
              <a:gd name="adj" fmla="val 5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usercheck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0200" y="2222500"/>
            <a:ext cx="508000" cy="508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40600" y="2298700"/>
            <a:ext cx="317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2333"/>
                </a:solidFill>
                <a:latin typeface="League Spartan"/>
              </a:rPr>
              <a:t>Summative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0200" y="3048000"/>
            <a:ext cx="43942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007B54"/>
                </a:solidFill>
                <a:latin typeface="League Spartan"/>
              </a:rPr>
              <a:t>Lecturer +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0200" y="4064000"/>
            <a:ext cx="43942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Time saved on writing,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not on reading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80200" y="4940300"/>
            <a:ext cx="2286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80200" y="50038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07B54"/>
                </a:solidFill>
                <a:latin typeface="Inter"/>
              </a:rPr>
              <a:t>Human in the loop</a:t>
            </a:r>
          </a:p>
        </p:txBody>
      </p:sp>
      <p:pic>
        <p:nvPicPr>
          <p:cNvPr id="18" name="Picture 17" descr="logo_navy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WHERE THE TIME GOES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Academics already work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far beyond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11500"/>
            <a:ext cx="2286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75000" y="2984500"/>
            <a:ext cx="5861538" cy="635000"/>
          </a:xfrm>
          <a:prstGeom prst="roundRect">
            <a:avLst>
              <a:gd name="adj" fmla="val 14000"/>
            </a:avLst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85538" y="3124200"/>
            <a:ext cx="1460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600" b="1">
                <a:solidFill>
                  <a:srgbClr val="002333"/>
                </a:solidFill>
                <a:latin typeface="League Spartan"/>
              </a:rPr>
              <a:t>37.5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191000"/>
            <a:ext cx="2286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Actual average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75000" y="4064000"/>
            <a:ext cx="7956062" cy="635000"/>
          </a:xfrm>
          <a:prstGeom prst="roundRect">
            <a:avLst>
              <a:gd name="adj" fmla="val 14000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80062" y="4203700"/>
            <a:ext cx="1460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League Spartan"/>
              </a:rPr>
              <a:t>50.9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75000" y="5207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07B00"/>
                </a:solidFill>
                <a:latin typeface="Inter"/>
              </a:rPr>
              <a:t>+13.4 hours a week beyond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6350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UCU workload survey, 2016, n ≈ 12,100 (older data)</a:t>
            </a:r>
          </a:p>
        </p:txBody>
      </p:sp>
      <p:pic>
        <p:nvPicPr>
          <p:cNvPr id="12" name="Picture 11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WHAT WE HEAR FROM INSTITUTIONS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The cost of no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32000"/>
            <a:ext cx="5105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FOR LECTURERS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476500"/>
            <a:ext cx="5105400" cy="800100"/>
          </a:xfrm>
          <a:prstGeom prst="roundRect">
            <a:avLst>
              <a:gd name="adj" fmla="val 22222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-schoolbord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2673350"/>
            <a:ext cx="406400" cy="406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87500" y="2730500"/>
            <a:ext cx="4089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Marking instead of mentoring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3429000"/>
            <a:ext cx="5105400" cy="800100"/>
          </a:xfrm>
          <a:prstGeom prst="roundRect">
            <a:avLst>
              <a:gd name="adj" fmla="val 22222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klok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3625850"/>
            <a:ext cx="406400" cy="406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87500" y="3683000"/>
            <a:ext cx="4089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Structural overtime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600" y="2032000"/>
            <a:ext cx="5105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07B00"/>
                </a:solidFill>
                <a:latin typeface="Inter"/>
              </a:rPr>
              <a:t>FOR INSTITUTIONS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4600" y="2476500"/>
            <a:ext cx="5105400" cy="800100"/>
          </a:xfrm>
          <a:prstGeom prst="roundRect">
            <a:avLst>
              <a:gd name="adj" fmla="val 22222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pen-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200" y="2673350"/>
            <a:ext cx="406400" cy="406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50100" y="2730500"/>
            <a:ext cx="4089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No formative feedback at 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4600" y="3429000"/>
            <a:ext cx="5105400" cy="800100"/>
          </a:xfrm>
          <a:prstGeom prst="roundRect">
            <a:avLst>
              <a:gd name="adj" fmla="val 22222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prijs-amb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200" y="3625850"/>
            <a:ext cx="406400" cy="406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150100" y="3683000"/>
            <a:ext cx="4089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Paying external markers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4600" y="4381500"/>
            <a:ext cx="5105400" cy="800100"/>
          </a:xfrm>
          <a:prstGeom prst="roundRect">
            <a:avLst>
              <a:gd name="adj" fmla="val 22222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studenten-amb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3200" y="4578350"/>
            <a:ext cx="406400" cy="406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150100" y="4635500"/>
            <a:ext cx="4089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Fewer staff, more students</a:t>
            </a:r>
          </a:p>
        </p:txBody>
      </p:sp>
      <p:pic>
        <p:nvPicPr>
          <p:cNvPr id="21" name="Picture 20" descr="logo_navy_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WHY ACCURACY MATTERS TO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Time saved depends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on accuracy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47800" y="2857500"/>
            <a:ext cx="952500" cy="952500"/>
          </a:xfrm>
          <a:prstGeom prst="roundRect">
            <a:avLst>
              <a:gd name="adj" fmla="val 24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rubric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925" y="3095625"/>
            <a:ext cx="476250" cy="476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4000500"/>
            <a:ext cx="23241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Your rubric and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instructions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550" y="3111500"/>
            <a:ext cx="16383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DD9DE"/>
                </a:solidFill>
                <a:latin typeface="League Spartan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29100" y="2857500"/>
            <a:ext cx="952500" cy="952500"/>
          </a:xfrm>
          <a:prstGeom prst="roundRect">
            <a:avLst>
              <a:gd name="adj" fmla="val 24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model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7225" y="3095625"/>
            <a:ext cx="476250" cy="476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43300" y="4000500"/>
            <a:ext cx="23241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The model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follows them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6850" y="3111500"/>
            <a:ext cx="16383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DD9DE"/>
                </a:solidFill>
                <a:latin typeface="League Spartan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10400" y="2857500"/>
            <a:ext cx="952500" cy="952500"/>
          </a:xfrm>
          <a:prstGeom prst="roundRect">
            <a:avLst>
              <a:gd name="adj" fmla="val 24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filepen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8525" y="3095625"/>
            <a:ext cx="476250" cy="4762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24600" y="4000500"/>
            <a:ext cx="23241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Feedback you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would give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58150" y="3111500"/>
            <a:ext cx="16383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DD9DE"/>
                </a:solidFill>
                <a:latin typeface="League Spartan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91700" y="2857500"/>
            <a:ext cx="952500" cy="952500"/>
          </a:xfrm>
          <a:prstGeom prst="roundRect">
            <a:avLst>
              <a:gd name="adj" fmla="val 24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-check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9825" y="3095625"/>
            <a:ext cx="476250" cy="4762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05900" y="4000500"/>
            <a:ext cx="23241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Approve,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don't rewrite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5080000"/>
            <a:ext cx="10668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07B00"/>
                </a:solidFill>
                <a:latin typeface="Inter"/>
              </a:rPr>
              <a:t>Inaccurate feedback costs more time to fix than to write yourself.</a:t>
            </a:r>
          </a:p>
        </p:txBody>
      </p:sp>
      <p:pic>
        <p:nvPicPr>
          <p:cNvPr id="20" name="Picture 19" descr="logo_navy_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OUR LESSONS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Tuning is the investment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95500"/>
            <a:ext cx="3251200" cy="2921000"/>
          </a:xfrm>
          <a:prstGeom prst="roundRect">
            <a:avLst>
              <a:gd name="adj" fmla="val 608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2413000"/>
            <a:ext cx="3251200" cy="139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0" b="1">
                <a:solidFill>
                  <a:srgbClr val="5B7480"/>
                </a:solidFill>
                <a:latin typeface="League Spartan"/>
              </a:rPr>
              <a:t>~6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500" y="3937000"/>
            <a:ext cx="28702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points from the lecturer’s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mark, on average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70400" y="2095500"/>
            <a:ext cx="3251200" cy="2921000"/>
          </a:xfrm>
          <a:prstGeom prst="roundRect">
            <a:avLst>
              <a:gd name="adj" fmla="val 6086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0400" y="2413000"/>
            <a:ext cx="3251200" cy="139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0" b="1">
                <a:solidFill>
                  <a:srgbClr val="007B54"/>
                </a:solidFill>
                <a:latin typeface="League Spartan"/>
              </a:rPr>
              <a:t>~2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0900" y="3937000"/>
            <a:ext cx="28702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points for lecturers who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tuned the 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8800" y="2095500"/>
            <a:ext cx="3251200" cy="2921000"/>
          </a:xfrm>
          <a:prstGeom prst="roundRect">
            <a:avLst>
              <a:gd name="adj" fmla="val 608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78800" y="2413000"/>
            <a:ext cx="3251200" cy="139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0" b="1">
                <a:solidFill>
                  <a:srgbClr val="002333"/>
                </a:solidFill>
                <a:latin typeface="League Spartan"/>
              </a:rPr>
              <a:t>2–3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9300" y="3937000"/>
            <a:ext cx="28702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minutes review time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per submission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6350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One pilot, Bath Spa University, June 2026: 435 submissions, 6 modules, 13 markers.</a:t>
            </a:r>
          </a:p>
        </p:txBody>
      </p:sp>
      <p:pic>
        <p:nvPicPr>
          <p:cNvPr id="14" name="Picture 13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WHERE WE WANT TO GET 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Lecturer time moves from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typing to teaching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238500"/>
            <a:ext cx="1524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Today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13000" y="3048000"/>
            <a:ext cx="5539740" cy="698500"/>
          </a:xfrm>
          <a:prstGeom prst="roundRect">
            <a:avLst>
              <a:gd name="adj" fmla="val 12727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90800" y="3263900"/>
            <a:ext cx="527304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Inter"/>
              </a:rPr>
              <a:t>Writing feedback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3540" y="3048000"/>
            <a:ext cx="3375660" cy="698500"/>
          </a:xfrm>
          <a:prstGeom prst="roundRect">
            <a:avLst>
              <a:gd name="adj" fmla="val 12727"/>
            </a:avLst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1340" y="3263900"/>
            <a:ext cx="310896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2333"/>
                </a:solidFill>
                <a:latin typeface="Inter"/>
              </a:rPr>
              <a:t>Teaching &amp; mentoring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381500"/>
            <a:ext cx="1524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With 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13000" y="4191000"/>
            <a:ext cx="2203450" cy="698500"/>
          </a:xfrm>
          <a:prstGeom prst="roundRect">
            <a:avLst>
              <a:gd name="adj" fmla="val 12727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90800" y="4406900"/>
            <a:ext cx="193675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Inter"/>
              </a:rPr>
              <a:t>Checking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7250" y="4191000"/>
            <a:ext cx="6711950" cy="698500"/>
          </a:xfrm>
          <a:prstGeom prst="roundRect">
            <a:avLst>
              <a:gd name="adj" fmla="val 12727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5050" y="4406900"/>
            <a:ext cx="644525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2333"/>
                </a:solidFill>
                <a:latin typeface="Inter"/>
              </a:rPr>
              <a:t>Teaching &amp; mentoring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350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Illustration, not a measurement.</a:t>
            </a:r>
          </a:p>
        </p:txBody>
      </p:sp>
      <p:pic>
        <p:nvPicPr>
          <p:cNvPr id="15" name="Picture 14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095500"/>
            <a:ext cx="10668000" cy="20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“Won’t lecturers just</a:t>
            </a:r>
          </a:p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click approve?”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4450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9CBD2"/>
                </a:solidFill>
                <a:latin typeface="Inter"/>
              </a:rPr>
              <a:t>The question we always get.</a:t>
            </a:r>
          </a:p>
        </p:txBody>
      </p:sp>
      <p:pic>
        <p:nvPicPr>
          <p:cNvPr id="5" name="Picture 4" descr="logo_white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OUR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Approving is still judging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955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wisselend-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100" y="2476500"/>
            <a:ext cx="635000" cy="635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52500" y="3429000"/>
            <a:ext cx="28702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The alternative today is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often no feedback at 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70400" y="20955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con-rubric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8500" y="2476500"/>
            <a:ext cx="635000" cy="635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60900" y="3429000"/>
            <a:ext cx="28702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It gives the feedback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the lecturer set 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8800" y="20955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on-historie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900" y="2476500"/>
            <a:ext cx="635000" cy="635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69300" y="3429000"/>
            <a:ext cx="28702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Every edit is logged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in the audit trail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5016500"/>
            <a:ext cx="10668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7B54"/>
                </a:solidFill>
                <a:latin typeface="League Spartan"/>
              </a:rPr>
              <a:t>The AI assists. The academic decides.</a:t>
            </a:r>
          </a:p>
        </p:txBody>
      </p:sp>
      <p:pic>
        <p:nvPicPr>
          <p:cNvPr id="14" name="Picture 13" descr="logo_navy_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BREAKOUT ROOMS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Choose your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32000"/>
            <a:ext cx="5105400" cy="3429000"/>
          </a:xfrm>
          <a:prstGeom prst="roundRect">
            <a:avLst>
              <a:gd name="adj" fmla="val 5185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deur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200" y="2984500"/>
            <a:ext cx="889000" cy="88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4127500"/>
            <a:ext cx="51054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Consistency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572000"/>
            <a:ext cx="51054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with Dante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600" y="2032000"/>
            <a:ext cx="5105400" cy="3429000"/>
          </a:xfrm>
          <a:prstGeom prst="roundRect">
            <a:avLst>
              <a:gd name="adj" fmla="val 5185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deur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2800" y="2984500"/>
            <a:ext cx="889000" cy="88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24600" y="4127500"/>
            <a:ext cx="51054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Operational efficiency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600" y="4572000"/>
            <a:ext cx="51054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with [name]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5715000"/>
            <a:ext cx="1066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Statements · vote · discuss · short talk · questions</a:t>
            </a:r>
          </a:p>
        </p:txBody>
      </p:sp>
      <p:pic>
        <p:nvPicPr>
          <p:cNvPr id="13" name="Picture 12" descr="logo_navy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ROOM · CONSISTENCY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Agree or disagree?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95500"/>
            <a:ext cx="10668000" cy="1016000"/>
          </a:xfrm>
          <a:prstGeom prst="roundRect">
            <a:avLst>
              <a:gd name="adj" fmla="val 175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49500"/>
            <a:ext cx="508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07B54"/>
                </a:solidFill>
                <a:latin typeface="League Spartan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1000" y="2413000"/>
            <a:ext cx="7302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02333"/>
                </a:solidFill>
                <a:latin typeface="Inter"/>
              </a:rPr>
              <a:t>Same grade with different feedback is consistent enough.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07500" y="2413000"/>
            <a:ext cx="889000" cy="3810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7500" y="2489200"/>
            <a:ext cx="889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Agree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23500" y="2413000"/>
            <a:ext cx="1016000" cy="381000"/>
          </a:xfrm>
          <a:prstGeom prst="roundRect">
            <a:avLst>
              <a:gd name="adj" fmla="val 50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23500" y="2489200"/>
            <a:ext cx="101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07B00"/>
                </a:solidFill>
                <a:latin typeface="Inter"/>
              </a:rPr>
              <a:t>Disagree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3302000"/>
            <a:ext cx="10668000" cy="1016000"/>
          </a:xfrm>
          <a:prstGeom prst="roundRect">
            <a:avLst>
              <a:gd name="adj" fmla="val 175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6000" y="3556000"/>
            <a:ext cx="508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07B54"/>
                </a:solidFill>
                <a:latin typeface="League Spart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1000" y="3619500"/>
            <a:ext cx="7302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02333"/>
                </a:solidFill>
                <a:latin typeface="Inter"/>
              </a:rPr>
              <a:t>Students care more about fair grades than consistent feedback.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07500" y="3619500"/>
            <a:ext cx="889000" cy="3810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07500" y="3695700"/>
            <a:ext cx="889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Agree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23500" y="3619500"/>
            <a:ext cx="1016000" cy="381000"/>
          </a:xfrm>
          <a:prstGeom prst="roundRect">
            <a:avLst>
              <a:gd name="adj" fmla="val 50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23500" y="3695700"/>
            <a:ext cx="101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07B00"/>
                </a:solidFill>
                <a:latin typeface="Inter"/>
              </a:rPr>
              <a:t>Disagree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" y="4508500"/>
            <a:ext cx="10668000" cy="1016000"/>
          </a:xfrm>
          <a:prstGeom prst="roundRect">
            <a:avLst>
              <a:gd name="adj" fmla="val 175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6000" y="4762500"/>
            <a:ext cx="508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07B54"/>
                </a:solidFill>
                <a:latin typeface="League Spartan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1000" y="4826000"/>
            <a:ext cx="7302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02333"/>
                </a:solidFill>
                <a:latin typeface="Inter"/>
              </a:rPr>
              <a:t>AI should flag unusual marks, not propose them.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07500" y="4826000"/>
            <a:ext cx="889000" cy="3810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07500" y="4902200"/>
            <a:ext cx="889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Agree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23500" y="4826000"/>
            <a:ext cx="1016000" cy="381000"/>
          </a:xfrm>
          <a:prstGeom prst="roundRect">
            <a:avLst>
              <a:gd name="adj" fmla="val 50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3500" y="4902200"/>
            <a:ext cx="101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07B00"/>
                </a:solidFill>
                <a:latin typeface="Inter"/>
              </a:rPr>
              <a:t>Disagree</a:t>
            </a:r>
          </a:p>
        </p:txBody>
      </p:sp>
      <p:pic>
        <p:nvPicPr>
          <p:cNvPr id="25" name="Picture 24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ROOM · OPERATIONAL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Agree or disagree?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95500"/>
            <a:ext cx="10668000" cy="1016000"/>
          </a:xfrm>
          <a:prstGeom prst="roundRect">
            <a:avLst>
              <a:gd name="adj" fmla="val 175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49500"/>
            <a:ext cx="508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07B54"/>
                </a:solidFill>
                <a:latin typeface="League Spartan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1000" y="2413000"/>
            <a:ext cx="7302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02333"/>
                </a:solidFill>
                <a:latin typeface="Inter"/>
              </a:rPr>
              <a:t>Formative feedback no lecturer has read first is acceptable.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07500" y="2413000"/>
            <a:ext cx="889000" cy="3810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7500" y="2489200"/>
            <a:ext cx="889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Agree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23500" y="2413000"/>
            <a:ext cx="1016000" cy="381000"/>
          </a:xfrm>
          <a:prstGeom prst="roundRect">
            <a:avLst>
              <a:gd name="adj" fmla="val 50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23500" y="2489200"/>
            <a:ext cx="101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07B00"/>
                </a:solidFill>
                <a:latin typeface="Inter"/>
              </a:rPr>
              <a:t>Disagree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3302000"/>
            <a:ext cx="10668000" cy="1016000"/>
          </a:xfrm>
          <a:prstGeom prst="roundRect">
            <a:avLst>
              <a:gd name="adj" fmla="val 175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6000" y="3556000"/>
            <a:ext cx="508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07B54"/>
                </a:solidFill>
                <a:latin typeface="League Spart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1000" y="3619500"/>
            <a:ext cx="7302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02333"/>
                </a:solidFill>
                <a:latin typeface="Inter"/>
              </a:rPr>
              <a:t>Time saved on marking will be cut, not given back to students.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07500" y="3619500"/>
            <a:ext cx="889000" cy="3810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07500" y="3695700"/>
            <a:ext cx="889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Agree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23500" y="3619500"/>
            <a:ext cx="1016000" cy="381000"/>
          </a:xfrm>
          <a:prstGeom prst="roundRect">
            <a:avLst>
              <a:gd name="adj" fmla="val 50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23500" y="3695700"/>
            <a:ext cx="101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07B00"/>
                </a:solidFill>
                <a:latin typeface="Inter"/>
              </a:rPr>
              <a:t>Disagree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" y="4508500"/>
            <a:ext cx="10668000" cy="1016000"/>
          </a:xfrm>
          <a:prstGeom prst="roundRect">
            <a:avLst>
              <a:gd name="adj" fmla="val 175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6000" y="4762500"/>
            <a:ext cx="508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07B54"/>
                </a:solidFill>
                <a:latin typeface="League Spartan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1000" y="4826000"/>
            <a:ext cx="7302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02333"/>
                </a:solidFill>
                <a:latin typeface="Inter"/>
              </a:rPr>
              <a:t>Approving AI feedback with small edits is still my feedback.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07500" y="4826000"/>
            <a:ext cx="889000" cy="3810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07500" y="4902200"/>
            <a:ext cx="889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Agree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23500" y="4826000"/>
            <a:ext cx="1016000" cy="381000"/>
          </a:xfrm>
          <a:prstGeom prst="roundRect">
            <a:avLst>
              <a:gd name="adj" fmla="val 50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3500" y="4902200"/>
            <a:ext cx="101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07B00"/>
                </a:solidFill>
                <a:latin typeface="Inter"/>
              </a:rPr>
              <a:t>Disagree</a:t>
            </a:r>
          </a:p>
        </p:txBody>
      </p:sp>
      <p:pic>
        <p:nvPicPr>
          <p:cNvPr id="25" name="Picture 24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BACK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What we heard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32000"/>
            <a:ext cx="5105400" cy="3429000"/>
          </a:xfrm>
          <a:prstGeom prst="roundRect">
            <a:avLst>
              <a:gd name="adj" fmla="val 5185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6800" y="2286000"/>
            <a:ext cx="4495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Consistency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1066800" y="2984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6800" y="3746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6800" y="4508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24600" y="2032000"/>
            <a:ext cx="5105400" cy="3429000"/>
          </a:xfrm>
          <a:prstGeom prst="roundRect">
            <a:avLst>
              <a:gd name="adj" fmla="val 5185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286000"/>
            <a:ext cx="4495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Operational efficiency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0" y="2984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9400" y="3746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29400" y="4508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200" y="6324600"/>
            <a:ext cx="939800" cy="25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9060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095500"/>
            <a:ext cx="9525000" cy="165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>
                <a:solidFill>
                  <a:srgbClr val="FFFFFF"/>
                </a:solidFill>
                <a:latin typeface="League Spartan"/>
              </a:rPr>
              <a:t>Which of these would</a:t>
            </a:r>
          </a:p>
          <a:p>
            <a:pPr algn="l">
              <a:lnSpc>
                <a:spcPct val="105000"/>
              </a:lnSpc>
            </a:pPr>
            <a:r>
              <a:rPr sz="4800" b="1">
                <a:solidFill>
                  <a:srgbClr val="FFFFFF"/>
                </a:solidFill>
                <a:latin typeface="League Spartan"/>
              </a:rPr>
              <a:t>you test first?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937000"/>
            <a:ext cx="9525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9CBD2"/>
                </a:solidFill>
                <a:latin typeface="Inter"/>
              </a:rPr>
              <a:t>Slides and sources follow by email.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445000"/>
            <a:ext cx="9525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0E075"/>
                </a:solidFill>
                <a:latin typeface="Inter"/>
              </a:rPr>
              <a:t>info@eduface.me  ·  eduface.me</a:t>
            </a:r>
          </a:p>
        </p:txBody>
      </p:sp>
      <p:pic>
        <p:nvPicPr>
          <p:cNvPr id="6" name="Picture 5" descr="logo_white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5969000"/>
            <a:ext cx="1409700" cy="381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