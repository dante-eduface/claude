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0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58800"/>
            <a:ext cx="10668000" cy="762000"/>
          </a:xfrm>
          <a:prstGeom prst="rect">
            <a:avLst/>
          </a:prstGeom>
          <a:noFill/>
        </p:spPr>
        <p:txBody>
          <a:bodyPr wrap="square" lIns="0" rIns="0" tIns="0" bIns="0">
            <a:spAutoFit/>
          </a:bodyPr>
          <a:lstStyle/>
          <a:p>
            <a:pPr algn="ctr">
              <a:lnSpc>
                <a:spcPct val="100000"/>
              </a:lnSpc>
            </a:pPr>
            <a:r>
              <a:rPr sz="4800" b="1">
                <a:solidFill>
                  <a:srgbClr val="FFFFFF"/>
                </a:solidFill>
                <a:latin typeface="League Spartan"/>
              </a:rPr>
              <a:t>Board Update — Q3 2026</a:t>
            </a:r>
          </a:p>
        </p:txBody>
      </p:sp>
      <p:sp>
        <p:nvSpPr>
          <p:cNvPr id="4" name="TextBox 3"/>
          <p:cNvSpPr txBox="1"/>
          <p:nvPr/>
        </p:nvSpPr>
        <p:spPr>
          <a:xfrm>
            <a:off x="762000" y="1473200"/>
            <a:ext cx="10668000" cy="381000"/>
          </a:xfrm>
          <a:prstGeom prst="rect">
            <a:avLst/>
          </a:prstGeom>
          <a:noFill/>
        </p:spPr>
        <p:txBody>
          <a:bodyPr wrap="square" lIns="0" rIns="0" tIns="0" bIns="0">
            <a:spAutoFit/>
          </a:bodyPr>
          <a:lstStyle/>
          <a:p>
            <a:pPr algn="l">
              <a:lnSpc>
                <a:spcPct val="115000"/>
              </a:lnSpc>
            </a:pPr>
            <a:r>
              <a:rPr sz="2000" b="0">
                <a:solidFill>
                  <a:srgbClr val="FFFFFF"/>
                </a:solidFill>
                <a:latin typeface="Inter"/>
              </a:rPr>
              <a:t>ROM  ·  Tjarko Kwee  ·  Imec</a:t>
            </a:r>
          </a:p>
        </p:txBody>
      </p:sp>
      <p:pic>
        <p:nvPicPr>
          <p:cNvPr id="5" name="Picture 4" descr="logo_white.png"/>
          <p:cNvPicPr>
            <a:picLocks noChangeAspect="1"/>
          </p:cNvPicPr>
          <p:nvPr/>
        </p:nvPicPr>
        <p:blipFill>
          <a:blip r:embed="rId2"/>
          <a:stretch>
            <a:fillRect/>
          </a:stretch>
        </p:blipFill>
        <p:spPr>
          <a:xfrm>
            <a:off x="762000" y="5892800"/>
            <a:ext cx="1358900" cy="3683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Agenda</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350" b="0">
                <a:solidFill>
                  <a:srgbClr val="5B7480"/>
                </a:solidFill>
                <a:latin typeface="Inter"/>
              </a:rPr>
              <a:t>Dit is een update, geen consultatie.</a:t>
            </a:r>
          </a:p>
        </p:txBody>
      </p:sp>
      <p:sp>
        <p:nvSpPr>
          <p:cNvPr id="4" name="TextBox 3"/>
          <p:cNvSpPr txBox="1"/>
          <p:nvPr/>
        </p:nvSpPr>
        <p:spPr>
          <a:xfrm>
            <a:off x="762000" y="158750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1</a:t>
            </a:r>
          </a:p>
        </p:txBody>
      </p:sp>
      <p:sp>
        <p:nvSpPr>
          <p:cNvPr id="5" name="TextBox 4"/>
          <p:cNvSpPr txBox="1"/>
          <p:nvPr/>
        </p:nvSpPr>
        <p:spPr>
          <a:xfrm>
            <a:off x="1143000" y="158750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Bath Spa</a:t>
            </a:r>
          </a:p>
        </p:txBody>
      </p:sp>
      <p:sp>
        <p:nvSpPr>
          <p:cNvPr id="6" name="TextBox 5"/>
          <p:cNvSpPr txBox="1"/>
          <p:nvPr/>
        </p:nvSpPr>
        <p:spPr>
          <a:xfrm>
            <a:off x="3683000" y="160020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Het nieuws: waarom de deal stopt en wat dat niet betekent.</a:t>
            </a:r>
          </a:p>
        </p:txBody>
      </p:sp>
      <p:sp>
        <p:nvSpPr>
          <p:cNvPr id="7" name="TextBox 6"/>
          <p:cNvSpPr txBox="1"/>
          <p:nvPr/>
        </p:nvSpPr>
        <p:spPr>
          <a:xfrm>
            <a:off x="762000" y="198755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2</a:t>
            </a:r>
          </a:p>
        </p:txBody>
      </p:sp>
      <p:sp>
        <p:nvSpPr>
          <p:cNvPr id="8" name="TextBox 7"/>
          <p:cNvSpPr txBox="1"/>
          <p:nvPr/>
        </p:nvSpPr>
        <p:spPr>
          <a:xfrm>
            <a:off x="1143000" y="198755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Financiën</a:t>
            </a:r>
          </a:p>
        </p:txBody>
      </p:sp>
      <p:sp>
        <p:nvSpPr>
          <p:cNvPr id="9" name="TextBox 8"/>
          <p:cNvSpPr txBox="1"/>
          <p:nvPr/>
        </p:nvSpPr>
        <p:spPr>
          <a:xfrm>
            <a:off x="3683000" y="200025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Cash, burn, runway en de tranche-deadline.</a:t>
            </a:r>
          </a:p>
        </p:txBody>
      </p:sp>
      <p:sp>
        <p:nvSpPr>
          <p:cNvPr id="10" name="TextBox 9"/>
          <p:cNvSpPr txBox="1"/>
          <p:nvPr/>
        </p:nvSpPr>
        <p:spPr>
          <a:xfrm>
            <a:off x="762000" y="238760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3</a:t>
            </a:r>
          </a:p>
        </p:txBody>
      </p:sp>
      <p:sp>
        <p:nvSpPr>
          <p:cNvPr id="11" name="TextBox 10"/>
          <p:cNvSpPr txBox="1"/>
          <p:nvPr/>
        </p:nvSpPr>
        <p:spPr>
          <a:xfrm>
            <a:off x="1143000" y="238760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Pipeline</a:t>
            </a:r>
          </a:p>
        </p:txBody>
      </p:sp>
      <p:sp>
        <p:nvSpPr>
          <p:cNvPr id="12" name="TextBox 11"/>
          <p:cNvSpPr txBox="1"/>
          <p:nvPr/>
        </p:nvSpPr>
        <p:spPr>
          <a:xfrm>
            <a:off x="3683000" y="240030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Alle 19 actieve deals, gewogen, publiek vs. particulier.</a:t>
            </a:r>
          </a:p>
        </p:txBody>
      </p:sp>
      <p:sp>
        <p:nvSpPr>
          <p:cNvPr id="13" name="TextBox 12"/>
          <p:cNvSpPr txBox="1"/>
          <p:nvPr/>
        </p:nvSpPr>
        <p:spPr>
          <a:xfrm>
            <a:off x="762000" y="278765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4</a:t>
            </a:r>
          </a:p>
        </p:txBody>
      </p:sp>
      <p:sp>
        <p:nvSpPr>
          <p:cNvPr id="14" name="TextBox 13"/>
          <p:cNvSpPr txBox="1"/>
          <p:nvPr/>
        </p:nvSpPr>
        <p:spPr>
          <a:xfrm>
            <a:off x="1143000" y="278765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Key accounts</a:t>
            </a:r>
          </a:p>
        </p:txBody>
      </p:sp>
      <p:sp>
        <p:nvSpPr>
          <p:cNvPr id="15" name="TextBox 14"/>
          <p:cNvSpPr txBox="1"/>
          <p:nvPr/>
        </p:nvSpPr>
        <p:spPr>
          <a:xfrm>
            <a:off x="3683000" y="280035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HHS, Hogeschool Rotterdam, Breederode, UTI.</a:t>
            </a:r>
          </a:p>
        </p:txBody>
      </p:sp>
      <p:sp>
        <p:nvSpPr>
          <p:cNvPr id="16" name="TextBox 15"/>
          <p:cNvSpPr txBox="1"/>
          <p:nvPr/>
        </p:nvSpPr>
        <p:spPr>
          <a:xfrm>
            <a:off x="762000" y="318770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5</a:t>
            </a:r>
          </a:p>
        </p:txBody>
      </p:sp>
      <p:sp>
        <p:nvSpPr>
          <p:cNvPr id="17" name="TextBox 16"/>
          <p:cNvSpPr txBox="1"/>
          <p:nvPr/>
        </p:nvSpPr>
        <p:spPr>
          <a:xfrm>
            <a:off x="1143000" y="318770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Het patroon</a:t>
            </a:r>
          </a:p>
        </p:txBody>
      </p:sp>
      <p:sp>
        <p:nvSpPr>
          <p:cNvPr id="18" name="TextBox 17"/>
          <p:cNvSpPr txBox="1"/>
          <p:nvPr/>
        </p:nvSpPr>
        <p:spPr>
          <a:xfrm>
            <a:off x="3683000" y="320040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Waarom publieke deals vastlopen.</a:t>
            </a:r>
          </a:p>
        </p:txBody>
      </p:sp>
      <p:sp>
        <p:nvSpPr>
          <p:cNvPr id="19" name="TextBox 18"/>
          <p:cNvSpPr txBox="1"/>
          <p:nvPr/>
        </p:nvSpPr>
        <p:spPr>
          <a:xfrm>
            <a:off x="762000" y="358775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6</a:t>
            </a:r>
          </a:p>
        </p:txBody>
      </p:sp>
      <p:sp>
        <p:nvSpPr>
          <p:cNvPr id="20" name="TextBox 19"/>
          <p:cNvSpPr txBox="1"/>
          <p:nvPr/>
        </p:nvSpPr>
        <p:spPr>
          <a:xfrm>
            <a:off x="1143000" y="358775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De Beslissing</a:t>
            </a:r>
          </a:p>
        </p:txBody>
      </p:sp>
      <p:sp>
        <p:nvSpPr>
          <p:cNvPr id="21" name="TextBox 20"/>
          <p:cNvSpPr txBox="1"/>
          <p:nvPr/>
        </p:nvSpPr>
        <p:spPr>
          <a:xfrm>
            <a:off x="3683000" y="360045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Volledige focus op particuliere instellingen, en de markt erachter.</a:t>
            </a:r>
          </a:p>
        </p:txBody>
      </p:sp>
      <p:sp>
        <p:nvSpPr>
          <p:cNvPr id="22" name="TextBox 21"/>
          <p:cNvSpPr txBox="1"/>
          <p:nvPr/>
        </p:nvSpPr>
        <p:spPr>
          <a:xfrm>
            <a:off x="762000" y="398780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7</a:t>
            </a:r>
          </a:p>
        </p:txBody>
      </p:sp>
      <p:sp>
        <p:nvSpPr>
          <p:cNvPr id="23" name="TextBox 22"/>
          <p:cNvSpPr txBox="1"/>
          <p:nvPr/>
        </p:nvSpPr>
        <p:spPr>
          <a:xfrm>
            <a:off x="1143000" y="398780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Het product</a:t>
            </a:r>
          </a:p>
        </p:txBody>
      </p:sp>
      <p:sp>
        <p:nvSpPr>
          <p:cNvPr id="24" name="TextBox 23"/>
          <p:cNvSpPr txBox="1"/>
          <p:nvPr/>
        </p:nvSpPr>
        <p:spPr>
          <a:xfrm>
            <a:off x="3683000" y="400050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Wat er dit kwartaal is bijgebouwd.</a:t>
            </a:r>
          </a:p>
        </p:txBody>
      </p:sp>
      <p:sp>
        <p:nvSpPr>
          <p:cNvPr id="25" name="TextBox 24"/>
          <p:cNvSpPr txBox="1"/>
          <p:nvPr/>
        </p:nvSpPr>
        <p:spPr>
          <a:xfrm>
            <a:off x="762000" y="438785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8</a:t>
            </a:r>
          </a:p>
        </p:txBody>
      </p:sp>
      <p:sp>
        <p:nvSpPr>
          <p:cNvPr id="26" name="TextBox 25"/>
          <p:cNvSpPr txBox="1"/>
          <p:nvPr/>
        </p:nvSpPr>
        <p:spPr>
          <a:xfrm>
            <a:off x="1143000" y="438785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GTM</a:t>
            </a:r>
          </a:p>
        </p:txBody>
      </p:sp>
      <p:sp>
        <p:nvSpPr>
          <p:cNvPr id="27" name="TextBox 26"/>
          <p:cNvSpPr txBox="1"/>
          <p:nvPr/>
        </p:nvSpPr>
        <p:spPr>
          <a:xfrm>
            <a:off x="3683000" y="440055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De nieuwe aanpak, van beurzen naar SHIFT.</a:t>
            </a:r>
          </a:p>
        </p:txBody>
      </p:sp>
      <p:sp>
        <p:nvSpPr>
          <p:cNvPr id="28" name="TextBox 27"/>
          <p:cNvSpPr txBox="1"/>
          <p:nvPr/>
        </p:nvSpPr>
        <p:spPr>
          <a:xfrm>
            <a:off x="762000" y="478790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9</a:t>
            </a:r>
          </a:p>
        </p:txBody>
      </p:sp>
      <p:sp>
        <p:nvSpPr>
          <p:cNvPr id="29" name="TextBox 28"/>
          <p:cNvSpPr txBox="1"/>
          <p:nvPr/>
        </p:nvSpPr>
        <p:spPr>
          <a:xfrm>
            <a:off x="1143000" y="478790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Milestones</a:t>
            </a:r>
          </a:p>
        </p:txBody>
      </p:sp>
      <p:sp>
        <p:nvSpPr>
          <p:cNvPr id="30" name="TextBox 29"/>
          <p:cNvSpPr txBox="1"/>
          <p:nvPr/>
        </p:nvSpPr>
        <p:spPr>
          <a:xfrm>
            <a:off x="3683000" y="480060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De drie voorwaarden voor de volgende CLA-tranche.</a:t>
            </a:r>
          </a:p>
        </p:txBody>
      </p:sp>
      <p:sp>
        <p:nvSpPr>
          <p:cNvPr id="31" name="TextBox 30"/>
          <p:cNvSpPr txBox="1"/>
          <p:nvPr/>
        </p:nvSpPr>
        <p:spPr>
          <a:xfrm>
            <a:off x="762000" y="5187950"/>
            <a:ext cx="317500" cy="254000"/>
          </a:xfrm>
          <a:prstGeom prst="rect">
            <a:avLst/>
          </a:prstGeom>
          <a:noFill/>
        </p:spPr>
        <p:txBody>
          <a:bodyPr wrap="square" lIns="0" rIns="0" tIns="0" bIns="0">
            <a:spAutoFit/>
          </a:bodyPr>
          <a:lstStyle/>
          <a:p>
            <a:pPr algn="l">
              <a:lnSpc>
                <a:spcPct val="115000"/>
              </a:lnSpc>
            </a:pPr>
            <a:r>
              <a:rPr sz="1200" b="1">
                <a:solidFill>
                  <a:srgbClr val="E07B00"/>
                </a:solidFill>
                <a:latin typeface="League Spartan"/>
              </a:rPr>
              <a:t>10</a:t>
            </a:r>
          </a:p>
        </p:txBody>
      </p:sp>
      <p:sp>
        <p:nvSpPr>
          <p:cNvPr id="32" name="TextBox 31"/>
          <p:cNvSpPr txBox="1"/>
          <p:nvPr/>
        </p:nvSpPr>
        <p:spPr>
          <a:xfrm>
            <a:off x="1143000" y="5187950"/>
            <a:ext cx="2413000" cy="254000"/>
          </a:xfrm>
          <a:prstGeom prst="rect">
            <a:avLst/>
          </a:prstGeom>
          <a:noFill/>
        </p:spPr>
        <p:txBody>
          <a:bodyPr wrap="square" lIns="0" rIns="0" tIns="0" bIns="0">
            <a:spAutoFit/>
          </a:bodyPr>
          <a:lstStyle/>
          <a:p>
            <a:pPr algn="l">
              <a:lnSpc>
                <a:spcPct val="115000"/>
              </a:lnSpc>
            </a:pPr>
            <a:r>
              <a:rPr sz="1300" b="1">
                <a:solidFill>
                  <a:srgbClr val="002333"/>
                </a:solidFill>
                <a:latin typeface="League Spartan"/>
              </a:rPr>
              <a:t>Vragen</a:t>
            </a:r>
          </a:p>
        </p:txBody>
      </p:sp>
      <p:sp>
        <p:nvSpPr>
          <p:cNvPr id="33" name="TextBox 32"/>
          <p:cNvSpPr txBox="1"/>
          <p:nvPr/>
        </p:nvSpPr>
        <p:spPr>
          <a:xfrm>
            <a:off x="3683000" y="5200650"/>
            <a:ext cx="8255000" cy="254000"/>
          </a:xfrm>
          <a:prstGeom prst="rect">
            <a:avLst/>
          </a:prstGeom>
          <a:noFill/>
        </p:spPr>
        <p:txBody>
          <a:bodyPr wrap="square" lIns="0" rIns="0" tIns="0" bIns="0">
            <a:spAutoFit/>
          </a:bodyPr>
          <a:lstStyle/>
          <a:p>
            <a:pPr algn="l">
              <a:lnSpc>
                <a:spcPct val="115000"/>
              </a:lnSpc>
            </a:pPr>
            <a:r>
              <a:rPr sz="1150" b="0">
                <a:solidFill>
                  <a:srgbClr val="5B7480"/>
                </a:solidFill>
                <a:latin typeface="Inter"/>
              </a:rPr>
              <a:t/>
            </a:r>
          </a:p>
        </p:txBody>
      </p:sp>
      <p:sp>
        <p:nvSpPr>
          <p:cNvPr id="34" name="Rectangle 33"/>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Board meeting Q3 2026.</a:t>
            </a:r>
          </a:p>
        </p:txBody>
      </p:sp>
      <p:pic>
        <p:nvPicPr>
          <p:cNvPr id="36" name="Picture 35" descr="logo_navy.png"/>
          <p:cNvPicPr>
            <a:picLocks noChangeAspect="1"/>
          </p:cNvPicPr>
          <p:nvPr/>
        </p:nvPicPr>
        <p:blipFill>
          <a:blip r:embed="rId2"/>
          <a:stretch>
            <a:fillRect/>
          </a:stretch>
        </p:blipFill>
        <p:spPr>
          <a:xfrm>
            <a:off x="10668000" y="5727700"/>
            <a:ext cx="762000" cy="209550"/>
          </a:xfrm>
          <a:prstGeom prst="rect">
            <a:avLst/>
          </a:prstGeom>
        </p:spPr>
      </p:pic>
      <p:sp>
        <p:nvSpPr>
          <p:cNvPr id="37" name="TextBox 36"/>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Bath Spa</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350" b="0">
                <a:solidFill>
                  <a:srgbClr val="5B7480"/>
                </a:solidFill>
                <a:latin typeface="Inter"/>
              </a:rPr>
              <a:t>Ze gaan niet door met Eduface. Reden: institutionele AI-gereedheid, niet productkwaliteit.</a:t>
            </a:r>
          </a:p>
        </p:txBody>
      </p:sp>
      <p:sp>
        <p:nvSpPr>
          <p:cNvPr id="4" name="Rounded Rectangle 3"/>
          <p:cNvSpPr/>
          <p:nvPr/>
        </p:nvSpPr>
        <p:spPr>
          <a:xfrm>
            <a:off x="762000" y="15240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2500" y="1460500"/>
            <a:ext cx="10477500" cy="533400"/>
          </a:xfrm>
          <a:prstGeom prst="rect">
            <a:avLst/>
          </a:prstGeom>
          <a:noFill/>
        </p:spPr>
        <p:txBody>
          <a:bodyPr wrap="square" lIns="0" rIns="0" tIns="0" bIns="0">
            <a:spAutoFit/>
          </a:bodyPr>
          <a:lstStyle/>
          <a:p>
            <a:pPr algn="l">
              <a:lnSpc>
                <a:spcPct val="130000"/>
              </a:lnSpc>
            </a:pPr>
            <a:r>
              <a:rPr sz="1350" b="0">
                <a:solidFill>
                  <a:srgbClr val="002333"/>
                </a:solidFill>
                <a:latin typeface="Inter"/>
              </a:rPr>
              <a:t>Susanna heeft de pilotdata verzameld en geanalyseerd: Eduface-gebruiksstatistieken, interviews en surveys onder deelnemers.</a:t>
            </a:r>
          </a:p>
        </p:txBody>
      </p:sp>
      <p:sp>
        <p:nvSpPr>
          <p:cNvPr id="6" name="Rounded Rectangle 5"/>
          <p:cNvSpPr/>
          <p:nvPr/>
        </p:nvSpPr>
        <p:spPr>
          <a:xfrm>
            <a:off x="762000" y="21082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2044700"/>
            <a:ext cx="10477500" cy="533400"/>
          </a:xfrm>
          <a:prstGeom prst="rect">
            <a:avLst/>
          </a:prstGeom>
          <a:noFill/>
        </p:spPr>
        <p:txBody>
          <a:bodyPr wrap="square" lIns="0" rIns="0" tIns="0" bIns="0">
            <a:spAutoFit/>
          </a:bodyPr>
          <a:lstStyle/>
          <a:p>
            <a:pPr algn="l">
              <a:lnSpc>
                <a:spcPct val="130000"/>
              </a:lnSpc>
            </a:pPr>
            <a:r>
              <a:rPr sz="1350" b="0">
                <a:solidFill>
                  <a:srgbClr val="002333"/>
                </a:solidFill>
                <a:latin typeface="Inter"/>
              </a:rPr>
              <a:t>Een samenvattend rapport is vorige week besproken door hun AI Programme Board (AIPB).</a:t>
            </a:r>
          </a:p>
        </p:txBody>
      </p:sp>
      <p:sp>
        <p:nvSpPr>
          <p:cNvPr id="8" name="Rounded Rectangle 7"/>
          <p:cNvSpPr/>
          <p:nvPr/>
        </p:nvSpPr>
        <p:spPr>
          <a:xfrm>
            <a:off x="762000" y="26924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2628900"/>
            <a:ext cx="10477500" cy="533400"/>
          </a:xfrm>
          <a:prstGeom prst="rect">
            <a:avLst/>
          </a:prstGeom>
          <a:noFill/>
        </p:spPr>
        <p:txBody>
          <a:bodyPr wrap="square" lIns="0" rIns="0" tIns="0" bIns="0">
            <a:spAutoFit/>
          </a:bodyPr>
          <a:lstStyle/>
          <a:p>
            <a:pPr algn="l">
              <a:lnSpc>
                <a:spcPct val="130000"/>
              </a:lnSpc>
            </a:pPr>
            <a:r>
              <a:rPr sz="1350" b="0">
                <a:solidFill>
                  <a:srgbClr val="002333"/>
                </a:solidFill>
                <a:latin typeface="Inter"/>
              </a:rPr>
              <a:t>Hun conclusie, letterlijk: "we found that the measures of success were only partially met."</a:t>
            </a:r>
          </a:p>
        </p:txBody>
      </p:sp>
      <p:sp>
        <p:nvSpPr>
          <p:cNvPr id="10" name="Rounded Rectangle 9"/>
          <p:cNvSpPr/>
          <p:nvPr/>
        </p:nvSpPr>
        <p:spPr>
          <a:xfrm>
            <a:off x="762000" y="32766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3213100"/>
            <a:ext cx="10477500" cy="533400"/>
          </a:xfrm>
          <a:prstGeom prst="rect">
            <a:avLst/>
          </a:prstGeom>
          <a:noFill/>
        </p:spPr>
        <p:txBody>
          <a:bodyPr wrap="square" lIns="0" rIns="0" tIns="0" bIns="0">
            <a:spAutoFit/>
          </a:bodyPr>
          <a:lstStyle/>
          <a:p>
            <a:pPr algn="l">
              <a:lnSpc>
                <a:spcPct val="130000"/>
              </a:lnSpc>
            </a:pPr>
            <a:r>
              <a:rPr sz="1350" b="0">
                <a:solidFill>
                  <a:srgbClr val="002333"/>
                </a:solidFill>
                <a:latin typeface="Inter"/>
              </a:rPr>
              <a:t>"We are not yet ready to implement an AI assistant tool for assessment and feedback. We won’t be proceeding with Eduface, or other similar product, at this stage."</a:t>
            </a:r>
          </a:p>
        </p:txBody>
      </p:sp>
      <p:sp>
        <p:nvSpPr>
          <p:cNvPr id="12" name="Rounded Rectangle 11"/>
          <p:cNvSpPr/>
          <p:nvPr/>
        </p:nvSpPr>
        <p:spPr>
          <a:xfrm>
            <a:off x="762000" y="38608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3797300"/>
            <a:ext cx="10477500" cy="533400"/>
          </a:xfrm>
          <a:prstGeom prst="rect">
            <a:avLst/>
          </a:prstGeom>
          <a:noFill/>
        </p:spPr>
        <p:txBody>
          <a:bodyPr wrap="square" lIns="0" rIns="0" tIns="0" bIns="0">
            <a:spAutoFit/>
          </a:bodyPr>
          <a:lstStyle/>
          <a:p>
            <a:pPr algn="l">
              <a:lnSpc>
                <a:spcPct val="130000"/>
              </a:lnSpc>
            </a:pPr>
            <a:r>
              <a:rPr sz="1350" b="0">
                <a:solidFill>
                  <a:srgbClr val="002333"/>
                </a:solidFill>
                <a:latin typeface="Inter"/>
              </a:rPr>
              <a:t>Helen King (Director of Learning Innovation, Development &amp; Skills) was oprecht positief: "It has been good working with you and I wish you all the best for the further development of the Eduface tool."</a:t>
            </a:r>
          </a:p>
        </p:txBody>
      </p:sp>
      <p:sp>
        <p:nvSpPr>
          <p:cNvPr id="14" name="Rectangle 13"/>
          <p:cNvSpPr/>
          <p:nvPr/>
        </p:nvSpPr>
        <p:spPr>
          <a:xfrm>
            <a:off x="762000" y="4508500"/>
            <a:ext cx="106680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4673600"/>
            <a:ext cx="10668000" cy="330200"/>
          </a:xfrm>
          <a:prstGeom prst="rect">
            <a:avLst/>
          </a:prstGeom>
          <a:noFill/>
        </p:spPr>
        <p:txBody>
          <a:bodyPr wrap="square" lIns="0" rIns="0" tIns="0" bIns="0">
            <a:spAutoFit/>
          </a:bodyPr>
          <a:lstStyle/>
          <a:p>
            <a:pPr algn="l">
              <a:lnSpc>
                <a:spcPct val="130000"/>
              </a:lnSpc>
            </a:pPr>
            <a:r>
              <a:rPr sz="1250" b="0">
                <a:solidFill>
                  <a:srgbClr val="002333"/>
                </a:solidFill>
                <a:latin typeface="Inter"/>
              </a:rPr>
              <a:t>Financieel: Bath Spa betaalt de afgesproken pilotfee van £3.280 incl. btw. Factuur moet nog verstuurd worden.</a:t>
            </a:r>
          </a:p>
        </p:txBody>
      </p:sp>
      <p:sp>
        <p:nvSpPr>
          <p:cNvPr id="16" name="TextBox 15"/>
          <p:cNvSpPr txBox="1"/>
          <p:nvPr/>
        </p:nvSpPr>
        <p:spPr>
          <a:xfrm>
            <a:off x="762000" y="5054600"/>
            <a:ext cx="10668000" cy="330200"/>
          </a:xfrm>
          <a:prstGeom prst="rect">
            <a:avLst/>
          </a:prstGeom>
          <a:noFill/>
        </p:spPr>
        <p:txBody>
          <a:bodyPr wrap="square" lIns="0" rIns="0" tIns="0" bIns="0">
            <a:spAutoFit/>
          </a:bodyPr>
          <a:lstStyle/>
          <a:p>
            <a:pPr algn="l">
              <a:lnSpc>
                <a:spcPct val="130000"/>
              </a:lnSpc>
            </a:pPr>
            <a:r>
              <a:rPr sz="1250" b="0">
                <a:solidFill>
                  <a:srgbClr val="007B54"/>
                </a:solidFill>
                <a:latin typeface="Inter"/>
              </a:rPr>
              <a:t>Voor ons: de 94% accuraatheidsmeting (435 inzendingen, 13 nakijkers, juni 2026) komt uit deze pilot en blijft feitelijk overeind. Dat cijfer wordt door Bath Spa niet betwist.</a:t>
            </a:r>
          </a:p>
        </p:txBody>
      </p:sp>
      <p:sp>
        <p:nvSpPr>
          <p:cNvPr id="17" name="Rectangle 16"/>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Mail Helen King, Bath Spa University, 21-09-2026.</a:t>
            </a:r>
          </a:p>
        </p:txBody>
      </p:sp>
      <p:pic>
        <p:nvPicPr>
          <p:cNvPr id="19" name="Picture 18" descr="logo_navy.png"/>
          <p:cNvPicPr>
            <a:picLocks noChangeAspect="1"/>
          </p:cNvPicPr>
          <p:nvPr/>
        </p:nvPicPr>
        <p:blipFill>
          <a:blip r:embed="rId2"/>
          <a:stretch>
            <a:fillRect/>
          </a:stretch>
        </p:blipFill>
        <p:spPr>
          <a:xfrm>
            <a:off x="10668000" y="5727700"/>
            <a:ext cx="762000" cy="209550"/>
          </a:xfrm>
          <a:prstGeom prst="rect">
            <a:avLst/>
          </a:prstGeom>
        </p:spPr>
      </p:pic>
      <p:sp>
        <p:nvSpPr>
          <p:cNvPr id="20" name="TextBox 19"/>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Financiën</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350" b="0">
                <a:solidFill>
                  <a:srgbClr val="002333"/>
                </a:solidFill>
                <a:latin typeface="Inter"/>
              </a:rPr>
              <a:t>Cash in bank €51.000 · runway 3,5 maanden, tot half januari 2027 · nieuwe tranche nodig in december.</a:t>
            </a:r>
          </a:p>
        </p:txBody>
      </p:sp>
      <p:sp>
        <p:nvSpPr>
          <p:cNvPr id="4" name="TextBox 3"/>
          <p:cNvSpPr txBox="1"/>
          <p:nvPr/>
        </p:nvSpPr>
        <p:spPr>
          <a:xfrm>
            <a:off x="762000" y="1587500"/>
            <a:ext cx="6985000" cy="190500"/>
          </a:xfrm>
          <a:prstGeom prst="rect">
            <a:avLst/>
          </a:prstGeom>
          <a:noFill/>
        </p:spPr>
        <p:txBody>
          <a:bodyPr wrap="square" lIns="0" rIns="0" tIns="0" bIns="0">
            <a:spAutoFit/>
          </a:bodyPr>
          <a:lstStyle/>
          <a:p>
            <a:pPr algn="l">
              <a:lnSpc>
                <a:spcPct val="115000"/>
              </a:lnSpc>
            </a:pPr>
            <a:r>
              <a:rPr sz="1050" b="1">
                <a:solidFill>
                  <a:srgbClr val="5B7480"/>
                </a:solidFill>
                <a:latin typeface="Inter"/>
              </a:rPr>
              <a:t>Post</a:t>
            </a:r>
          </a:p>
        </p:txBody>
      </p:sp>
      <p:sp>
        <p:nvSpPr>
          <p:cNvPr id="5" name="TextBox 4"/>
          <p:cNvSpPr txBox="1"/>
          <p:nvPr/>
        </p:nvSpPr>
        <p:spPr>
          <a:xfrm>
            <a:off x="8255000" y="1587500"/>
            <a:ext cx="1905000" cy="190500"/>
          </a:xfrm>
          <a:prstGeom prst="rect">
            <a:avLst/>
          </a:prstGeom>
          <a:noFill/>
        </p:spPr>
        <p:txBody>
          <a:bodyPr wrap="square" lIns="0" rIns="0" tIns="0" bIns="0">
            <a:spAutoFit/>
          </a:bodyPr>
          <a:lstStyle/>
          <a:p>
            <a:pPr algn="r">
              <a:lnSpc>
                <a:spcPct val="115000"/>
              </a:lnSpc>
            </a:pPr>
            <a:r>
              <a:rPr sz="1050" b="1">
                <a:solidFill>
                  <a:srgbClr val="5B7480"/>
                </a:solidFill>
                <a:latin typeface="Inter"/>
              </a:rPr>
              <a:t>Per maand</a:t>
            </a:r>
          </a:p>
        </p:txBody>
      </p:sp>
      <p:sp>
        <p:nvSpPr>
          <p:cNvPr id="6" name="TextBox 5"/>
          <p:cNvSpPr txBox="1"/>
          <p:nvPr/>
        </p:nvSpPr>
        <p:spPr>
          <a:xfrm>
            <a:off x="10477500" y="1587500"/>
            <a:ext cx="1079500" cy="190500"/>
          </a:xfrm>
          <a:prstGeom prst="rect">
            <a:avLst/>
          </a:prstGeom>
          <a:noFill/>
        </p:spPr>
        <p:txBody>
          <a:bodyPr wrap="square" lIns="0" rIns="0" tIns="0" bIns="0">
            <a:spAutoFit/>
          </a:bodyPr>
          <a:lstStyle/>
          <a:p>
            <a:pPr algn="r">
              <a:lnSpc>
                <a:spcPct val="115000"/>
              </a:lnSpc>
            </a:pPr>
            <a:r>
              <a:rPr sz="1050" b="1">
                <a:solidFill>
                  <a:srgbClr val="5B7480"/>
                </a:solidFill>
                <a:latin typeface="Inter"/>
              </a:rPr>
              <a:t>%</a:t>
            </a:r>
          </a:p>
        </p:txBody>
      </p:sp>
      <p:sp>
        <p:nvSpPr>
          <p:cNvPr id="7" name="Rectangle 6"/>
          <p:cNvSpPr/>
          <p:nvPr/>
        </p:nvSpPr>
        <p:spPr>
          <a:xfrm>
            <a:off x="762000" y="1778000"/>
            <a:ext cx="107950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18669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Salarissen</a:t>
            </a:r>
          </a:p>
        </p:txBody>
      </p:sp>
      <p:sp>
        <p:nvSpPr>
          <p:cNvPr id="9" name="TextBox 8"/>
          <p:cNvSpPr txBox="1"/>
          <p:nvPr/>
        </p:nvSpPr>
        <p:spPr>
          <a:xfrm>
            <a:off x="8255000" y="18669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6.447,57</a:t>
            </a:r>
          </a:p>
        </p:txBody>
      </p:sp>
      <p:sp>
        <p:nvSpPr>
          <p:cNvPr id="10" name="TextBox 9"/>
          <p:cNvSpPr txBox="1"/>
          <p:nvPr/>
        </p:nvSpPr>
        <p:spPr>
          <a:xfrm>
            <a:off x="10477500" y="18669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42,7%</a:t>
            </a:r>
          </a:p>
        </p:txBody>
      </p:sp>
      <p:sp>
        <p:nvSpPr>
          <p:cNvPr id="11" name="TextBox 10"/>
          <p:cNvSpPr txBox="1"/>
          <p:nvPr/>
        </p:nvSpPr>
        <p:spPr>
          <a:xfrm>
            <a:off x="762000" y="21463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Management fees (excl. btw)</a:t>
            </a:r>
          </a:p>
        </p:txBody>
      </p:sp>
      <p:sp>
        <p:nvSpPr>
          <p:cNvPr id="12" name="TextBox 11"/>
          <p:cNvSpPr txBox="1"/>
          <p:nvPr/>
        </p:nvSpPr>
        <p:spPr>
          <a:xfrm>
            <a:off x="8255000" y="21463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3.400,00</a:t>
            </a:r>
          </a:p>
        </p:txBody>
      </p:sp>
      <p:sp>
        <p:nvSpPr>
          <p:cNvPr id="13" name="TextBox 12"/>
          <p:cNvSpPr txBox="1"/>
          <p:nvPr/>
        </p:nvSpPr>
        <p:spPr>
          <a:xfrm>
            <a:off x="10477500" y="21463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22,5%</a:t>
            </a:r>
          </a:p>
        </p:txBody>
      </p:sp>
      <p:sp>
        <p:nvSpPr>
          <p:cNvPr id="14" name="TextBox 13"/>
          <p:cNvSpPr txBox="1"/>
          <p:nvPr/>
        </p:nvSpPr>
        <p:spPr>
          <a:xfrm>
            <a:off x="762000" y="24257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Loonheffing</a:t>
            </a:r>
          </a:p>
        </p:txBody>
      </p:sp>
      <p:sp>
        <p:nvSpPr>
          <p:cNvPr id="15" name="TextBox 14"/>
          <p:cNvSpPr txBox="1"/>
          <p:nvPr/>
        </p:nvSpPr>
        <p:spPr>
          <a:xfrm>
            <a:off x="8255000" y="24257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1.820,00</a:t>
            </a:r>
          </a:p>
        </p:txBody>
      </p:sp>
      <p:sp>
        <p:nvSpPr>
          <p:cNvPr id="16" name="TextBox 15"/>
          <p:cNvSpPr txBox="1"/>
          <p:nvPr/>
        </p:nvSpPr>
        <p:spPr>
          <a:xfrm>
            <a:off x="10477500" y="24257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12,1%</a:t>
            </a:r>
          </a:p>
        </p:txBody>
      </p:sp>
      <p:sp>
        <p:nvSpPr>
          <p:cNvPr id="17" name="TextBox 16"/>
          <p:cNvSpPr txBox="1"/>
          <p:nvPr/>
        </p:nvSpPr>
        <p:spPr>
          <a:xfrm>
            <a:off x="762000" y="27051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Huisvesting (Dotslash)</a:t>
            </a:r>
          </a:p>
        </p:txBody>
      </p:sp>
      <p:sp>
        <p:nvSpPr>
          <p:cNvPr id="18" name="TextBox 17"/>
          <p:cNvSpPr txBox="1"/>
          <p:nvPr/>
        </p:nvSpPr>
        <p:spPr>
          <a:xfrm>
            <a:off x="8255000" y="27051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1.383,03</a:t>
            </a:r>
          </a:p>
        </p:txBody>
      </p:sp>
      <p:sp>
        <p:nvSpPr>
          <p:cNvPr id="19" name="TextBox 18"/>
          <p:cNvSpPr txBox="1"/>
          <p:nvPr/>
        </p:nvSpPr>
        <p:spPr>
          <a:xfrm>
            <a:off x="10477500" y="27051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9,2%</a:t>
            </a:r>
          </a:p>
        </p:txBody>
      </p:sp>
      <p:sp>
        <p:nvSpPr>
          <p:cNvPr id="20" name="TextBox 19"/>
          <p:cNvSpPr txBox="1"/>
          <p:nvPr/>
        </p:nvSpPr>
        <p:spPr>
          <a:xfrm>
            <a:off x="762000" y="29845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Software</a:t>
            </a:r>
          </a:p>
        </p:txBody>
      </p:sp>
      <p:sp>
        <p:nvSpPr>
          <p:cNvPr id="21" name="TextBox 20"/>
          <p:cNvSpPr txBox="1"/>
          <p:nvPr/>
        </p:nvSpPr>
        <p:spPr>
          <a:xfrm>
            <a:off x="8255000" y="29845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899,11</a:t>
            </a:r>
          </a:p>
        </p:txBody>
      </p:sp>
      <p:sp>
        <p:nvSpPr>
          <p:cNvPr id="22" name="TextBox 21"/>
          <p:cNvSpPr txBox="1"/>
          <p:nvPr/>
        </p:nvSpPr>
        <p:spPr>
          <a:xfrm>
            <a:off x="10477500" y="29845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6,0%</a:t>
            </a:r>
          </a:p>
        </p:txBody>
      </p:sp>
      <p:sp>
        <p:nvSpPr>
          <p:cNvPr id="23" name="TextBox 22"/>
          <p:cNvSpPr txBox="1"/>
          <p:nvPr/>
        </p:nvSpPr>
        <p:spPr>
          <a:xfrm>
            <a:off x="762000" y="32639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Reiskosten (NS Menno)</a:t>
            </a:r>
          </a:p>
        </p:txBody>
      </p:sp>
      <p:sp>
        <p:nvSpPr>
          <p:cNvPr id="24" name="TextBox 23"/>
          <p:cNvSpPr txBox="1"/>
          <p:nvPr/>
        </p:nvSpPr>
        <p:spPr>
          <a:xfrm>
            <a:off x="8255000" y="32639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399,95</a:t>
            </a:r>
          </a:p>
        </p:txBody>
      </p:sp>
      <p:sp>
        <p:nvSpPr>
          <p:cNvPr id="25" name="TextBox 24"/>
          <p:cNvSpPr txBox="1"/>
          <p:nvPr/>
        </p:nvSpPr>
        <p:spPr>
          <a:xfrm>
            <a:off x="10477500" y="32639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2,7%</a:t>
            </a:r>
          </a:p>
        </p:txBody>
      </p:sp>
      <p:sp>
        <p:nvSpPr>
          <p:cNvPr id="26" name="TextBox 25"/>
          <p:cNvSpPr txBox="1"/>
          <p:nvPr/>
        </p:nvSpPr>
        <p:spPr>
          <a:xfrm>
            <a:off x="762000" y="35433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Administratie</a:t>
            </a:r>
          </a:p>
        </p:txBody>
      </p:sp>
      <p:sp>
        <p:nvSpPr>
          <p:cNvPr id="27" name="TextBox 26"/>
          <p:cNvSpPr txBox="1"/>
          <p:nvPr/>
        </p:nvSpPr>
        <p:spPr>
          <a:xfrm>
            <a:off x="8255000" y="35433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320,86</a:t>
            </a:r>
          </a:p>
        </p:txBody>
      </p:sp>
      <p:sp>
        <p:nvSpPr>
          <p:cNvPr id="28" name="TextBox 27"/>
          <p:cNvSpPr txBox="1"/>
          <p:nvPr/>
        </p:nvSpPr>
        <p:spPr>
          <a:xfrm>
            <a:off x="10477500" y="35433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2,1%</a:t>
            </a:r>
          </a:p>
        </p:txBody>
      </p:sp>
      <p:sp>
        <p:nvSpPr>
          <p:cNvPr id="29" name="TextBox 28"/>
          <p:cNvSpPr txBox="1"/>
          <p:nvPr/>
        </p:nvSpPr>
        <p:spPr>
          <a:xfrm>
            <a:off x="762000" y="38227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Google Ads (stopgezet)</a:t>
            </a:r>
          </a:p>
        </p:txBody>
      </p:sp>
      <p:sp>
        <p:nvSpPr>
          <p:cNvPr id="30" name="TextBox 29"/>
          <p:cNvSpPr txBox="1"/>
          <p:nvPr/>
        </p:nvSpPr>
        <p:spPr>
          <a:xfrm>
            <a:off x="8255000" y="38227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182,20</a:t>
            </a:r>
          </a:p>
        </p:txBody>
      </p:sp>
      <p:sp>
        <p:nvSpPr>
          <p:cNvPr id="31" name="TextBox 30"/>
          <p:cNvSpPr txBox="1"/>
          <p:nvPr/>
        </p:nvSpPr>
        <p:spPr>
          <a:xfrm>
            <a:off x="10477500" y="38227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1,2%</a:t>
            </a:r>
          </a:p>
        </p:txBody>
      </p:sp>
      <p:sp>
        <p:nvSpPr>
          <p:cNvPr id="32" name="TextBox 31"/>
          <p:cNvSpPr txBox="1"/>
          <p:nvPr/>
        </p:nvSpPr>
        <p:spPr>
          <a:xfrm>
            <a:off x="762000" y="41021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Rente pre-seed ELF</a:t>
            </a:r>
          </a:p>
        </p:txBody>
      </p:sp>
      <p:sp>
        <p:nvSpPr>
          <p:cNvPr id="33" name="TextBox 32"/>
          <p:cNvSpPr txBox="1"/>
          <p:nvPr/>
        </p:nvSpPr>
        <p:spPr>
          <a:xfrm>
            <a:off x="8255000" y="41021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132,24</a:t>
            </a:r>
          </a:p>
        </p:txBody>
      </p:sp>
      <p:sp>
        <p:nvSpPr>
          <p:cNvPr id="34" name="TextBox 33"/>
          <p:cNvSpPr txBox="1"/>
          <p:nvPr/>
        </p:nvSpPr>
        <p:spPr>
          <a:xfrm>
            <a:off x="10477500" y="41021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0,9%</a:t>
            </a:r>
          </a:p>
        </p:txBody>
      </p:sp>
      <p:sp>
        <p:nvSpPr>
          <p:cNvPr id="35" name="TextBox 34"/>
          <p:cNvSpPr txBox="1"/>
          <p:nvPr/>
        </p:nvSpPr>
        <p:spPr>
          <a:xfrm>
            <a:off x="762000" y="43815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Representatie en attenties</a:t>
            </a:r>
          </a:p>
        </p:txBody>
      </p:sp>
      <p:sp>
        <p:nvSpPr>
          <p:cNvPr id="36" name="TextBox 35"/>
          <p:cNvSpPr txBox="1"/>
          <p:nvPr/>
        </p:nvSpPr>
        <p:spPr>
          <a:xfrm>
            <a:off x="8255000" y="43815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67,77</a:t>
            </a:r>
          </a:p>
        </p:txBody>
      </p:sp>
      <p:sp>
        <p:nvSpPr>
          <p:cNvPr id="37" name="TextBox 36"/>
          <p:cNvSpPr txBox="1"/>
          <p:nvPr/>
        </p:nvSpPr>
        <p:spPr>
          <a:xfrm>
            <a:off x="10477500" y="43815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0,4%</a:t>
            </a:r>
          </a:p>
        </p:txBody>
      </p:sp>
      <p:sp>
        <p:nvSpPr>
          <p:cNvPr id="38" name="TextBox 37"/>
          <p:cNvSpPr txBox="1"/>
          <p:nvPr/>
        </p:nvSpPr>
        <p:spPr>
          <a:xfrm>
            <a:off x="762000" y="4660900"/>
            <a:ext cx="6985000" cy="241300"/>
          </a:xfrm>
          <a:prstGeom prst="rect">
            <a:avLst/>
          </a:prstGeom>
          <a:noFill/>
        </p:spPr>
        <p:txBody>
          <a:bodyPr wrap="square" lIns="0" rIns="0" tIns="0" bIns="0">
            <a:spAutoFit/>
          </a:bodyPr>
          <a:lstStyle/>
          <a:p>
            <a:pPr algn="l">
              <a:lnSpc>
                <a:spcPct val="115000"/>
              </a:lnSpc>
            </a:pPr>
            <a:r>
              <a:rPr sz="1300" b="0">
                <a:solidFill>
                  <a:srgbClr val="002333"/>
                </a:solidFill>
                <a:latin typeface="Inter"/>
              </a:rPr>
              <a:t>Bank en verzekering</a:t>
            </a:r>
          </a:p>
        </p:txBody>
      </p:sp>
      <p:sp>
        <p:nvSpPr>
          <p:cNvPr id="39" name="TextBox 38"/>
          <p:cNvSpPr txBox="1"/>
          <p:nvPr/>
        </p:nvSpPr>
        <p:spPr>
          <a:xfrm>
            <a:off x="8255000" y="4660900"/>
            <a:ext cx="19050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32,07</a:t>
            </a:r>
          </a:p>
        </p:txBody>
      </p:sp>
      <p:sp>
        <p:nvSpPr>
          <p:cNvPr id="40" name="TextBox 39"/>
          <p:cNvSpPr txBox="1"/>
          <p:nvPr/>
        </p:nvSpPr>
        <p:spPr>
          <a:xfrm>
            <a:off x="10477500" y="4660900"/>
            <a:ext cx="1079500" cy="241300"/>
          </a:xfrm>
          <a:prstGeom prst="rect">
            <a:avLst/>
          </a:prstGeom>
          <a:noFill/>
        </p:spPr>
        <p:txBody>
          <a:bodyPr wrap="square" lIns="0" rIns="0" tIns="0" bIns="0">
            <a:spAutoFit/>
          </a:bodyPr>
          <a:lstStyle/>
          <a:p>
            <a:pPr algn="r">
              <a:lnSpc>
                <a:spcPct val="115000"/>
              </a:lnSpc>
            </a:pPr>
            <a:r>
              <a:rPr sz="1300" b="0">
                <a:solidFill>
                  <a:srgbClr val="002333"/>
                </a:solidFill>
                <a:latin typeface="Inter"/>
              </a:rPr>
              <a:t>0,2%</a:t>
            </a:r>
          </a:p>
        </p:txBody>
      </p:sp>
      <p:sp>
        <p:nvSpPr>
          <p:cNvPr id="41" name="Rectangle 40"/>
          <p:cNvSpPr/>
          <p:nvPr/>
        </p:nvSpPr>
        <p:spPr>
          <a:xfrm>
            <a:off x="762000" y="4902200"/>
            <a:ext cx="10795000" cy="12700"/>
          </a:xfrm>
          <a:prstGeom prst="rect">
            <a:avLst/>
          </a:prstGeom>
          <a:solidFill>
            <a:srgbClr val="00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2000" y="5029200"/>
            <a:ext cx="6985000" cy="241300"/>
          </a:xfrm>
          <a:prstGeom prst="rect">
            <a:avLst/>
          </a:prstGeom>
          <a:noFill/>
        </p:spPr>
        <p:txBody>
          <a:bodyPr wrap="square" lIns="0" rIns="0" tIns="0" bIns="0">
            <a:spAutoFit/>
          </a:bodyPr>
          <a:lstStyle/>
          <a:p>
            <a:pPr algn="l">
              <a:lnSpc>
                <a:spcPct val="115000"/>
              </a:lnSpc>
            </a:pPr>
            <a:r>
              <a:rPr sz="1300" b="1">
                <a:solidFill>
                  <a:srgbClr val="002333"/>
                </a:solidFill>
                <a:latin typeface="Inter"/>
              </a:rPr>
              <a:t>Totaal</a:t>
            </a:r>
          </a:p>
        </p:txBody>
      </p:sp>
      <p:sp>
        <p:nvSpPr>
          <p:cNvPr id="43" name="TextBox 42"/>
          <p:cNvSpPr txBox="1"/>
          <p:nvPr/>
        </p:nvSpPr>
        <p:spPr>
          <a:xfrm>
            <a:off x="8255000" y="5029200"/>
            <a:ext cx="1905000" cy="241300"/>
          </a:xfrm>
          <a:prstGeom prst="rect">
            <a:avLst/>
          </a:prstGeom>
          <a:noFill/>
        </p:spPr>
        <p:txBody>
          <a:bodyPr wrap="square" lIns="0" rIns="0" tIns="0" bIns="0">
            <a:spAutoFit/>
          </a:bodyPr>
          <a:lstStyle/>
          <a:p>
            <a:pPr algn="r">
              <a:lnSpc>
                <a:spcPct val="115000"/>
              </a:lnSpc>
            </a:pPr>
            <a:r>
              <a:rPr sz="1300" b="1">
                <a:solidFill>
                  <a:srgbClr val="002333"/>
                </a:solidFill>
                <a:latin typeface="Inter"/>
              </a:rPr>
              <a:t>15.084,80</a:t>
            </a:r>
          </a:p>
        </p:txBody>
      </p:sp>
      <p:sp>
        <p:nvSpPr>
          <p:cNvPr id="44" name="TextBox 43"/>
          <p:cNvSpPr txBox="1"/>
          <p:nvPr/>
        </p:nvSpPr>
        <p:spPr>
          <a:xfrm>
            <a:off x="10477500" y="5029200"/>
            <a:ext cx="1079500" cy="241300"/>
          </a:xfrm>
          <a:prstGeom prst="rect">
            <a:avLst/>
          </a:prstGeom>
          <a:noFill/>
        </p:spPr>
        <p:txBody>
          <a:bodyPr wrap="square" lIns="0" rIns="0" tIns="0" bIns="0">
            <a:spAutoFit/>
          </a:bodyPr>
          <a:lstStyle/>
          <a:p>
            <a:pPr algn="r">
              <a:lnSpc>
                <a:spcPct val="115000"/>
              </a:lnSpc>
            </a:pPr>
            <a:r>
              <a:rPr sz="1300" b="1">
                <a:solidFill>
                  <a:srgbClr val="002333"/>
                </a:solidFill>
                <a:latin typeface="Inter"/>
              </a:rPr>
              <a:t>100%</a:t>
            </a:r>
          </a:p>
        </p:txBody>
      </p:sp>
      <p:sp>
        <p:nvSpPr>
          <p:cNvPr id="45" name="Rectangle 44"/>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Eduface financieel model, Q3 board knowledge doc, sep 2026.</a:t>
            </a:r>
          </a:p>
        </p:txBody>
      </p:sp>
      <p:pic>
        <p:nvPicPr>
          <p:cNvPr id="47" name="Picture 46" descr="logo_navy.png"/>
          <p:cNvPicPr>
            <a:picLocks noChangeAspect="1"/>
          </p:cNvPicPr>
          <p:nvPr/>
        </p:nvPicPr>
        <p:blipFill>
          <a:blip r:embed="rId2"/>
          <a:stretch>
            <a:fillRect/>
          </a:stretch>
        </p:blipFill>
        <p:spPr>
          <a:xfrm>
            <a:off x="10668000" y="5727700"/>
            <a:ext cx="762000" cy="209550"/>
          </a:xfrm>
          <a:prstGeom prst="rect">
            <a:avLst/>
          </a:prstGeom>
        </p:spPr>
      </p:pic>
      <p:sp>
        <p:nvSpPr>
          <p:cNvPr id="48" name="TextBox 47"/>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Pipeline</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100" b="0">
                <a:solidFill>
                  <a:srgbClr val="5B7480"/>
                </a:solidFill>
                <a:latin typeface="Inter"/>
              </a:rPr>
              <a:t>€2.157.500 totaal, €489.000 gewogen. 69% van het gewogen bedrag is particulier, 30,5% publiek, 0,5% overig (Noordhoff, uitgever).</a:t>
            </a:r>
          </a:p>
        </p:txBody>
      </p:sp>
      <p:sp>
        <p:nvSpPr>
          <p:cNvPr id="4" name="TextBox 3"/>
          <p:cNvSpPr txBox="1"/>
          <p:nvPr/>
        </p:nvSpPr>
        <p:spPr>
          <a:xfrm>
            <a:off x="762000" y="1638300"/>
            <a:ext cx="3048000" cy="177800"/>
          </a:xfrm>
          <a:prstGeom prst="rect">
            <a:avLst/>
          </a:prstGeom>
          <a:noFill/>
        </p:spPr>
        <p:txBody>
          <a:bodyPr wrap="square" lIns="0" rIns="0" tIns="0" bIns="0">
            <a:spAutoFit/>
          </a:bodyPr>
          <a:lstStyle/>
          <a:p>
            <a:pPr algn="l">
              <a:lnSpc>
                <a:spcPct val="115000"/>
              </a:lnSpc>
            </a:pPr>
            <a:r>
              <a:rPr sz="850" b="1">
                <a:solidFill>
                  <a:srgbClr val="5B7480"/>
                </a:solidFill>
                <a:latin typeface="Inter"/>
              </a:rPr>
              <a:t>Instelling</a:t>
            </a:r>
          </a:p>
        </p:txBody>
      </p:sp>
      <p:sp>
        <p:nvSpPr>
          <p:cNvPr id="5" name="TextBox 4"/>
          <p:cNvSpPr txBox="1"/>
          <p:nvPr/>
        </p:nvSpPr>
        <p:spPr>
          <a:xfrm>
            <a:off x="3937000" y="1638300"/>
            <a:ext cx="444500" cy="177800"/>
          </a:xfrm>
          <a:prstGeom prst="rect">
            <a:avLst/>
          </a:prstGeom>
          <a:noFill/>
        </p:spPr>
        <p:txBody>
          <a:bodyPr wrap="square" lIns="0" rIns="0" tIns="0" bIns="0">
            <a:spAutoFit/>
          </a:bodyPr>
          <a:lstStyle/>
          <a:p>
            <a:pPr algn="l">
              <a:lnSpc>
                <a:spcPct val="115000"/>
              </a:lnSpc>
            </a:pPr>
            <a:r>
              <a:rPr sz="850" b="1">
                <a:solidFill>
                  <a:srgbClr val="5B7480"/>
                </a:solidFill>
                <a:latin typeface="Inter"/>
              </a:rPr>
              <a:t>Land</a:t>
            </a:r>
          </a:p>
        </p:txBody>
      </p:sp>
      <p:sp>
        <p:nvSpPr>
          <p:cNvPr id="6" name="TextBox 5"/>
          <p:cNvSpPr txBox="1"/>
          <p:nvPr/>
        </p:nvSpPr>
        <p:spPr>
          <a:xfrm>
            <a:off x="4508500" y="1638300"/>
            <a:ext cx="825500" cy="177800"/>
          </a:xfrm>
          <a:prstGeom prst="rect">
            <a:avLst/>
          </a:prstGeom>
          <a:noFill/>
        </p:spPr>
        <p:txBody>
          <a:bodyPr wrap="square" lIns="0" rIns="0" tIns="0" bIns="0">
            <a:spAutoFit/>
          </a:bodyPr>
          <a:lstStyle/>
          <a:p>
            <a:pPr algn="l">
              <a:lnSpc>
                <a:spcPct val="115000"/>
              </a:lnSpc>
            </a:pPr>
            <a:r>
              <a:rPr sz="850" b="1">
                <a:solidFill>
                  <a:srgbClr val="5B7480"/>
                </a:solidFill>
                <a:latin typeface="Inter"/>
              </a:rPr>
              <a:t>Privaat</a:t>
            </a:r>
          </a:p>
        </p:txBody>
      </p:sp>
      <p:sp>
        <p:nvSpPr>
          <p:cNvPr id="7" name="TextBox 6"/>
          <p:cNvSpPr txBox="1"/>
          <p:nvPr/>
        </p:nvSpPr>
        <p:spPr>
          <a:xfrm>
            <a:off x="5461000" y="1638300"/>
            <a:ext cx="571500" cy="177800"/>
          </a:xfrm>
          <a:prstGeom prst="rect">
            <a:avLst/>
          </a:prstGeom>
          <a:noFill/>
        </p:spPr>
        <p:txBody>
          <a:bodyPr wrap="square" lIns="0" rIns="0" tIns="0" bIns="0">
            <a:spAutoFit/>
          </a:bodyPr>
          <a:lstStyle/>
          <a:p>
            <a:pPr algn="l">
              <a:lnSpc>
                <a:spcPct val="115000"/>
              </a:lnSpc>
            </a:pPr>
            <a:r>
              <a:rPr sz="850" b="1">
                <a:solidFill>
                  <a:srgbClr val="5B7480"/>
                </a:solidFill>
                <a:latin typeface="Inter"/>
              </a:rPr>
              <a:t>Q3</a:t>
            </a:r>
          </a:p>
        </p:txBody>
      </p:sp>
      <p:sp>
        <p:nvSpPr>
          <p:cNvPr id="8" name="TextBox 7"/>
          <p:cNvSpPr txBox="1"/>
          <p:nvPr/>
        </p:nvSpPr>
        <p:spPr>
          <a:xfrm>
            <a:off x="8572500" y="1638300"/>
            <a:ext cx="1460500" cy="177800"/>
          </a:xfrm>
          <a:prstGeom prst="rect">
            <a:avLst/>
          </a:prstGeom>
          <a:noFill/>
        </p:spPr>
        <p:txBody>
          <a:bodyPr wrap="square" lIns="0" rIns="0" tIns="0" bIns="0">
            <a:spAutoFit/>
          </a:bodyPr>
          <a:lstStyle/>
          <a:p>
            <a:pPr algn="r">
              <a:lnSpc>
                <a:spcPct val="115000"/>
              </a:lnSpc>
            </a:pPr>
            <a:r>
              <a:rPr sz="850" b="1">
                <a:solidFill>
                  <a:srgbClr val="5B7480"/>
                </a:solidFill>
                <a:latin typeface="Inter"/>
              </a:rPr>
              <a:t>Dealsize</a:t>
            </a:r>
          </a:p>
        </p:txBody>
      </p:sp>
      <p:sp>
        <p:nvSpPr>
          <p:cNvPr id="9" name="TextBox 8"/>
          <p:cNvSpPr txBox="1"/>
          <p:nvPr/>
        </p:nvSpPr>
        <p:spPr>
          <a:xfrm>
            <a:off x="10223500" y="1638300"/>
            <a:ext cx="1206500" cy="177800"/>
          </a:xfrm>
          <a:prstGeom prst="rect">
            <a:avLst/>
          </a:prstGeom>
          <a:noFill/>
        </p:spPr>
        <p:txBody>
          <a:bodyPr wrap="square" lIns="0" rIns="0" tIns="0" bIns="0">
            <a:spAutoFit/>
          </a:bodyPr>
          <a:lstStyle/>
          <a:p>
            <a:pPr algn="r">
              <a:lnSpc>
                <a:spcPct val="115000"/>
              </a:lnSpc>
            </a:pPr>
            <a:r>
              <a:rPr sz="850" b="1">
                <a:solidFill>
                  <a:srgbClr val="5B7480"/>
                </a:solidFill>
                <a:latin typeface="Inter"/>
              </a:rPr>
              <a:t>Kans</a:t>
            </a:r>
          </a:p>
        </p:txBody>
      </p:sp>
      <p:sp>
        <p:nvSpPr>
          <p:cNvPr id="10" name="Rectangle 9"/>
          <p:cNvSpPr/>
          <p:nvPr/>
        </p:nvSpPr>
        <p:spPr>
          <a:xfrm>
            <a:off x="762000" y="1816100"/>
            <a:ext cx="106680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18923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UTI</a:t>
            </a:r>
          </a:p>
        </p:txBody>
      </p:sp>
      <p:sp>
        <p:nvSpPr>
          <p:cNvPr id="12" name="TextBox 11"/>
          <p:cNvSpPr txBox="1"/>
          <p:nvPr/>
        </p:nvSpPr>
        <p:spPr>
          <a:xfrm>
            <a:off x="3937000" y="18923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US</a:t>
            </a:r>
          </a:p>
        </p:txBody>
      </p:sp>
      <p:sp>
        <p:nvSpPr>
          <p:cNvPr id="13" name="Rounded Rectangle 12"/>
          <p:cNvSpPr/>
          <p:nvPr/>
        </p:nvSpPr>
        <p:spPr>
          <a:xfrm>
            <a:off x="4508500" y="1885950"/>
            <a:ext cx="622300" cy="139700"/>
          </a:xfrm>
          <a:prstGeom prst="roundRect">
            <a:avLst>
              <a:gd name="adj" fmla="val 27272"/>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500" y="1898650"/>
            <a:ext cx="622300" cy="114300"/>
          </a:xfrm>
          <a:prstGeom prst="rect">
            <a:avLst/>
          </a:prstGeom>
          <a:noFill/>
        </p:spPr>
        <p:txBody>
          <a:bodyPr wrap="square" lIns="0" rIns="0" tIns="0" bIns="0">
            <a:spAutoFit/>
          </a:bodyPr>
          <a:lstStyle/>
          <a:p>
            <a:pPr algn="ctr">
              <a:lnSpc>
                <a:spcPct val="115000"/>
              </a:lnSpc>
            </a:pPr>
            <a:r>
              <a:rPr sz="650" b="1">
                <a:solidFill>
                  <a:srgbClr val="007B54"/>
                </a:solidFill>
                <a:latin typeface="Inter"/>
              </a:rPr>
              <a:t>PRIVAAT</a:t>
            </a:r>
          </a:p>
        </p:txBody>
      </p:sp>
      <p:sp>
        <p:nvSpPr>
          <p:cNvPr id="15" name="Rounded Rectangle 14"/>
          <p:cNvSpPr/>
          <p:nvPr/>
        </p:nvSpPr>
        <p:spPr>
          <a:xfrm>
            <a:off x="5461000" y="18859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61000" y="18986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17" name="TextBox 16"/>
          <p:cNvSpPr txBox="1"/>
          <p:nvPr/>
        </p:nvSpPr>
        <p:spPr>
          <a:xfrm>
            <a:off x="8572500" y="18923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€400.000</a:t>
            </a:r>
          </a:p>
        </p:txBody>
      </p:sp>
      <p:sp>
        <p:nvSpPr>
          <p:cNvPr id="18" name="TextBox 17"/>
          <p:cNvSpPr txBox="1"/>
          <p:nvPr/>
        </p:nvSpPr>
        <p:spPr>
          <a:xfrm>
            <a:off x="10223500" y="18923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50%</a:t>
            </a:r>
          </a:p>
        </p:txBody>
      </p:sp>
      <p:sp>
        <p:nvSpPr>
          <p:cNvPr id="19" name="TextBox 18"/>
          <p:cNvSpPr txBox="1"/>
          <p:nvPr/>
        </p:nvSpPr>
        <p:spPr>
          <a:xfrm>
            <a:off x="762000" y="20574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BPP</a:t>
            </a:r>
          </a:p>
        </p:txBody>
      </p:sp>
      <p:sp>
        <p:nvSpPr>
          <p:cNvPr id="20" name="TextBox 19"/>
          <p:cNvSpPr txBox="1"/>
          <p:nvPr/>
        </p:nvSpPr>
        <p:spPr>
          <a:xfrm>
            <a:off x="3937000" y="20574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UK</a:t>
            </a:r>
          </a:p>
        </p:txBody>
      </p:sp>
      <p:sp>
        <p:nvSpPr>
          <p:cNvPr id="21" name="Rounded Rectangle 20"/>
          <p:cNvSpPr/>
          <p:nvPr/>
        </p:nvSpPr>
        <p:spPr>
          <a:xfrm>
            <a:off x="4508500" y="2051050"/>
            <a:ext cx="622300" cy="139700"/>
          </a:xfrm>
          <a:prstGeom prst="roundRect">
            <a:avLst>
              <a:gd name="adj" fmla="val 27272"/>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8500" y="2063750"/>
            <a:ext cx="622300" cy="114300"/>
          </a:xfrm>
          <a:prstGeom prst="rect">
            <a:avLst/>
          </a:prstGeom>
          <a:noFill/>
        </p:spPr>
        <p:txBody>
          <a:bodyPr wrap="square" lIns="0" rIns="0" tIns="0" bIns="0">
            <a:spAutoFit/>
          </a:bodyPr>
          <a:lstStyle/>
          <a:p>
            <a:pPr algn="ctr">
              <a:lnSpc>
                <a:spcPct val="115000"/>
              </a:lnSpc>
            </a:pPr>
            <a:r>
              <a:rPr sz="650" b="1">
                <a:solidFill>
                  <a:srgbClr val="007B54"/>
                </a:solidFill>
                <a:latin typeface="Inter"/>
              </a:rPr>
              <a:t>PRIVAAT</a:t>
            </a:r>
          </a:p>
        </p:txBody>
      </p:sp>
      <p:sp>
        <p:nvSpPr>
          <p:cNvPr id="23" name="Rounded Rectangle 22"/>
          <p:cNvSpPr/>
          <p:nvPr/>
        </p:nvSpPr>
        <p:spPr>
          <a:xfrm>
            <a:off x="5461000" y="20510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61000" y="20637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25" name="TextBox 24"/>
          <p:cNvSpPr txBox="1"/>
          <p:nvPr/>
        </p:nvSpPr>
        <p:spPr>
          <a:xfrm>
            <a:off x="8572500" y="20574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€400.000</a:t>
            </a:r>
          </a:p>
        </p:txBody>
      </p:sp>
      <p:sp>
        <p:nvSpPr>
          <p:cNvPr id="26" name="TextBox 25"/>
          <p:cNvSpPr txBox="1"/>
          <p:nvPr/>
        </p:nvSpPr>
        <p:spPr>
          <a:xfrm>
            <a:off x="10223500" y="20574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a:t>
            </a:r>
          </a:p>
        </p:txBody>
      </p:sp>
      <p:sp>
        <p:nvSpPr>
          <p:cNvPr id="27" name="TextBox 26"/>
          <p:cNvSpPr txBox="1"/>
          <p:nvPr/>
        </p:nvSpPr>
        <p:spPr>
          <a:xfrm>
            <a:off x="762000" y="22225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Rijksuniversiteit Groningen</a:t>
            </a:r>
          </a:p>
        </p:txBody>
      </p:sp>
      <p:sp>
        <p:nvSpPr>
          <p:cNvPr id="28" name="TextBox 27"/>
          <p:cNvSpPr txBox="1"/>
          <p:nvPr/>
        </p:nvSpPr>
        <p:spPr>
          <a:xfrm>
            <a:off x="3937000" y="22225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29" name="Rounded Rectangle 28"/>
          <p:cNvSpPr/>
          <p:nvPr/>
        </p:nvSpPr>
        <p:spPr>
          <a:xfrm>
            <a:off x="5461000" y="22161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61000" y="22288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31" name="TextBox 30"/>
          <p:cNvSpPr txBox="1"/>
          <p:nvPr/>
        </p:nvSpPr>
        <p:spPr>
          <a:xfrm>
            <a:off x="8572500" y="22225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€300.000</a:t>
            </a:r>
          </a:p>
        </p:txBody>
      </p:sp>
      <p:sp>
        <p:nvSpPr>
          <p:cNvPr id="32" name="TextBox 31"/>
          <p:cNvSpPr txBox="1"/>
          <p:nvPr/>
        </p:nvSpPr>
        <p:spPr>
          <a:xfrm>
            <a:off x="10223500" y="22225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a:t>
            </a:r>
          </a:p>
        </p:txBody>
      </p:sp>
      <p:sp>
        <p:nvSpPr>
          <p:cNvPr id="33" name="TextBox 32"/>
          <p:cNvSpPr txBox="1"/>
          <p:nvPr/>
        </p:nvSpPr>
        <p:spPr>
          <a:xfrm>
            <a:off x="762000" y="23876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UADE</a:t>
            </a:r>
          </a:p>
        </p:txBody>
      </p:sp>
      <p:sp>
        <p:nvSpPr>
          <p:cNvPr id="34" name="TextBox 33"/>
          <p:cNvSpPr txBox="1"/>
          <p:nvPr/>
        </p:nvSpPr>
        <p:spPr>
          <a:xfrm>
            <a:off x="3937000" y="23876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AR</a:t>
            </a:r>
          </a:p>
        </p:txBody>
      </p:sp>
      <p:sp>
        <p:nvSpPr>
          <p:cNvPr id="35" name="Rounded Rectangle 34"/>
          <p:cNvSpPr/>
          <p:nvPr/>
        </p:nvSpPr>
        <p:spPr>
          <a:xfrm>
            <a:off x="4508500" y="2381250"/>
            <a:ext cx="622300" cy="139700"/>
          </a:xfrm>
          <a:prstGeom prst="roundRect">
            <a:avLst>
              <a:gd name="adj" fmla="val 27272"/>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08500" y="2393950"/>
            <a:ext cx="622300" cy="114300"/>
          </a:xfrm>
          <a:prstGeom prst="rect">
            <a:avLst/>
          </a:prstGeom>
          <a:noFill/>
        </p:spPr>
        <p:txBody>
          <a:bodyPr wrap="square" lIns="0" rIns="0" tIns="0" bIns="0">
            <a:spAutoFit/>
          </a:bodyPr>
          <a:lstStyle/>
          <a:p>
            <a:pPr algn="ctr">
              <a:lnSpc>
                <a:spcPct val="115000"/>
              </a:lnSpc>
            </a:pPr>
            <a:r>
              <a:rPr sz="650" b="1">
                <a:solidFill>
                  <a:srgbClr val="007B54"/>
                </a:solidFill>
                <a:latin typeface="Inter"/>
              </a:rPr>
              <a:t>PRIVAAT</a:t>
            </a:r>
          </a:p>
        </p:txBody>
      </p:sp>
      <p:sp>
        <p:nvSpPr>
          <p:cNvPr id="37" name="Rounded Rectangle 36"/>
          <p:cNvSpPr/>
          <p:nvPr/>
        </p:nvSpPr>
        <p:spPr>
          <a:xfrm>
            <a:off x="5461000" y="23812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61000" y="23939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39" name="TextBox 38"/>
          <p:cNvSpPr txBox="1"/>
          <p:nvPr/>
        </p:nvSpPr>
        <p:spPr>
          <a:xfrm>
            <a:off x="8572500" y="23876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€250.000</a:t>
            </a:r>
          </a:p>
        </p:txBody>
      </p:sp>
      <p:sp>
        <p:nvSpPr>
          <p:cNvPr id="40" name="TextBox 39"/>
          <p:cNvSpPr txBox="1"/>
          <p:nvPr/>
        </p:nvSpPr>
        <p:spPr>
          <a:xfrm>
            <a:off x="10223500" y="23876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a:t>
            </a:r>
          </a:p>
        </p:txBody>
      </p:sp>
      <p:sp>
        <p:nvSpPr>
          <p:cNvPr id="41" name="TextBox 40"/>
          <p:cNvSpPr txBox="1"/>
          <p:nvPr/>
        </p:nvSpPr>
        <p:spPr>
          <a:xfrm>
            <a:off x="762000" y="25527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Windesheim</a:t>
            </a:r>
          </a:p>
        </p:txBody>
      </p:sp>
      <p:sp>
        <p:nvSpPr>
          <p:cNvPr id="42" name="TextBox 41"/>
          <p:cNvSpPr txBox="1"/>
          <p:nvPr/>
        </p:nvSpPr>
        <p:spPr>
          <a:xfrm>
            <a:off x="3937000" y="25527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43" name="Rounded Rectangle 42"/>
          <p:cNvSpPr/>
          <p:nvPr/>
        </p:nvSpPr>
        <p:spPr>
          <a:xfrm>
            <a:off x="5461000" y="25463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61000" y="25590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45" name="TextBox 44"/>
          <p:cNvSpPr txBox="1"/>
          <p:nvPr/>
        </p:nvSpPr>
        <p:spPr>
          <a:xfrm>
            <a:off x="8572500" y="25527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€200.000</a:t>
            </a:r>
          </a:p>
        </p:txBody>
      </p:sp>
      <p:sp>
        <p:nvSpPr>
          <p:cNvPr id="46" name="TextBox 45"/>
          <p:cNvSpPr txBox="1"/>
          <p:nvPr/>
        </p:nvSpPr>
        <p:spPr>
          <a:xfrm>
            <a:off x="10223500" y="25527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a:t>
            </a:r>
          </a:p>
        </p:txBody>
      </p:sp>
      <p:sp>
        <p:nvSpPr>
          <p:cNvPr id="47" name="TextBox 46"/>
          <p:cNvSpPr txBox="1"/>
          <p:nvPr/>
        </p:nvSpPr>
        <p:spPr>
          <a:xfrm>
            <a:off x="762000" y="27178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Bristol University</a:t>
            </a:r>
          </a:p>
        </p:txBody>
      </p:sp>
      <p:sp>
        <p:nvSpPr>
          <p:cNvPr id="48" name="TextBox 47"/>
          <p:cNvSpPr txBox="1"/>
          <p:nvPr/>
        </p:nvSpPr>
        <p:spPr>
          <a:xfrm>
            <a:off x="3937000" y="27178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UK</a:t>
            </a:r>
          </a:p>
        </p:txBody>
      </p:sp>
      <p:sp>
        <p:nvSpPr>
          <p:cNvPr id="49" name="Rounded Rectangle 48"/>
          <p:cNvSpPr/>
          <p:nvPr/>
        </p:nvSpPr>
        <p:spPr>
          <a:xfrm>
            <a:off x="5461000" y="27114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61000" y="27241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51" name="TextBox 50"/>
          <p:cNvSpPr txBox="1"/>
          <p:nvPr/>
        </p:nvSpPr>
        <p:spPr>
          <a:xfrm>
            <a:off x="8572500" y="27178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€200.000</a:t>
            </a:r>
          </a:p>
        </p:txBody>
      </p:sp>
      <p:sp>
        <p:nvSpPr>
          <p:cNvPr id="52" name="TextBox 51"/>
          <p:cNvSpPr txBox="1"/>
          <p:nvPr/>
        </p:nvSpPr>
        <p:spPr>
          <a:xfrm>
            <a:off x="10223500" y="27178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a:t>
            </a:r>
          </a:p>
        </p:txBody>
      </p:sp>
      <p:sp>
        <p:nvSpPr>
          <p:cNvPr id="53" name="TextBox 52"/>
          <p:cNvSpPr txBox="1"/>
          <p:nvPr/>
        </p:nvSpPr>
        <p:spPr>
          <a:xfrm>
            <a:off x="762000" y="28829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Concorde Career College</a:t>
            </a:r>
          </a:p>
        </p:txBody>
      </p:sp>
      <p:sp>
        <p:nvSpPr>
          <p:cNvPr id="54" name="TextBox 53"/>
          <p:cNvSpPr txBox="1"/>
          <p:nvPr/>
        </p:nvSpPr>
        <p:spPr>
          <a:xfrm>
            <a:off x="3937000" y="28829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US</a:t>
            </a:r>
          </a:p>
        </p:txBody>
      </p:sp>
      <p:sp>
        <p:nvSpPr>
          <p:cNvPr id="55" name="Rounded Rectangle 54"/>
          <p:cNvSpPr/>
          <p:nvPr/>
        </p:nvSpPr>
        <p:spPr>
          <a:xfrm>
            <a:off x="4508500" y="2876550"/>
            <a:ext cx="622300" cy="139700"/>
          </a:xfrm>
          <a:prstGeom prst="roundRect">
            <a:avLst>
              <a:gd name="adj" fmla="val 27272"/>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08500" y="2889250"/>
            <a:ext cx="622300" cy="114300"/>
          </a:xfrm>
          <a:prstGeom prst="rect">
            <a:avLst/>
          </a:prstGeom>
          <a:noFill/>
        </p:spPr>
        <p:txBody>
          <a:bodyPr wrap="square" lIns="0" rIns="0" tIns="0" bIns="0">
            <a:spAutoFit/>
          </a:bodyPr>
          <a:lstStyle/>
          <a:p>
            <a:pPr algn="ctr">
              <a:lnSpc>
                <a:spcPct val="115000"/>
              </a:lnSpc>
            </a:pPr>
            <a:r>
              <a:rPr sz="650" b="1">
                <a:solidFill>
                  <a:srgbClr val="007B54"/>
                </a:solidFill>
                <a:latin typeface="Inter"/>
              </a:rPr>
              <a:t>PRIVAAT</a:t>
            </a:r>
          </a:p>
        </p:txBody>
      </p:sp>
      <p:sp>
        <p:nvSpPr>
          <p:cNvPr id="57" name="Rounded Rectangle 56"/>
          <p:cNvSpPr/>
          <p:nvPr/>
        </p:nvSpPr>
        <p:spPr>
          <a:xfrm>
            <a:off x="5461000" y="28765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61000" y="28892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59" name="TextBox 58"/>
          <p:cNvSpPr txBox="1"/>
          <p:nvPr/>
        </p:nvSpPr>
        <p:spPr>
          <a:xfrm>
            <a:off x="8572500" y="28829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€200.000</a:t>
            </a:r>
          </a:p>
        </p:txBody>
      </p:sp>
      <p:sp>
        <p:nvSpPr>
          <p:cNvPr id="60" name="TextBox 59"/>
          <p:cNvSpPr txBox="1"/>
          <p:nvPr/>
        </p:nvSpPr>
        <p:spPr>
          <a:xfrm>
            <a:off x="10223500" y="28829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15%</a:t>
            </a:r>
          </a:p>
        </p:txBody>
      </p:sp>
      <p:sp>
        <p:nvSpPr>
          <p:cNvPr id="61" name="TextBox 60"/>
          <p:cNvSpPr txBox="1"/>
          <p:nvPr/>
        </p:nvSpPr>
        <p:spPr>
          <a:xfrm>
            <a:off x="762000" y="30480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Goldsmiths</a:t>
            </a:r>
          </a:p>
        </p:txBody>
      </p:sp>
      <p:sp>
        <p:nvSpPr>
          <p:cNvPr id="62" name="TextBox 61"/>
          <p:cNvSpPr txBox="1"/>
          <p:nvPr/>
        </p:nvSpPr>
        <p:spPr>
          <a:xfrm>
            <a:off x="3937000" y="30480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UK</a:t>
            </a:r>
          </a:p>
        </p:txBody>
      </p:sp>
      <p:sp>
        <p:nvSpPr>
          <p:cNvPr id="63" name="Rounded Rectangle 62"/>
          <p:cNvSpPr/>
          <p:nvPr/>
        </p:nvSpPr>
        <p:spPr>
          <a:xfrm>
            <a:off x="5461000" y="30416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461000" y="30543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65" name="TextBox 64"/>
          <p:cNvSpPr txBox="1"/>
          <p:nvPr/>
        </p:nvSpPr>
        <p:spPr>
          <a:xfrm>
            <a:off x="8572500" y="30480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€60.000</a:t>
            </a:r>
          </a:p>
        </p:txBody>
      </p:sp>
      <p:sp>
        <p:nvSpPr>
          <p:cNvPr id="66" name="TextBox 65"/>
          <p:cNvSpPr txBox="1"/>
          <p:nvPr/>
        </p:nvSpPr>
        <p:spPr>
          <a:xfrm>
            <a:off x="10223500" y="30480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30%</a:t>
            </a:r>
          </a:p>
        </p:txBody>
      </p:sp>
      <p:sp>
        <p:nvSpPr>
          <p:cNvPr id="67" name="TextBox 66"/>
          <p:cNvSpPr txBox="1"/>
          <p:nvPr/>
        </p:nvSpPr>
        <p:spPr>
          <a:xfrm>
            <a:off x="762000" y="32131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Haagse Hogeschool</a:t>
            </a:r>
          </a:p>
        </p:txBody>
      </p:sp>
      <p:sp>
        <p:nvSpPr>
          <p:cNvPr id="68" name="TextBox 67"/>
          <p:cNvSpPr txBox="1"/>
          <p:nvPr/>
        </p:nvSpPr>
        <p:spPr>
          <a:xfrm>
            <a:off x="3937000" y="32131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69" name="TextBox 68"/>
          <p:cNvSpPr txBox="1"/>
          <p:nvPr/>
        </p:nvSpPr>
        <p:spPr>
          <a:xfrm>
            <a:off x="8572500" y="32131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€20.000</a:t>
            </a:r>
          </a:p>
        </p:txBody>
      </p:sp>
      <p:sp>
        <p:nvSpPr>
          <p:cNvPr id="70" name="TextBox 69"/>
          <p:cNvSpPr txBox="1"/>
          <p:nvPr/>
        </p:nvSpPr>
        <p:spPr>
          <a:xfrm>
            <a:off x="10223500" y="32131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50%</a:t>
            </a:r>
          </a:p>
        </p:txBody>
      </p:sp>
      <p:sp>
        <p:nvSpPr>
          <p:cNvPr id="71" name="TextBox 70"/>
          <p:cNvSpPr txBox="1"/>
          <p:nvPr/>
        </p:nvSpPr>
        <p:spPr>
          <a:xfrm>
            <a:off x="762000" y="33782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Breederode Hogeschool</a:t>
            </a:r>
          </a:p>
        </p:txBody>
      </p:sp>
      <p:sp>
        <p:nvSpPr>
          <p:cNvPr id="72" name="TextBox 71"/>
          <p:cNvSpPr txBox="1"/>
          <p:nvPr/>
        </p:nvSpPr>
        <p:spPr>
          <a:xfrm>
            <a:off x="3937000" y="33782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73" name="Rounded Rectangle 72"/>
          <p:cNvSpPr/>
          <p:nvPr/>
        </p:nvSpPr>
        <p:spPr>
          <a:xfrm>
            <a:off x="4508500" y="3371850"/>
            <a:ext cx="622300" cy="139700"/>
          </a:xfrm>
          <a:prstGeom prst="roundRect">
            <a:avLst>
              <a:gd name="adj" fmla="val 27272"/>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08500" y="3384550"/>
            <a:ext cx="622300" cy="114300"/>
          </a:xfrm>
          <a:prstGeom prst="rect">
            <a:avLst/>
          </a:prstGeom>
          <a:noFill/>
        </p:spPr>
        <p:txBody>
          <a:bodyPr wrap="square" lIns="0" rIns="0" tIns="0" bIns="0">
            <a:spAutoFit/>
          </a:bodyPr>
          <a:lstStyle/>
          <a:p>
            <a:pPr algn="ctr">
              <a:lnSpc>
                <a:spcPct val="115000"/>
              </a:lnSpc>
            </a:pPr>
            <a:r>
              <a:rPr sz="650" b="1">
                <a:solidFill>
                  <a:srgbClr val="007B54"/>
                </a:solidFill>
                <a:latin typeface="Inter"/>
              </a:rPr>
              <a:t>PRIVAAT</a:t>
            </a:r>
          </a:p>
        </p:txBody>
      </p:sp>
      <p:sp>
        <p:nvSpPr>
          <p:cNvPr id="75" name="Rounded Rectangle 74"/>
          <p:cNvSpPr/>
          <p:nvPr/>
        </p:nvSpPr>
        <p:spPr>
          <a:xfrm>
            <a:off x="5461000" y="33718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61000" y="33845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77" name="TextBox 76"/>
          <p:cNvSpPr txBox="1"/>
          <p:nvPr/>
        </p:nvSpPr>
        <p:spPr>
          <a:xfrm>
            <a:off x="8572500" y="33782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€20.000</a:t>
            </a:r>
          </a:p>
        </p:txBody>
      </p:sp>
      <p:sp>
        <p:nvSpPr>
          <p:cNvPr id="78" name="TextBox 77"/>
          <p:cNvSpPr txBox="1"/>
          <p:nvPr/>
        </p:nvSpPr>
        <p:spPr>
          <a:xfrm>
            <a:off x="10223500" y="33782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70%</a:t>
            </a:r>
          </a:p>
        </p:txBody>
      </p:sp>
      <p:sp>
        <p:nvSpPr>
          <p:cNvPr id="79" name="TextBox 78"/>
          <p:cNvSpPr txBox="1"/>
          <p:nvPr/>
        </p:nvSpPr>
        <p:spPr>
          <a:xfrm>
            <a:off x="762000" y="35433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Tilburg University</a:t>
            </a:r>
          </a:p>
        </p:txBody>
      </p:sp>
      <p:sp>
        <p:nvSpPr>
          <p:cNvPr id="80" name="TextBox 79"/>
          <p:cNvSpPr txBox="1"/>
          <p:nvPr/>
        </p:nvSpPr>
        <p:spPr>
          <a:xfrm>
            <a:off x="3937000" y="35433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81" name="TextBox 80"/>
          <p:cNvSpPr txBox="1"/>
          <p:nvPr/>
        </p:nvSpPr>
        <p:spPr>
          <a:xfrm>
            <a:off x="8572500" y="35433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€20.000</a:t>
            </a:r>
          </a:p>
        </p:txBody>
      </p:sp>
      <p:sp>
        <p:nvSpPr>
          <p:cNvPr id="82" name="TextBox 81"/>
          <p:cNvSpPr txBox="1"/>
          <p:nvPr/>
        </p:nvSpPr>
        <p:spPr>
          <a:xfrm>
            <a:off x="10223500" y="35433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15%</a:t>
            </a:r>
          </a:p>
        </p:txBody>
      </p:sp>
      <p:sp>
        <p:nvSpPr>
          <p:cNvPr id="83" name="TextBox 82"/>
          <p:cNvSpPr txBox="1"/>
          <p:nvPr/>
        </p:nvSpPr>
        <p:spPr>
          <a:xfrm>
            <a:off x="762000" y="37084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UMCG</a:t>
            </a:r>
          </a:p>
        </p:txBody>
      </p:sp>
      <p:sp>
        <p:nvSpPr>
          <p:cNvPr id="84" name="TextBox 83"/>
          <p:cNvSpPr txBox="1"/>
          <p:nvPr/>
        </p:nvSpPr>
        <p:spPr>
          <a:xfrm>
            <a:off x="3937000" y="37084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85" name="TextBox 84"/>
          <p:cNvSpPr txBox="1"/>
          <p:nvPr/>
        </p:nvSpPr>
        <p:spPr>
          <a:xfrm>
            <a:off x="8572500" y="37084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€15.000</a:t>
            </a:r>
          </a:p>
        </p:txBody>
      </p:sp>
      <p:sp>
        <p:nvSpPr>
          <p:cNvPr id="86" name="TextBox 85"/>
          <p:cNvSpPr txBox="1"/>
          <p:nvPr/>
        </p:nvSpPr>
        <p:spPr>
          <a:xfrm>
            <a:off x="10223500" y="37084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50%</a:t>
            </a:r>
          </a:p>
        </p:txBody>
      </p:sp>
      <p:sp>
        <p:nvSpPr>
          <p:cNvPr id="87" name="TextBox 86"/>
          <p:cNvSpPr txBox="1"/>
          <p:nvPr/>
        </p:nvSpPr>
        <p:spPr>
          <a:xfrm>
            <a:off x="762000" y="38735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Radboud Universiteit</a:t>
            </a:r>
          </a:p>
        </p:txBody>
      </p:sp>
      <p:sp>
        <p:nvSpPr>
          <p:cNvPr id="88" name="TextBox 87"/>
          <p:cNvSpPr txBox="1"/>
          <p:nvPr/>
        </p:nvSpPr>
        <p:spPr>
          <a:xfrm>
            <a:off x="3937000" y="38735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89" name="TextBox 88"/>
          <p:cNvSpPr txBox="1"/>
          <p:nvPr/>
        </p:nvSpPr>
        <p:spPr>
          <a:xfrm>
            <a:off x="8572500" y="38735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€15.000</a:t>
            </a:r>
          </a:p>
        </p:txBody>
      </p:sp>
      <p:sp>
        <p:nvSpPr>
          <p:cNvPr id="90" name="TextBox 89"/>
          <p:cNvSpPr txBox="1"/>
          <p:nvPr/>
        </p:nvSpPr>
        <p:spPr>
          <a:xfrm>
            <a:off x="10223500" y="38735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15%</a:t>
            </a:r>
          </a:p>
        </p:txBody>
      </p:sp>
      <p:sp>
        <p:nvSpPr>
          <p:cNvPr id="91" name="TextBox 90"/>
          <p:cNvSpPr txBox="1"/>
          <p:nvPr/>
        </p:nvSpPr>
        <p:spPr>
          <a:xfrm>
            <a:off x="762000" y="40386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Hogeschool Rotterdam</a:t>
            </a:r>
          </a:p>
        </p:txBody>
      </p:sp>
      <p:sp>
        <p:nvSpPr>
          <p:cNvPr id="92" name="TextBox 91"/>
          <p:cNvSpPr txBox="1"/>
          <p:nvPr/>
        </p:nvSpPr>
        <p:spPr>
          <a:xfrm>
            <a:off x="3937000" y="40386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93" name="TextBox 92"/>
          <p:cNvSpPr txBox="1"/>
          <p:nvPr/>
        </p:nvSpPr>
        <p:spPr>
          <a:xfrm>
            <a:off x="8572500" y="40386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€10.000</a:t>
            </a:r>
          </a:p>
        </p:txBody>
      </p:sp>
      <p:sp>
        <p:nvSpPr>
          <p:cNvPr id="94" name="TextBox 93"/>
          <p:cNvSpPr txBox="1"/>
          <p:nvPr/>
        </p:nvSpPr>
        <p:spPr>
          <a:xfrm>
            <a:off x="10223500" y="40386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85%</a:t>
            </a:r>
          </a:p>
        </p:txBody>
      </p:sp>
      <p:sp>
        <p:nvSpPr>
          <p:cNvPr id="95" name="TextBox 94"/>
          <p:cNvSpPr txBox="1"/>
          <p:nvPr/>
        </p:nvSpPr>
        <p:spPr>
          <a:xfrm>
            <a:off x="762000" y="42037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Notenboom</a:t>
            </a:r>
          </a:p>
        </p:txBody>
      </p:sp>
      <p:sp>
        <p:nvSpPr>
          <p:cNvPr id="96" name="TextBox 95"/>
          <p:cNvSpPr txBox="1"/>
          <p:nvPr/>
        </p:nvSpPr>
        <p:spPr>
          <a:xfrm>
            <a:off x="3937000" y="42037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97" name="Rounded Rectangle 96"/>
          <p:cNvSpPr/>
          <p:nvPr/>
        </p:nvSpPr>
        <p:spPr>
          <a:xfrm>
            <a:off x="4508500" y="4197350"/>
            <a:ext cx="622300" cy="139700"/>
          </a:xfrm>
          <a:prstGeom prst="roundRect">
            <a:avLst>
              <a:gd name="adj" fmla="val 27272"/>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08500" y="4210050"/>
            <a:ext cx="622300" cy="114300"/>
          </a:xfrm>
          <a:prstGeom prst="rect">
            <a:avLst/>
          </a:prstGeom>
          <a:noFill/>
        </p:spPr>
        <p:txBody>
          <a:bodyPr wrap="square" lIns="0" rIns="0" tIns="0" bIns="0">
            <a:spAutoFit/>
          </a:bodyPr>
          <a:lstStyle/>
          <a:p>
            <a:pPr algn="ctr">
              <a:lnSpc>
                <a:spcPct val="115000"/>
              </a:lnSpc>
            </a:pPr>
            <a:r>
              <a:rPr sz="650" b="1">
                <a:solidFill>
                  <a:srgbClr val="007B54"/>
                </a:solidFill>
                <a:latin typeface="Inter"/>
              </a:rPr>
              <a:t>PRIVAAT</a:t>
            </a:r>
          </a:p>
        </p:txBody>
      </p:sp>
      <p:sp>
        <p:nvSpPr>
          <p:cNvPr id="99" name="Rounded Rectangle 98"/>
          <p:cNvSpPr/>
          <p:nvPr/>
        </p:nvSpPr>
        <p:spPr>
          <a:xfrm>
            <a:off x="5461000" y="41973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461000" y="42100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101" name="TextBox 100"/>
          <p:cNvSpPr txBox="1"/>
          <p:nvPr/>
        </p:nvSpPr>
        <p:spPr>
          <a:xfrm>
            <a:off x="8572500" y="42037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€10.000</a:t>
            </a:r>
          </a:p>
        </p:txBody>
      </p:sp>
      <p:sp>
        <p:nvSpPr>
          <p:cNvPr id="102" name="TextBox 101"/>
          <p:cNvSpPr txBox="1"/>
          <p:nvPr/>
        </p:nvSpPr>
        <p:spPr>
          <a:xfrm>
            <a:off x="10223500" y="42037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20%</a:t>
            </a:r>
          </a:p>
        </p:txBody>
      </p:sp>
      <p:sp>
        <p:nvSpPr>
          <p:cNvPr id="103" name="TextBox 102"/>
          <p:cNvSpPr txBox="1"/>
          <p:nvPr/>
        </p:nvSpPr>
        <p:spPr>
          <a:xfrm>
            <a:off x="762000" y="43688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CMI</a:t>
            </a:r>
          </a:p>
        </p:txBody>
      </p:sp>
      <p:sp>
        <p:nvSpPr>
          <p:cNvPr id="104" name="TextBox 103"/>
          <p:cNvSpPr txBox="1"/>
          <p:nvPr/>
        </p:nvSpPr>
        <p:spPr>
          <a:xfrm>
            <a:off x="3937000" y="43688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IE</a:t>
            </a:r>
          </a:p>
        </p:txBody>
      </p:sp>
      <p:sp>
        <p:nvSpPr>
          <p:cNvPr id="105" name="Rounded Rectangle 104"/>
          <p:cNvSpPr/>
          <p:nvPr/>
        </p:nvSpPr>
        <p:spPr>
          <a:xfrm>
            <a:off x="4508500" y="4362450"/>
            <a:ext cx="622300" cy="139700"/>
          </a:xfrm>
          <a:prstGeom prst="roundRect">
            <a:avLst>
              <a:gd name="adj" fmla="val 27272"/>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508500" y="4375150"/>
            <a:ext cx="622300" cy="114300"/>
          </a:xfrm>
          <a:prstGeom prst="rect">
            <a:avLst/>
          </a:prstGeom>
          <a:noFill/>
        </p:spPr>
        <p:txBody>
          <a:bodyPr wrap="square" lIns="0" rIns="0" tIns="0" bIns="0">
            <a:spAutoFit/>
          </a:bodyPr>
          <a:lstStyle/>
          <a:p>
            <a:pPr algn="ctr">
              <a:lnSpc>
                <a:spcPct val="115000"/>
              </a:lnSpc>
            </a:pPr>
            <a:r>
              <a:rPr sz="650" b="1">
                <a:solidFill>
                  <a:srgbClr val="007B54"/>
                </a:solidFill>
                <a:latin typeface="Inter"/>
              </a:rPr>
              <a:t>PRIVAAT</a:t>
            </a:r>
          </a:p>
        </p:txBody>
      </p:sp>
      <p:sp>
        <p:nvSpPr>
          <p:cNvPr id="107" name="Rounded Rectangle 106"/>
          <p:cNvSpPr/>
          <p:nvPr/>
        </p:nvSpPr>
        <p:spPr>
          <a:xfrm>
            <a:off x="5461000" y="43624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461000" y="43751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109" name="TextBox 108"/>
          <p:cNvSpPr txBox="1"/>
          <p:nvPr/>
        </p:nvSpPr>
        <p:spPr>
          <a:xfrm>
            <a:off x="8572500" y="43688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€10.000</a:t>
            </a:r>
          </a:p>
        </p:txBody>
      </p:sp>
      <p:sp>
        <p:nvSpPr>
          <p:cNvPr id="110" name="TextBox 109"/>
          <p:cNvSpPr txBox="1"/>
          <p:nvPr/>
        </p:nvSpPr>
        <p:spPr>
          <a:xfrm>
            <a:off x="10223500" y="43688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a:t>
            </a:r>
          </a:p>
        </p:txBody>
      </p:sp>
      <p:sp>
        <p:nvSpPr>
          <p:cNvPr id="111" name="TextBox 110"/>
          <p:cNvSpPr txBox="1"/>
          <p:nvPr/>
        </p:nvSpPr>
        <p:spPr>
          <a:xfrm>
            <a:off x="762000" y="45339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HBMSU</a:t>
            </a:r>
          </a:p>
        </p:txBody>
      </p:sp>
      <p:sp>
        <p:nvSpPr>
          <p:cNvPr id="112" name="TextBox 111"/>
          <p:cNvSpPr txBox="1"/>
          <p:nvPr/>
        </p:nvSpPr>
        <p:spPr>
          <a:xfrm>
            <a:off x="3937000" y="45339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AE</a:t>
            </a:r>
          </a:p>
        </p:txBody>
      </p:sp>
      <p:sp>
        <p:nvSpPr>
          <p:cNvPr id="113" name="TextBox 112"/>
          <p:cNvSpPr txBox="1"/>
          <p:nvPr/>
        </p:nvSpPr>
        <p:spPr>
          <a:xfrm>
            <a:off x="4508500" y="4533900"/>
            <a:ext cx="825500" cy="152400"/>
          </a:xfrm>
          <a:prstGeom prst="rect">
            <a:avLst/>
          </a:prstGeom>
          <a:noFill/>
        </p:spPr>
        <p:txBody>
          <a:bodyPr wrap="square" lIns="0" rIns="0" tIns="0" bIns="0">
            <a:spAutoFit/>
          </a:bodyPr>
          <a:lstStyle/>
          <a:p>
            <a:pPr algn="l">
              <a:lnSpc>
                <a:spcPct val="115000"/>
              </a:lnSpc>
            </a:pPr>
            <a:r>
              <a:rPr sz="800" b="0">
                <a:solidFill>
                  <a:srgbClr val="5B7480"/>
                </a:solidFill>
                <a:latin typeface="Inter"/>
              </a:rPr>
              <a:t>quasi-publiek</a:t>
            </a:r>
          </a:p>
        </p:txBody>
      </p:sp>
      <p:sp>
        <p:nvSpPr>
          <p:cNvPr id="114" name="Rounded Rectangle 113"/>
          <p:cNvSpPr/>
          <p:nvPr/>
        </p:nvSpPr>
        <p:spPr>
          <a:xfrm>
            <a:off x="5461000" y="45275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461000" y="45402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116" name="TextBox 115"/>
          <p:cNvSpPr txBox="1"/>
          <p:nvPr/>
        </p:nvSpPr>
        <p:spPr>
          <a:xfrm>
            <a:off x="8572500" y="45339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€10.000</a:t>
            </a:r>
          </a:p>
        </p:txBody>
      </p:sp>
      <p:sp>
        <p:nvSpPr>
          <p:cNvPr id="117" name="TextBox 116"/>
          <p:cNvSpPr txBox="1"/>
          <p:nvPr/>
        </p:nvSpPr>
        <p:spPr>
          <a:xfrm>
            <a:off x="10223500" y="45339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a:t>
            </a:r>
          </a:p>
        </p:txBody>
      </p:sp>
      <p:sp>
        <p:nvSpPr>
          <p:cNvPr id="118" name="TextBox 117"/>
          <p:cNvSpPr txBox="1"/>
          <p:nvPr/>
        </p:nvSpPr>
        <p:spPr>
          <a:xfrm>
            <a:off x="762000" y="46990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Noordhoff</a:t>
            </a:r>
          </a:p>
        </p:txBody>
      </p:sp>
      <p:sp>
        <p:nvSpPr>
          <p:cNvPr id="119" name="TextBox 118"/>
          <p:cNvSpPr txBox="1"/>
          <p:nvPr/>
        </p:nvSpPr>
        <p:spPr>
          <a:xfrm>
            <a:off x="3937000" y="46990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a:t>
            </a:r>
          </a:p>
        </p:txBody>
      </p:sp>
      <p:sp>
        <p:nvSpPr>
          <p:cNvPr id="120" name="TextBox 119"/>
          <p:cNvSpPr txBox="1"/>
          <p:nvPr/>
        </p:nvSpPr>
        <p:spPr>
          <a:xfrm>
            <a:off x="4508500" y="4699000"/>
            <a:ext cx="825500" cy="152400"/>
          </a:xfrm>
          <a:prstGeom prst="rect">
            <a:avLst/>
          </a:prstGeom>
          <a:noFill/>
        </p:spPr>
        <p:txBody>
          <a:bodyPr wrap="square" lIns="0" rIns="0" tIns="0" bIns="0">
            <a:spAutoFit/>
          </a:bodyPr>
          <a:lstStyle/>
          <a:p>
            <a:pPr algn="l">
              <a:lnSpc>
                <a:spcPct val="115000"/>
              </a:lnSpc>
            </a:pPr>
            <a:r>
              <a:rPr sz="800" b="0">
                <a:solidFill>
                  <a:srgbClr val="5B7480"/>
                </a:solidFill>
                <a:latin typeface="Inter"/>
              </a:rPr>
              <a:t>uitgever</a:t>
            </a:r>
          </a:p>
        </p:txBody>
      </p:sp>
      <p:sp>
        <p:nvSpPr>
          <p:cNvPr id="121" name="Rounded Rectangle 120"/>
          <p:cNvSpPr/>
          <p:nvPr/>
        </p:nvSpPr>
        <p:spPr>
          <a:xfrm>
            <a:off x="5461000" y="46926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461000" y="47053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123" name="TextBox 122"/>
          <p:cNvSpPr txBox="1"/>
          <p:nvPr/>
        </p:nvSpPr>
        <p:spPr>
          <a:xfrm>
            <a:off x="8572500" y="46990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€10.000</a:t>
            </a:r>
          </a:p>
        </p:txBody>
      </p:sp>
      <p:sp>
        <p:nvSpPr>
          <p:cNvPr id="124" name="TextBox 123"/>
          <p:cNvSpPr txBox="1"/>
          <p:nvPr/>
        </p:nvSpPr>
        <p:spPr>
          <a:xfrm>
            <a:off x="10223500" y="46990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a:t>
            </a:r>
          </a:p>
        </p:txBody>
      </p:sp>
      <p:sp>
        <p:nvSpPr>
          <p:cNvPr id="125" name="TextBox 124"/>
          <p:cNvSpPr txBox="1"/>
          <p:nvPr/>
        </p:nvSpPr>
        <p:spPr>
          <a:xfrm>
            <a:off x="762000" y="4864100"/>
            <a:ext cx="3048000" cy="152400"/>
          </a:xfrm>
          <a:prstGeom prst="rect">
            <a:avLst/>
          </a:prstGeom>
          <a:noFill/>
        </p:spPr>
        <p:txBody>
          <a:bodyPr wrap="square" lIns="0" rIns="0" tIns="0" bIns="0">
            <a:spAutoFit/>
          </a:bodyPr>
          <a:lstStyle/>
          <a:p>
            <a:pPr algn="l">
              <a:lnSpc>
                <a:spcPct val="115000"/>
              </a:lnSpc>
            </a:pPr>
            <a:r>
              <a:rPr sz="950" b="0">
                <a:solidFill>
                  <a:srgbClr val="002333"/>
                </a:solidFill>
                <a:latin typeface="Inter"/>
              </a:rPr>
              <a:t>Academica</a:t>
            </a:r>
          </a:p>
        </p:txBody>
      </p:sp>
      <p:sp>
        <p:nvSpPr>
          <p:cNvPr id="126" name="TextBox 125"/>
          <p:cNvSpPr txBox="1"/>
          <p:nvPr/>
        </p:nvSpPr>
        <p:spPr>
          <a:xfrm>
            <a:off x="3937000" y="4864100"/>
            <a:ext cx="444500" cy="152400"/>
          </a:xfrm>
          <a:prstGeom prst="rect">
            <a:avLst/>
          </a:prstGeom>
          <a:noFill/>
        </p:spPr>
        <p:txBody>
          <a:bodyPr wrap="square" lIns="0" rIns="0" tIns="0" bIns="0">
            <a:spAutoFit/>
          </a:bodyPr>
          <a:lstStyle/>
          <a:p>
            <a:pPr algn="l">
              <a:lnSpc>
                <a:spcPct val="115000"/>
              </a:lnSpc>
            </a:pPr>
            <a:r>
              <a:rPr sz="950" b="0">
                <a:solidFill>
                  <a:srgbClr val="5B7480"/>
                </a:solidFill>
                <a:latin typeface="Inter"/>
              </a:rPr>
              <a:t>NL</a:t>
            </a:r>
          </a:p>
        </p:txBody>
      </p:sp>
      <p:sp>
        <p:nvSpPr>
          <p:cNvPr id="127" name="Rounded Rectangle 126"/>
          <p:cNvSpPr/>
          <p:nvPr/>
        </p:nvSpPr>
        <p:spPr>
          <a:xfrm>
            <a:off x="4508500" y="4857750"/>
            <a:ext cx="622300" cy="139700"/>
          </a:xfrm>
          <a:prstGeom prst="roundRect">
            <a:avLst>
              <a:gd name="adj" fmla="val 27272"/>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508500" y="4870450"/>
            <a:ext cx="622300" cy="114300"/>
          </a:xfrm>
          <a:prstGeom prst="rect">
            <a:avLst/>
          </a:prstGeom>
          <a:noFill/>
        </p:spPr>
        <p:txBody>
          <a:bodyPr wrap="square" lIns="0" rIns="0" tIns="0" bIns="0">
            <a:spAutoFit/>
          </a:bodyPr>
          <a:lstStyle/>
          <a:p>
            <a:pPr algn="ctr">
              <a:lnSpc>
                <a:spcPct val="115000"/>
              </a:lnSpc>
            </a:pPr>
            <a:r>
              <a:rPr sz="650" b="1">
                <a:solidFill>
                  <a:srgbClr val="007B54"/>
                </a:solidFill>
                <a:latin typeface="Inter"/>
              </a:rPr>
              <a:t>PRIVAAT</a:t>
            </a:r>
          </a:p>
        </p:txBody>
      </p:sp>
      <p:sp>
        <p:nvSpPr>
          <p:cNvPr id="129" name="Rounded Rectangle 128"/>
          <p:cNvSpPr/>
          <p:nvPr/>
        </p:nvSpPr>
        <p:spPr>
          <a:xfrm>
            <a:off x="5461000" y="4857750"/>
            <a:ext cx="330200" cy="139700"/>
          </a:xfrm>
          <a:prstGeom prst="roundRect">
            <a:avLst>
              <a:gd name="adj" fmla="val 27272"/>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461000" y="4870450"/>
            <a:ext cx="330200" cy="114300"/>
          </a:xfrm>
          <a:prstGeom prst="rect">
            <a:avLst/>
          </a:prstGeom>
          <a:noFill/>
        </p:spPr>
        <p:txBody>
          <a:bodyPr wrap="square" lIns="0" rIns="0" tIns="0" bIns="0">
            <a:spAutoFit/>
          </a:bodyPr>
          <a:lstStyle/>
          <a:p>
            <a:pPr algn="ctr">
              <a:lnSpc>
                <a:spcPct val="115000"/>
              </a:lnSpc>
            </a:pPr>
            <a:r>
              <a:rPr sz="650" b="1">
                <a:solidFill>
                  <a:srgbClr val="E07B00"/>
                </a:solidFill>
                <a:latin typeface="Inter"/>
              </a:rPr>
              <a:t>Q3</a:t>
            </a:r>
          </a:p>
        </p:txBody>
      </p:sp>
      <p:sp>
        <p:nvSpPr>
          <p:cNvPr id="131" name="TextBox 130"/>
          <p:cNvSpPr txBox="1"/>
          <p:nvPr/>
        </p:nvSpPr>
        <p:spPr>
          <a:xfrm>
            <a:off x="8572500" y="4864100"/>
            <a:ext cx="1460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€7.500</a:t>
            </a:r>
          </a:p>
        </p:txBody>
      </p:sp>
      <p:sp>
        <p:nvSpPr>
          <p:cNvPr id="132" name="TextBox 131"/>
          <p:cNvSpPr txBox="1"/>
          <p:nvPr/>
        </p:nvSpPr>
        <p:spPr>
          <a:xfrm>
            <a:off x="10223500" y="4864100"/>
            <a:ext cx="1206500" cy="152400"/>
          </a:xfrm>
          <a:prstGeom prst="rect">
            <a:avLst/>
          </a:prstGeom>
          <a:noFill/>
        </p:spPr>
        <p:txBody>
          <a:bodyPr wrap="square" lIns="0" rIns="0" tIns="0" bIns="0">
            <a:spAutoFit/>
          </a:bodyPr>
          <a:lstStyle/>
          <a:p>
            <a:pPr algn="r">
              <a:lnSpc>
                <a:spcPct val="115000"/>
              </a:lnSpc>
            </a:pPr>
            <a:r>
              <a:rPr sz="950" b="0">
                <a:solidFill>
                  <a:srgbClr val="002333"/>
                </a:solidFill>
                <a:latin typeface="Inter"/>
              </a:rPr>
              <a:t>10%</a:t>
            </a:r>
          </a:p>
        </p:txBody>
      </p:sp>
      <p:sp>
        <p:nvSpPr>
          <p:cNvPr id="133" name="Rectangle 132"/>
          <p:cNvSpPr/>
          <p:nvPr/>
        </p:nvSpPr>
        <p:spPr>
          <a:xfrm>
            <a:off x="762000" y="5003800"/>
            <a:ext cx="10668000" cy="12700"/>
          </a:xfrm>
          <a:prstGeom prst="rect">
            <a:avLst/>
          </a:prstGeom>
          <a:solidFill>
            <a:srgbClr val="00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62000" y="5105400"/>
            <a:ext cx="3048000" cy="165100"/>
          </a:xfrm>
          <a:prstGeom prst="rect">
            <a:avLst/>
          </a:prstGeom>
          <a:noFill/>
        </p:spPr>
        <p:txBody>
          <a:bodyPr wrap="square" lIns="0" rIns="0" tIns="0" bIns="0">
            <a:spAutoFit/>
          </a:bodyPr>
          <a:lstStyle/>
          <a:p>
            <a:pPr algn="l">
              <a:lnSpc>
                <a:spcPct val="115000"/>
              </a:lnSpc>
            </a:pPr>
            <a:r>
              <a:rPr sz="950" b="1">
                <a:solidFill>
                  <a:srgbClr val="002333"/>
                </a:solidFill>
                <a:latin typeface="Inter"/>
              </a:rPr>
              <a:t>Totaal</a:t>
            </a:r>
          </a:p>
        </p:txBody>
      </p:sp>
      <p:sp>
        <p:nvSpPr>
          <p:cNvPr id="135" name="TextBox 134"/>
          <p:cNvSpPr txBox="1"/>
          <p:nvPr/>
        </p:nvSpPr>
        <p:spPr>
          <a:xfrm>
            <a:off x="8572500" y="5105400"/>
            <a:ext cx="1460500" cy="165100"/>
          </a:xfrm>
          <a:prstGeom prst="rect">
            <a:avLst/>
          </a:prstGeom>
          <a:noFill/>
        </p:spPr>
        <p:txBody>
          <a:bodyPr wrap="square" lIns="0" rIns="0" tIns="0" bIns="0">
            <a:spAutoFit/>
          </a:bodyPr>
          <a:lstStyle/>
          <a:p>
            <a:pPr algn="r">
              <a:lnSpc>
                <a:spcPct val="115000"/>
              </a:lnSpc>
            </a:pPr>
            <a:r>
              <a:rPr sz="950" b="1">
                <a:solidFill>
                  <a:srgbClr val="002333"/>
                </a:solidFill>
                <a:latin typeface="Inter"/>
              </a:rPr>
              <a:t>€2.157.500</a:t>
            </a:r>
          </a:p>
        </p:txBody>
      </p:sp>
      <p:sp>
        <p:nvSpPr>
          <p:cNvPr id="136" name="TextBox 135"/>
          <p:cNvSpPr txBox="1"/>
          <p:nvPr/>
        </p:nvSpPr>
        <p:spPr>
          <a:xfrm>
            <a:off x="10223500" y="5105400"/>
            <a:ext cx="1206500" cy="165100"/>
          </a:xfrm>
          <a:prstGeom prst="rect">
            <a:avLst/>
          </a:prstGeom>
          <a:noFill/>
        </p:spPr>
        <p:txBody>
          <a:bodyPr wrap="square" lIns="0" rIns="0" tIns="0" bIns="0">
            <a:spAutoFit/>
          </a:bodyPr>
          <a:lstStyle/>
          <a:p>
            <a:pPr algn="r">
              <a:lnSpc>
                <a:spcPct val="115000"/>
              </a:lnSpc>
            </a:pPr>
            <a:r>
              <a:rPr sz="800" b="1">
                <a:solidFill>
                  <a:srgbClr val="002333"/>
                </a:solidFill>
                <a:latin typeface="Inter"/>
              </a:rPr>
              <a:t>€489.000 gewogen</a:t>
            </a:r>
          </a:p>
        </p:txBody>
      </p:sp>
      <p:sp>
        <p:nvSpPr>
          <p:cNvPr id="137" name="Rectangle 136"/>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Q3 board knowledge doc, sep 2026. Afwijkende waarden op enkele regels t.o.v. Close (zie B4, open-vragen.md). BPP en Concorde staan niet in Close, Q3-aanmaak bevestigd door Jeroen. Aanmaakdatum overige regels uit Close, 24-09-2026.</a:t>
            </a:r>
          </a:p>
        </p:txBody>
      </p:sp>
      <p:pic>
        <p:nvPicPr>
          <p:cNvPr id="139" name="Picture 138" descr="logo_navy.png"/>
          <p:cNvPicPr>
            <a:picLocks noChangeAspect="1"/>
          </p:cNvPicPr>
          <p:nvPr/>
        </p:nvPicPr>
        <p:blipFill>
          <a:blip r:embed="rId2"/>
          <a:stretch>
            <a:fillRect/>
          </a:stretch>
        </p:blipFill>
        <p:spPr>
          <a:xfrm>
            <a:off x="10668000" y="5727700"/>
            <a:ext cx="762000" cy="209550"/>
          </a:xfrm>
          <a:prstGeom prst="rect">
            <a:avLst/>
          </a:prstGeom>
        </p:spPr>
      </p:pic>
      <p:sp>
        <p:nvSpPr>
          <p:cNvPr id="140" name="TextBox 139"/>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Key accounts</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200" b="0">
                <a:solidFill>
                  <a:srgbClr val="5B7480"/>
                </a:solidFill>
                <a:latin typeface="Inter"/>
              </a:rPr>
              <a:t>De twee publieke accounts die het dichtst bij een besluit zitten (1/2).</a:t>
            </a:r>
          </a:p>
        </p:txBody>
      </p:sp>
      <p:sp>
        <p:nvSpPr>
          <p:cNvPr id="4" name="TextBox 3"/>
          <p:cNvSpPr txBox="1"/>
          <p:nvPr/>
        </p:nvSpPr>
        <p:spPr>
          <a:xfrm>
            <a:off x="762000" y="1460500"/>
            <a:ext cx="5105400" cy="292100"/>
          </a:xfrm>
          <a:prstGeom prst="rect">
            <a:avLst/>
          </a:prstGeom>
          <a:noFill/>
        </p:spPr>
        <p:txBody>
          <a:bodyPr wrap="square" lIns="0" rIns="0" tIns="0" bIns="0">
            <a:spAutoFit/>
          </a:bodyPr>
          <a:lstStyle/>
          <a:p>
            <a:pPr algn="l">
              <a:lnSpc>
                <a:spcPct val="115000"/>
              </a:lnSpc>
            </a:pPr>
            <a:r>
              <a:rPr sz="1700" b="1">
                <a:solidFill>
                  <a:srgbClr val="002333"/>
                </a:solidFill>
                <a:latin typeface="League Spartan"/>
              </a:rPr>
              <a:t>Haagse Hogeschool</a:t>
            </a:r>
          </a:p>
        </p:txBody>
      </p:sp>
      <p:sp>
        <p:nvSpPr>
          <p:cNvPr id="5" name="TextBox 4"/>
          <p:cNvSpPr txBox="1"/>
          <p:nvPr/>
        </p:nvSpPr>
        <p:spPr>
          <a:xfrm>
            <a:off x="762000" y="18415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STATUS</a:t>
            </a:r>
          </a:p>
        </p:txBody>
      </p:sp>
      <p:sp>
        <p:nvSpPr>
          <p:cNvPr id="6" name="TextBox 5"/>
          <p:cNvSpPr txBox="1"/>
          <p:nvPr/>
        </p:nvSpPr>
        <p:spPr>
          <a:xfrm>
            <a:off x="762000" y="20066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Theo adviseerde Piet de tool voor het hele jaar te kopen, dan kan het onderzoek een vervolg krijgen. Lectoraat: niet positief, niet negatief, wil wel verder.</a:t>
            </a:r>
          </a:p>
        </p:txBody>
      </p:sp>
      <p:sp>
        <p:nvSpPr>
          <p:cNvPr id="7" name="TextBox 6"/>
          <p:cNvSpPr txBox="1"/>
          <p:nvPr/>
        </p:nvSpPr>
        <p:spPr>
          <a:xfrm>
            <a:off x="762000" y="25146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BETROKKENEN</a:t>
            </a:r>
          </a:p>
        </p:txBody>
      </p:sp>
      <p:sp>
        <p:nvSpPr>
          <p:cNvPr id="8" name="TextBox 7"/>
          <p:cNvSpPr txBox="1"/>
          <p:nvPr/>
        </p:nvSpPr>
        <p:spPr>
          <a:xfrm>
            <a:off x="762000" y="26797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Piet en Mario (opleidingsmanagers IVK), Marcel (lectoraat), Marco (curriculumcommissie, kan Eduface breder trekken dan taalopleidingen). Faculteitsdirecteur Willem tekent uiteindelijk.</a:t>
            </a:r>
          </a:p>
        </p:txBody>
      </p:sp>
      <p:sp>
        <p:nvSpPr>
          <p:cNvPr id="9" name="TextBox 8"/>
          <p:cNvSpPr txBox="1"/>
          <p:nvPr/>
        </p:nvSpPr>
        <p:spPr>
          <a:xfrm>
            <a:off x="762000" y="31877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BUDGET</a:t>
            </a:r>
          </a:p>
        </p:txBody>
      </p:sp>
      <p:sp>
        <p:nvSpPr>
          <p:cNvPr id="10" name="TextBox 9"/>
          <p:cNvSpPr txBox="1"/>
          <p:nvPr/>
        </p:nvSpPr>
        <p:spPr>
          <a:xfrm>
            <a:off x="762000" y="33528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Er is een intern potje voor het inkopen van AI-tools beschikbaar.</a:t>
            </a:r>
          </a:p>
        </p:txBody>
      </p:sp>
      <p:sp>
        <p:nvSpPr>
          <p:cNvPr id="11" name="Rectangle 10"/>
          <p:cNvSpPr/>
          <p:nvPr/>
        </p:nvSpPr>
        <p:spPr>
          <a:xfrm>
            <a:off x="762000" y="3759200"/>
            <a:ext cx="51054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3886200"/>
            <a:ext cx="5105400" cy="190500"/>
          </a:xfrm>
          <a:prstGeom prst="rect">
            <a:avLst/>
          </a:prstGeom>
          <a:noFill/>
        </p:spPr>
        <p:txBody>
          <a:bodyPr wrap="square" lIns="0" rIns="0" tIns="0" bIns="0">
            <a:spAutoFit/>
          </a:bodyPr>
          <a:lstStyle/>
          <a:p>
            <a:pPr algn="l">
              <a:lnSpc>
                <a:spcPct val="115000"/>
              </a:lnSpc>
            </a:pPr>
            <a:r>
              <a:rPr sz="800" b="1">
                <a:solidFill>
                  <a:srgbClr val="E07B00"/>
                </a:solidFill>
                <a:latin typeface="Inter"/>
              </a:rPr>
              <a:t>VOLGENDE STAP</a:t>
            </a:r>
          </a:p>
        </p:txBody>
      </p:sp>
      <p:sp>
        <p:nvSpPr>
          <p:cNvPr id="13" name="TextBox 12"/>
          <p:cNvSpPr txBox="1"/>
          <p:nvPr/>
        </p:nvSpPr>
        <p:spPr>
          <a:xfrm>
            <a:off x="762000" y="4051300"/>
            <a:ext cx="5105400" cy="381000"/>
          </a:xfrm>
          <a:prstGeom prst="rect">
            <a:avLst/>
          </a:prstGeom>
          <a:noFill/>
        </p:spPr>
        <p:txBody>
          <a:bodyPr wrap="square" lIns="0" rIns="0" tIns="0" bIns="0">
            <a:spAutoFit/>
          </a:bodyPr>
          <a:lstStyle/>
          <a:p>
            <a:pPr algn="l">
              <a:lnSpc>
                <a:spcPct val="125000"/>
              </a:lnSpc>
            </a:pPr>
            <a:r>
              <a:rPr sz="1150" b="1">
                <a:solidFill>
                  <a:srgbClr val="002333"/>
                </a:solidFill>
                <a:latin typeface="Inter"/>
              </a:rPr>
              <a:t>Evaluatiemeeting 2 okt, 14:00-15:00: uitvoering pilot, uitdagingen, onderwijsuitkomsten, analysegegevens lectoraat, vervolgstappen en mogelijk Go Live Plan voor dit studiejaar.</a:t>
            </a:r>
          </a:p>
        </p:txBody>
      </p:sp>
      <p:sp>
        <p:nvSpPr>
          <p:cNvPr id="14" name="TextBox 13"/>
          <p:cNvSpPr txBox="1"/>
          <p:nvPr/>
        </p:nvSpPr>
        <p:spPr>
          <a:xfrm>
            <a:off x="6324600" y="1460500"/>
            <a:ext cx="5105400" cy="292100"/>
          </a:xfrm>
          <a:prstGeom prst="rect">
            <a:avLst/>
          </a:prstGeom>
          <a:noFill/>
        </p:spPr>
        <p:txBody>
          <a:bodyPr wrap="square" lIns="0" rIns="0" tIns="0" bIns="0">
            <a:spAutoFit/>
          </a:bodyPr>
          <a:lstStyle/>
          <a:p>
            <a:pPr algn="l">
              <a:lnSpc>
                <a:spcPct val="115000"/>
              </a:lnSpc>
            </a:pPr>
            <a:r>
              <a:rPr sz="1700" b="1">
                <a:solidFill>
                  <a:srgbClr val="002333"/>
                </a:solidFill>
                <a:latin typeface="League Spartan"/>
              </a:rPr>
              <a:t>Hogeschool Rotterdam</a:t>
            </a:r>
          </a:p>
        </p:txBody>
      </p:sp>
      <p:sp>
        <p:nvSpPr>
          <p:cNvPr id="15" name="TextBox 14"/>
          <p:cNvSpPr txBox="1"/>
          <p:nvPr/>
        </p:nvSpPr>
        <p:spPr>
          <a:xfrm>
            <a:off x="6324600" y="18415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STATUS</a:t>
            </a:r>
          </a:p>
        </p:txBody>
      </p:sp>
      <p:sp>
        <p:nvSpPr>
          <p:cNvPr id="16" name="TextBox 15"/>
          <p:cNvSpPr txBox="1"/>
          <p:nvPr/>
        </p:nvSpPr>
        <p:spPr>
          <a:xfrm>
            <a:off x="6324600" y="20066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Business case en voorstel goedgekeurd (call met Paul, 16 sep), procurement is gestart. Nick (opleidingsdirecteur) houdt Mark Boot hiervoor verantwoordelijk.</a:t>
            </a:r>
          </a:p>
        </p:txBody>
      </p:sp>
      <p:sp>
        <p:nvSpPr>
          <p:cNvPr id="17" name="TextBox 16"/>
          <p:cNvSpPr txBox="1"/>
          <p:nvPr/>
        </p:nvSpPr>
        <p:spPr>
          <a:xfrm>
            <a:off x="6324600" y="25146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BLOKKADE</a:t>
            </a:r>
          </a:p>
        </p:txBody>
      </p:sp>
      <p:sp>
        <p:nvSpPr>
          <p:cNvPr id="18" name="TextBox 17"/>
          <p:cNvSpPr txBox="1"/>
          <p:nvPr/>
        </p:nvSpPr>
        <p:spPr>
          <a:xfrm>
            <a:off x="6324600" y="26797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IT staat geen Brightspace-integratie toe voor één losse opleiding. Optie 1: meer opleidingen erbij (duurt lang). Optie 2: standalone werken tot volgend studiejaar.</a:t>
            </a:r>
          </a:p>
        </p:txBody>
      </p:sp>
      <p:sp>
        <p:nvSpPr>
          <p:cNvPr id="19" name="TextBox 18"/>
          <p:cNvSpPr txBox="1"/>
          <p:nvPr/>
        </p:nvSpPr>
        <p:spPr>
          <a:xfrm>
            <a:off x="6324600" y="31877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TROEF</a:t>
            </a:r>
          </a:p>
        </p:txBody>
      </p:sp>
      <p:sp>
        <p:nvSpPr>
          <p:cNvPr id="20" name="TextBox 19"/>
          <p:cNvSpPr txBox="1"/>
          <p:nvPr/>
        </p:nvSpPr>
        <p:spPr>
          <a:xfrm>
            <a:off x="6324600" y="33528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Aangeven dat de tool breder gebruikt gaat worden en dit een testcasus is; andere opleidingen kunnen een LOI tekenen.</a:t>
            </a:r>
          </a:p>
        </p:txBody>
      </p:sp>
      <p:sp>
        <p:nvSpPr>
          <p:cNvPr id="21" name="Rectangle 20"/>
          <p:cNvSpPr/>
          <p:nvPr/>
        </p:nvSpPr>
        <p:spPr>
          <a:xfrm>
            <a:off x="6324600" y="3759200"/>
            <a:ext cx="51054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4600" y="3886200"/>
            <a:ext cx="5105400" cy="190500"/>
          </a:xfrm>
          <a:prstGeom prst="rect">
            <a:avLst/>
          </a:prstGeom>
          <a:noFill/>
        </p:spPr>
        <p:txBody>
          <a:bodyPr wrap="square" lIns="0" rIns="0" tIns="0" bIns="0">
            <a:spAutoFit/>
          </a:bodyPr>
          <a:lstStyle/>
          <a:p>
            <a:pPr algn="l">
              <a:lnSpc>
                <a:spcPct val="115000"/>
              </a:lnSpc>
            </a:pPr>
            <a:r>
              <a:rPr sz="800" b="1">
                <a:solidFill>
                  <a:srgbClr val="E07B00"/>
                </a:solidFill>
                <a:latin typeface="Inter"/>
              </a:rPr>
              <a:t>VOLGENDE STAP</a:t>
            </a:r>
          </a:p>
        </p:txBody>
      </p:sp>
      <p:sp>
        <p:nvSpPr>
          <p:cNvPr id="23" name="TextBox 22"/>
          <p:cNvSpPr txBox="1"/>
          <p:nvPr/>
        </p:nvSpPr>
        <p:spPr>
          <a:xfrm>
            <a:off x="6324600" y="4051300"/>
            <a:ext cx="5105400" cy="381000"/>
          </a:xfrm>
          <a:prstGeom prst="rect">
            <a:avLst/>
          </a:prstGeom>
          <a:noFill/>
        </p:spPr>
        <p:txBody>
          <a:bodyPr wrap="square" lIns="0" rIns="0" tIns="0" bIns="0">
            <a:spAutoFit/>
          </a:bodyPr>
          <a:lstStyle/>
          <a:p>
            <a:pPr algn="l">
              <a:lnSpc>
                <a:spcPct val="125000"/>
              </a:lnSpc>
            </a:pPr>
            <a:r>
              <a:rPr sz="1150" b="1">
                <a:solidFill>
                  <a:srgbClr val="002333"/>
                </a:solidFill>
                <a:latin typeface="Inter"/>
              </a:rPr>
              <a:t>Mark zet ons aan tafel met Marije/Marijke en Sytse van der Zwan (IT). Concept licentieovereenkomst ligt al klaar.</a:t>
            </a:r>
          </a:p>
        </p:txBody>
      </p:sp>
      <p:sp>
        <p:nvSpPr>
          <p:cNvPr id="24" name="Rectangle 23"/>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Close, geverifieerd 23-09-2026.</a:t>
            </a:r>
          </a:p>
        </p:txBody>
      </p:sp>
      <p:pic>
        <p:nvPicPr>
          <p:cNvPr id="26" name="Picture 25" descr="logo_navy.png"/>
          <p:cNvPicPr>
            <a:picLocks noChangeAspect="1"/>
          </p:cNvPicPr>
          <p:nvPr/>
        </p:nvPicPr>
        <p:blipFill>
          <a:blip r:embed="rId2"/>
          <a:stretch>
            <a:fillRect/>
          </a:stretch>
        </p:blipFill>
        <p:spPr>
          <a:xfrm>
            <a:off x="10668000" y="5727700"/>
            <a:ext cx="762000" cy="209550"/>
          </a:xfrm>
          <a:prstGeom prst="rect">
            <a:avLst/>
          </a:prstGeom>
        </p:spPr>
      </p:pic>
      <p:sp>
        <p:nvSpPr>
          <p:cNvPr id="27" name="TextBox 26"/>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Key accounts</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200" b="0">
                <a:solidFill>
                  <a:srgbClr val="5B7480"/>
                </a:solidFill>
                <a:latin typeface="Inter"/>
              </a:rPr>
              <a:t>De twee accounts die momenteel het hardst versnellen (2/2).</a:t>
            </a:r>
          </a:p>
        </p:txBody>
      </p:sp>
      <p:sp>
        <p:nvSpPr>
          <p:cNvPr id="4" name="TextBox 3"/>
          <p:cNvSpPr txBox="1"/>
          <p:nvPr/>
        </p:nvSpPr>
        <p:spPr>
          <a:xfrm>
            <a:off x="762000" y="1460500"/>
            <a:ext cx="5105400" cy="292100"/>
          </a:xfrm>
          <a:prstGeom prst="rect">
            <a:avLst/>
          </a:prstGeom>
          <a:noFill/>
        </p:spPr>
        <p:txBody>
          <a:bodyPr wrap="square" lIns="0" rIns="0" tIns="0" bIns="0">
            <a:spAutoFit/>
          </a:bodyPr>
          <a:lstStyle/>
          <a:p>
            <a:pPr algn="l">
              <a:lnSpc>
                <a:spcPct val="115000"/>
              </a:lnSpc>
            </a:pPr>
            <a:r>
              <a:rPr sz="1700" b="1">
                <a:solidFill>
                  <a:srgbClr val="002333"/>
                </a:solidFill>
                <a:latin typeface="League Spartan"/>
              </a:rPr>
              <a:t>Breederode Hogeschool</a:t>
            </a:r>
          </a:p>
        </p:txBody>
      </p:sp>
      <p:sp>
        <p:nvSpPr>
          <p:cNvPr id="5" name="TextBox 4"/>
          <p:cNvSpPr txBox="1"/>
          <p:nvPr/>
        </p:nvSpPr>
        <p:spPr>
          <a:xfrm>
            <a:off x="762000" y="18415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STATUS</a:t>
            </a:r>
          </a:p>
        </p:txBody>
      </p:sp>
      <p:sp>
        <p:nvSpPr>
          <p:cNvPr id="6" name="TextBox 5"/>
          <p:cNvSpPr txBox="1"/>
          <p:nvPr/>
        </p:nvSpPr>
        <p:spPr>
          <a:xfrm>
            <a:off x="762000" y="20066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Testochtend 23 sep. Dezelfde dag al concept licentieovereenkomst gestuurd (22 sep, vooruitlopend). Irma en Marcel keken hem zorgvuldig na, kwamen 23 sep terug met kleine wijzigingen.</a:t>
            </a:r>
          </a:p>
        </p:txBody>
      </p:sp>
      <p:sp>
        <p:nvSpPr>
          <p:cNvPr id="7" name="TextBox 6"/>
          <p:cNvSpPr txBox="1"/>
          <p:nvPr/>
        </p:nvSpPr>
        <p:spPr>
          <a:xfrm>
            <a:off x="762000" y="25146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SUCCESCRITERIA</a:t>
            </a:r>
          </a:p>
        </p:txBody>
      </p:sp>
      <p:sp>
        <p:nvSpPr>
          <p:cNvPr id="8" name="TextBox 7"/>
          <p:cNvSpPr txBox="1"/>
          <p:nvPr/>
        </p:nvSpPr>
        <p:spPr>
          <a:xfrm>
            <a:off x="762000" y="26797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Boven 92% accuraatheid tegenover het docentcijfer, 3,5 van 5 sterren op gebruiksvriendelijkheid (bevestigd 3 sep).</a:t>
            </a:r>
          </a:p>
        </p:txBody>
      </p:sp>
      <p:sp>
        <p:nvSpPr>
          <p:cNvPr id="9" name="TextBox 8"/>
          <p:cNvSpPr txBox="1"/>
          <p:nvPr/>
        </p:nvSpPr>
        <p:spPr>
          <a:xfrm>
            <a:off x="762000" y="30480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PAD</a:t>
            </a:r>
          </a:p>
        </p:txBody>
      </p:sp>
      <p:sp>
        <p:nvSpPr>
          <p:cNvPr id="10" name="TextBox 9"/>
          <p:cNvSpPr txBox="1"/>
          <p:nvPr/>
        </p:nvSpPr>
        <p:spPr>
          <a:xfrm>
            <a:off x="762000" y="32131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2 weken testen op bestaande opdrachten, dan 2 weken itslearning-integratie, dan pilotscope en contract via Marcel (Calder).</a:t>
            </a:r>
          </a:p>
        </p:txBody>
      </p:sp>
      <p:sp>
        <p:nvSpPr>
          <p:cNvPr id="11" name="Rectangle 10"/>
          <p:cNvSpPr/>
          <p:nvPr/>
        </p:nvSpPr>
        <p:spPr>
          <a:xfrm>
            <a:off x="762000" y="3619500"/>
            <a:ext cx="51054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3746500"/>
            <a:ext cx="5105400" cy="190500"/>
          </a:xfrm>
          <a:prstGeom prst="rect">
            <a:avLst/>
          </a:prstGeom>
          <a:noFill/>
        </p:spPr>
        <p:txBody>
          <a:bodyPr wrap="square" lIns="0" rIns="0" tIns="0" bIns="0">
            <a:spAutoFit/>
          </a:bodyPr>
          <a:lstStyle/>
          <a:p>
            <a:pPr algn="l">
              <a:lnSpc>
                <a:spcPct val="115000"/>
              </a:lnSpc>
            </a:pPr>
            <a:r>
              <a:rPr sz="800" b="1">
                <a:solidFill>
                  <a:srgbClr val="E07B00"/>
                </a:solidFill>
                <a:latin typeface="Inter"/>
              </a:rPr>
              <a:t>VOLGENDE STAP</a:t>
            </a:r>
          </a:p>
        </p:txBody>
      </p:sp>
      <p:sp>
        <p:nvSpPr>
          <p:cNvPr id="13" name="TextBox 12"/>
          <p:cNvSpPr txBox="1"/>
          <p:nvPr/>
        </p:nvSpPr>
        <p:spPr>
          <a:xfrm>
            <a:off x="762000" y="3911600"/>
            <a:ext cx="5105400" cy="381000"/>
          </a:xfrm>
          <a:prstGeom prst="rect">
            <a:avLst/>
          </a:prstGeom>
          <a:noFill/>
        </p:spPr>
        <p:txBody>
          <a:bodyPr wrap="square" lIns="0" rIns="0" tIns="0" bIns="0">
            <a:spAutoFit/>
          </a:bodyPr>
          <a:lstStyle/>
          <a:p>
            <a:pPr algn="l">
              <a:lnSpc>
                <a:spcPct val="125000"/>
              </a:lnSpc>
            </a:pPr>
            <a:r>
              <a:rPr sz="1150" b="1">
                <a:solidFill>
                  <a:srgbClr val="002333"/>
                </a:solidFill>
                <a:latin typeface="Inter"/>
              </a:rPr>
              <a:t>Wijzigingen in de licentieovereenkomst verwerken en afronden.</a:t>
            </a:r>
          </a:p>
        </p:txBody>
      </p:sp>
      <p:sp>
        <p:nvSpPr>
          <p:cNvPr id="14" name="TextBox 13"/>
          <p:cNvSpPr txBox="1"/>
          <p:nvPr/>
        </p:nvSpPr>
        <p:spPr>
          <a:xfrm>
            <a:off x="6324600" y="1460500"/>
            <a:ext cx="5105400" cy="292100"/>
          </a:xfrm>
          <a:prstGeom prst="rect">
            <a:avLst/>
          </a:prstGeom>
          <a:noFill/>
        </p:spPr>
        <p:txBody>
          <a:bodyPr wrap="square" lIns="0" rIns="0" tIns="0" bIns="0">
            <a:spAutoFit/>
          </a:bodyPr>
          <a:lstStyle/>
          <a:p>
            <a:pPr algn="l">
              <a:lnSpc>
                <a:spcPct val="115000"/>
              </a:lnSpc>
            </a:pPr>
            <a:r>
              <a:rPr sz="1700" b="1">
                <a:solidFill>
                  <a:srgbClr val="002333"/>
                </a:solidFill>
                <a:latin typeface="League Spartan"/>
              </a:rPr>
              <a:t>UTI</a:t>
            </a:r>
          </a:p>
        </p:txBody>
      </p:sp>
      <p:sp>
        <p:nvSpPr>
          <p:cNvPr id="15" name="TextBox 14"/>
          <p:cNvSpPr txBox="1"/>
          <p:nvPr/>
        </p:nvSpPr>
        <p:spPr>
          <a:xfrm>
            <a:off x="6324600" y="18415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STATUS</a:t>
            </a:r>
          </a:p>
        </p:txBody>
      </p:sp>
      <p:sp>
        <p:nvSpPr>
          <p:cNvPr id="16" name="TextBox 15"/>
          <p:cNvSpPr txBox="1"/>
          <p:nvPr/>
        </p:nvSpPr>
        <p:spPr>
          <a:xfrm>
            <a:off x="6324600" y="20066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Technische validatie rond: Canvas-quizzes bevestigd, Blackboard-quizzes bevestigd (al operationeel), Blackboard Discussions ook ondersteund via onze API.</a:t>
            </a:r>
          </a:p>
        </p:txBody>
      </p:sp>
      <p:sp>
        <p:nvSpPr>
          <p:cNvPr id="17" name="TextBox 16"/>
          <p:cNvSpPr txBox="1"/>
          <p:nvPr/>
        </p:nvSpPr>
        <p:spPr>
          <a:xfrm>
            <a:off x="6324600" y="25146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BETROKKENEN</a:t>
            </a:r>
          </a:p>
        </p:txBody>
      </p:sp>
      <p:sp>
        <p:nvSpPr>
          <p:cNvPr id="18" name="TextBox 17"/>
          <p:cNvSpPr txBox="1"/>
          <p:nvPr/>
        </p:nvSpPr>
        <p:spPr>
          <a:xfrm>
            <a:off x="6324600" y="26797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Robert Jordan (AVP Instructional Design) vroeg de slides om te delen met campus leaders begin oktober. Bas Schotsman (AVP Academic Operations) enthousiast, ziet ook kans in het beoordelen van Discussions.</a:t>
            </a:r>
          </a:p>
        </p:txBody>
      </p:sp>
      <p:sp>
        <p:nvSpPr>
          <p:cNvPr id="19" name="TextBox 18"/>
          <p:cNvSpPr txBox="1"/>
          <p:nvPr/>
        </p:nvSpPr>
        <p:spPr>
          <a:xfrm>
            <a:off x="6324600" y="3327400"/>
            <a:ext cx="5105400" cy="190500"/>
          </a:xfrm>
          <a:prstGeom prst="rect">
            <a:avLst/>
          </a:prstGeom>
          <a:noFill/>
        </p:spPr>
        <p:txBody>
          <a:bodyPr wrap="square" lIns="0" rIns="0" tIns="0" bIns="0">
            <a:spAutoFit/>
          </a:bodyPr>
          <a:lstStyle/>
          <a:p>
            <a:pPr algn="l">
              <a:lnSpc>
                <a:spcPct val="115000"/>
              </a:lnSpc>
            </a:pPr>
            <a:r>
              <a:rPr sz="900" b="1">
                <a:solidFill>
                  <a:srgbClr val="5B7480"/>
                </a:solidFill>
                <a:latin typeface="Inter"/>
              </a:rPr>
              <a:t>BUSINESS CASE</a:t>
            </a:r>
          </a:p>
        </p:txBody>
      </p:sp>
      <p:sp>
        <p:nvSpPr>
          <p:cNvPr id="20" name="TextBox 19"/>
          <p:cNvSpPr txBox="1"/>
          <p:nvPr/>
        </p:nvSpPr>
        <p:spPr>
          <a:xfrm>
            <a:off x="6324600" y="3492500"/>
            <a:ext cx="5105400" cy="444500"/>
          </a:xfrm>
          <a:prstGeom prst="rect">
            <a:avLst/>
          </a:prstGeom>
          <a:noFill/>
        </p:spPr>
        <p:txBody>
          <a:bodyPr wrap="square" lIns="0" rIns="0" tIns="0" bIns="0">
            <a:spAutoFit/>
          </a:bodyPr>
          <a:lstStyle/>
          <a:p>
            <a:pPr algn="l">
              <a:lnSpc>
                <a:spcPct val="125000"/>
              </a:lnSpc>
            </a:pPr>
            <a:r>
              <a:rPr sz="1050" b="0">
                <a:solidFill>
                  <a:srgbClr val="002333"/>
                </a:solidFill>
                <a:latin typeface="Inter"/>
              </a:rPr>
              <a:t>Nog nodig: kosten instructeursverloop, gemiddeld uurloon, gemiddelde retentietijd, aantal actieve en vertrokken instructeurs (12 mnd). Go-Live Plan is een gedeeld Google Doc.</a:t>
            </a:r>
          </a:p>
        </p:txBody>
      </p:sp>
      <p:sp>
        <p:nvSpPr>
          <p:cNvPr id="21" name="Rectangle 20"/>
          <p:cNvSpPr/>
          <p:nvPr/>
        </p:nvSpPr>
        <p:spPr>
          <a:xfrm>
            <a:off x="6324600" y="4038600"/>
            <a:ext cx="51054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4600" y="4165600"/>
            <a:ext cx="5105400" cy="190500"/>
          </a:xfrm>
          <a:prstGeom prst="rect">
            <a:avLst/>
          </a:prstGeom>
          <a:noFill/>
        </p:spPr>
        <p:txBody>
          <a:bodyPr wrap="square" lIns="0" rIns="0" tIns="0" bIns="0">
            <a:spAutoFit/>
          </a:bodyPr>
          <a:lstStyle/>
          <a:p>
            <a:pPr algn="l">
              <a:lnSpc>
                <a:spcPct val="115000"/>
              </a:lnSpc>
            </a:pPr>
            <a:r>
              <a:rPr sz="800" b="1">
                <a:solidFill>
                  <a:srgbClr val="E07B00"/>
                </a:solidFill>
                <a:latin typeface="Inter"/>
              </a:rPr>
              <a:t>VOLGENDE STAP</a:t>
            </a:r>
          </a:p>
        </p:txBody>
      </p:sp>
      <p:sp>
        <p:nvSpPr>
          <p:cNvPr id="23" name="TextBox 22"/>
          <p:cNvSpPr txBox="1"/>
          <p:nvPr/>
        </p:nvSpPr>
        <p:spPr>
          <a:xfrm>
            <a:off x="6324600" y="4330700"/>
            <a:ext cx="5105400" cy="381000"/>
          </a:xfrm>
          <a:prstGeom prst="rect">
            <a:avLst/>
          </a:prstGeom>
          <a:noFill/>
        </p:spPr>
        <p:txBody>
          <a:bodyPr wrap="square" lIns="0" rIns="0" tIns="0" bIns="0">
            <a:spAutoFit/>
          </a:bodyPr>
          <a:lstStyle/>
          <a:p>
            <a:pPr algn="l">
              <a:lnSpc>
                <a:spcPct val="125000"/>
              </a:lnSpc>
            </a:pPr>
            <a:r>
              <a:rPr sz="1150" b="1">
                <a:solidFill>
                  <a:srgbClr val="002333"/>
                </a:solidFill>
                <a:latin typeface="Inter"/>
              </a:rPr>
              <a:t>Demo voor bredere groep campus leadership op 25 sep, daarna richting go/no-go.</a:t>
            </a:r>
          </a:p>
        </p:txBody>
      </p:sp>
      <p:sp>
        <p:nvSpPr>
          <p:cNvPr id="24" name="Rectangle 23"/>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Close, geverifieerd 23-09-2026.</a:t>
            </a:r>
          </a:p>
        </p:txBody>
      </p:sp>
      <p:pic>
        <p:nvPicPr>
          <p:cNvPr id="26" name="Picture 25" descr="logo_navy.png"/>
          <p:cNvPicPr>
            <a:picLocks noChangeAspect="1"/>
          </p:cNvPicPr>
          <p:nvPr/>
        </p:nvPicPr>
        <p:blipFill>
          <a:blip r:embed="rId2"/>
          <a:stretch>
            <a:fillRect/>
          </a:stretch>
        </p:blipFill>
        <p:spPr>
          <a:xfrm>
            <a:off x="10668000" y="5727700"/>
            <a:ext cx="762000" cy="209550"/>
          </a:xfrm>
          <a:prstGeom prst="rect">
            <a:avLst/>
          </a:prstGeom>
        </p:spPr>
      </p:pic>
      <p:sp>
        <p:nvSpPr>
          <p:cNvPr id="27" name="TextBox 26"/>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Het patroon</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350" b="0">
                <a:solidFill>
                  <a:srgbClr val="5B7480"/>
                </a:solidFill>
                <a:latin typeface="Inter"/>
              </a:rPr>
              <a:t>Wat we zien bij elke publieke deal in de pipeline.</a:t>
            </a:r>
          </a:p>
        </p:txBody>
      </p:sp>
      <p:sp>
        <p:nvSpPr>
          <p:cNvPr id="4" name="Rounded Rectangle 3"/>
          <p:cNvSpPr/>
          <p:nvPr/>
        </p:nvSpPr>
        <p:spPr>
          <a:xfrm>
            <a:off x="762000" y="15240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2500" y="1460500"/>
            <a:ext cx="10477500" cy="558800"/>
          </a:xfrm>
          <a:prstGeom prst="rect">
            <a:avLst/>
          </a:prstGeom>
          <a:noFill/>
        </p:spPr>
        <p:txBody>
          <a:bodyPr wrap="square" lIns="0" rIns="0" tIns="0" bIns="0">
            <a:spAutoFit/>
          </a:bodyPr>
          <a:lstStyle/>
          <a:p>
            <a:pPr algn="l">
              <a:lnSpc>
                <a:spcPct val="130000"/>
              </a:lnSpc>
            </a:pPr>
            <a:r>
              <a:rPr sz="1450" b="0">
                <a:solidFill>
                  <a:srgbClr val="002333"/>
                </a:solidFill>
                <a:latin typeface="Inter"/>
              </a:rPr>
              <a:t>Publieke instellingen eisen een pilot van 6 maanden, waarvoor ze met moeite budget bijeensprokkelen.</a:t>
            </a:r>
          </a:p>
        </p:txBody>
      </p:sp>
      <p:sp>
        <p:nvSpPr>
          <p:cNvPr id="6" name="Rounded Rectangle 5"/>
          <p:cNvSpPr/>
          <p:nvPr/>
        </p:nvSpPr>
        <p:spPr>
          <a:xfrm>
            <a:off x="762000" y="21336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2070100"/>
            <a:ext cx="10477500" cy="558800"/>
          </a:xfrm>
          <a:prstGeom prst="rect">
            <a:avLst/>
          </a:prstGeom>
          <a:noFill/>
        </p:spPr>
        <p:txBody>
          <a:bodyPr wrap="square" lIns="0" rIns="0" tIns="0" bIns="0">
            <a:spAutoFit/>
          </a:bodyPr>
          <a:lstStyle/>
          <a:p>
            <a:pPr algn="l">
              <a:lnSpc>
                <a:spcPct val="130000"/>
              </a:lnSpc>
            </a:pPr>
            <a:r>
              <a:rPr sz="1450" b="0">
                <a:solidFill>
                  <a:srgbClr val="002333"/>
                </a:solidFill>
                <a:latin typeface="Inter"/>
              </a:rPr>
              <a:t>Ze vinden het lastiger om te committeren aan een duidelijke vervolgstap, ook als we de afgesproken succesfactoren halen.</a:t>
            </a:r>
          </a:p>
        </p:txBody>
      </p:sp>
      <p:sp>
        <p:nvSpPr>
          <p:cNvPr id="8" name="Rounded Rectangle 7"/>
          <p:cNvSpPr/>
          <p:nvPr/>
        </p:nvSpPr>
        <p:spPr>
          <a:xfrm>
            <a:off x="762000" y="27432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2679700"/>
            <a:ext cx="10477500" cy="558800"/>
          </a:xfrm>
          <a:prstGeom prst="rect">
            <a:avLst/>
          </a:prstGeom>
          <a:noFill/>
        </p:spPr>
        <p:txBody>
          <a:bodyPr wrap="square" lIns="0" rIns="0" tIns="0" bIns="0">
            <a:spAutoFit/>
          </a:bodyPr>
          <a:lstStyle/>
          <a:p>
            <a:pPr algn="l">
              <a:lnSpc>
                <a:spcPct val="130000"/>
              </a:lnSpc>
            </a:pPr>
            <a:r>
              <a:rPr sz="1450" b="0">
                <a:solidFill>
                  <a:srgbClr val="002333"/>
                </a:solidFill>
                <a:latin typeface="Inter"/>
              </a:rPr>
              <a:t>Beslissingen gaan in commissies die vaak heel lang duren.</a:t>
            </a:r>
          </a:p>
        </p:txBody>
      </p:sp>
      <p:sp>
        <p:nvSpPr>
          <p:cNvPr id="10" name="Rounded Rectangle 9"/>
          <p:cNvSpPr/>
          <p:nvPr/>
        </p:nvSpPr>
        <p:spPr>
          <a:xfrm>
            <a:off x="762000" y="3352800"/>
            <a:ext cx="63500" cy="635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3289300"/>
            <a:ext cx="10477500" cy="558800"/>
          </a:xfrm>
          <a:prstGeom prst="rect">
            <a:avLst/>
          </a:prstGeom>
          <a:noFill/>
        </p:spPr>
        <p:txBody>
          <a:bodyPr wrap="square" lIns="0" rIns="0" tIns="0" bIns="0">
            <a:spAutoFit/>
          </a:bodyPr>
          <a:lstStyle/>
          <a:p>
            <a:pPr algn="l">
              <a:lnSpc>
                <a:spcPct val="130000"/>
              </a:lnSpc>
            </a:pPr>
            <a:r>
              <a:rPr sz="1450" b="0">
                <a:solidFill>
                  <a:srgbClr val="002333"/>
                </a:solidFill>
                <a:latin typeface="Inter"/>
              </a:rPr>
              <a:t>We hebben op dit moment vooral moeite met het kwantificeren van pijn, waardoor de waarde van de tool lastiger in te schatten is en het moeilijker is om ons prijspunt te verdedigen.</a:t>
            </a:r>
          </a:p>
        </p:txBody>
      </p:sp>
      <p:sp>
        <p:nvSpPr>
          <p:cNvPr id="12" name="Rectangle 11"/>
          <p:cNvSpPr/>
          <p:nvPr/>
        </p:nvSpPr>
        <p:spPr>
          <a:xfrm>
            <a:off x="762000" y="4089400"/>
            <a:ext cx="106680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4267200"/>
            <a:ext cx="1270000" cy="215900"/>
          </a:xfrm>
          <a:prstGeom prst="rect">
            <a:avLst/>
          </a:prstGeom>
          <a:noFill/>
        </p:spPr>
        <p:txBody>
          <a:bodyPr wrap="square" lIns="0" rIns="0" tIns="0" bIns="0">
            <a:spAutoFit/>
          </a:bodyPr>
          <a:lstStyle/>
          <a:p>
            <a:pPr algn="l">
              <a:lnSpc>
                <a:spcPct val="115000"/>
              </a:lnSpc>
            </a:pPr>
            <a:r>
              <a:rPr sz="950" b="1">
                <a:solidFill>
                  <a:srgbClr val="5B7480"/>
                </a:solidFill>
                <a:latin typeface="Inter"/>
              </a:rPr>
              <a:t>IN DE PRAKTIJK</a:t>
            </a:r>
          </a:p>
        </p:txBody>
      </p:sp>
      <p:sp>
        <p:nvSpPr>
          <p:cNvPr id="14" name="TextBox 13"/>
          <p:cNvSpPr txBox="1"/>
          <p:nvPr/>
        </p:nvSpPr>
        <p:spPr>
          <a:xfrm>
            <a:off x="762000" y="4521200"/>
            <a:ext cx="10668000" cy="279400"/>
          </a:xfrm>
          <a:prstGeom prst="rect">
            <a:avLst/>
          </a:prstGeom>
          <a:noFill/>
        </p:spPr>
        <p:txBody>
          <a:bodyPr wrap="square" lIns="0" rIns="0" tIns="0" bIns="0">
            <a:spAutoFit/>
          </a:bodyPr>
          <a:lstStyle/>
          <a:p>
            <a:pPr algn="l">
              <a:lnSpc>
                <a:spcPct val="130000"/>
              </a:lnSpc>
            </a:pPr>
            <a:r>
              <a:rPr sz="1200" b="0">
                <a:solidFill>
                  <a:srgbClr val="5B7480"/>
                </a:solidFill>
                <a:latin typeface="Inter"/>
              </a:rPr>
              <a:t>RUG: het eigen ontwikkelteam van de universiteit is de concurrent, geen budgethouder in beeld.</a:t>
            </a:r>
          </a:p>
        </p:txBody>
      </p:sp>
      <p:sp>
        <p:nvSpPr>
          <p:cNvPr id="15" name="TextBox 14"/>
          <p:cNvSpPr txBox="1"/>
          <p:nvPr/>
        </p:nvSpPr>
        <p:spPr>
          <a:xfrm>
            <a:off x="762000" y="4851400"/>
            <a:ext cx="10668000" cy="279400"/>
          </a:xfrm>
          <a:prstGeom prst="rect">
            <a:avLst/>
          </a:prstGeom>
          <a:noFill/>
        </p:spPr>
        <p:txBody>
          <a:bodyPr wrap="square" lIns="0" rIns="0" tIns="0" bIns="0">
            <a:spAutoFit/>
          </a:bodyPr>
          <a:lstStyle/>
          <a:p>
            <a:pPr algn="l">
              <a:lnSpc>
                <a:spcPct val="130000"/>
              </a:lnSpc>
            </a:pPr>
            <a:r>
              <a:rPr sz="1200" b="0">
                <a:solidFill>
                  <a:srgbClr val="5B7480"/>
                </a:solidFill>
                <a:latin typeface="Inter"/>
              </a:rPr>
              <a:t>Windesheim: aanbestedingsplicht boven €80k, wacht op een hoog-risico-AI-kader dat er nog niet is.</a:t>
            </a:r>
          </a:p>
        </p:txBody>
      </p:sp>
      <p:sp>
        <p:nvSpPr>
          <p:cNvPr id="16" name="TextBox 15"/>
          <p:cNvSpPr txBox="1"/>
          <p:nvPr/>
        </p:nvSpPr>
        <p:spPr>
          <a:xfrm>
            <a:off x="762000" y="5181600"/>
            <a:ext cx="10668000" cy="279400"/>
          </a:xfrm>
          <a:prstGeom prst="rect">
            <a:avLst/>
          </a:prstGeom>
          <a:noFill/>
        </p:spPr>
        <p:txBody>
          <a:bodyPr wrap="square" lIns="0" rIns="0" tIns="0" bIns="0">
            <a:spAutoFit/>
          </a:bodyPr>
          <a:lstStyle/>
          <a:p>
            <a:pPr algn="l">
              <a:lnSpc>
                <a:spcPct val="130000"/>
              </a:lnSpc>
            </a:pPr>
            <a:r>
              <a:rPr sz="1200" b="0">
                <a:solidFill>
                  <a:srgbClr val="5B7480"/>
                </a:solidFill>
                <a:latin typeface="Inter"/>
              </a:rPr>
              <a:t>Bath Spa: net gestopt na maanden AIPB-proces, ondanks een positieve pilot.</a:t>
            </a:r>
          </a:p>
        </p:txBody>
      </p:sp>
      <p:sp>
        <p:nvSpPr>
          <p:cNvPr id="17" name="Rectangle 16"/>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Patroon over de actieve publieke deals, sep 2026.</a:t>
            </a:r>
          </a:p>
        </p:txBody>
      </p:sp>
      <p:pic>
        <p:nvPicPr>
          <p:cNvPr id="19" name="Picture 18" descr="logo_navy.png"/>
          <p:cNvPicPr>
            <a:picLocks noChangeAspect="1"/>
          </p:cNvPicPr>
          <p:nvPr/>
        </p:nvPicPr>
        <p:blipFill>
          <a:blip r:embed="rId2"/>
          <a:stretch>
            <a:fillRect/>
          </a:stretch>
        </p:blipFill>
        <p:spPr>
          <a:xfrm>
            <a:off x="10668000" y="5727700"/>
            <a:ext cx="762000" cy="209550"/>
          </a:xfrm>
          <a:prstGeom prst="rect">
            <a:avLst/>
          </a:prstGeom>
        </p:spPr>
      </p:pic>
      <p:sp>
        <p:nvSpPr>
          <p:cNvPr id="20" name="TextBox 19"/>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De Beslissing</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350" b="0">
                <a:solidFill>
                  <a:srgbClr val="002333"/>
                </a:solidFill>
                <a:latin typeface="Inter"/>
              </a:rPr>
              <a:t>Volledige focus op particuliere instellingen: for-profit en non-profit, geen staatsgesubsidieerd.</a:t>
            </a:r>
          </a:p>
        </p:txBody>
      </p:sp>
      <p:sp>
        <p:nvSpPr>
          <p:cNvPr id="4" name="Rounded Rectangle 3"/>
          <p:cNvSpPr/>
          <p:nvPr/>
        </p:nvSpPr>
        <p:spPr>
          <a:xfrm>
            <a:off x="762000" y="1524000"/>
            <a:ext cx="63500" cy="63500"/>
          </a:xfrm>
          <a:prstGeom prst="roundRect">
            <a:avLst>
              <a:gd name="adj" fmla="val 50000"/>
            </a:avLst>
          </a:prstGeom>
          <a:solidFill>
            <a:srgbClr val="0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2500" y="1460500"/>
            <a:ext cx="10477500" cy="393700"/>
          </a:xfrm>
          <a:prstGeom prst="rect">
            <a:avLst/>
          </a:prstGeom>
          <a:noFill/>
        </p:spPr>
        <p:txBody>
          <a:bodyPr wrap="square" lIns="0" rIns="0" tIns="0" bIns="0">
            <a:spAutoFit/>
          </a:bodyPr>
          <a:lstStyle/>
          <a:p>
            <a:pPr algn="l">
              <a:lnSpc>
                <a:spcPct val="130000"/>
              </a:lnSpc>
            </a:pPr>
            <a:r>
              <a:rPr sz="1450" b="0">
                <a:solidFill>
                  <a:srgbClr val="002333"/>
                </a:solidFill>
                <a:latin typeface="Inter"/>
              </a:rPr>
              <a:t>Bij private instellingen gaan keuzes een stuk sneller en is er meer budget beschikbaar voor een veel kleinere implementatie.</a:t>
            </a:r>
          </a:p>
        </p:txBody>
      </p:sp>
      <p:sp>
        <p:nvSpPr>
          <p:cNvPr id="6" name="Rectangle 5"/>
          <p:cNvSpPr/>
          <p:nvPr/>
        </p:nvSpPr>
        <p:spPr>
          <a:xfrm>
            <a:off x="762000" y="2032000"/>
            <a:ext cx="106680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2222500"/>
            <a:ext cx="2540000" cy="215900"/>
          </a:xfrm>
          <a:prstGeom prst="rect">
            <a:avLst/>
          </a:prstGeom>
          <a:noFill/>
        </p:spPr>
        <p:txBody>
          <a:bodyPr wrap="square" lIns="0" rIns="0" tIns="0" bIns="0">
            <a:spAutoFit/>
          </a:bodyPr>
          <a:lstStyle/>
          <a:p>
            <a:pPr algn="l">
              <a:lnSpc>
                <a:spcPct val="115000"/>
              </a:lnSpc>
            </a:pPr>
            <a:r>
              <a:rPr sz="950" b="1">
                <a:solidFill>
                  <a:srgbClr val="5B7480"/>
                </a:solidFill>
                <a:latin typeface="Inter"/>
              </a:rPr>
              <a:t>DE MARKT ERACHTER</a:t>
            </a:r>
          </a:p>
        </p:txBody>
      </p:sp>
      <p:sp>
        <p:nvSpPr>
          <p:cNvPr id="8" name="TextBox 7"/>
          <p:cNvSpPr txBox="1"/>
          <p:nvPr/>
        </p:nvSpPr>
        <p:spPr>
          <a:xfrm>
            <a:off x="762000" y="2476500"/>
            <a:ext cx="3556000" cy="190500"/>
          </a:xfrm>
          <a:prstGeom prst="rect">
            <a:avLst/>
          </a:prstGeom>
          <a:noFill/>
        </p:spPr>
        <p:txBody>
          <a:bodyPr wrap="square" lIns="0" rIns="0" tIns="0" bIns="0">
            <a:spAutoFit/>
          </a:bodyPr>
          <a:lstStyle/>
          <a:p>
            <a:pPr algn="l">
              <a:lnSpc>
                <a:spcPct val="115000"/>
              </a:lnSpc>
            </a:pPr>
            <a:r>
              <a:rPr sz="950" b="1">
                <a:solidFill>
                  <a:srgbClr val="5B7480"/>
                </a:solidFill>
                <a:latin typeface="Inter"/>
              </a:rPr>
              <a:t>Markt</a:t>
            </a:r>
          </a:p>
        </p:txBody>
      </p:sp>
      <p:sp>
        <p:nvSpPr>
          <p:cNvPr id="9" name="TextBox 8"/>
          <p:cNvSpPr txBox="1"/>
          <p:nvPr/>
        </p:nvSpPr>
        <p:spPr>
          <a:xfrm>
            <a:off x="4445000" y="2476500"/>
            <a:ext cx="4318000" cy="190500"/>
          </a:xfrm>
          <a:prstGeom prst="rect">
            <a:avLst/>
          </a:prstGeom>
          <a:noFill/>
        </p:spPr>
        <p:txBody>
          <a:bodyPr wrap="square" lIns="0" rIns="0" tIns="0" bIns="0">
            <a:spAutoFit/>
          </a:bodyPr>
          <a:lstStyle/>
          <a:p>
            <a:pPr algn="l">
              <a:lnSpc>
                <a:spcPct val="115000"/>
              </a:lnSpc>
            </a:pPr>
            <a:r>
              <a:rPr sz="950" b="1">
                <a:solidFill>
                  <a:srgbClr val="5B7480"/>
                </a:solidFill>
                <a:latin typeface="Inter"/>
              </a:rPr>
              <a:t>Omvang</a:t>
            </a:r>
          </a:p>
        </p:txBody>
      </p:sp>
      <p:sp>
        <p:nvSpPr>
          <p:cNvPr id="10" name="TextBox 9"/>
          <p:cNvSpPr txBox="1"/>
          <p:nvPr/>
        </p:nvSpPr>
        <p:spPr>
          <a:xfrm>
            <a:off x="8890000" y="2476500"/>
            <a:ext cx="2540000" cy="190500"/>
          </a:xfrm>
          <a:prstGeom prst="rect">
            <a:avLst/>
          </a:prstGeom>
          <a:noFill/>
        </p:spPr>
        <p:txBody>
          <a:bodyPr wrap="square" lIns="0" rIns="0" tIns="0" bIns="0">
            <a:spAutoFit/>
          </a:bodyPr>
          <a:lstStyle/>
          <a:p>
            <a:pPr algn="r">
              <a:lnSpc>
                <a:spcPct val="115000"/>
              </a:lnSpc>
            </a:pPr>
            <a:r>
              <a:rPr sz="950" b="1">
                <a:solidFill>
                  <a:srgbClr val="5B7480"/>
                </a:solidFill>
                <a:latin typeface="Inter"/>
              </a:rPr>
              <a:t>ARR-potentie</a:t>
            </a:r>
          </a:p>
        </p:txBody>
      </p:sp>
      <p:sp>
        <p:nvSpPr>
          <p:cNvPr id="11" name="Rectangle 10"/>
          <p:cNvSpPr/>
          <p:nvPr/>
        </p:nvSpPr>
        <p:spPr>
          <a:xfrm>
            <a:off x="762000" y="2667000"/>
            <a:ext cx="10668000" cy="127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755900"/>
            <a:ext cx="3556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Nederland, hoger onderwijs</a:t>
            </a:r>
          </a:p>
        </p:txBody>
      </p:sp>
      <p:sp>
        <p:nvSpPr>
          <p:cNvPr id="13" name="TextBox 12"/>
          <p:cNvSpPr txBox="1"/>
          <p:nvPr/>
        </p:nvSpPr>
        <p:spPr>
          <a:xfrm>
            <a:off x="4445000" y="2755900"/>
            <a:ext cx="4318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46.000-80.000</a:t>
            </a:r>
          </a:p>
        </p:txBody>
      </p:sp>
      <p:sp>
        <p:nvSpPr>
          <p:cNvPr id="14" name="TextBox 13"/>
          <p:cNvSpPr txBox="1"/>
          <p:nvPr/>
        </p:nvSpPr>
        <p:spPr>
          <a:xfrm>
            <a:off x="8890000" y="2755900"/>
            <a:ext cx="2540000" cy="228600"/>
          </a:xfrm>
          <a:prstGeom prst="rect">
            <a:avLst/>
          </a:prstGeom>
          <a:noFill/>
        </p:spPr>
        <p:txBody>
          <a:bodyPr wrap="square" lIns="0" rIns="0" tIns="0" bIns="0">
            <a:spAutoFit/>
          </a:bodyPr>
          <a:lstStyle/>
          <a:p>
            <a:pPr algn="r">
              <a:lnSpc>
                <a:spcPct val="115000"/>
              </a:lnSpc>
            </a:pPr>
            <a:r>
              <a:rPr sz="1250" b="0">
                <a:solidFill>
                  <a:srgbClr val="002333"/>
                </a:solidFill>
                <a:latin typeface="Inter"/>
              </a:rPr>
              <a:t>€1,7-2,9 mln</a:t>
            </a:r>
          </a:p>
        </p:txBody>
      </p:sp>
      <p:sp>
        <p:nvSpPr>
          <p:cNvPr id="15" name="TextBox 14"/>
          <p:cNvSpPr txBox="1"/>
          <p:nvPr/>
        </p:nvSpPr>
        <p:spPr>
          <a:xfrm>
            <a:off x="762000" y="3022600"/>
            <a:ext cx="3556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VK, hoger onderwijs (AP)</a:t>
            </a:r>
          </a:p>
        </p:txBody>
      </p:sp>
      <p:sp>
        <p:nvSpPr>
          <p:cNvPr id="16" name="TextBox 15"/>
          <p:cNvSpPr txBox="1"/>
          <p:nvPr/>
        </p:nvSpPr>
        <p:spPr>
          <a:xfrm>
            <a:off x="4445000" y="3022600"/>
            <a:ext cx="4318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≥71.050</a:t>
            </a:r>
          </a:p>
        </p:txBody>
      </p:sp>
      <p:sp>
        <p:nvSpPr>
          <p:cNvPr id="17" name="TextBox 16"/>
          <p:cNvSpPr txBox="1"/>
          <p:nvPr/>
        </p:nvSpPr>
        <p:spPr>
          <a:xfrm>
            <a:off x="8890000" y="3022600"/>
            <a:ext cx="2540000" cy="228600"/>
          </a:xfrm>
          <a:prstGeom prst="rect">
            <a:avLst/>
          </a:prstGeom>
          <a:noFill/>
        </p:spPr>
        <p:txBody>
          <a:bodyPr wrap="square" lIns="0" rIns="0" tIns="0" bIns="0">
            <a:spAutoFit/>
          </a:bodyPr>
          <a:lstStyle/>
          <a:p>
            <a:pPr algn="r">
              <a:lnSpc>
                <a:spcPct val="115000"/>
              </a:lnSpc>
            </a:pPr>
            <a:r>
              <a:rPr sz="1250" b="0">
                <a:solidFill>
                  <a:srgbClr val="002333"/>
                </a:solidFill>
                <a:latin typeface="Inter"/>
              </a:rPr>
              <a:t>≥£2,6 mln</a:t>
            </a:r>
          </a:p>
        </p:txBody>
      </p:sp>
      <p:sp>
        <p:nvSpPr>
          <p:cNvPr id="18" name="TextBox 17"/>
          <p:cNvSpPr txBox="1"/>
          <p:nvPr/>
        </p:nvSpPr>
        <p:spPr>
          <a:xfrm>
            <a:off x="762000" y="3289300"/>
            <a:ext cx="3556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VK, apprenticeships (ITP)</a:t>
            </a:r>
          </a:p>
        </p:txBody>
      </p:sp>
      <p:sp>
        <p:nvSpPr>
          <p:cNvPr id="19" name="TextBox 18"/>
          <p:cNvSpPr txBox="1"/>
          <p:nvPr/>
        </p:nvSpPr>
        <p:spPr>
          <a:xfrm>
            <a:off x="4445000" y="3289300"/>
            <a:ext cx="4318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~520.000</a:t>
            </a:r>
          </a:p>
        </p:txBody>
      </p:sp>
      <p:sp>
        <p:nvSpPr>
          <p:cNvPr id="20" name="TextBox 19"/>
          <p:cNvSpPr txBox="1"/>
          <p:nvPr/>
        </p:nvSpPr>
        <p:spPr>
          <a:xfrm>
            <a:off x="8890000" y="3289300"/>
            <a:ext cx="2540000" cy="228600"/>
          </a:xfrm>
          <a:prstGeom prst="rect">
            <a:avLst/>
          </a:prstGeom>
          <a:noFill/>
        </p:spPr>
        <p:txBody>
          <a:bodyPr wrap="square" lIns="0" rIns="0" tIns="0" bIns="0">
            <a:spAutoFit/>
          </a:bodyPr>
          <a:lstStyle/>
          <a:p>
            <a:pPr algn="r">
              <a:lnSpc>
                <a:spcPct val="115000"/>
              </a:lnSpc>
            </a:pPr>
            <a:r>
              <a:rPr sz="1250" b="0">
                <a:solidFill>
                  <a:srgbClr val="002333"/>
                </a:solidFill>
                <a:latin typeface="Inter"/>
              </a:rPr>
              <a:t>~£18,7 mln</a:t>
            </a:r>
          </a:p>
        </p:txBody>
      </p:sp>
      <p:sp>
        <p:nvSpPr>
          <p:cNvPr id="21" name="TextBox 20"/>
          <p:cNvSpPr txBox="1"/>
          <p:nvPr/>
        </p:nvSpPr>
        <p:spPr>
          <a:xfrm>
            <a:off x="762000" y="3556000"/>
            <a:ext cx="3556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VK, franchise-laag</a:t>
            </a:r>
          </a:p>
        </p:txBody>
      </p:sp>
      <p:sp>
        <p:nvSpPr>
          <p:cNvPr id="22" name="TextBox 21"/>
          <p:cNvSpPr txBox="1"/>
          <p:nvPr/>
        </p:nvSpPr>
        <p:spPr>
          <a:xfrm>
            <a:off x="4445000" y="3556000"/>
            <a:ext cx="4318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167.440</a:t>
            </a:r>
          </a:p>
        </p:txBody>
      </p:sp>
      <p:sp>
        <p:nvSpPr>
          <p:cNvPr id="23" name="TextBox 22"/>
          <p:cNvSpPr txBox="1"/>
          <p:nvPr/>
        </p:nvSpPr>
        <p:spPr>
          <a:xfrm>
            <a:off x="8890000" y="3556000"/>
            <a:ext cx="2540000" cy="228600"/>
          </a:xfrm>
          <a:prstGeom prst="rect">
            <a:avLst/>
          </a:prstGeom>
          <a:noFill/>
        </p:spPr>
        <p:txBody>
          <a:bodyPr wrap="square" lIns="0" rIns="0" tIns="0" bIns="0">
            <a:spAutoFit/>
          </a:bodyPr>
          <a:lstStyle/>
          <a:p>
            <a:pPr algn="r">
              <a:lnSpc>
                <a:spcPct val="115000"/>
              </a:lnSpc>
            </a:pPr>
            <a:r>
              <a:rPr sz="1250" b="0">
                <a:solidFill>
                  <a:srgbClr val="002333"/>
                </a:solidFill>
                <a:latin typeface="Inter"/>
              </a:rPr>
              <a:t>~£6,0 mln</a:t>
            </a:r>
          </a:p>
        </p:txBody>
      </p:sp>
      <p:sp>
        <p:nvSpPr>
          <p:cNvPr id="24" name="TextBox 23"/>
          <p:cNvSpPr txBox="1"/>
          <p:nvPr/>
        </p:nvSpPr>
        <p:spPr>
          <a:xfrm>
            <a:off x="762000" y="3822700"/>
            <a:ext cx="3556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Verenigde Staten, particulier</a:t>
            </a:r>
          </a:p>
        </p:txBody>
      </p:sp>
      <p:sp>
        <p:nvSpPr>
          <p:cNvPr id="25" name="TextBox 24"/>
          <p:cNvSpPr txBox="1"/>
          <p:nvPr/>
        </p:nvSpPr>
        <p:spPr>
          <a:xfrm>
            <a:off x="4445000" y="3822700"/>
            <a:ext cx="4318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~4,2 mln</a:t>
            </a:r>
          </a:p>
        </p:txBody>
      </p:sp>
      <p:sp>
        <p:nvSpPr>
          <p:cNvPr id="26" name="TextBox 25"/>
          <p:cNvSpPr txBox="1"/>
          <p:nvPr/>
        </p:nvSpPr>
        <p:spPr>
          <a:xfrm>
            <a:off x="8890000" y="3822700"/>
            <a:ext cx="2540000" cy="228600"/>
          </a:xfrm>
          <a:prstGeom prst="rect">
            <a:avLst/>
          </a:prstGeom>
          <a:noFill/>
        </p:spPr>
        <p:txBody>
          <a:bodyPr wrap="square" lIns="0" rIns="0" tIns="0" bIns="0">
            <a:spAutoFit/>
          </a:bodyPr>
          <a:lstStyle/>
          <a:p>
            <a:pPr algn="r">
              <a:lnSpc>
                <a:spcPct val="115000"/>
              </a:lnSpc>
            </a:pPr>
            <a:r>
              <a:rPr sz="1250" b="0">
                <a:solidFill>
                  <a:srgbClr val="002333"/>
                </a:solidFill>
                <a:latin typeface="Inter"/>
              </a:rPr>
              <a:t>~$150,8 mln</a:t>
            </a:r>
          </a:p>
        </p:txBody>
      </p:sp>
      <p:sp>
        <p:nvSpPr>
          <p:cNvPr id="27" name="TextBox 26"/>
          <p:cNvSpPr txBox="1"/>
          <p:nvPr/>
        </p:nvSpPr>
        <p:spPr>
          <a:xfrm>
            <a:off x="762000" y="4089400"/>
            <a:ext cx="3556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Europa, overig (niet herzien)</a:t>
            </a:r>
          </a:p>
        </p:txBody>
      </p:sp>
      <p:sp>
        <p:nvSpPr>
          <p:cNvPr id="28" name="TextBox 27"/>
          <p:cNvSpPr txBox="1"/>
          <p:nvPr/>
        </p:nvSpPr>
        <p:spPr>
          <a:xfrm>
            <a:off x="4445000" y="4089400"/>
            <a:ext cx="4318000" cy="228600"/>
          </a:xfrm>
          <a:prstGeom prst="rect">
            <a:avLst/>
          </a:prstGeom>
          <a:noFill/>
        </p:spPr>
        <p:txBody>
          <a:bodyPr wrap="square" lIns="0" rIns="0" tIns="0" bIns="0">
            <a:spAutoFit/>
          </a:bodyPr>
          <a:lstStyle/>
          <a:p>
            <a:pPr algn="l">
              <a:lnSpc>
                <a:spcPct val="115000"/>
              </a:lnSpc>
            </a:pPr>
            <a:r>
              <a:rPr sz="1250" b="0">
                <a:solidFill>
                  <a:srgbClr val="002333"/>
                </a:solidFill>
                <a:latin typeface="Inter"/>
              </a:rPr>
              <a:t>3,6 mln</a:t>
            </a:r>
          </a:p>
        </p:txBody>
      </p:sp>
      <p:sp>
        <p:nvSpPr>
          <p:cNvPr id="29" name="TextBox 28"/>
          <p:cNvSpPr txBox="1"/>
          <p:nvPr/>
        </p:nvSpPr>
        <p:spPr>
          <a:xfrm>
            <a:off x="8890000" y="4089400"/>
            <a:ext cx="2540000" cy="228600"/>
          </a:xfrm>
          <a:prstGeom prst="rect">
            <a:avLst/>
          </a:prstGeom>
          <a:noFill/>
        </p:spPr>
        <p:txBody>
          <a:bodyPr wrap="square" lIns="0" rIns="0" tIns="0" bIns="0">
            <a:spAutoFit/>
          </a:bodyPr>
          <a:lstStyle/>
          <a:p>
            <a:pPr algn="r">
              <a:lnSpc>
                <a:spcPct val="115000"/>
              </a:lnSpc>
            </a:pPr>
            <a:r>
              <a:rPr sz="1250" b="0">
                <a:solidFill>
                  <a:srgbClr val="002333"/>
                </a:solidFill>
                <a:latin typeface="Inter"/>
              </a:rPr>
              <a:t>~€129,6 mln</a:t>
            </a:r>
          </a:p>
        </p:txBody>
      </p:sp>
      <p:sp>
        <p:nvSpPr>
          <p:cNvPr id="30" name="TextBox 29"/>
          <p:cNvSpPr txBox="1"/>
          <p:nvPr/>
        </p:nvSpPr>
        <p:spPr>
          <a:xfrm>
            <a:off x="762000" y="4394200"/>
            <a:ext cx="10668000" cy="381000"/>
          </a:xfrm>
          <a:prstGeom prst="rect">
            <a:avLst/>
          </a:prstGeom>
          <a:noFill/>
        </p:spPr>
        <p:txBody>
          <a:bodyPr wrap="square" lIns="0" rIns="0" tIns="0" bIns="0">
            <a:spAutoFit/>
          </a:bodyPr>
          <a:lstStyle/>
          <a:p>
            <a:pPr algn="l">
              <a:lnSpc>
                <a:spcPct val="130000"/>
              </a:lnSpc>
            </a:pPr>
            <a:r>
              <a:rPr sz="950" b="0">
                <a:solidFill>
                  <a:srgbClr val="5B7480"/>
                </a:solidFill>
                <a:latin typeface="Inter"/>
              </a:rPr>
              <a:t>Hoger door het juiste prijsmodel (36/jaar, niet 7,88), niet door een grotere markt: NL en VK hoger onderwijs kwamen bij hercontrole juist lager uit. 0 particuliere deals gewonnen tot nu toe (Tio, ICM, CMS Vocational alle Lost); dit is TAM, geen omzet.</a:t>
            </a:r>
          </a:p>
        </p:txBody>
      </p:sp>
      <p:sp>
        <p:nvSpPr>
          <p:cNvPr id="31" name="Rectangle 30"/>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Marktomvang herzien 24-09-2026: DUO/NRTO, HESA, NCES, eigen pijplijn. HESA/NCES/Eurostat/DUO waren geblokkeerd in de sessie, cijfers zijn kruislings gezocht, niet uit brontabellen.</a:t>
            </a:r>
          </a:p>
        </p:txBody>
      </p:sp>
      <p:pic>
        <p:nvPicPr>
          <p:cNvPr id="33" name="Picture 32" descr="logo_navy.png"/>
          <p:cNvPicPr>
            <a:picLocks noChangeAspect="1"/>
          </p:cNvPicPr>
          <p:nvPr/>
        </p:nvPicPr>
        <p:blipFill>
          <a:blip r:embed="rId2"/>
          <a:stretch>
            <a:fillRect/>
          </a:stretch>
        </p:blipFill>
        <p:spPr>
          <a:xfrm>
            <a:off x="10668000" y="5727700"/>
            <a:ext cx="762000" cy="209550"/>
          </a:xfrm>
          <a:prstGeom prst="rect">
            <a:avLst/>
          </a:prstGeom>
        </p:spPr>
      </p:pic>
      <p:sp>
        <p:nvSpPr>
          <p:cNvPr id="34" name="TextBox 33"/>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Het product</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350" b="0">
                <a:solidFill>
                  <a:srgbClr val="5B7480"/>
                </a:solidFill>
                <a:latin typeface="Inter"/>
              </a:rPr>
              <a:t>Feedback verder configureerbaar gemaakt.</a:t>
            </a:r>
          </a:p>
        </p:txBody>
      </p:sp>
      <p:sp>
        <p:nvSpPr>
          <p:cNvPr id="4" name="TextBox 3"/>
          <p:cNvSpPr txBox="1"/>
          <p:nvPr/>
        </p:nvSpPr>
        <p:spPr>
          <a:xfrm>
            <a:off x="762000" y="1460500"/>
            <a:ext cx="10668000" cy="330200"/>
          </a:xfrm>
          <a:prstGeom prst="rect">
            <a:avLst/>
          </a:prstGeom>
          <a:noFill/>
        </p:spPr>
        <p:txBody>
          <a:bodyPr wrap="square" lIns="0" rIns="0" tIns="0" bIns="0">
            <a:spAutoFit/>
          </a:bodyPr>
          <a:lstStyle/>
          <a:p>
            <a:pPr algn="l">
              <a:lnSpc>
                <a:spcPct val="130000"/>
              </a:lnSpc>
            </a:pPr>
            <a:r>
              <a:rPr sz="1350" b="0">
                <a:solidFill>
                  <a:srgbClr val="002333"/>
                </a:solidFill>
                <a:latin typeface="Inter"/>
              </a:rPr>
              <a:t>Grootste uitdaging was de feedback kunnen aanpassen naar hoe de docent het zelf zou zeggen. Dat is nu heel makkelijk gemaakt.</a:t>
            </a:r>
          </a:p>
        </p:txBody>
      </p:sp>
      <p:sp>
        <p:nvSpPr>
          <p:cNvPr id="5" name="Rounded Rectangle 4"/>
          <p:cNvSpPr/>
          <p:nvPr/>
        </p:nvSpPr>
        <p:spPr>
          <a:xfrm>
            <a:off x="3276600" y="2006600"/>
            <a:ext cx="5638800" cy="3098800"/>
          </a:xfrm>
          <a:prstGeom prst="roundRect">
            <a:avLst>
              <a:gd name="adj" fmla="val 2459"/>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eedback-style-screenshot.png"/>
          <p:cNvPicPr>
            <a:picLocks noChangeAspect="1"/>
          </p:cNvPicPr>
          <p:nvPr/>
        </p:nvPicPr>
        <p:blipFill>
          <a:blip r:embed="rId2"/>
          <a:stretch>
            <a:fillRect/>
          </a:stretch>
        </p:blipFill>
        <p:spPr>
          <a:xfrm>
            <a:off x="3302000" y="2032000"/>
            <a:ext cx="5588000" cy="3048000"/>
          </a:xfrm>
          <a:prstGeom prst="rect">
            <a:avLst/>
          </a:prstGeom>
        </p:spPr>
      </p:pic>
      <p:sp>
        <p:nvSpPr>
          <p:cNvPr id="7" name="Rectangle 6"/>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Product-UI, sep 2026.</a:t>
            </a:r>
          </a:p>
        </p:txBody>
      </p:sp>
      <p:pic>
        <p:nvPicPr>
          <p:cNvPr id="9" name="Picture 8" descr="logo_navy.png"/>
          <p:cNvPicPr>
            <a:picLocks noChangeAspect="1"/>
          </p:cNvPicPr>
          <p:nvPr/>
        </p:nvPicPr>
        <p:blipFill>
          <a:blip r:embed="rId3"/>
          <a:stretch>
            <a:fillRect/>
          </a:stretch>
        </p:blipFill>
        <p:spPr>
          <a:xfrm>
            <a:off x="10668000" y="5727700"/>
            <a:ext cx="762000" cy="209550"/>
          </a:xfrm>
          <a:prstGeom prst="rect">
            <a:avLst/>
          </a:prstGeom>
        </p:spPr>
      </p:pic>
      <p:sp>
        <p:nvSpPr>
          <p:cNvPr id="10" name="TextBox 9"/>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GTM</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350" b="0">
                <a:solidFill>
                  <a:srgbClr val="5B7480"/>
                </a:solidFill>
                <a:latin typeface="Inter"/>
              </a:rPr>
              <a:t>De aanpak is sinds vorige board meeting fundamenteel veranderd.</a:t>
            </a:r>
          </a:p>
        </p:txBody>
      </p:sp>
      <p:sp>
        <p:nvSpPr>
          <p:cNvPr id="4" name="TextBox 3"/>
          <p:cNvSpPr txBox="1"/>
          <p:nvPr/>
        </p:nvSpPr>
        <p:spPr>
          <a:xfrm>
            <a:off x="762000" y="1651000"/>
            <a:ext cx="5105400" cy="254000"/>
          </a:xfrm>
          <a:prstGeom prst="rect">
            <a:avLst/>
          </a:prstGeom>
          <a:noFill/>
        </p:spPr>
        <p:txBody>
          <a:bodyPr wrap="square" lIns="0" rIns="0" tIns="0" bIns="0">
            <a:spAutoFit/>
          </a:bodyPr>
          <a:lstStyle/>
          <a:p>
            <a:pPr algn="l">
              <a:lnSpc>
                <a:spcPct val="115000"/>
              </a:lnSpc>
            </a:pPr>
            <a:r>
              <a:rPr sz="1100" b="1">
                <a:solidFill>
                  <a:srgbClr val="5B7480"/>
                </a:solidFill>
                <a:latin typeface="Inter"/>
              </a:rPr>
              <a:t>TOEN</a:t>
            </a:r>
          </a:p>
        </p:txBody>
      </p:sp>
      <p:sp>
        <p:nvSpPr>
          <p:cNvPr id="5" name="Rounded Rectangle 4"/>
          <p:cNvSpPr/>
          <p:nvPr/>
        </p:nvSpPr>
        <p:spPr>
          <a:xfrm>
            <a:off x="762000" y="2032000"/>
            <a:ext cx="63500" cy="63500"/>
          </a:xfrm>
          <a:prstGeom prst="roundRect">
            <a:avLst>
              <a:gd name="adj" fmla="val 50000"/>
            </a:avLst>
          </a:prstGeom>
          <a:solidFill>
            <a:srgbClr val="5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1968500"/>
            <a:ext cx="4914900" cy="368300"/>
          </a:xfrm>
          <a:prstGeom prst="rect">
            <a:avLst/>
          </a:prstGeom>
          <a:noFill/>
        </p:spPr>
        <p:txBody>
          <a:bodyPr wrap="square" lIns="0" rIns="0" tIns="0" bIns="0">
            <a:spAutoFit/>
          </a:bodyPr>
          <a:lstStyle/>
          <a:p>
            <a:pPr algn="l">
              <a:lnSpc>
                <a:spcPct val="130000"/>
              </a:lnSpc>
            </a:pPr>
            <a:r>
              <a:rPr sz="1250" b="0">
                <a:solidFill>
                  <a:srgbClr val="002333"/>
                </a:solidFill>
                <a:latin typeface="Inter"/>
              </a:rPr>
              <a:t>Introducties via het netwerk.</a:t>
            </a:r>
          </a:p>
        </p:txBody>
      </p:sp>
      <p:sp>
        <p:nvSpPr>
          <p:cNvPr id="7" name="Rounded Rectangle 6"/>
          <p:cNvSpPr/>
          <p:nvPr/>
        </p:nvSpPr>
        <p:spPr>
          <a:xfrm>
            <a:off x="762000" y="2451100"/>
            <a:ext cx="63500" cy="63500"/>
          </a:xfrm>
          <a:prstGeom prst="roundRect">
            <a:avLst>
              <a:gd name="adj" fmla="val 50000"/>
            </a:avLst>
          </a:prstGeom>
          <a:solidFill>
            <a:srgbClr val="5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2500" y="2387600"/>
            <a:ext cx="4914900" cy="368300"/>
          </a:xfrm>
          <a:prstGeom prst="rect">
            <a:avLst/>
          </a:prstGeom>
          <a:noFill/>
        </p:spPr>
        <p:txBody>
          <a:bodyPr wrap="square" lIns="0" rIns="0" tIns="0" bIns="0">
            <a:spAutoFit/>
          </a:bodyPr>
          <a:lstStyle/>
          <a:p>
            <a:pPr algn="l">
              <a:lnSpc>
                <a:spcPct val="130000"/>
              </a:lnSpc>
            </a:pPr>
            <a:r>
              <a:rPr sz="1250" b="0">
                <a:solidFill>
                  <a:srgbClr val="002333"/>
                </a:solidFill>
                <a:latin typeface="Inter"/>
              </a:rPr>
              <a:t>Dure beurzen en evenementen.</a:t>
            </a:r>
          </a:p>
        </p:txBody>
      </p:sp>
      <p:sp>
        <p:nvSpPr>
          <p:cNvPr id="9" name="Rounded Rectangle 8"/>
          <p:cNvSpPr/>
          <p:nvPr/>
        </p:nvSpPr>
        <p:spPr>
          <a:xfrm>
            <a:off x="762000" y="2870200"/>
            <a:ext cx="63500" cy="63500"/>
          </a:xfrm>
          <a:prstGeom prst="roundRect">
            <a:avLst>
              <a:gd name="adj" fmla="val 50000"/>
            </a:avLst>
          </a:prstGeom>
          <a:solidFill>
            <a:srgbClr val="5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2500" y="2806700"/>
            <a:ext cx="4914900" cy="368300"/>
          </a:xfrm>
          <a:prstGeom prst="rect">
            <a:avLst/>
          </a:prstGeom>
          <a:noFill/>
        </p:spPr>
        <p:txBody>
          <a:bodyPr wrap="square" lIns="0" rIns="0" tIns="0" bIns="0">
            <a:spAutoFit/>
          </a:bodyPr>
          <a:lstStyle/>
          <a:p>
            <a:pPr algn="l">
              <a:lnSpc>
                <a:spcPct val="130000"/>
              </a:lnSpc>
            </a:pPr>
            <a:r>
              <a:rPr sz="1250" b="0">
                <a:solidFill>
                  <a:srgbClr val="002333"/>
                </a:solidFill>
                <a:latin typeface="Inter"/>
              </a:rPr>
              <a:t>Webinars.</a:t>
            </a:r>
          </a:p>
        </p:txBody>
      </p:sp>
      <p:sp>
        <p:nvSpPr>
          <p:cNvPr id="11" name="Rounded Rectangle 10"/>
          <p:cNvSpPr/>
          <p:nvPr/>
        </p:nvSpPr>
        <p:spPr>
          <a:xfrm>
            <a:off x="762000" y="3289300"/>
            <a:ext cx="63500" cy="63500"/>
          </a:xfrm>
          <a:prstGeom prst="roundRect">
            <a:avLst>
              <a:gd name="adj" fmla="val 50000"/>
            </a:avLst>
          </a:prstGeom>
          <a:solidFill>
            <a:srgbClr val="5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2500" y="3225800"/>
            <a:ext cx="4914900" cy="368300"/>
          </a:xfrm>
          <a:prstGeom prst="rect">
            <a:avLst/>
          </a:prstGeom>
          <a:noFill/>
        </p:spPr>
        <p:txBody>
          <a:bodyPr wrap="square" lIns="0" rIns="0" tIns="0" bIns="0">
            <a:spAutoFit/>
          </a:bodyPr>
          <a:lstStyle/>
          <a:p>
            <a:pPr algn="l">
              <a:lnSpc>
                <a:spcPct val="130000"/>
              </a:lnSpc>
            </a:pPr>
            <a:r>
              <a:rPr sz="1250" b="0">
                <a:solidFill>
                  <a:srgbClr val="002333"/>
                </a:solidFill>
                <a:latin typeface="Inter"/>
              </a:rPr>
              <a:t>Eén-op-één, duur per lead, niet herhaalbaar zonder het volgende evenement.</a:t>
            </a:r>
          </a:p>
        </p:txBody>
      </p:sp>
      <p:sp>
        <p:nvSpPr>
          <p:cNvPr id="13" name="TextBox 12"/>
          <p:cNvSpPr txBox="1"/>
          <p:nvPr/>
        </p:nvSpPr>
        <p:spPr>
          <a:xfrm>
            <a:off x="6324600" y="1651000"/>
            <a:ext cx="5105400" cy="254000"/>
          </a:xfrm>
          <a:prstGeom prst="rect">
            <a:avLst/>
          </a:prstGeom>
          <a:noFill/>
        </p:spPr>
        <p:txBody>
          <a:bodyPr wrap="square" lIns="0" rIns="0" tIns="0" bIns="0">
            <a:spAutoFit/>
          </a:bodyPr>
          <a:lstStyle/>
          <a:p>
            <a:pPr algn="l">
              <a:lnSpc>
                <a:spcPct val="115000"/>
              </a:lnSpc>
            </a:pPr>
            <a:r>
              <a:rPr sz="1100" b="1">
                <a:solidFill>
                  <a:srgbClr val="007B54"/>
                </a:solidFill>
                <a:latin typeface="Inter"/>
              </a:rPr>
              <a:t>NU: DE SHIFT-PIJPLIJN</a:t>
            </a:r>
          </a:p>
        </p:txBody>
      </p:sp>
      <p:sp>
        <p:nvSpPr>
          <p:cNvPr id="14" name="Rounded Rectangle 13"/>
          <p:cNvSpPr/>
          <p:nvPr/>
        </p:nvSpPr>
        <p:spPr>
          <a:xfrm>
            <a:off x="6324600" y="2032000"/>
            <a:ext cx="63500" cy="63500"/>
          </a:xfrm>
          <a:prstGeom prst="roundRect">
            <a:avLst>
              <a:gd name="adj" fmla="val 50000"/>
            </a:avLst>
          </a:prstGeom>
          <a:solidFill>
            <a:srgbClr val="0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5100" y="1968500"/>
            <a:ext cx="4914900" cy="431800"/>
          </a:xfrm>
          <a:prstGeom prst="rect">
            <a:avLst/>
          </a:prstGeom>
          <a:noFill/>
        </p:spPr>
        <p:txBody>
          <a:bodyPr wrap="square" lIns="0" rIns="0" tIns="0" bIns="0">
            <a:spAutoFit/>
          </a:bodyPr>
          <a:lstStyle/>
          <a:p>
            <a:pPr algn="l">
              <a:lnSpc>
                <a:spcPct val="130000"/>
              </a:lnSpc>
            </a:pPr>
            <a:r>
              <a:rPr sz="1250" b="0">
                <a:solidFill>
                  <a:srgbClr val="002333"/>
                </a:solidFill>
                <a:latin typeface="Inter"/>
              </a:rPr>
              <a:t>LinkedIn-bericht → mail → warm bellen, geautomatiseerd van sourcing tot bericht.</a:t>
            </a:r>
          </a:p>
        </p:txBody>
      </p:sp>
      <p:sp>
        <p:nvSpPr>
          <p:cNvPr id="16" name="Rounded Rectangle 15"/>
          <p:cNvSpPr/>
          <p:nvPr/>
        </p:nvSpPr>
        <p:spPr>
          <a:xfrm>
            <a:off x="6324600" y="2514600"/>
            <a:ext cx="63500" cy="63500"/>
          </a:xfrm>
          <a:prstGeom prst="roundRect">
            <a:avLst>
              <a:gd name="adj" fmla="val 50000"/>
            </a:avLst>
          </a:prstGeom>
          <a:solidFill>
            <a:srgbClr val="0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5100" y="2451100"/>
            <a:ext cx="4914900" cy="431800"/>
          </a:xfrm>
          <a:prstGeom prst="rect">
            <a:avLst/>
          </a:prstGeom>
          <a:noFill/>
        </p:spPr>
        <p:txBody>
          <a:bodyPr wrap="square" lIns="0" rIns="0" tIns="0" bIns="0">
            <a:spAutoFit/>
          </a:bodyPr>
          <a:lstStyle/>
          <a:p>
            <a:pPr algn="l">
              <a:lnSpc>
                <a:spcPct val="130000"/>
              </a:lnSpc>
            </a:pPr>
            <a:r>
              <a:rPr sz="1250" b="0">
                <a:solidFill>
                  <a:srgbClr val="002333"/>
                </a:solidFill>
                <a:latin typeface="Inter"/>
              </a:rPr>
              <a:t>5 stappen: lead sourcing → contact sourcing → onderzoek → outreach → import in Lemlist.</a:t>
            </a:r>
          </a:p>
        </p:txBody>
      </p:sp>
      <p:sp>
        <p:nvSpPr>
          <p:cNvPr id="18" name="Rounded Rectangle 17"/>
          <p:cNvSpPr/>
          <p:nvPr/>
        </p:nvSpPr>
        <p:spPr>
          <a:xfrm>
            <a:off x="6324600" y="2997200"/>
            <a:ext cx="63500" cy="63500"/>
          </a:xfrm>
          <a:prstGeom prst="roundRect">
            <a:avLst>
              <a:gd name="adj" fmla="val 50000"/>
            </a:avLst>
          </a:prstGeom>
          <a:solidFill>
            <a:srgbClr val="0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5100" y="2933700"/>
            <a:ext cx="4914900" cy="431800"/>
          </a:xfrm>
          <a:prstGeom prst="rect">
            <a:avLst/>
          </a:prstGeom>
          <a:noFill/>
        </p:spPr>
        <p:txBody>
          <a:bodyPr wrap="square" lIns="0" rIns="0" tIns="0" bIns="0">
            <a:spAutoFit/>
          </a:bodyPr>
          <a:lstStyle/>
          <a:p>
            <a:pPr algn="l">
              <a:lnSpc>
                <a:spcPct val="130000"/>
              </a:lnSpc>
            </a:pPr>
            <a:r>
              <a:rPr sz="1250" b="0">
                <a:solidFill>
                  <a:srgbClr val="002333"/>
                </a:solidFill>
                <a:latin typeface="Inter"/>
              </a:rPr>
              <a:t>466 organisaties gescreend, 340 contactpersonen, 231 dossiers met bewijscitaat.</a:t>
            </a:r>
          </a:p>
        </p:txBody>
      </p:sp>
      <p:sp>
        <p:nvSpPr>
          <p:cNvPr id="20" name="TextBox 19"/>
          <p:cNvSpPr txBox="1"/>
          <p:nvPr/>
        </p:nvSpPr>
        <p:spPr>
          <a:xfrm>
            <a:off x="5905500" y="2921000"/>
            <a:ext cx="381000" cy="381000"/>
          </a:xfrm>
          <a:prstGeom prst="rect">
            <a:avLst/>
          </a:prstGeom>
          <a:noFill/>
        </p:spPr>
        <p:txBody>
          <a:bodyPr wrap="square" lIns="0" rIns="0" tIns="0" bIns="0">
            <a:spAutoFit/>
          </a:bodyPr>
          <a:lstStyle/>
          <a:p>
            <a:pPr algn="ctr">
              <a:lnSpc>
                <a:spcPct val="115000"/>
              </a:lnSpc>
            </a:pPr>
            <a:r>
              <a:rPr sz="2800" b="1">
                <a:solidFill>
                  <a:srgbClr val="E07B00"/>
                </a:solidFill>
                <a:latin typeface="League Spartan"/>
              </a:rPr>
              <a:t>→</a:t>
            </a:r>
          </a:p>
        </p:txBody>
      </p:sp>
      <p:sp>
        <p:nvSpPr>
          <p:cNvPr id="21" name="Rectangle 20"/>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SHIFT-pijplijn, sinds vorige board meeting.</a:t>
            </a:r>
          </a:p>
        </p:txBody>
      </p:sp>
      <p:pic>
        <p:nvPicPr>
          <p:cNvPr id="23" name="Picture 22" descr="logo_navy.png"/>
          <p:cNvPicPr>
            <a:picLocks noChangeAspect="1"/>
          </p:cNvPicPr>
          <p:nvPr/>
        </p:nvPicPr>
        <p:blipFill>
          <a:blip r:embed="rId2"/>
          <a:stretch>
            <a:fillRect/>
          </a:stretch>
        </p:blipFill>
        <p:spPr>
          <a:xfrm>
            <a:off x="10668000" y="5727700"/>
            <a:ext cx="762000" cy="209550"/>
          </a:xfrm>
          <a:prstGeom prst="rect">
            <a:avLst/>
          </a:prstGeom>
        </p:spPr>
      </p:pic>
      <p:sp>
        <p:nvSpPr>
          <p:cNvPr id="24" name="TextBox 23"/>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1176000" cy="533400"/>
          </a:xfrm>
          <a:prstGeom prst="rect">
            <a:avLst/>
          </a:prstGeom>
          <a:noFill/>
        </p:spPr>
        <p:txBody>
          <a:bodyPr wrap="square" lIns="0" rIns="0" tIns="0" bIns="0">
            <a:spAutoFit/>
          </a:bodyPr>
          <a:lstStyle/>
          <a:p>
            <a:pPr algn="l">
              <a:lnSpc>
                <a:spcPct val="115000"/>
              </a:lnSpc>
            </a:pPr>
            <a:r>
              <a:rPr sz="3000" b="1">
                <a:solidFill>
                  <a:srgbClr val="002333"/>
                </a:solidFill>
                <a:latin typeface="League Spartan"/>
              </a:rPr>
              <a:t>Milestones</a:t>
            </a:r>
          </a:p>
        </p:txBody>
      </p:sp>
      <p:sp>
        <p:nvSpPr>
          <p:cNvPr id="3" name="TextBox 2"/>
          <p:cNvSpPr txBox="1"/>
          <p:nvPr/>
        </p:nvSpPr>
        <p:spPr>
          <a:xfrm>
            <a:off x="762000" y="1143000"/>
            <a:ext cx="11176000" cy="279400"/>
          </a:xfrm>
          <a:prstGeom prst="rect">
            <a:avLst/>
          </a:prstGeom>
          <a:noFill/>
        </p:spPr>
        <p:txBody>
          <a:bodyPr wrap="square" lIns="0" rIns="0" tIns="0" bIns="0">
            <a:spAutoFit/>
          </a:bodyPr>
          <a:lstStyle/>
          <a:p>
            <a:pPr algn="l">
              <a:lnSpc>
                <a:spcPct val="115000"/>
              </a:lnSpc>
            </a:pPr>
            <a:r>
              <a:rPr sz="1350" b="0">
                <a:solidFill>
                  <a:srgbClr val="5B7480"/>
                </a:solidFill>
                <a:latin typeface="Inter"/>
              </a:rPr>
              <a:t>Drie voorwaarden voor de volgende CLA-tranche, nodig in december.</a:t>
            </a:r>
          </a:p>
        </p:txBody>
      </p:sp>
      <p:sp>
        <p:nvSpPr>
          <p:cNvPr id="4" name="Rounded Rectangle 3"/>
          <p:cNvSpPr/>
          <p:nvPr/>
        </p:nvSpPr>
        <p:spPr>
          <a:xfrm>
            <a:off x="762000" y="1587500"/>
            <a:ext cx="317500" cy="317500"/>
          </a:xfrm>
          <a:prstGeom prst="roundRect">
            <a:avLst>
              <a:gd name="adj" fmla="val 26000"/>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1612900"/>
            <a:ext cx="317500" cy="266700"/>
          </a:xfrm>
          <a:prstGeom prst="rect">
            <a:avLst/>
          </a:prstGeom>
          <a:noFill/>
        </p:spPr>
        <p:txBody>
          <a:bodyPr wrap="square" lIns="0" rIns="0" tIns="0" bIns="0">
            <a:spAutoFit/>
          </a:bodyPr>
          <a:lstStyle/>
          <a:p>
            <a:pPr algn="ctr">
              <a:lnSpc>
                <a:spcPct val="115000"/>
              </a:lnSpc>
            </a:pPr>
            <a:r>
              <a:rPr sz="1400" b="1">
                <a:solidFill>
                  <a:srgbClr val="E07B00"/>
                </a:solidFill>
                <a:latin typeface="League Spartan"/>
              </a:rPr>
              <a:t>1</a:t>
            </a:r>
          </a:p>
        </p:txBody>
      </p:sp>
      <p:sp>
        <p:nvSpPr>
          <p:cNvPr id="6" name="TextBox 5"/>
          <p:cNvSpPr txBox="1"/>
          <p:nvPr/>
        </p:nvSpPr>
        <p:spPr>
          <a:xfrm>
            <a:off x="1231900" y="1587500"/>
            <a:ext cx="10160000" cy="381000"/>
          </a:xfrm>
          <a:prstGeom prst="rect">
            <a:avLst/>
          </a:prstGeom>
          <a:noFill/>
        </p:spPr>
        <p:txBody>
          <a:bodyPr wrap="square" lIns="0" rIns="0" tIns="0" bIns="0">
            <a:spAutoFit/>
          </a:bodyPr>
          <a:lstStyle/>
          <a:p>
            <a:pPr algn="l">
              <a:lnSpc>
                <a:spcPct val="130000"/>
              </a:lnSpc>
            </a:pPr>
            <a:r>
              <a:rPr sz="1250" b="0">
                <a:solidFill>
                  <a:srgbClr val="002333"/>
                </a:solidFill>
                <a:latin typeface="Inter"/>
              </a:rPr>
              <a:t>2 betaalde pilotovereenkomsten met onafhankelijke HE-instellingen in het VK via Jisc/CHEST, elk ≥ £4.000, met Critical Success Factors richting een volledige institutionele licentie.</a:t>
            </a:r>
          </a:p>
        </p:txBody>
      </p:sp>
      <p:sp>
        <p:nvSpPr>
          <p:cNvPr id="7" name="TextBox 6"/>
          <p:cNvSpPr txBox="1"/>
          <p:nvPr/>
        </p:nvSpPr>
        <p:spPr>
          <a:xfrm>
            <a:off x="1231900" y="2070100"/>
            <a:ext cx="10160000" cy="381000"/>
          </a:xfrm>
          <a:prstGeom prst="rect">
            <a:avLst/>
          </a:prstGeom>
          <a:noFill/>
        </p:spPr>
        <p:txBody>
          <a:bodyPr wrap="square" lIns="0" rIns="0" tIns="0" bIns="0">
            <a:spAutoFit/>
          </a:bodyPr>
          <a:lstStyle/>
          <a:p>
            <a:pPr algn="l">
              <a:lnSpc>
                <a:spcPct val="125000"/>
              </a:lnSpc>
            </a:pPr>
            <a:r>
              <a:rPr sz="1150" b="1">
                <a:solidFill>
                  <a:srgbClr val="007B54"/>
                </a:solidFill>
                <a:latin typeface="Inter"/>
              </a:rPr>
              <a:t>Bristol University, Goldsmiths — beide UK, in pipeline, nog geen formele Jisc/CHEST-pilot gestart.</a:t>
            </a:r>
          </a:p>
        </p:txBody>
      </p:sp>
      <p:sp>
        <p:nvSpPr>
          <p:cNvPr id="8" name="Rounded Rectangle 7"/>
          <p:cNvSpPr/>
          <p:nvPr/>
        </p:nvSpPr>
        <p:spPr>
          <a:xfrm>
            <a:off x="762000" y="2667000"/>
            <a:ext cx="317500" cy="317500"/>
          </a:xfrm>
          <a:prstGeom prst="roundRect">
            <a:avLst>
              <a:gd name="adj" fmla="val 26000"/>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692400"/>
            <a:ext cx="317500" cy="266700"/>
          </a:xfrm>
          <a:prstGeom prst="rect">
            <a:avLst/>
          </a:prstGeom>
          <a:noFill/>
        </p:spPr>
        <p:txBody>
          <a:bodyPr wrap="square" lIns="0" rIns="0" tIns="0" bIns="0">
            <a:spAutoFit/>
          </a:bodyPr>
          <a:lstStyle/>
          <a:p>
            <a:pPr algn="ctr">
              <a:lnSpc>
                <a:spcPct val="115000"/>
              </a:lnSpc>
            </a:pPr>
            <a:r>
              <a:rPr sz="1400" b="1">
                <a:solidFill>
                  <a:srgbClr val="E07B00"/>
                </a:solidFill>
                <a:latin typeface="League Spartan"/>
              </a:rPr>
              <a:t>2</a:t>
            </a:r>
          </a:p>
        </p:txBody>
      </p:sp>
      <p:sp>
        <p:nvSpPr>
          <p:cNvPr id="10" name="TextBox 9"/>
          <p:cNvSpPr txBox="1"/>
          <p:nvPr/>
        </p:nvSpPr>
        <p:spPr>
          <a:xfrm>
            <a:off x="1231900" y="2667000"/>
            <a:ext cx="10160000" cy="381000"/>
          </a:xfrm>
          <a:prstGeom prst="rect">
            <a:avLst/>
          </a:prstGeom>
          <a:noFill/>
        </p:spPr>
        <p:txBody>
          <a:bodyPr wrap="square" lIns="0" rIns="0" tIns="0" bIns="0">
            <a:spAutoFit/>
          </a:bodyPr>
          <a:lstStyle/>
          <a:p>
            <a:pPr algn="l">
              <a:lnSpc>
                <a:spcPct val="130000"/>
              </a:lnSpc>
            </a:pPr>
            <a:r>
              <a:rPr sz="1250" b="0">
                <a:solidFill>
                  <a:srgbClr val="002333"/>
                </a:solidFill>
                <a:latin typeface="Inter"/>
              </a:rPr>
              <a:t>1 institutionele licentie, jaarwaarde ≥ €40.000, looptijd ≥ 12 maanden.</a:t>
            </a:r>
          </a:p>
        </p:txBody>
      </p:sp>
      <p:sp>
        <p:nvSpPr>
          <p:cNvPr id="11" name="TextBox 10"/>
          <p:cNvSpPr txBox="1"/>
          <p:nvPr/>
        </p:nvSpPr>
        <p:spPr>
          <a:xfrm>
            <a:off x="1231900" y="3149600"/>
            <a:ext cx="10160000" cy="381000"/>
          </a:xfrm>
          <a:prstGeom prst="rect">
            <a:avLst/>
          </a:prstGeom>
          <a:noFill/>
        </p:spPr>
        <p:txBody>
          <a:bodyPr wrap="square" lIns="0" rIns="0" tIns="0" bIns="0">
            <a:spAutoFit/>
          </a:bodyPr>
          <a:lstStyle/>
          <a:p>
            <a:pPr algn="l">
              <a:lnSpc>
                <a:spcPct val="125000"/>
              </a:lnSpc>
            </a:pPr>
            <a:r>
              <a:rPr sz="1150" b="1">
                <a:solidFill>
                  <a:srgbClr val="007B54"/>
                </a:solidFill>
                <a:latin typeface="Inter"/>
              </a:rPr>
              <a:t>UTI — technische validatie rond, demo voor campus leadership 25 sep, business case in opbouw.</a:t>
            </a:r>
          </a:p>
        </p:txBody>
      </p:sp>
      <p:sp>
        <p:nvSpPr>
          <p:cNvPr id="12" name="Rounded Rectangle 11"/>
          <p:cNvSpPr/>
          <p:nvPr/>
        </p:nvSpPr>
        <p:spPr>
          <a:xfrm>
            <a:off x="762000" y="3746500"/>
            <a:ext cx="317500" cy="317500"/>
          </a:xfrm>
          <a:prstGeom prst="roundRect">
            <a:avLst>
              <a:gd name="adj" fmla="val 26000"/>
            </a:avLst>
          </a:prstGeom>
          <a:solidFill>
            <a:srgbClr val="FD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3771900"/>
            <a:ext cx="317500" cy="266700"/>
          </a:xfrm>
          <a:prstGeom prst="rect">
            <a:avLst/>
          </a:prstGeom>
          <a:noFill/>
        </p:spPr>
        <p:txBody>
          <a:bodyPr wrap="square" lIns="0" rIns="0" tIns="0" bIns="0">
            <a:spAutoFit/>
          </a:bodyPr>
          <a:lstStyle/>
          <a:p>
            <a:pPr algn="ctr">
              <a:lnSpc>
                <a:spcPct val="115000"/>
              </a:lnSpc>
            </a:pPr>
            <a:r>
              <a:rPr sz="1400" b="1">
                <a:solidFill>
                  <a:srgbClr val="E07B00"/>
                </a:solidFill>
                <a:latin typeface="League Spartan"/>
              </a:rPr>
              <a:t>3</a:t>
            </a:r>
          </a:p>
        </p:txBody>
      </p:sp>
      <p:sp>
        <p:nvSpPr>
          <p:cNvPr id="14" name="TextBox 13"/>
          <p:cNvSpPr txBox="1"/>
          <p:nvPr/>
        </p:nvSpPr>
        <p:spPr>
          <a:xfrm>
            <a:off x="1231900" y="3746500"/>
            <a:ext cx="10160000" cy="381000"/>
          </a:xfrm>
          <a:prstGeom prst="rect">
            <a:avLst/>
          </a:prstGeom>
          <a:noFill/>
        </p:spPr>
        <p:txBody>
          <a:bodyPr wrap="square" lIns="0" rIns="0" tIns="0" bIns="0">
            <a:spAutoFit/>
          </a:bodyPr>
          <a:lstStyle/>
          <a:p>
            <a:pPr algn="l">
              <a:lnSpc>
                <a:spcPct val="130000"/>
              </a:lnSpc>
            </a:pPr>
            <a:r>
              <a:rPr sz="1250" b="0">
                <a:solidFill>
                  <a:srgbClr val="002333"/>
                </a:solidFill>
                <a:latin typeface="Inter"/>
              </a:rPr>
              <a:t>1 institutionele licentie, waarde ≥ €10.000, looptijd ≥ 12 maanden.</a:t>
            </a:r>
          </a:p>
        </p:txBody>
      </p:sp>
      <p:sp>
        <p:nvSpPr>
          <p:cNvPr id="15" name="TextBox 14"/>
          <p:cNvSpPr txBox="1"/>
          <p:nvPr/>
        </p:nvSpPr>
        <p:spPr>
          <a:xfrm>
            <a:off x="1231900" y="4229100"/>
            <a:ext cx="10160000" cy="381000"/>
          </a:xfrm>
          <a:prstGeom prst="rect">
            <a:avLst/>
          </a:prstGeom>
          <a:noFill/>
        </p:spPr>
        <p:txBody>
          <a:bodyPr wrap="square" lIns="0" rIns="0" tIns="0" bIns="0">
            <a:spAutoFit/>
          </a:bodyPr>
          <a:lstStyle/>
          <a:p>
            <a:pPr algn="l">
              <a:lnSpc>
                <a:spcPct val="125000"/>
              </a:lnSpc>
            </a:pPr>
            <a:r>
              <a:rPr sz="1150" b="1">
                <a:solidFill>
                  <a:srgbClr val="007B54"/>
                </a:solidFill>
                <a:latin typeface="Inter"/>
              </a:rPr>
              <a:t>Drie kandidaten tegelijk: Breederode (licentie in onderhandeling), Hogeschool Rotterdam (procurement gestart), Haagse Hogeschool (evaluatiemeeting 2 okt).</a:t>
            </a:r>
          </a:p>
        </p:txBody>
      </p:sp>
      <p:sp>
        <p:nvSpPr>
          <p:cNvPr id="16" name="Rectangle 15"/>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000" y="5676900"/>
            <a:ext cx="9525000" cy="381000"/>
          </a:xfrm>
          <a:prstGeom prst="rect">
            <a:avLst/>
          </a:prstGeom>
          <a:noFill/>
        </p:spPr>
        <p:txBody>
          <a:bodyPr wrap="square" lIns="0" rIns="0" tIns="0" bIns="0">
            <a:spAutoFit/>
          </a:bodyPr>
          <a:lstStyle/>
          <a:p>
            <a:pPr algn="l">
              <a:lnSpc>
                <a:spcPct val="130000"/>
              </a:lnSpc>
            </a:pPr>
            <a:r>
              <a:rPr sz="1150" b="0">
                <a:solidFill>
                  <a:srgbClr val="5B7480"/>
                </a:solidFill>
                <a:latin typeface="Inter"/>
              </a:rPr>
              <a:t>CLA-tranche milestones, Q3 board knowledge doc. Koppeling aan deals is een voorstel, nog te bevestigen.</a:t>
            </a:r>
          </a:p>
        </p:txBody>
      </p:sp>
      <p:pic>
        <p:nvPicPr>
          <p:cNvPr id="18" name="Picture 17" descr="logo_navy.png"/>
          <p:cNvPicPr>
            <a:picLocks noChangeAspect="1"/>
          </p:cNvPicPr>
          <p:nvPr/>
        </p:nvPicPr>
        <p:blipFill>
          <a:blip r:embed="rId2"/>
          <a:stretch>
            <a:fillRect/>
          </a:stretch>
        </p:blipFill>
        <p:spPr>
          <a:xfrm>
            <a:off x="10668000" y="5727700"/>
            <a:ext cx="762000" cy="209550"/>
          </a:xfrm>
          <a:prstGeom prst="rect">
            <a:avLst/>
          </a:prstGeom>
        </p:spPr>
      </p:pic>
      <p:sp>
        <p:nvSpPr>
          <p:cNvPr id="19" name="TextBox 18"/>
          <p:cNvSpPr txBox="1"/>
          <p:nvPr/>
        </p:nvSpPr>
        <p:spPr>
          <a:xfrm>
            <a:off x="10541000" y="6032500"/>
            <a:ext cx="889000" cy="215900"/>
          </a:xfrm>
          <a:prstGeom prst="rect">
            <a:avLst/>
          </a:prstGeom>
          <a:noFill/>
        </p:spPr>
        <p:txBody>
          <a:bodyPr wrap="square" lIns="0" rIns="0" tIns="0" bIns="0">
            <a:spAutoFit/>
          </a:bodyPr>
          <a:lstStyle/>
          <a:p>
            <a:pPr algn="r">
              <a:lnSpc>
                <a:spcPct val="115000"/>
              </a:lnSpc>
            </a:pPr>
            <a:r>
              <a:rPr sz="1000" b="0">
                <a:solidFill>
                  <a:srgbClr val="9AAFB8"/>
                </a:solidFill>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0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921000"/>
            <a:ext cx="10668000" cy="1016000"/>
          </a:xfrm>
          <a:prstGeom prst="rect">
            <a:avLst/>
          </a:prstGeom>
          <a:noFill/>
        </p:spPr>
        <p:txBody>
          <a:bodyPr wrap="square" lIns="0" rIns="0" tIns="0" bIns="0">
            <a:spAutoFit/>
          </a:bodyPr>
          <a:lstStyle/>
          <a:p>
            <a:pPr algn="ctr">
              <a:lnSpc>
                <a:spcPct val="115000"/>
              </a:lnSpc>
            </a:pPr>
            <a:r>
              <a:rPr sz="4800" b="1">
                <a:solidFill>
                  <a:srgbClr val="FFFFFF"/>
                </a:solidFill>
                <a:latin typeface="League Spartan"/>
              </a:rPr>
              <a:t>Vragen</a:t>
            </a:r>
          </a:p>
        </p:txBody>
      </p:sp>
      <p:pic>
        <p:nvPicPr>
          <p:cNvPr id="4" name="Picture 3" descr="logo_white.png"/>
          <p:cNvPicPr>
            <a:picLocks noChangeAspect="1"/>
          </p:cNvPicPr>
          <p:nvPr/>
        </p:nvPicPr>
        <p:blipFill>
          <a:blip r:embed="rId2"/>
          <a:stretch>
            <a:fillRect/>
          </a:stretch>
        </p:blipFill>
        <p:spPr>
          <a:xfrm>
            <a:off x="762000" y="5892800"/>
            <a:ext cx="1358900" cy="3683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