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Board Update — Q3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732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Inter"/>
              </a:rPr>
              <a:t>ROM  ·  Tjarko Kwee  ·  Imec</a:t>
            </a: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92800"/>
            <a:ext cx="1358900" cy="368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Update, geen consultatie.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7145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739900"/>
            <a:ext cx="355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07B00"/>
                </a:solidFill>
                <a:latin typeface="League Spart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17399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Bath Spa: het nieuws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2987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324100"/>
            <a:ext cx="355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07B00"/>
                </a:solidFill>
                <a:latin typeface="League Spart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23241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Waar we nu staan — financiën, pipeline, key accounts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28829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908300"/>
            <a:ext cx="355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07B00"/>
                </a:solidFill>
                <a:latin typeface="League Spart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29083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Van publiek naar privaat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34671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492500"/>
            <a:ext cx="355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07B00"/>
                </a:solidFill>
                <a:latin typeface="League Spart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0000" y="34925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Hoe we tractie genereren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0513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076700"/>
            <a:ext cx="355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07B00"/>
                </a:solidFill>
                <a:latin typeface="League Spartan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0000" y="40767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Milestones tot de volgende 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6355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660900"/>
            <a:ext cx="355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07B00"/>
                </a:solidFill>
                <a:latin typeface="League Spartan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0000" y="46609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Vragen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Board meeting Q3 2026.</a:t>
            </a:r>
          </a:p>
        </p:txBody>
      </p:sp>
      <p:pic>
        <p:nvPicPr>
          <p:cNvPr id="23" name="Picture 22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Bath Spa stopt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99390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9500" y="1905000"/>
            <a:ext cx="95250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Pilot afgerond: succescriteria maar deels gehaald, oordeel van hun AI Programme 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94640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9500" y="2857500"/>
            <a:ext cx="95250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Reden is institutionele AI-gereedheid en governance, niet onze productkwaliteit.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389890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9500" y="3810000"/>
            <a:ext cx="95250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Geen vervolg "at this stage" — pilotfee van £3.280 incl. btw volgt nog.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Mail Helen King, Bath Spa University, 21-09-2026.</a:t>
            </a:r>
          </a:p>
        </p:txBody>
      </p:sp>
      <p:pic>
        <p:nvPicPr>
          <p:cNvPr id="11" name="Picture 10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Runway: 3,5 maanden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92250"/>
            <a:ext cx="1066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Cash in bank €51.000 · tot half januari 2027 · nieuwe tranche nodig in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B7480"/>
                </a:solidFill>
                <a:latin typeface="Inter"/>
              </a:rPr>
              <a:t>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37500" y="20955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5B7480"/>
                </a:solidFill>
                <a:latin typeface="Inter"/>
              </a:rPr>
              <a:t>Per maand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0" y="2095500"/>
            <a:ext cx="1397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5B7480"/>
                </a:solidFill>
                <a:latin typeface="Inter"/>
              </a:rPr>
              <a:t>%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2400300"/>
            <a:ext cx="106680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25273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Salarissen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7500" y="2527300"/>
            <a:ext cx="1651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6.447,57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25273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42,7%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9210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Management fees (excl. btw)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7500" y="2921000"/>
            <a:ext cx="1651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3.400,00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0" y="29210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22,5%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3147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Loonheffing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7500" y="3314700"/>
            <a:ext cx="1651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1.820,00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0" y="33147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12,1%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37084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Huisvesting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7500" y="3708400"/>
            <a:ext cx="1651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1.383,03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6000" y="37084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9,2%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1021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Overig (7 posten)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7500" y="4102100"/>
            <a:ext cx="1651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2.034,20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6000" y="41021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13,5%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4508500"/>
            <a:ext cx="10668000" cy="127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6355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Totaal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7500" y="4635500"/>
            <a:ext cx="1651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15.084,80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6000" y="46355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Eduface financieel model, Q3 board knowledge doc, sep 2026.</a:t>
            </a:r>
          </a:p>
        </p:txBody>
      </p:sp>
      <p:pic>
        <p:nvPicPr>
          <p:cNvPr id="29" name="Picture 28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De pijplijn draait op privé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587500"/>
            <a:ext cx="4953000" cy="698500"/>
          </a:xfrm>
          <a:prstGeom prst="roundRect">
            <a:avLst>
              <a:gd name="adj" fmla="val 18181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1701800"/>
            <a:ext cx="1270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7B54"/>
                </a:solidFill>
                <a:latin typeface="League Spartan"/>
              </a:rPr>
              <a:t>69%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7780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007B54"/>
                </a:solidFill>
                <a:latin typeface="Inter"/>
              </a:rPr>
              <a:t>van de gewogen pipeline is particulier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69000" y="1587500"/>
            <a:ext cx="4953000" cy="698500"/>
          </a:xfrm>
          <a:prstGeom prst="roundRect">
            <a:avLst>
              <a:gd name="adj" fmla="val 1818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23000" y="1701800"/>
            <a:ext cx="139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5B7480"/>
                </a:solidFill>
                <a:latin typeface="League Spartan"/>
              </a:rPr>
              <a:t>30,5%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0" y="1778000"/>
            <a:ext cx="304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7480"/>
                </a:solidFill>
                <a:latin typeface="Inter"/>
              </a:rPr>
              <a:t>is publiek bekostigd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6670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Instelling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0" y="2667000"/>
            <a:ext cx="1397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Dealsize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0" y="26670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Kans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2933700"/>
            <a:ext cx="106680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0353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UTI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0" y="30353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€400.000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0" y="30353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33147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BPP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0" y="33147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€400.000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0" y="33147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5941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Rijksuniversiteit Groningen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0" y="35941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€300.000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35941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38735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UADE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2500" y="38735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€250.000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0" y="38735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1529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Windesheim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0" y="41529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€200.000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0000" y="41529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4323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Bristol University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0" y="44323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€200.000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44323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47117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Concorde Career College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0" y="47117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€200.000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60000" y="47117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4991100"/>
            <a:ext cx="8255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12 overige deals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0" y="4991100"/>
            <a:ext cx="1397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€207.500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4991100"/>
            <a:ext cx="1270000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002333"/>
                </a:solidFill>
                <a:latin typeface="Inter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Q3 board knowledge doc, sep 2026. Volledige lijst van 19 deals in Close (zie B4, open-vragen.md).</a:t>
            </a:r>
          </a:p>
        </p:txBody>
      </p:sp>
      <p:pic>
        <p:nvPicPr>
          <p:cNvPr id="39" name="Picture 38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Twee publieke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02333"/>
                </a:solidFill>
                <a:latin typeface="League Spartan"/>
              </a:rPr>
              <a:t>Haagse Hogeschool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860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Piet en Mario willen door, Theo adviseerde de tool voor het hele jaar te kopen.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9845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Lectoraat neutraal, wil wel verder.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784600"/>
            <a:ext cx="51054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3937000"/>
            <a:ext cx="51054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>
                <a:solidFill>
                  <a:srgbClr val="002333"/>
                </a:solidFill>
                <a:latin typeface="Inter"/>
              </a:rPr>
              <a:t>Evaluatiemeeting 2 okt — mogelijk Go Live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1714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02333"/>
                </a:solidFill>
                <a:latin typeface="League Spartan"/>
              </a:rPr>
              <a:t>Hogeschool Rotterdam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22860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Business case en voorstel goedgekeurd, procurement gestart.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29845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IT staat geen Brightspace-integratie toe voor één opleiding.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600" y="3784600"/>
            <a:ext cx="51054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4600" y="3937000"/>
            <a:ext cx="51054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>
                <a:solidFill>
                  <a:srgbClr val="002333"/>
                </a:solidFill>
                <a:latin typeface="Inter"/>
              </a:rPr>
              <a:t>Gesprek met IT over de integratiescope.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Close, geverifieerd 23-09-2026.</a:t>
            </a:r>
          </a:p>
        </p:txBody>
      </p:sp>
      <p:pic>
        <p:nvPicPr>
          <p:cNvPr id="15" name="Picture 14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Van test naar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02333"/>
                </a:solidFill>
                <a:latin typeface="League Spartan"/>
              </a:rPr>
              <a:t>Breederode Hogeschool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860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Testochtend 23 sep. Zelfde dag al: concept licentieovereenkomst gestuurd.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9845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Irma en Marcel keken hem na, kwamen terug met kleine wijzigingen.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784600"/>
            <a:ext cx="51054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3937000"/>
            <a:ext cx="51054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>
                <a:solidFill>
                  <a:srgbClr val="002333"/>
                </a:solidFill>
                <a:latin typeface="Inter"/>
              </a:rPr>
              <a:t>Wijzigingen verwerken, overeenkomst afronden.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1714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02333"/>
                </a:solidFill>
                <a:latin typeface="League Spartan"/>
              </a:rPr>
              <a:t>UTI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22860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Technische validatie rond: Canvas- en Blackboard-quizzes, Discussions.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2984500"/>
            <a:ext cx="5105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Business case (instructeursverloop, retentie) in opbouw.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600" y="3784600"/>
            <a:ext cx="51054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4600" y="3937000"/>
            <a:ext cx="51054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>
                <a:solidFill>
                  <a:srgbClr val="002333"/>
                </a:solidFill>
                <a:latin typeface="Inter"/>
              </a:rPr>
              <a:t>Demo voor campus leadership, 25 sep.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Close, geverifieerd 23-09-2026.</a:t>
            </a:r>
          </a:p>
        </p:txBody>
      </p:sp>
      <p:pic>
        <p:nvPicPr>
          <p:cNvPr id="15" name="Picture 14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Publiek: traag en onzeker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99390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9500" y="1905000"/>
            <a:ext cx="1047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Pilots van 6 maanden, met moeite bijeengesprokkeld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85115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9500" y="2762250"/>
            <a:ext cx="1047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Lastig committeren aan een vervolgstap, ook als we de succesfactoren halen.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370840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9500" y="3619500"/>
            <a:ext cx="1047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Trage besluitvorming, in commissies.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4565650"/>
            <a:ext cx="88900" cy="889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9500" y="4476750"/>
            <a:ext cx="10477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Pijn is moeilijk te kwantificeren — dus is ons prijspunt moeilijk te verdedigen.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Patroon over de actieve publieke deals, sep 2026.</a:t>
            </a:r>
          </a:p>
        </p:txBody>
      </p:sp>
      <p:pic>
        <p:nvPicPr>
          <p:cNvPr id="13" name="Picture 12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603500"/>
            <a:ext cx="106680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700" b="1">
                <a:solidFill>
                  <a:srgbClr val="FFFFFF"/>
                </a:solidFill>
                <a:latin typeface="League Spartan"/>
              </a:rPr>
              <a:t>Dus focussen we volledig op particuliere instellingen.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Sneller besluit, meer budget, kleinere implementatie.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651000"/>
            <a:ext cx="106680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0" b="1">
                <a:solidFill>
                  <a:srgbClr val="002333"/>
                </a:solidFill>
                <a:latin typeface="League Spartan"/>
              </a:rPr>
              <a:t>€28 mln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1115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B7480"/>
                </a:solidFill>
                <a:latin typeface="Inter"/>
              </a:rPr>
              <a:t>ARR-potentie particulier onderwijs, Europa excl. Turkije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Interne eerste inschatting o.b.v. Eurostat 2023, niet extern gevalideerd. NL €1,0 mln · VK-apprenticeships 761.480 lerenden, 1.305 providers.</a:t>
            </a:r>
          </a:p>
        </p:txBody>
      </p:sp>
      <p:pic>
        <p:nvPicPr>
          <p:cNvPr id="6" name="Picture 5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Feedback, in jouw toon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492250"/>
            <a:ext cx="10668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Grootste uitdaging was de feedbacktoon laten klinken als de docent zelf. Dat is nu eenvoudig geworden.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5525" y="2235200"/>
            <a:ext cx="5060950" cy="2781300"/>
          </a:xfrm>
          <a:prstGeom prst="roundRect">
            <a:avLst>
              <a:gd name="adj" fmla="val 2739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edback-style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925" y="2260600"/>
            <a:ext cx="5010150" cy="2730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Product-UI, sep 2026.</a:t>
            </a:r>
          </a:p>
        </p:txBody>
      </p:sp>
      <p:pic>
        <p:nvPicPr>
          <p:cNvPr id="8" name="Picture 7" descr="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Van beurzen naar bellen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651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B7480"/>
                </a:solidFill>
                <a:latin typeface="Inter"/>
              </a:rPr>
              <a:t>TOEN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51054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Introducties, dure beurzen en evenementen, webinars.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175000"/>
            <a:ext cx="51054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3429000"/>
            <a:ext cx="51054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Eén-op-één, duur per lead, niet herhaalbaar zonder het volgende evenement.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600" y="1651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2032000"/>
            <a:ext cx="51054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LinkedIn-berichten → mail → warm bellen. De SHIFT-pijplijn.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600" y="3175000"/>
            <a:ext cx="5105400" cy="127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4600" y="34290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7B54"/>
                </a:solidFill>
                <a:latin typeface="League Spartan"/>
              </a:rPr>
              <a:t>466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38354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B7480"/>
                </a:solidFill>
                <a:latin typeface="Inter"/>
              </a:rPr>
              <a:t>organisaties gescreend, 340 contactpersonen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0" y="1905000"/>
            <a:ext cx="508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E07B00"/>
                </a:solidFill>
                <a:latin typeface="League Spartan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SHIFT-pijplijn, sinds vorige board meeting.</a:t>
            </a:r>
          </a:p>
        </p:txBody>
      </p:sp>
      <p:pic>
        <p:nvPicPr>
          <p:cNvPr id="15" name="Picture 14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Op weg naar de tranche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1778000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816100"/>
            <a:ext cx="4064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E07B00"/>
                </a:solidFill>
                <a:latin typeface="League Spart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1778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2 betaalde UK-pilots via Jisc/CHEST, elk ≥ £4.000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21971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7B54"/>
                </a:solidFill>
                <a:latin typeface="Inter"/>
              </a:rPr>
              <a:t>Kandidaten: Bristol, Goldsmiths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984500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3022600"/>
            <a:ext cx="4064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E07B00"/>
                </a:solidFill>
                <a:latin typeface="League Spart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984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1 institutionele licentie ≥ €40.000/jaar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3500" y="3403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7B54"/>
                </a:solidFill>
                <a:latin typeface="Inter"/>
              </a:rPr>
              <a:t>UTI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4191000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4229100"/>
            <a:ext cx="4064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E07B00"/>
                </a:solidFill>
                <a:latin typeface="League Spart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3500" y="4191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1 institutionele licentie ≥ €10.000/jaar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46101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7B54"/>
                </a:solidFill>
                <a:latin typeface="Inter"/>
              </a:rPr>
              <a:t>Breederode · Hogeschool Rotterdam · Haagse Hogeschool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6769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CLA-tranche milestones, Q3 board knowledge doc. Koppeling aan deals is een voorstel, nog te bevestigen.</a:t>
            </a:r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5727700"/>
            <a:ext cx="762000" cy="2095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541000" y="6032500"/>
            <a:ext cx="889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FB8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210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Wat willen jullie weten?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92800"/>
            <a:ext cx="1358900" cy="368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