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Board Update — Q3 2026</a:t>
            </a:r>
          </a:p>
        </p:txBody>
      </p:sp>
      <p:sp>
        <p:nvSpPr>
          <p:cNvPr id="4" name="TextBox 3"/>
          <p:cNvSpPr txBox="1"/>
          <p:nvPr/>
        </p:nvSpPr>
        <p:spPr>
          <a:xfrm>
            <a:off x="762000" y="1473200"/>
            <a:ext cx="10668000" cy="381000"/>
          </a:xfrm>
          <a:prstGeom prst="rect">
            <a:avLst/>
          </a:prstGeom>
          <a:noFill/>
        </p:spPr>
        <p:txBody>
          <a:bodyPr wrap="square" lIns="0" rIns="0" tIns="0" bIns="0">
            <a:spAutoFit/>
          </a:bodyPr>
          <a:lstStyle/>
          <a:p>
            <a:pPr algn="l">
              <a:lnSpc>
                <a:spcPct val="115000"/>
              </a:lnSpc>
            </a:pPr>
            <a:r>
              <a:rPr sz="2000" b="0">
                <a:solidFill>
                  <a:srgbClr val="FFFFFF"/>
                </a:solidFill>
                <a:latin typeface="Inter"/>
              </a:rPr>
              <a:t>ROM  ·  Tjarko Kwee  ·  Imec</a:t>
            </a:r>
          </a:p>
        </p:txBody>
      </p:sp>
      <p:pic>
        <p:nvPicPr>
          <p:cNvPr id="5" name="Picture 4"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Agenda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Dit is een update, geen consultatie.</a:t>
            </a:r>
          </a:p>
        </p:txBody>
      </p:sp>
      <p:sp>
        <p:nvSpPr>
          <p:cNvPr id="4" name="TextBox 3"/>
          <p:cNvSpPr txBox="1"/>
          <p:nvPr/>
        </p:nvSpPr>
        <p:spPr>
          <a:xfrm>
            <a:off x="762000" y="15875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a:t>
            </a:r>
          </a:p>
        </p:txBody>
      </p:sp>
      <p:sp>
        <p:nvSpPr>
          <p:cNvPr id="5" name="TextBox 4"/>
          <p:cNvSpPr txBox="1"/>
          <p:nvPr/>
        </p:nvSpPr>
        <p:spPr>
          <a:xfrm>
            <a:off x="1143000" y="15875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Bath Spa</a:t>
            </a:r>
          </a:p>
        </p:txBody>
      </p:sp>
      <p:sp>
        <p:nvSpPr>
          <p:cNvPr id="6" name="TextBox 5"/>
          <p:cNvSpPr txBox="1"/>
          <p:nvPr/>
        </p:nvSpPr>
        <p:spPr>
          <a:xfrm>
            <a:off x="3683000" y="16002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Het nieuws: waarom de deal stopt en wat dat niet betekent.</a:t>
            </a:r>
          </a:p>
        </p:txBody>
      </p:sp>
      <p:sp>
        <p:nvSpPr>
          <p:cNvPr id="7" name="TextBox 6"/>
          <p:cNvSpPr txBox="1"/>
          <p:nvPr/>
        </p:nvSpPr>
        <p:spPr>
          <a:xfrm>
            <a:off x="762000" y="19875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2</a:t>
            </a:r>
          </a:p>
        </p:txBody>
      </p:sp>
      <p:sp>
        <p:nvSpPr>
          <p:cNvPr id="8" name="TextBox 7"/>
          <p:cNvSpPr txBox="1"/>
          <p:nvPr/>
        </p:nvSpPr>
        <p:spPr>
          <a:xfrm>
            <a:off x="1143000" y="19875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Financiën</a:t>
            </a:r>
          </a:p>
        </p:txBody>
      </p:sp>
      <p:sp>
        <p:nvSpPr>
          <p:cNvPr id="9" name="TextBox 8"/>
          <p:cNvSpPr txBox="1"/>
          <p:nvPr/>
        </p:nvSpPr>
        <p:spPr>
          <a:xfrm>
            <a:off x="3683000" y="20002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Cash, burn, runway en de tranche-deadline.</a:t>
            </a:r>
          </a:p>
        </p:txBody>
      </p:sp>
      <p:sp>
        <p:nvSpPr>
          <p:cNvPr id="10" name="TextBox 9"/>
          <p:cNvSpPr txBox="1"/>
          <p:nvPr/>
        </p:nvSpPr>
        <p:spPr>
          <a:xfrm>
            <a:off x="762000" y="23876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3</a:t>
            </a:r>
          </a:p>
        </p:txBody>
      </p:sp>
      <p:sp>
        <p:nvSpPr>
          <p:cNvPr id="11" name="TextBox 10"/>
          <p:cNvSpPr txBox="1"/>
          <p:nvPr/>
        </p:nvSpPr>
        <p:spPr>
          <a:xfrm>
            <a:off x="1143000" y="23876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Pipeline</a:t>
            </a:r>
          </a:p>
        </p:txBody>
      </p:sp>
      <p:sp>
        <p:nvSpPr>
          <p:cNvPr id="12" name="TextBox 11"/>
          <p:cNvSpPr txBox="1"/>
          <p:nvPr/>
        </p:nvSpPr>
        <p:spPr>
          <a:xfrm>
            <a:off x="3683000" y="24003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Alle 19 actieve deals, gewogen, publiek vs. particulier.</a:t>
            </a:r>
          </a:p>
        </p:txBody>
      </p:sp>
      <p:sp>
        <p:nvSpPr>
          <p:cNvPr id="13" name="TextBox 12"/>
          <p:cNvSpPr txBox="1"/>
          <p:nvPr/>
        </p:nvSpPr>
        <p:spPr>
          <a:xfrm>
            <a:off x="762000" y="27876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4</a:t>
            </a:r>
          </a:p>
        </p:txBody>
      </p:sp>
      <p:sp>
        <p:nvSpPr>
          <p:cNvPr id="14" name="TextBox 13"/>
          <p:cNvSpPr txBox="1"/>
          <p:nvPr/>
        </p:nvSpPr>
        <p:spPr>
          <a:xfrm>
            <a:off x="1143000" y="27876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Key accounts</a:t>
            </a:r>
          </a:p>
        </p:txBody>
      </p:sp>
      <p:sp>
        <p:nvSpPr>
          <p:cNvPr id="15" name="TextBox 14"/>
          <p:cNvSpPr txBox="1"/>
          <p:nvPr/>
        </p:nvSpPr>
        <p:spPr>
          <a:xfrm>
            <a:off x="3683000" y="28003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HHS, Hogeschool Rotterdam, Breederode, UTI.</a:t>
            </a:r>
          </a:p>
        </p:txBody>
      </p:sp>
      <p:sp>
        <p:nvSpPr>
          <p:cNvPr id="16" name="TextBox 15"/>
          <p:cNvSpPr txBox="1"/>
          <p:nvPr/>
        </p:nvSpPr>
        <p:spPr>
          <a:xfrm>
            <a:off x="762000" y="31877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5</a:t>
            </a:r>
          </a:p>
        </p:txBody>
      </p:sp>
      <p:sp>
        <p:nvSpPr>
          <p:cNvPr id="17" name="TextBox 16"/>
          <p:cNvSpPr txBox="1"/>
          <p:nvPr/>
        </p:nvSpPr>
        <p:spPr>
          <a:xfrm>
            <a:off x="1143000" y="31877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patroon</a:t>
            </a:r>
          </a:p>
        </p:txBody>
      </p:sp>
      <p:sp>
        <p:nvSpPr>
          <p:cNvPr id="18" name="TextBox 17"/>
          <p:cNvSpPr txBox="1"/>
          <p:nvPr/>
        </p:nvSpPr>
        <p:spPr>
          <a:xfrm>
            <a:off x="3683000" y="32004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Waarom publieke deals vastlopen.</a:t>
            </a:r>
          </a:p>
        </p:txBody>
      </p:sp>
      <p:sp>
        <p:nvSpPr>
          <p:cNvPr id="19" name="TextBox 18"/>
          <p:cNvSpPr txBox="1"/>
          <p:nvPr/>
        </p:nvSpPr>
        <p:spPr>
          <a:xfrm>
            <a:off x="762000" y="35877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6</a:t>
            </a:r>
          </a:p>
        </p:txBody>
      </p:sp>
      <p:sp>
        <p:nvSpPr>
          <p:cNvPr id="20" name="TextBox 19"/>
          <p:cNvSpPr txBox="1"/>
          <p:nvPr/>
        </p:nvSpPr>
        <p:spPr>
          <a:xfrm>
            <a:off x="1143000" y="35877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De Beslissing</a:t>
            </a:r>
          </a:p>
        </p:txBody>
      </p:sp>
      <p:sp>
        <p:nvSpPr>
          <p:cNvPr id="21" name="TextBox 20"/>
          <p:cNvSpPr txBox="1"/>
          <p:nvPr/>
        </p:nvSpPr>
        <p:spPr>
          <a:xfrm>
            <a:off x="3683000" y="36004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Volledige focus op particuliere instellingen, en de markt erachter.</a:t>
            </a:r>
          </a:p>
        </p:txBody>
      </p:sp>
      <p:sp>
        <p:nvSpPr>
          <p:cNvPr id="22" name="TextBox 21"/>
          <p:cNvSpPr txBox="1"/>
          <p:nvPr/>
        </p:nvSpPr>
        <p:spPr>
          <a:xfrm>
            <a:off x="762000" y="39878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7</a:t>
            </a:r>
          </a:p>
        </p:txBody>
      </p:sp>
      <p:sp>
        <p:nvSpPr>
          <p:cNvPr id="23" name="TextBox 22"/>
          <p:cNvSpPr txBox="1"/>
          <p:nvPr/>
        </p:nvSpPr>
        <p:spPr>
          <a:xfrm>
            <a:off x="1143000" y="39878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product</a:t>
            </a:r>
          </a:p>
        </p:txBody>
      </p:sp>
      <p:sp>
        <p:nvSpPr>
          <p:cNvPr id="24" name="TextBox 23"/>
          <p:cNvSpPr txBox="1"/>
          <p:nvPr/>
        </p:nvSpPr>
        <p:spPr>
          <a:xfrm>
            <a:off x="3683000" y="40005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Wat er dit kwartaal is bijgebouwd.</a:t>
            </a:r>
          </a:p>
        </p:txBody>
      </p:sp>
      <p:sp>
        <p:nvSpPr>
          <p:cNvPr id="25" name="TextBox 24"/>
          <p:cNvSpPr txBox="1"/>
          <p:nvPr/>
        </p:nvSpPr>
        <p:spPr>
          <a:xfrm>
            <a:off x="762000" y="43878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8</a:t>
            </a:r>
          </a:p>
        </p:txBody>
      </p:sp>
      <p:sp>
        <p:nvSpPr>
          <p:cNvPr id="26" name="TextBox 25"/>
          <p:cNvSpPr txBox="1"/>
          <p:nvPr/>
        </p:nvSpPr>
        <p:spPr>
          <a:xfrm>
            <a:off x="1143000" y="43878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GTM</a:t>
            </a:r>
          </a:p>
        </p:txBody>
      </p:sp>
      <p:sp>
        <p:nvSpPr>
          <p:cNvPr id="27" name="TextBox 26"/>
          <p:cNvSpPr txBox="1"/>
          <p:nvPr/>
        </p:nvSpPr>
        <p:spPr>
          <a:xfrm>
            <a:off x="3683000" y="44005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nieuwe aanpak, van beurzen naar SHIFT.</a:t>
            </a:r>
          </a:p>
        </p:txBody>
      </p:sp>
      <p:sp>
        <p:nvSpPr>
          <p:cNvPr id="28" name="TextBox 27"/>
          <p:cNvSpPr txBox="1"/>
          <p:nvPr/>
        </p:nvSpPr>
        <p:spPr>
          <a:xfrm>
            <a:off x="762000" y="47879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9</a:t>
            </a:r>
          </a:p>
        </p:txBody>
      </p:sp>
      <p:sp>
        <p:nvSpPr>
          <p:cNvPr id="29" name="TextBox 28"/>
          <p:cNvSpPr txBox="1"/>
          <p:nvPr/>
        </p:nvSpPr>
        <p:spPr>
          <a:xfrm>
            <a:off x="1143000" y="47879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Milestones</a:t>
            </a:r>
          </a:p>
        </p:txBody>
      </p:sp>
      <p:sp>
        <p:nvSpPr>
          <p:cNvPr id="30" name="TextBox 29"/>
          <p:cNvSpPr txBox="1"/>
          <p:nvPr/>
        </p:nvSpPr>
        <p:spPr>
          <a:xfrm>
            <a:off x="3683000" y="48006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drie voorwaarden voor de volgende CLA-tranche.</a:t>
            </a:r>
          </a:p>
        </p:txBody>
      </p:sp>
      <p:sp>
        <p:nvSpPr>
          <p:cNvPr id="31" name="TextBox 30"/>
          <p:cNvSpPr txBox="1"/>
          <p:nvPr/>
        </p:nvSpPr>
        <p:spPr>
          <a:xfrm>
            <a:off x="762000" y="51879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10</a:t>
            </a:r>
          </a:p>
        </p:txBody>
      </p:sp>
      <p:sp>
        <p:nvSpPr>
          <p:cNvPr id="32" name="TextBox 31"/>
          <p:cNvSpPr txBox="1"/>
          <p:nvPr/>
        </p:nvSpPr>
        <p:spPr>
          <a:xfrm>
            <a:off x="1143000" y="51879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Vragen</a:t>
            </a:r>
          </a:p>
        </p:txBody>
      </p:sp>
      <p:sp>
        <p:nvSpPr>
          <p:cNvPr id="33" name="TextBox 32"/>
          <p:cNvSpPr txBox="1"/>
          <p:nvPr/>
        </p:nvSpPr>
        <p:spPr>
          <a:xfrm>
            <a:off x="3683000" y="52006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
            </a:r>
          </a:p>
        </p:txBody>
      </p:sp>
      <p:sp>
        <p:nvSpPr>
          <p:cNvPr id="34" name="Rectangle 3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Board meeting Q3 2026.</a:t>
            </a:r>
          </a:p>
        </p:txBody>
      </p:sp>
      <p:pic>
        <p:nvPicPr>
          <p:cNvPr id="36" name="Picture 35" descr="logo_navy.png"/>
          <p:cNvPicPr>
            <a:picLocks noChangeAspect="1"/>
          </p:cNvPicPr>
          <p:nvPr/>
        </p:nvPicPr>
        <p:blipFill>
          <a:blip r:embed="rId2"/>
          <a:stretch>
            <a:fillRect/>
          </a:stretch>
        </p:blipFill>
        <p:spPr>
          <a:xfrm>
            <a:off x="10668000" y="5727700"/>
            <a:ext cx="762000" cy="209550"/>
          </a:xfrm>
          <a:prstGeom prst="rect">
            <a:avLst/>
          </a:prstGeom>
        </p:spPr>
      </p:pic>
      <p:sp>
        <p:nvSpPr>
          <p:cNvPr id="37" name="TextBox 3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Bath Spa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Ze gaan niet door met Eduface. Reden: institutionele AI-gereedheid, niet productkwaliteit.</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Susanna heeft de pilotdata verzameld en geanalyseerd: Eduface-gebruiksstatistieken, interviews en surveys onder deelnemers.</a:t>
            </a:r>
          </a:p>
        </p:txBody>
      </p:sp>
      <p:sp>
        <p:nvSpPr>
          <p:cNvPr id="6" name="Rounded Rectangle 5"/>
          <p:cNvSpPr/>
          <p:nvPr/>
        </p:nvSpPr>
        <p:spPr>
          <a:xfrm>
            <a:off x="762000" y="2108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447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Een samenvattend rapport is vorige week besproken door hun AI Programme Board (AIPB).</a:t>
            </a:r>
          </a:p>
        </p:txBody>
      </p:sp>
      <p:sp>
        <p:nvSpPr>
          <p:cNvPr id="8" name="Rounded Rectangle 7"/>
          <p:cNvSpPr/>
          <p:nvPr/>
        </p:nvSpPr>
        <p:spPr>
          <a:xfrm>
            <a:off x="762000" y="26924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289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Hun conclusie, letterlijk: "we found that the measures of success were only partially met."</a:t>
            </a:r>
          </a:p>
        </p:txBody>
      </p:sp>
      <p:sp>
        <p:nvSpPr>
          <p:cNvPr id="10" name="Rounded Rectangle 9"/>
          <p:cNvSpPr/>
          <p:nvPr/>
        </p:nvSpPr>
        <p:spPr>
          <a:xfrm>
            <a:off x="762000" y="3276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131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"We are not yet ready to implement an AI assistant tool for assessment and feedback. We won’t be proceeding with Eduface, or other similar product, at this stage."</a:t>
            </a:r>
          </a:p>
        </p:txBody>
      </p:sp>
      <p:sp>
        <p:nvSpPr>
          <p:cNvPr id="12" name="Rounded Rectangle 11"/>
          <p:cNvSpPr/>
          <p:nvPr/>
        </p:nvSpPr>
        <p:spPr>
          <a:xfrm>
            <a:off x="762000" y="3860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500" y="37973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Helen King (Director of Learning Innovation, Development &amp; Skills) was oprecht positief: "It has been good working with you and I wish you all the best for the further development of the Eduface tool."</a:t>
            </a:r>
          </a:p>
        </p:txBody>
      </p:sp>
      <p:sp>
        <p:nvSpPr>
          <p:cNvPr id="14" name="Rectangle 13"/>
          <p:cNvSpPr/>
          <p:nvPr/>
        </p:nvSpPr>
        <p:spPr>
          <a:xfrm>
            <a:off x="762000" y="4508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673600"/>
            <a:ext cx="10668000" cy="330200"/>
          </a:xfrm>
          <a:prstGeom prst="rect">
            <a:avLst/>
          </a:prstGeom>
          <a:noFill/>
        </p:spPr>
        <p:txBody>
          <a:bodyPr wrap="square" lIns="0" rIns="0" tIns="0" bIns="0">
            <a:spAutoFit/>
          </a:bodyPr>
          <a:lstStyle/>
          <a:p>
            <a:pPr algn="l">
              <a:lnSpc>
                <a:spcPct val="130000"/>
              </a:lnSpc>
            </a:pPr>
            <a:r>
              <a:rPr sz="1250" b="0">
                <a:solidFill>
                  <a:srgbClr val="002333"/>
                </a:solidFill>
                <a:latin typeface="Inter"/>
              </a:rPr>
              <a:t>Financieel: Bath Spa betaalt de afgesproken pilotfee van £3.280 incl. btw. Factuur moet nog verstuurd worden.</a:t>
            </a:r>
          </a:p>
        </p:txBody>
      </p:sp>
      <p:sp>
        <p:nvSpPr>
          <p:cNvPr id="16" name="TextBox 15"/>
          <p:cNvSpPr txBox="1"/>
          <p:nvPr/>
        </p:nvSpPr>
        <p:spPr>
          <a:xfrm>
            <a:off x="762000" y="5054600"/>
            <a:ext cx="10668000" cy="330200"/>
          </a:xfrm>
          <a:prstGeom prst="rect">
            <a:avLst/>
          </a:prstGeom>
          <a:noFill/>
        </p:spPr>
        <p:txBody>
          <a:bodyPr wrap="square" lIns="0" rIns="0" tIns="0" bIns="0">
            <a:spAutoFit/>
          </a:bodyPr>
          <a:lstStyle/>
          <a:p>
            <a:pPr algn="l">
              <a:lnSpc>
                <a:spcPct val="130000"/>
              </a:lnSpc>
            </a:pPr>
            <a:r>
              <a:rPr sz="1250" b="0">
                <a:solidFill>
                  <a:srgbClr val="007B54"/>
                </a:solidFill>
                <a:latin typeface="Inter"/>
              </a:rPr>
              <a:t>Voor ons: de 94% accuraatheidsmeting (435 inzendingen, 13 nakijkers, juni 2026) komt uit deze pilot en blijft feitelijk overeind. Dat cijfer wordt door Bath Spa niet betwist.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Mail Helen King, Bath Spa University, 21-09-2026.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Financiën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Cash in bank €51.000 · runway 3,5 maanden, tot half januari 2027 · nieuwe tranche nodig in december.</a:t>
            </a:r>
          </a:p>
        </p:txBody>
      </p:sp>
      <p:sp>
        <p:nvSpPr>
          <p:cNvPr id="4" name="TextBox 3"/>
          <p:cNvSpPr txBox="1"/>
          <p:nvPr/>
        </p:nvSpPr>
        <p:spPr>
          <a:xfrm>
            <a:off x="762000" y="1587500"/>
            <a:ext cx="6985000" cy="190500"/>
          </a:xfrm>
          <a:prstGeom prst="rect">
            <a:avLst/>
          </a:prstGeom>
          <a:noFill/>
        </p:spPr>
        <p:txBody>
          <a:bodyPr wrap="square" lIns="0" rIns="0" tIns="0" bIns="0">
            <a:spAutoFit/>
          </a:bodyPr>
          <a:lstStyle/>
          <a:p>
            <a:pPr algn="l">
              <a:lnSpc>
                <a:spcPct val="115000"/>
              </a:lnSpc>
            </a:pPr>
            <a:r>
              <a:rPr sz="1050" b="1">
                <a:solidFill>
                  <a:srgbClr val="5B7480"/>
                </a:solidFill>
                <a:latin typeface="Inter"/>
              </a:rPr>
              <a:t>Post</a:t>
            </a:r>
          </a:p>
        </p:txBody>
      </p:sp>
      <p:sp>
        <p:nvSpPr>
          <p:cNvPr id="5" name="TextBox 4"/>
          <p:cNvSpPr txBox="1"/>
          <p:nvPr/>
        </p:nvSpPr>
        <p:spPr>
          <a:xfrm>
            <a:off x="8255000" y="1587500"/>
            <a:ext cx="19050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Per maand</a:t>
            </a:r>
          </a:p>
        </p:txBody>
      </p:sp>
      <p:sp>
        <p:nvSpPr>
          <p:cNvPr id="6" name="TextBox 5"/>
          <p:cNvSpPr txBox="1"/>
          <p:nvPr/>
        </p:nvSpPr>
        <p:spPr>
          <a:xfrm>
            <a:off x="10477500" y="1587500"/>
            <a:ext cx="10795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a:t>
            </a:r>
          </a:p>
        </p:txBody>
      </p:sp>
      <p:sp>
        <p:nvSpPr>
          <p:cNvPr id="7" name="Rectangle 6"/>
          <p:cNvSpPr/>
          <p:nvPr/>
        </p:nvSpPr>
        <p:spPr>
          <a:xfrm>
            <a:off x="762000" y="1778000"/>
            <a:ext cx="10795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1866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Salarissen</a:t>
            </a:r>
          </a:p>
        </p:txBody>
      </p:sp>
      <p:sp>
        <p:nvSpPr>
          <p:cNvPr id="9" name="TextBox 8"/>
          <p:cNvSpPr txBox="1"/>
          <p:nvPr/>
        </p:nvSpPr>
        <p:spPr>
          <a:xfrm>
            <a:off x="8255000" y="1866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6.447,57</a:t>
            </a:r>
          </a:p>
        </p:txBody>
      </p:sp>
      <p:sp>
        <p:nvSpPr>
          <p:cNvPr id="10" name="TextBox 9"/>
          <p:cNvSpPr txBox="1"/>
          <p:nvPr/>
        </p:nvSpPr>
        <p:spPr>
          <a:xfrm>
            <a:off x="10477500" y="1866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42,7%</a:t>
            </a:r>
          </a:p>
        </p:txBody>
      </p:sp>
      <p:sp>
        <p:nvSpPr>
          <p:cNvPr id="11" name="TextBox 10"/>
          <p:cNvSpPr txBox="1"/>
          <p:nvPr/>
        </p:nvSpPr>
        <p:spPr>
          <a:xfrm>
            <a:off x="762000" y="2146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Management fees (excl. btw)</a:t>
            </a:r>
          </a:p>
        </p:txBody>
      </p:sp>
      <p:sp>
        <p:nvSpPr>
          <p:cNvPr id="12" name="TextBox 11"/>
          <p:cNvSpPr txBox="1"/>
          <p:nvPr/>
        </p:nvSpPr>
        <p:spPr>
          <a:xfrm>
            <a:off x="8255000" y="2146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3.400,00</a:t>
            </a:r>
          </a:p>
        </p:txBody>
      </p:sp>
      <p:sp>
        <p:nvSpPr>
          <p:cNvPr id="13" name="TextBox 12"/>
          <p:cNvSpPr txBox="1"/>
          <p:nvPr/>
        </p:nvSpPr>
        <p:spPr>
          <a:xfrm>
            <a:off x="10477500" y="2146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22,5%</a:t>
            </a:r>
          </a:p>
        </p:txBody>
      </p:sp>
      <p:sp>
        <p:nvSpPr>
          <p:cNvPr id="14" name="TextBox 13"/>
          <p:cNvSpPr txBox="1"/>
          <p:nvPr/>
        </p:nvSpPr>
        <p:spPr>
          <a:xfrm>
            <a:off x="762000" y="2425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Loonheffing</a:t>
            </a:r>
          </a:p>
        </p:txBody>
      </p:sp>
      <p:sp>
        <p:nvSpPr>
          <p:cNvPr id="15" name="TextBox 14"/>
          <p:cNvSpPr txBox="1"/>
          <p:nvPr/>
        </p:nvSpPr>
        <p:spPr>
          <a:xfrm>
            <a:off x="8255000" y="2425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1.820,00</a:t>
            </a:r>
          </a:p>
        </p:txBody>
      </p:sp>
      <p:sp>
        <p:nvSpPr>
          <p:cNvPr id="16" name="TextBox 15"/>
          <p:cNvSpPr txBox="1"/>
          <p:nvPr/>
        </p:nvSpPr>
        <p:spPr>
          <a:xfrm>
            <a:off x="10477500" y="2425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12,1%</a:t>
            </a:r>
          </a:p>
        </p:txBody>
      </p:sp>
      <p:sp>
        <p:nvSpPr>
          <p:cNvPr id="17" name="TextBox 16"/>
          <p:cNvSpPr txBox="1"/>
          <p:nvPr/>
        </p:nvSpPr>
        <p:spPr>
          <a:xfrm>
            <a:off x="762000" y="2705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Huisvesting (Dotslash)</a:t>
            </a:r>
          </a:p>
        </p:txBody>
      </p:sp>
      <p:sp>
        <p:nvSpPr>
          <p:cNvPr id="18" name="TextBox 17"/>
          <p:cNvSpPr txBox="1"/>
          <p:nvPr/>
        </p:nvSpPr>
        <p:spPr>
          <a:xfrm>
            <a:off x="8255000" y="2705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1.383,03</a:t>
            </a:r>
          </a:p>
        </p:txBody>
      </p:sp>
      <p:sp>
        <p:nvSpPr>
          <p:cNvPr id="19" name="TextBox 18"/>
          <p:cNvSpPr txBox="1"/>
          <p:nvPr/>
        </p:nvSpPr>
        <p:spPr>
          <a:xfrm>
            <a:off x="10477500" y="2705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9,2%</a:t>
            </a:r>
          </a:p>
        </p:txBody>
      </p:sp>
      <p:sp>
        <p:nvSpPr>
          <p:cNvPr id="20" name="TextBox 19"/>
          <p:cNvSpPr txBox="1"/>
          <p:nvPr/>
        </p:nvSpPr>
        <p:spPr>
          <a:xfrm>
            <a:off x="762000" y="2984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Software</a:t>
            </a:r>
          </a:p>
        </p:txBody>
      </p:sp>
      <p:sp>
        <p:nvSpPr>
          <p:cNvPr id="21" name="TextBox 20"/>
          <p:cNvSpPr txBox="1"/>
          <p:nvPr/>
        </p:nvSpPr>
        <p:spPr>
          <a:xfrm>
            <a:off x="8255000" y="2984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899,11</a:t>
            </a:r>
          </a:p>
        </p:txBody>
      </p:sp>
      <p:sp>
        <p:nvSpPr>
          <p:cNvPr id="22" name="TextBox 21"/>
          <p:cNvSpPr txBox="1"/>
          <p:nvPr/>
        </p:nvSpPr>
        <p:spPr>
          <a:xfrm>
            <a:off x="10477500" y="2984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6,0%</a:t>
            </a:r>
          </a:p>
        </p:txBody>
      </p:sp>
      <p:sp>
        <p:nvSpPr>
          <p:cNvPr id="23" name="TextBox 22"/>
          <p:cNvSpPr txBox="1"/>
          <p:nvPr/>
        </p:nvSpPr>
        <p:spPr>
          <a:xfrm>
            <a:off x="762000" y="3263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Reiskosten (NS Menno)</a:t>
            </a:r>
          </a:p>
        </p:txBody>
      </p:sp>
      <p:sp>
        <p:nvSpPr>
          <p:cNvPr id="24" name="TextBox 23"/>
          <p:cNvSpPr txBox="1"/>
          <p:nvPr/>
        </p:nvSpPr>
        <p:spPr>
          <a:xfrm>
            <a:off x="8255000" y="3263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399,95</a:t>
            </a:r>
          </a:p>
        </p:txBody>
      </p:sp>
      <p:sp>
        <p:nvSpPr>
          <p:cNvPr id="25" name="TextBox 24"/>
          <p:cNvSpPr txBox="1"/>
          <p:nvPr/>
        </p:nvSpPr>
        <p:spPr>
          <a:xfrm>
            <a:off x="10477500" y="3263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2,7%</a:t>
            </a:r>
          </a:p>
        </p:txBody>
      </p:sp>
      <p:sp>
        <p:nvSpPr>
          <p:cNvPr id="26" name="TextBox 25"/>
          <p:cNvSpPr txBox="1"/>
          <p:nvPr/>
        </p:nvSpPr>
        <p:spPr>
          <a:xfrm>
            <a:off x="762000" y="3543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Administratie</a:t>
            </a:r>
          </a:p>
        </p:txBody>
      </p:sp>
      <p:sp>
        <p:nvSpPr>
          <p:cNvPr id="27" name="TextBox 26"/>
          <p:cNvSpPr txBox="1"/>
          <p:nvPr/>
        </p:nvSpPr>
        <p:spPr>
          <a:xfrm>
            <a:off x="8255000" y="3543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320,86</a:t>
            </a:r>
          </a:p>
        </p:txBody>
      </p:sp>
      <p:sp>
        <p:nvSpPr>
          <p:cNvPr id="28" name="TextBox 27"/>
          <p:cNvSpPr txBox="1"/>
          <p:nvPr/>
        </p:nvSpPr>
        <p:spPr>
          <a:xfrm>
            <a:off x="10477500" y="3543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2,1%</a:t>
            </a:r>
          </a:p>
        </p:txBody>
      </p:sp>
      <p:sp>
        <p:nvSpPr>
          <p:cNvPr id="29" name="TextBox 28"/>
          <p:cNvSpPr txBox="1"/>
          <p:nvPr/>
        </p:nvSpPr>
        <p:spPr>
          <a:xfrm>
            <a:off x="762000" y="3822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Google Ads (stopgezet)</a:t>
            </a:r>
          </a:p>
        </p:txBody>
      </p:sp>
      <p:sp>
        <p:nvSpPr>
          <p:cNvPr id="30" name="TextBox 29"/>
          <p:cNvSpPr txBox="1"/>
          <p:nvPr/>
        </p:nvSpPr>
        <p:spPr>
          <a:xfrm>
            <a:off x="8255000" y="3822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182,20</a:t>
            </a:r>
          </a:p>
        </p:txBody>
      </p:sp>
      <p:sp>
        <p:nvSpPr>
          <p:cNvPr id="31" name="TextBox 30"/>
          <p:cNvSpPr txBox="1"/>
          <p:nvPr/>
        </p:nvSpPr>
        <p:spPr>
          <a:xfrm>
            <a:off x="10477500" y="3822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a:t>
            </a:r>
          </a:p>
        </p:txBody>
      </p:sp>
      <p:sp>
        <p:nvSpPr>
          <p:cNvPr id="32" name="TextBox 31"/>
          <p:cNvSpPr txBox="1"/>
          <p:nvPr/>
        </p:nvSpPr>
        <p:spPr>
          <a:xfrm>
            <a:off x="762000" y="4102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Rente pre-seed ELF</a:t>
            </a:r>
          </a:p>
        </p:txBody>
      </p:sp>
      <p:sp>
        <p:nvSpPr>
          <p:cNvPr id="33" name="TextBox 32"/>
          <p:cNvSpPr txBox="1"/>
          <p:nvPr/>
        </p:nvSpPr>
        <p:spPr>
          <a:xfrm>
            <a:off x="8255000" y="4102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132,24</a:t>
            </a:r>
          </a:p>
        </p:txBody>
      </p:sp>
      <p:sp>
        <p:nvSpPr>
          <p:cNvPr id="34" name="TextBox 33"/>
          <p:cNvSpPr txBox="1"/>
          <p:nvPr/>
        </p:nvSpPr>
        <p:spPr>
          <a:xfrm>
            <a:off x="10477500" y="4102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0,9%</a:t>
            </a:r>
          </a:p>
        </p:txBody>
      </p:sp>
      <p:sp>
        <p:nvSpPr>
          <p:cNvPr id="35" name="TextBox 34"/>
          <p:cNvSpPr txBox="1"/>
          <p:nvPr/>
        </p:nvSpPr>
        <p:spPr>
          <a:xfrm>
            <a:off x="762000" y="4381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Representatie en attenties</a:t>
            </a:r>
          </a:p>
        </p:txBody>
      </p:sp>
      <p:sp>
        <p:nvSpPr>
          <p:cNvPr id="36" name="TextBox 35"/>
          <p:cNvSpPr txBox="1"/>
          <p:nvPr/>
        </p:nvSpPr>
        <p:spPr>
          <a:xfrm>
            <a:off x="8255000" y="4381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67,77</a:t>
            </a:r>
          </a:p>
        </p:txBody>
      </p:sp>
      <p:sp>
        <p:nvSpPr>
          <p:cNvPr id="37" name="TextBox 36"/>
          <p:cNvSpPr txBox="1"/>
          <p:nvPr/>
        </p:nvSpPr>
        <p:spPr>
          <a:xfrm>
            <a:off x="10477500" y="4381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0,4%</a:t>
            </a:r>
          </a:p>
        </p:txBody>
      </p:sp>
      <p:sp>
        <p:nvSpPr>
          <p:cNvPr id="38" name="TextBox 37"/>
          <p:cNvSpPr txBox="1"/>
          <p:nvPr/>
        </p:nvSpPr>
        <p:spPr>
          <a:xfrm>
            <a:off x="762000" y="4660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Bank en verzekering</a:t>
            </a:r>
          </a:p>
        </p:txBody>
      </p:sp>
      <p:sp>
        <p:nvSpPr>
          <p:cNvPr id="39" name="TextBox 38"/>
          <p:cNvSpPr txBox="1"/>
          <p:nvPr/>
        </p:nvSpPr>
        <p:spPr>
          <a:xfrm>
            <a:off x="8255000" y="4660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32,07</a:t>
            </a:r>
          </a:p>
        </p:txBody>
      </p:sp>
      <p:sp>
        <p:nvSpPr>
          <p:cNvPr id="40" name="TextBox 39"/>
          <p:cNvSpPr txBox="1"/>
          <p:nvPr/>
        </p:nvSpPr>
        <p:spPr>
          <a:xfrm>
            <a:off x="10477500" y="4660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0,2%</a:t>
            </a:r>
          </a:p>
        </p:txBody>
      </p:sp>
      <p:sp>
        <p:nvSpPr>
          <p:cNvPr id="41" name="Rectangle 40"/>
          <p:cNvSpPr/>
          <p:nvPr/>
        </p:nvSpPr>
        <p:spPr>
          <a:xfrm>
            <a:off x="762000" y="4902200"/>
            <a:ext cx="10795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000" y="5029200"/>
            <a:ext cx="6985000" cy="241300"/>
          </a:xfrm>
          <a:prstGeom prst="rect">
            <a:avLst/>
          </a:prstGeom>
          <a:noFill/>
        </p:spPr>
        <p:txBody>
          <a:bodyPr wrap="square" lIns="0" rIns="0" tIns="0" bIns="0">
            <a:spAutoFit/>
          </a:bodyPr>
          <a:lstStyle/>
          <a:p>
            <a:pPr algn="l">
              <a:lnSpc>
                <a:spcPct val="115000"/>
              </a:lnSpc>
            </a:pPr>
            <a:r>
              <a:rPr sz="1300" b="1">
                <a:solidFill>
                  <a:srgbClr val="002333"/>
                </a:solidFill>
                <a:latin typeface="Inter"/>
              </a:rPr>
              <a:t>Totaal</a:t>
            </a:r>
          </a:p>
        </p:txBody>
      </p:sp>
      <p:sp>
        <p:nvSpPr>
          <p:cNvPr id="43" name="TextBox 42"/>
          <p:cNvSpPr txBox="1"/>
          <p:nvPr/>
        </p:nvSpPr>
        <p:spPr>
          <a:xfrm>
            <a:off x="8255000" y="5029200"/>
            <a:ext cx="19050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15.084,80</a:t>
            </a:r>
          </a:p>
        </p:txBody>
      </p:sp>
      <p:sp>
        <p:nvSpPr>
          <p:cNvPr id="44" name="TextBox 43"/>
          <p:cNvSpPr txBox="1"/>
          <p:nvPr/>
        </p:nvSpPr>
        <p:spPr>
          <a:xfrm>
            <a:off x="10477500" y="5029200"/>
            <a:ext cx="10795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100%</a:t>
            </a:r>
          </a:p>
        </p:txBody>
      </p:sp>
      <p:sp>
        <p:nvSpPr>
          <p:cNvPr id="45" name="Rectangle 4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Eduface financieel model, Q3 board knowledge doc, sep 2026.</a:t>
            </a:r>
          </a:p>
        </p:txBody>
      </p:sp>
      <p:pic>
        <p:nvPicPr>
          <p:cNvPr id="47" name="Picture 46" descr="logo_navy.png"/>
          <p:cNvPicPr>
            <a:picLocks noChangeAspect="1"/>
          </p:cNvPicPr>
          <p:nvPr/>
        </p:nvPicPr>
        <p:blipFill>
          <a:blip r:embed="rId2"/>
          <a:stretch>
            <a:fillRect/>
          </a:stretch>
        </p:blipFill>
        <p:spPr>
          <a:xfrm>
            <a:off x="10668000" y="5727700"/>
            <a:ext cx="762000" cy="209550"/>
          </a:xfrm>
          <a:prstGeom prst="rect">
            <a:avLst/>
          </a:prstGeom>
        </p:spPr>
      </p:pic>
      <p:sp>
        <p:nvSpPr>
          <p:cNvPr id="48" name="TextBox 4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Pipeline</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150" b="0">
                <a:solidFill>
                  <a:srgbClr val="5B7480"/>
                </a:solidFill>
                <a:latin typeface="Inter"/>
              </a:rPr>
              <a:t>€2.157.500 totaal, €489.000 gewogen. 69% van het gewogen bedrag is particulier, 30,5% publiek, 0,5% overig (Noordhoff, uitgever).</a:t>
            </a:r>
          </a:p>
        </p:txBody>
      </p:sp>
      <p:sp>
        <p:nvSpPr>
          <p:cNvPr id="4" name="TextBox 3"/>
          <p:cNvSpPr txBox="1"/>
          <p:nvPr/>
        </p:nvSpPr>
        <p:spPr>
          <a:xfrm>
            <a:off x="762000" y="1651000"/>
            <a:ext cx="4826000" cy="190500"/>
          </a:xfrm>
          <a:prstGeom prst="rect">
            <a:avLst/>
          </a:prstGeom>
          <a:noFill/>
        </p:spPr>
        <p:txBody>
          <a:bodyPr wrap="square" lIns="0" rIns="0" tIns="0" bIns="0">
            <a:spAutoFit/>
          </a:bodyPr>
          <a:lstStyle/>
          <a:p>
            <a:pPr algn="l">
              <a:lnSpc>
                <a:spcPct val="115000"/>
              </a:lnSpc>
            </a:pPr>
            <a:r>
              <a:rPr sz="850" b="1">
                <a:solidFill>
                  <a:srgbClr val="5B7480"/>
                </a:solidFill>
                <a:latin typeface="Inter"/>
              </a:rPr>
              <a:t>Instelling</a:t>
            </a:r>
          </a:p>
        </p:txBody>
      </p:sp>
      <p:sp>
        <p:nvSpPr>
          <p:cNvPr id="5" name="TextBox 4"/>
          <p:cNvSpPr txBox="1"/>
          <p:nvPr/>
        </p:nvSpPr>
        <p:spPr>
          <a:xfrm>
            <a:off x="5715000" y="1651000"/>
            <a:ext cx="2540000" cy="190500"/>
          </a:xfrm>
          <a:prstGeom prst="rect">
            <a:avLst/>
          </a:prstGeom>
          <a:noFill/>
        </p:spPr>
        <p:txBody>
          <a:bodyPr wrap="square" lIns="0" rIns="0" tIns="0" bIns="0">
            <a:spAutoFit/>
          </a:bodyPr>
          <a:lstStyle/>
          <a:p>
            <a:pPr algn="l">
              <a:lnSpc>
                <a:spcPct val="115000"/>
              </a:lnSpc>
            </a:pPr>
            <a:r>
              <a:rPr sz="850" b="1">
                <a:solidFill>
                  <a:srgbClr val="5B7480"/>
                </a:solidFill>
                <a:latin typeface="Inter"/>
              </a:rPr>
              <a:t>Markt / segment</a:t>
            </a:r>
          </a:p>
        </p:txBody>
      </p:sp>
      <p:sp>
        <p:nvSpPr>
          <p:cNvPr id="6" name="TextBox 5"/>
          <p:cNvSpPr txBox="1"/>
          <p:nvPr/>
        </p:nvSpPr>
        <p:spPr>
          <a:xfrm>
            <a:off x="8445500" y="1651000"/>
            <a:ext cx="1587500" cy="190500"/>
          </a:xfrm>
          <a:prstGeom prst="rect">
            <a:avLst/>
          </a:prstGeom>
          <a:noFill/>
        </p:spPr>
        <p:txBody>
          <a:bodyPr wrap="square" lIns="0" rIns="0" tIns="0" bIns="0">
            <a:spAutoFit/>
          </a:bodyPr>
          <a:lstStyle/>
          <a:p>
            <a:pPr algn="r">
              <a:lnSpc>
                <a:spcPct val="115000"/>
              </a:lnSpc>
            </a:pPr>
            <a:r>
              <a:rPr sz="850" b="1">
                <a:solidFill>
                  <a:srgbClr val="5B7480"/>
                </a:solidFill>
                <a:latin typeface="Inter"/>
              </a:rPr>
              <a:t>Dealsize</a:t>
            </a:r>
          </a:p>
        </p:txBody>
      </p:sp>
      <p:sp>
        <p:nvSpPr>
          <p:cNvPr id="7" name="TextBox 6"/>
          <p:cNvSpPr txBox="1"/>
          <p:nvPr/>
        </p:nvSpPr>
        <p:spPr>
          <a:xfrm>
            <a:off x="10160000" y="1651000"/>
            <a:ext cx="1270000" cy="190500"/>
          </a:xfrm>
          <a:prstGeom prst="rect">
            <a:avLst/>
          </a:prstGeom>
          <a:noFill/>
        </p:spPr>
        <p:txBody>
          <a:bodyPr wrap="square" lIns="0" rIns="0" tIns="0" bIns="0">
            <a:spAutoFit/>
          </a:bodyPr>
          <a:lstStyle/>
          <a:p>
            <a:pPr algn="r">
              <a:lnSpc>
                <a:spcPct val="115000"/>
              </a:lnSpc>
            </a:pPr>
            <a:r>
              <a:rPr sz="850" b="1">
                <a:solidFill>
                  <a:srgbClr val="5B7480"/>
                </a:solidFill>
                <a:latin typeface="Inter"/>
              </a:rPr>
              <a:t>Kans</a:t>
            </a:r>
          </a:p>
        </p:txBody>
      </p:sp>
      <p:sp>
        <p:nvSpPr>
          <p:cNvPr id="8" name="Rectangle 7"/>
          <p:cNvSpPr/>
          <p:nvPr/>
        </p:nvSpPr>
        <p:spPr>
          <a:xfrm>
            <a:off x="762000" y="1841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19304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UTI</a:t>
            </a:r>
          </a:p>
        </p:txBody>
      </p:sp>
      <p:sp>
        <p:nvSpPr>
          <p:cNvPr id="10" name="TextBox 9"/>
          <p:cNvSpPr txBox="1"/>
          <p:nvPr/>
        </p:nvSpPr>
        <p:spPr>
          <a:xfrm>
            <a:off x="5715000" y="19304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US, privaat</a:t>
            </a:r>
          </a:p>
        </p:txBody>
      </p:sp>
      <p:sp>
        <p:nvSpPr>
          <p:cNvPr id="11" name="TextBox 10"/>
          <p:cNvSpPr txBox="1"/>
          <p:nvPr/>
        </p:nvSpPr>
        <p:spPr>
          <a:xfrm>
            <a:off x="8445500" y="19304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12" name="TextBox 11"/>
          <p:cNvSpPr txBox="1"/>
          <p:nvPr/>
        </p:nvSpPr>
        <p:spPr>
          <a:xfrm>
            <a:off x="10160000" y="19304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13" name="TextBox 12"/>
          <p:cNvSpPr txBox="1"/>
          <p:nvPr/>
        </p:nvSpPr>
        <p:spPr>
          <a:xfrm>
            <a:off x="762000" y="20955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BPP</a:t>
            </a:r>
          </a:p>
        </p:txBody>
      </p:sp>
      <p:sp>
        <p:nvSpPr>
          <p:cNvPr id="14" name="TextBox 13"/>
          <p:cNvSpPr txBox="1"/>
          <p:nvPr/>
        </p:nvSpPr>
        <p:spPr>
          <a:xfrm>
            <a:off x="5715000" y="20955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UK, privaat</a:t>
            </a:r>
          </a:p>
        </p:txBody>
      </p:sp>
      <p:sp>
        <p:nvSpPr>
          <p:cNvPr id="15" name="TextBox 14"/>
          <p:cNvSpPr txBox="1"/>
          <p:nvPr/>
        </p:nvSpPr>
        <p:spPr>
          <a:xfrm>
            <a:off x="8445500" y="20955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16" name="TextBox 15"/>
          <p:cNvSpPr txBox="1"/>
          <p:nvPr/>
        </p:nvSpPr>
        <p:spPr>
          <a:xfrm>
            <a:off x="10160000" y="20955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7" name="TextBox 16"/>
          <p:cNvSpPr txBox="1"/>
          <p:nvPr/>
        </p:nvSpPr>
        <p:spPr>
          <a:xfrm>
            <a:off x="762000" y="22606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Rijksuniversiteit Groningen</a:t>
            </a:r>
          </a:p>
        </p:txBody>
      </p:sp>
      <p:sp>
        <p:nvSpPr>
          <p:cNvPr id="18" name="TextBox 17"/>
          <p:cNvSpPr txBox="1"/>
          <p:nvPr/>
        </p:nvSpPr>
        <p:spPr>
          <a:xfrm>
            <a:off x="5715000" y="22606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19" name="TextBox 18"/>
          <p:cNvSpPr txBox="1"/>
          <p:nvPr/>
        </p:nvSpPr>
        <p:spPr>
          <a:xfrm>
            <a:off x="8445500" y="22606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€300.000</a:t>
            </a:r>
          </a:p>
        </p:txBody>
      </p:sp>
      <p:sp>
        <p:nvSpPr>
          <p:cNvPr id="20" name="TextBox 19"/>
          <p:cNvSpPr txBox="1"/>
          <p:nvPr/>
        </p:nvSpPr>
        <p:spPr>
          <a:xfrm>
            <a:off x="10160000" y="22606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21" name="TextBox 20"/>
          <p:cNvSpPr txBox="1"/>
          <p:nvPr/>
        </p:nvSpPr>
        <p:spPr>
          <a:xfrm>
            <a:off x="762000" y="24257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UADE</a:t>
            </a:r>
          </a:p>
        </p:txBody>
      </p:sp>
      <p:sp>
        <p:nvSpPr>
          <p:cNvPr id="22" name="TextBox 21"/>
          <p:cNvSpPr txBox="1"/>
          <p:nvPr/>
        </p:nvSpPr>
        <p:spPr>
          <a:xfrm>
            <a:off x="5715000" y="24257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AR, privaat</a:t>
            </a:r>
          </a:p>
        </p:txBody>
      </p:sp>
      <p:sp>
        <p:nvSpPr>
          <p:cNvPr id="23" name="TextBox 22"/>
          <p:cNvSpPr txBox="1"/>
          <p:nvPr/>
        </p:nvSpPr>
        <p:spPr>
          <a:xfrm>
            <a:off x="8445500" y="24257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€250.000</a:t>
            </a:r>
          </a:p>
        </p:txBody>
      </p:sp>
      <p:sp>
        <p:nvSpPr>
          <p:cNvPr id="24" name="TextBox 23"/>
          <p:cNvSpPr txBox="1"/>
          <p:nvPr/>
        </p:nvSpPr>
        <p:spPr>
          <a:xfrm>
            <a:off x="10160000" y="24257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25" name="TextBox 24"/>
          <p:cNvSpPr txBox="1"/>
          <p:nvPr/>
        </p:nvSpPr>
        <p:spPr>
          <a:xfrm>
            <a:off x="762000" y="25908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Windesheim</a:t>
            </a:r>
          </a:p>
        </p:txBody>
      </p:sp>
      <p:sp>
        <p:nvSpPr>
          <p:cNvPr id="26" name="TextBox 25"/>
          <p:cNvSpPr txBox="1"/>
          <p:nvPr/>
        </p:nvSpPr>
        <p:spPr>
          <a:xfrm>
            <a:off x="5715000" y="25908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27" name="TextBox 26"/>
          <p:cNvSpPr txBox="1"/>
          <p:nvPr/>
        </p:nvSpPr>
        <p:spPr>
          <a:xfrm>
            <a:off x="8445500" y="25908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28" name="TextBox 27"/>
          <p:cNvSpPr txBox="1"/>
          <p:nvPr/>
        </p:nvSpPr>
        <p:spPr>
          <a:xfrm>
            <a:off x="10160000" y="25908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29" name="TextBox 28"/>
          <p:cNvSpPr txBox="1"/>
          <p:nvPr/>
        </p:nvSpPr>
        <p:spPr>
          <a:xfrm>
            <a:off x="762000" y="27559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Bristol University</a:t>
            </a:r>
          </a:p>
        </p:txBody>
      </p:sp>
      <p:sp>
        <p:nvSpPr>
          <p:cNvPr id="30" name="TextBox 29"/>
          <p:cNvSpPr txBox="1"/>
          <p:nvPr/>
        </p:nvSpPr>
        <p:spPr>
          <a:xfrm>
            <a:off x="5715000" y="27559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UK, publiek</a:t>
            </a:r>
          </a:p>
        </p:txBody>
      </p:sp>
      <p:sp>
        <p:nvSpPr>
          <p:cNvPr id="31" name="TextBox 30"/>
          <p:cNvSpPr txBox="1"/>
          <p:nvPr/>
        </p:nvSpPr>
        <p:spPr>
          <a:xfrm>
            <a:off x="8445500" y="27559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32" name="TextBox 31"/>
          <p:cNvSpPr txBox="1"/>
          <p:nvPr/>
        </p:nvSpPr>
        <p:spPr>
          <a:xfrm>
            <a:off x="10160000" y="27559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33" name="TextBox 32"/>
          <p:cNvSpPr txBox="1"/>
          <p:nvPr/>
        </p:nvSpPr>
        <p:spPr>
          <a:xfrm>
            <a:off x="762000" y="29210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Concorde Career College</a:t>
            </a:r>
          </a:p>
        </p:txBody>
      </p:sp>
      <p:sp>
        <p:nvSpPr>
          <p:cNvPr id="34" name="TextBox 33"/>
          <p:cNvSpPr txBox="1"/>
          <p:nvPr/>
        </p:nvSpPr>
        <p:spPr>
          <a:xfrm>
            <a:off x="5715000" y="29210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US, privaat</a:t>
            </a:r>
          </a:p>
        </p:txBody>
      </p:sp>
      <p:sp>
        <p:nvSpPr>
          <p:cNvPr id="35" name="TextBox 34"/>
          <p:cNvSpPr txBox="1"/>
          <p:nvPr/>
        </p:nvSpPr>
        <p:spPr>
          <a:xfrm>
            <a:off x="8445500" y="29210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36" name="TextBox 35"/>
          <p:cNvSpPr txBox="1"/>
          <p:nvPr/>
        </p:nvSpPr>
        <p:spPr>
          <a:xfrm>
            <a:off x="10160000" y="29210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37" name="TextBox 36"/>
          <p:cNvSpPr txBox="1"/>
          <p:nvPr/>
        </p:nvSpPr>
        <p:spPr>
          <a:xfrm>
            <a:off x="762000" y="30861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Goldsmiths</a:t>
            </a:r>
          </a:p>
        </p:txBody>
      </p:sp>
      <p:sp>
        <p:nvSpPr>
          <p:cNvPr id="38" name="TextBox 37"/>
          <p:cNvSpPr txBox="1"/>
          <p:nvPr/>
        </p:nvSpPr>
        <p:spPr>
          <a:xfrm>
            <a:off x="5715000" y="30861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UK, publiek</a:t>
            </a:r>
          </a:p>
        </p:txBody>
      </p:sp>
      <p:sp>
        <p:nvSpPr>
          <p:cNvPr id="39" name="TextBox 38"/>
          <p:cNvSpPr txBox="1"/>
          <p:nvPr/>
        </p:nvSpPr>
        <p:spPr>
          <a:xfrm>
            <a:off x="8445500" y="30861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€60.000</a:t>
            </a:r>
          </a:p>
        </p:txBody>
      </p:sp>
      <p:sp>
        <p:nvSpPr>
          <p:cNvPr id="40" name="TextBox 39"/>
          <p:cNvSpPr txBox="1"/>
          <p:nvPr/>
        </p:nvSpPr>
        <p:spPr>
          <a:xfrm>
            <a:off x="10160000" y="30861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30%</a:t>
            </a:r>
          </a:p>
        </p:txBody>
      </p:sp>
      <p:sp>
        <p:nvSpPr>
          <p:cNvPr id="41" name="TextBox 40"/>
          <p:cNvSpPr txBox="1"/>
          <p:nvPr/>
        </p:nvSpPr>
        <p:spPr>
          <a:xfrm>
            <a:off x="762000" y="32512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Haagse Hogeschool</a:t>
            </a:r>
          </a:p>
        </p:txBody>
      </p:sp>
      <p:sp>
        <p:nvSpPr>
          <p:cNvPr id="42" name="TextBox 41"/>
          <p:cNvSpPr txBox="1"/>
          <p:nvPr/>
        </p:nvSpPr>
        <p:spPr>
          <a:xfrm>
            <a:off x="5715000" y="32512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43" name="TextBox 42"/>
          <p:cNvSpPr txBox="1"/>
          <p:nvPr/>
        </p:nvSpPr>
        <p:spPr>
          <a:xfrm>
            <a:off x="8445500" y="32512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44" name="TextBox 43"/>
          <p:cNvSpPr txBox="1"/>
          <p:nvPr/>
        </p:nvSpPr>
        <p:spPr>
          <a:xfrm>
            <a:off x="10160000" y="32512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45" name="TextBox 44"/>
          <p:cNvSpPr txBox="1"/>
          <p:nvPr/>
        </p:nvSpPr>
        <p:spPr>
          <a:xfrm>
            <a:off x="762000" y="34163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Breederode Hogeschool</a:t>
            </a:r>
          </a:p>
        </p:txBody>
      </p:sp>
      <p:sp>
        <p:nvSpPr>
          <p:cNvPr id="46" name="TextBox 45"/>
          <p:cNvSpPr txBox="1"/>
          <p:nvPr/>
        </p:nvSpPr>
        <p:spPr>
          <a:xfrm>
            <a:off x="5715000" y="34163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privaat</a:t>
            </a:r>
          </a:p>
        </p:txBody>
      </p:sp>
      <p:sp>
        <p:nvSpPr>
          <p:cNvPr id="47" name="TextBox 46"/>
          <p:cNvSpPr txBox="1"/>
          <p:nvPr/>
        </p:nvSpPr>
        <p:spPr>
          <a:xfrm>
            <a:off x="8445500" y="34163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48" name="TextBox 47"/>
          <p:cNvSpPr txBox="1"/>
          <p:nvPr/>
        </p:nvSpPr>
        <p:spPr>
          <a:xfrm>
            <a:off x="10160000" y="34163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70%</a:t>
            </a:r>
          </a:p>
        </p:txBody>
      </p:sp>
      <p:sp>
        <p:nvSpPr>
          <p:cNvPr id="49" name="TextBox 48"/>
          <p:cNvSpPr txBox="1"/>
          <p:nvPr/>
        </p:nvSpPr>
        <p:spPr>
          <a:xfrm>
            <a:off x="762000" y="35814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Tilburg University</a:t>
            </a:r>
          </a:p>
        </p:txBody>
      </p:sp>
      <p:sp>
        <p:nvSpPr>
          <p:cNvPr id="50" name="TextBox 49"/>
          <p:cNvSpPr txBox="1"/>
          <p:nvPr/>
        </p:nvSpPr>
        <p:spPr>
          <a:xfrm>
            <a:off x="5715000" y="35814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51" name="TextBox 50"/>
          <p:cNvSpPr txBox="1"/>
          <p:nvPr/>
        </p:nvSpPr>
        <p:spPr>
          <a:xfrm>
            <a:off x="8445500" y="35814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52" name="TextBox 51"/>
          <p:cNvSpPr txBox="1"/>
          <p:nvPr/>
        </p:nvSpPr>
        <p:spPr>
          <a:xfrm>
            <a:off x="10160000" y="35814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53" name="TextBox 52"/>
          <p:cNvSpPr txBox="1"/>
          <p:nvPr/>
        </p:nvSpPr>
        <p:spPr>
          <a:xfrm>
            <a:off x="762000" y="37465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UMCG</a:t>
            </a:r>
          </a:p>
        </p:txBody>
      </p:sp>
      <p:sp>
        <p:nvSpPr>
          <p:cNvPr id="54" name="TextBox 53"/>
          <p:cNvSpPr txBox="1"/>
          <p:nvPr/>
        </p:nvSpPr>
        <p:spPr>
          <a:xfrm>
            <a:off x="5715000" y="37465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55" name="TextBox 54"/>
          <p:cNvSpPr txBox="1"/>
          <p:nvPr/>
        </p:nvSpPr>
        <p:spPr>
          <a:xfrm>
            <a:off x="8445500" y="37465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56" name="TextBox 55"/>
          <p:cNvSpPr txBox="1"/>
          <p:nvPr/>
        </p:nvSpPr>
        <p:spPr>
          <a:xfrm>
            <a:off x="10160000" y="37465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57" name="TextBox 56"/>
          <p:cNvSpPr txBox="1"/>
          <p:nvPr/>
        </p:nvSpPr>
        <p:spPr>
          <a:xfrm>
            <a:off x="762000" y="39116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Radboud Universiteit</a:t>
            </a:r>
          </a:p>
        </p:txBody>
      </p:sp>
      <p:sp>
        <p:nvSpPr>
          <p:cNvPr id="58" name="TextBox 57"/>
          <p:cNvSpPr txBox="1"/>
          <p:nvPr/>
        </p:nvSpPr>
        <p:spPr>
          <a:xfrm>
            <a:off x="5715000" y="39116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59" name="TextBox 58"/>
          <p:cNvSpPr txBox="1"/>
          <p:nvPr/>
        </p:nvSpPr>
        <p:spPr>
          <a:xfrm>
            <a:off x="8445500" y="39116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60" name="TextBox 59"/>
          <p:cNvSpPr txBox="1"/>
          <p:nvPr/>
        </p:nvSpPr>
        <p:spPr>
          <a:xfrm>
            <a:off x="10160000" y="39116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61" name="TextBox 60"/>
          <p:cNvSpPr txBox="1"/>
          <p:nvPr/>
        </p:nvSpPr>
        <p:spPr>
          <a:xfrm>
            <a:off x="762000" y="40767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Hogeschool Rotterdam</a:t>
            </a:r>
          </a:p>
        </p:txBody>
      </p:sp>
      <p:sp>
        <p:nvSpPr>
          <p:cNvPr id="62" name="TextBox 61"/>
          <p:cNvSpPr txBox="1"/>
          <p:nvPr/>
        </p:nvSpPr>
        <p:spPr>
          <a:xfrm>
            <a:off x="5715000" y="40767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publiek</a:t>
            </a:r>
          </a:p>
        </p:txBody>
      </p:sp>
      <p:sp>
        <p:nvSpPr>
          <p:cNvPr id="63" name="TextBox 62"/>
          <p:cNvSpPr txBox="1"/>
          <p:nvPr/>
        </p:nvSpPr>
        <p:spPr>
          <a:xfrm>
            <a:off x="8445500" y="40767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64" name="TextBox 63"/>
          <p:cNvSpPr txBox="1"/>
          <p:nvPr/>
        </p:nvSpPr>
        <p:spPr>
          <a:xfrm>
            <a:off x="10160000" y="40767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85%</a:t>
            </a:r>
          </a:p>
        </p:txBody>
      </p:sp>
      <p:sp>
        <p:nvSpPr>
          <p:cNvPr id="65" name="TextBox 64"/>
          <p:cNvSpPr txBox="1"/>
          <p:nvPr/>
        </p:nvSpPr>
        <p:spPr>
          <a:xfrm>
            <a:off x="762000" y="42418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Notenboom</a:t>
            </a:r>
          </a:p>
        </p:txBody>
      </p:sp>
      <p:sp>
        <p:nvSpPr>
          <p:cNvPr id="66" name="TextBox 65"/>
          <p:cNvSpPr txBox="1"/>
          <p:nvPr/>
        </p:nvSpPr>
        <p:spPr>
          <a:xfrm>
            <a:off x="5715000" y="42418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privaat</a:t>
            </a:r>
          </a:p>
        </p:txBody>
      </p:sp>
      <p:sp>
        <p:nvSpPr>
          <p:cNvPr id="67" name="TextBox 66"/>
          <p:cNvSpPr txBox="1"/>
          <p:nvPr/>
        </p:nvSpPr>
        <p:spPr>
          <a:xfrm>
            <a:off x="8445500" y="42418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68" name="TextBox 67"/>
          <p:cNvSpPr txBox="1"/>
          <p:nvPr/>
        </p:nvSpPr>
        <p:spPr>
          <a:xfrm>
            <a:off x="10160000" y="42418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69" name="TextBox 68"/>
          <p:cNvSpPr txBox="1"/>
          <p:nvPr/>
        </p:nvSpPr>
        <p:spPr>
          <a:xfrm>
            <a:off x="762000" y="44069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CMI</a:t>
            </a:r>
          </a:p>
        </p:txBody>
      </p:sp>
      <p:sp>
        <p:nvSpPr>
          <p:cNvPr id="70" name="TextBox 69"/>
          <p:cNvSpPr txBox="1"/>
          <p:nvPr/>
        </p:nvSpPr>
        <p:spPr>
          <a:xfrm>
            <a:off x="5715000" y="44069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IE, privaat</a:t>
            </a:r>
          </a:p>
        </p:txBody>
      </p:sp>
      <p:sp>
        <p:nvSpPr>
          <p:cNvPr id="71" name="TextBox 70"/>
          <p:cNvSpPr txBox="1"/>
          <p:nvPr/>
        </p:nvSpPr>
        <p:spPr>
          <a:xfrm>
            <a:off x="8445500" y="44069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72" name="TextBox 71"/>
          <p:cNvSpPr txBox="1"/>
          <p:nvPr/>
        </p:nvSpPr>
        <p:spPr>
          <a:xfrm>
            <a:off x="10160000" y="44069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73" name="TextBox 72"/>
          <p:cNvSpPr txBox="1"/>
          <p:nvPr/>
        </p:nvSpPr>
        <p:spPr>
          <a:xfrm>
            <a:off x="762000" y="45720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HBMSU</a:t>
            </a:r>
          </a:p>
        </p:txBody>
      </p:sp>
      <p:sp>
        <p:nvSpPr>
          <p:cNvPr id="74" name="TextBox 73"/>
          <p:cNvSpPr txBox="1"/>
          <p:nvPr/>
        </p:nvSpPr>
        <p:spPr>
          <a:xfrm>
            <a:off x="5715000" y="45720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AE, quasi-publiek</a:t>
            </a:r>
          </a:p>
        </p:txBody>
      </p:sp>
      <p:sp>
        <p:nvSpPr>
          <p:cNvPr id="75" name="TextBox 74"/>
          <p:cNvSpPr txBox="1"/>
          <p:nvPr/>
        </p:nvSpPr>
        <p:spPr>
          <a:xfrm>
            <a:off x="8445500" y="45720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76" name="TextBox 75"/>
          <p:cNvSpPr txBox="1"/>
          <p:nvPr/>
        </p:nvSpPr>
        <p:spPr>
          <a:xfrm>
            <a:off x="10160000" y="45720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77" name="TextBox 76"/>
          <p:cNvSpPr txBox="1"/>
          <p:nvPr/>
        </p:nvSpPr>
        <p:spPr>
          <a:xfrm>
            <a:off x="762000" y="47371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Noordhoff</a:t>
            </a:r>
          </a:p>
        </p:txBody>
      </p:sp>
      <p:sp>
        <p:nvSpPr>
          <p:cNvPr id="78" name="TextBox 77"/>
          <p:cNvSpPr txBox="1"/>
          <p:nvPr/>
        </p:nvSpPr>
        <p:spPr>
          <a:xfrm>
            <a:off x="5715000" y="47371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uitgever/OEM</a:t>
            </a:r>
          </a:p>
        </p:txBody>
      </p:sp>
      <p:sp>
        <p:nvSpPr>
          <p:cNvPr id="79" name="TextBox 78"/>
          <p:cNvSpPr txBox="1"/>
          <p:nvPr/>
        </p:nvSpPr>
        <p:spPr>
          <a:xfrm>
            <a:off x="8445500" y="47371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80" name="TextBox 79"/>
          <p:cNvSpPr txBox="1"/>
          <p:nvPr/>
        </p:nvSpPr>
        <p:spPr>
          <a:xfrm>
            <a:off x="10160000" y="47371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81" name="TextBox 80"/>
          <p:cNvSpPr txBox="1"/>
          <p:nvPr/>
        </p:nvSpPr>
        <p:spPr>
          <a:xfrm>
            <a:off x="762000" y="4902200"/>
            <a:ext cx="4826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Academica</a:t>
            </a:r>
          </a:p>
        </p:txBody>
      </p:sp>
      <p:sp>
        <p:nvSpPr>
          <p:cNvPr id="82" name="TextBox 81"/>
          <p:cNvSpPr txBox="1"/>
          <p:nvPr/>
        </p:nvSpPr>
        <p:spPr>
          <a:xfrm>
            <a:off x="5715000" y="4902200"/>
            <a:ext cx="2540000" cy="127000"/>
          </a:xfrm>
          <a:prstGeom prst="rect">
            <a:avLst/>
          </a:prstGeom>
          <a:noFill/>
        </p:spPr>
        <p:txBody>
          <a:bodyPr wrap="square" lIns="0" rIns="0" tIns="0" bIns="0">
            <a:spAutoFit/>
          </a:bodyPr>
          <a:lstStyle/>
          <a:p>
            <a:pPr algn="l">
              <a:lnSpc>
                <a:spcPct val="115000"/>
              </a:lnSpc>
            </a:pPr>
            <a:r>
              <a:rPr sz="950" b="0">
                <a:solidFill>
                  <a:srgbClr val="002333"/>
                </a:solidFill>
                <a:latin typeface="Inter"/>
              </a:rPr>
              <a:t>NL, privaat</a:t>
            </a:r>
          </a:p>
        </p:txBody>
      </p:sp>
      <p:sp>
        <p:nvSpPr>
          <p:cNvPr id="83" name="TextBox 82"/>
          <p:cNvSpPr txBox="1"/>
          <p:nvPr/>
        </p:nvSpPr>
        <p:spPr>
          <a:xfrm>
            <a:off x="8445500" y="4902200"/>
            <a:ext cx="15875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€7.500</a:t>
            </a:r>
          </a:p>
        </p:txBody>
      </p:sp>
      <p:sp>
        <p:nvSpPr>
          <p:cNvPr id="84" name="TextBox 83"/>
          <p:cNvSpPr txBox="1"/>
          <p:nvPr/>
        </p:nvSpPr>
        <p:spPr>
          <a:xfrm>
            <a:off x="10160000" y="4902200"/>
            <a:ext cx="1270000" cy="1270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85" name="Rectangle 84"/>
          <p:cNvSpPr/>
          <p:nvPr/>
        </p:nvSpPr>
        <p:spPr>
          <a:xfrm>
            <a:off x="762000" y="5029200"/>
            <a:ext cx="10668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62000" y="5156200"/>
            <a:ext cx="4826000" cy="127000"/>
          </a:xfrm>
          <a:prstGeom prst="rect">
            <a:avLst/>
          </a:prstGeom>
          <a:noFill/>
        </p:spPr>
        <p:txBody>
          <a:bodyPr wrap="square" lIns="0" rIns="0" tIns="0" bIns="0">
            <a:spAutoFit/>
          </a:bodyPr>
          <a:lstStyle/>
          <a:p>
            <a:pPr algn="l">
              <a:lnSpc>
                <a:spcPct val="115000"/>
              </a:lnSpc>
            </a:pPr>
            <a:r>
              <a:rPr sz="950" b="1">
                <a:solidFill>
                  <a:srgbClr val="002333"/>
                </a:solidFill>
                <a:latin typeface="Inter"/>
              </a:rPr>
              <a:t>Totaal</a:t>
            </a:r>
          </a:p>
        </p:txBody>
      </p:sp>
      <p:sp>
        <p:nvSpPr>
          <p:cNvPr id="87" name="TextBox 86"/>
          <p:cNvSpPr txBox="1"/>
          <p:nvPr/>
        </p:nvSpPr>
        <p:spPr>
          <a:xfrm>
            <a:off x="5715000" y="5156200"/>
            <a:ext cx="2540000" cy="127000"/>
          </a:xfrm>
          <a:prstGeom prst="rect">
            <a:avLst/>
          </a:prstGeom>
          <a:noFill/>
        </p:spPr>
        <p:txBody>
          <a:bodyPr wrap="square" lIns="0" rIns="0" tIns="0" bIns="0">
            <a:spAutoFit/>
          </a:bodyPr>
          <a:lstStyle/>
          <a:p>
            <a:pPr algn="l">
              <a:lnSpc>
                <a:spcPct val="115000"/>
              </a:lnSpc>
            </a:pPr>
            <a:r>
              <a:rPr sz="950" b="1">
                <a:solidFill>
                  <a:srgbClr val="002333"/>
                </a:solidFill>
                <a:latin typeface="Inter"/>
              </a:rPr>
              <a:t/>
            </a:r>
          </a:p>
        </p:txBody>
      </p:sp>
      <p:sp>
        <p:nvSpPr>
          <p:cNvPr id="88" name="TextBox 87"/>
          <p:cNvSpPr txBox="1"/>
          <p:nvPr/>
        </p:nvSpPr>
        <p:spPr>
          <a:xfrm>
            <a:off x="8445500" y="5156200"/>
            <a:ext cx="1587500" cy="127000"/>
          </a:xfrm>
          <a:prstGeom prst="rect">
            <a:avLst/>
          </a:prstGeom>
          <a:noFill/>
        </p:spPr>
        <p:txBody>
          <a:bodyPr wrap="square" lIns="0" rIns="0" tIns="0" bIns="0">
            <a:spAutoFit/>
          </a:bodyPr>
          <a:lstStyle/>
          <a:p>
            <a:pPr algn="r">
              <a:lnSpc>
                <a:spcPct val="115000"/>
              </a:lnSpc>
            </a:pPr>
            <a:r>
              <a:rPr sz="950" b="1">
                <a:solidFill>
                  <a:srgbClr val="002333"/>
                </a:solidFill>
                <a:latin typeface="Inter"/>
              </a:rPr>
              <a:t>€2.157.500</a:t>
            </a:r>
          </a:p>
        </p:txBody>
      </p:sp>
      <p:sp>
        <p:nvSpPr>
          <p:cNvPr id="89" name="TextBox 88"/>
          <p:cNvSpPr txBox="1"/>
          <p:nvPr/>
        </p:nvSpPr>
        <p:spPr>
          <a:xfrm>
            <a:off x="10160000" y="5156200"/>
            <a:ext cx="1270000" cy="127000"/>
          </a:xfrm>
          <a:prstGeom prst="rect">
            <a:avLst/>
          </a:prstGeom>
          <a:noFill/>
        </p:spPr>
        <p:txBody>
          <a:bodyPr wrap="square" lIns="0" rIns="0" tIns="0" bIns="0">
            <a:spAutoFit/>
          </a:bodyPr>
          <a:lstStyle/>
          <a:p>
            <a:pPr algn="r">
              <a:lnSpc>
                <a:spcPct val="115000"/>
              </a:lnSpc>
            </a:pPr>
            <a:r>
              <a:rPr sz="950" b="1">
                <a:solidFill>
                  <a:srgbClr val="002333"/>
                </a:solidFill>
                <a:latin typeface="Inter"/>
              </a:rPr>
              <a:t>€489.000 gewogen</a:t>
            </a:r>
          </a:p>
        </p:txBody>
      </p:sp>
      <p:sp>
        <p:nvSpPr>
          <p:cNvPr id="90" name="Rectangle 89"/>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sep 2026. Zelfde 19 deals staan in Close, met afwijkende waarden op enkele regels (zie B4, open-vragen.md).</a:t>
            </a:r>
          </a:p>
        </p:txBody>
      </p:sp>
      <p:pic>
        <p:nvPicPr>
          <p:cNvPr id="92" name="Picture 91" descr="logo_navy.png"/>
          <p:cNvPicPr>
            <a:picLocks noChangeAspect="1"/>
          </p:cNvPicPr>
          <p:nvPr/>
        </p:nvPicPr>
        <p:blipFill>
          <a:blip r:embed="rId2"/>
          <a:stretch>
            <a:fillRect/>
          </a:stretch>
        </p:blipFill>
        <p:spPr>
          <a:xfrm>
            <a:off x="10668000" y="5727700"/>
            <a:ext cx="762000" cy="209550"/>
          </a:xfrm>
          <a:prstGeom prst="rect">
            <a:avLst/>
          </a:prstGeom>
        </p:spPr>
      </p:pic>
      <p:sp>
        <p:nvSpPr>
          <p:cNvPr id="93" name="TextBox 92"/>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publieke accounts die het dichtst bij een besluit zitten (1/2).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Haagse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Theo adviseerde Piet de tool voor het hele jaar te kopen, dan kan het onderzoek een vervolg krijgen. Lectoraat: niet positief, niet negatief, wil wel verder.</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Piet en Mario (opleidingsmanagers IVK), Marcel (lectoraat), Marco (curriculumcommissie, kan Eduface breder trekken dan taalopleidingen). Faculteitsdirecteur Willem tekent uiteindelijk.</a:t>
            </a:r>
          </a:p>
        </p:txBody>
      </p:sp>
      <p:sp>
        <p:nvSpPr>
          <p:cNvPr id="9" name="TextBox 8"/>
          <p:cNvSpPr txBox="1"/>
          <p:nvPr/>
        </p:nvSpPr>
        <p:spPr>
          <a:xfrm>
            <a:off x="7620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BUDGET</a:t>
            </a:r>
          </a:p>
        </p:txBody>
      </p:sp>
      <p:sp>
        <p:nvSpPr>
          <p:cNvPr id="10" name="TextBox 9"/>
          <p:cNvSpPr txBox="1"/>
          <p:nvPr/>
        </p:nvSpPr>
        <p:spPr>
          <a:xfrm>
            <a:off x="7620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Er is een intern potje voor het inkopen van AI-tools beschikbaar.</a:t>
            </a:r>
          </a:p>
        </p:txBody>
      </p:sp>
      <p:sp>
        <p:nvSpPr>
          <p:cNvPr id="11" name="Rectangle 10"/>
          <p:cNvSpPr/>
          <p:nvPr/>
        </p:nvSpPr>
        <p:spPr>
          <a:xfrm>
            <a:off x="7620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Evaluatiemeeting 2 okt, 14:00-15:00: uitvoering pilot, uitdagingen, onderwijsuitkomsten, analysegegevens lectoraat, vervolgstappen en mogelijk Go Live Plan voor dit studiejaar.</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Hogeschool Rotterdam</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Business case en voorstel goedgekeurd (call met Paul, 16 sep), procurement is gestart. Nick (opleidingsdirecteur) houdt Mark Boot hiervoor verantwoordelijk.</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BLOKKADE</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IT staat geen Brightspace-integratie toe voor één losse opleiding. Optie 1: meer opleidingen erbij (duurt lang). Optie 2: standalone werken tot volgend studiejaar.</a:t>
            </a:r>
          </a:p>
        </p:txBody>
      </p:sp>
      <p:sp>
        <p:nvSpPr>
          <p:cNvPr id="19" name="TextBox 18"/>
          <p:cNvSpPr txBox="1"/>
          <p:nvPr/>
        </p:nvSpPr>
        <p:spPr>
          <a:xfrm>
            <a:off x="63246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TROEF</a:t>
            </a:r>
          </a:p>
        </p:txBody>
      </p:sp>
      <p:sp>
        <p:nvSpPr>
          <p:cNvPr id="20" name="TextBox 19"/>
          <p:cNvSpPr txBox="1"/>
          <p:nvPr/>
        </p:nvSpPr>
        <p:spPr>
          <a:xfrm>
            <a:off x="63246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Aangeven dat de tool breder gebruikt gaat worden en dit een testcasus is; andere opleidingen kunnen een LOI tekenen.</a:t>
            </a:r>
          </a:p>
        </p:txBody>
      </p:sp>
      <p:sp>
        <p:nvSpPr>
          <p:cNvPr id="21" name="Rectangle 20"/>
          <p:cNvSpPr/>
          <p:nvPr/>
        </p:nvSpPr>
        <p:spPr>
          <a:xfrm>
            <a:off x="63246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Mark zet ons aan tafel met Marije/Marijke en Sytse van der Zwan (IT). Concept licentieovereenkomst ligt al klaar.</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accounts die momenteel het hardst versnellen (2/2).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Breederode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Testochtend 23 sep. Dezelfde dag al concept licentieovereenkomst gestuurd (22 sep, vooruitlopend). Irma en Marcel keken hem zorgvuldig na, kwamen 23 sep terug met kleine wijzigingen.</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SUCCESCRITERIA</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Boven 92% accuraatheid tegenover het docentcijfer, 3,5 van 5 sterren op gebruiksvriendelijkheid (bevestigd 3 sep).</a:t>
            </a:r>
          </a:p>
        </p:txBody>
      </p:sp>
      <p:sp>
        <p:nvSpPr>
          <p:cNvPr id="9" name="TextBox 8"/>
          <p:cNvSpPr txBox="1"/>
          <p:nvPr/>
        </p:nvSpPr>
        <p:spPr>
          <a:xfrm>
            <a:off x="762000" y="30480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PAD</a:t>
            </a:r>
          </a:p>
        </p:txBody>
      </p:sp>
      <p:sp>
        <p:nvSpPr>
          <p:cNvPr id="10" name="TextBox 9"/>
          <p:cNvSpPr txBox="1"/>
          <p:nvPr/>
        </p:nvSpPr>
        <p:spPr>
          <a:xfrm>
            <a:off x="762000" y="32131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2 weken testen op bestaande opdrachten, dan 2 weken itslearning-integratie, dan pilotscope en contract via Marcel (Calder).</a:t>
            </a:r>
          </a:p>
        </p:txBody>
      </p:sp>
      <p:sp>
        <p:nvSpPr>
          <p:cNvPr id="11" name="Rectangle 10"/>
          <p:cNvSpPr/>
          <p:nvPr/>
        </p:nvSpPr>
        <p:spPr>
          <a:xfrm>
            <a:off x="762000" y="36195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465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39116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Wijzigingen in de licentieovereenkomst verwerken en afronden.</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UTI</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Technische validatie rond: Canvas-quizzes bevestigd, Blackboard-quizzes bevestigd (al operationeel), Blackboard Discussions ook ondersteund via onze API.</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Robert Jordan (AVP Instructional Design) vroeg de slides om te delen met campus leaders begin oktober. Bas Schotsman (AVP Academic Operations) enthousiast, ziet ook kans in het beoordelen van Discussions.</a:t>
            </a:r>
          </a:p>
        </p:txBody>
      </p:sp>
      <p:sp>
        <p:nvSpPr>
          <p:cNvPr id="19" name="TextBox 18"/>
          <p:cNvSpPr txBox="1"/>
          <p:nvPr/>
        </p:nvSpPr>
        <p:spPr>
          <a:xfrm>
            <a:off x="6324600" y="33274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BUSINESS CASE</a:t>
            </a:r>
          </a:p>
        </p:txBody>
      </p:sp>
      <p:sp>
        <p:nvSpPr>
          <p:cNvPr id="20" name="TextBox 19"/>
          <p:cNvSpPr txBox="1"/>
          <p:nvPr/>
        </p:nvSpPr>
        <p:spPr>
          <a:xfrm>
            <a:off x="6324600" y="34925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Nog nodig: kosten instructeursverloop, gemiddeld uurloon, gemiddelde retentietijd, aantal actieve en vertrokken instructeurs (12 mnd). Go-Live Plan is een gedeeld Google Doc.</a:t>
            </a:r>
          </a:p>
        </p:txBody>
      </p:sp>
      <p:sp>
        <p:nvSpPr>
          <p:cNvPr id="21" name="Rectangle 20"/>
          <p:cNvSpPr/>
          <p:nvPr/>
        </p:nvSpPr>
        <p:spPr>
          <a:xfrm>
            <a:off x="6324600" y="40386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41656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3307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Demo voor bredere groep campus leadership op 25 sep, daarna richting go/no-go.</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patroon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Wat we zien bij elke publieke deal in de pipeline.</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Publieke instellingen eisen een pilot van 6 maanden, waarvoor ze met moeite budget bijeensprokkelen.</a:t>
            </a:r>
          </a:p>
        </p:txBody>
      </p:sp>
      <p:sp>
        <p:nvSpPr>
          <p:cNvPr id="6" name="Rounded Rectangle 5"/>
          <p:cNvSpPr/>
          <p:nvPr/>
        </p:nvSpPr>
        <p:spPr>
          <a:xfrm>
            <a:off x="762000" y="2133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701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Ze vinden het lastiger om te committeren aan een duidelijke vervolgstap, ook als we de afgesproken succesfactoren halen.</a:t>
            </a:r>
          </a:p>
        </p:txBody>
      </p:sp>
      <p:sp>
        <p:nvSpPr>
          <p:cNvPr id="8" name="Rounded Rectangle 7"/>
          <p:cNvSpPr/>
          <p:nvPr/>
        </p:nvSpPr>
        <p:spPr>
          <a:xfrm>
            <a:off x="762000" y="2743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797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Beslissingen gaan in commissies die vaak heel lang duren.</a:t>
            </a:r>
          </a:p>
        </p:txBody>
      </p:sp>
      <p:sp>
        <p:nvSpPr>
          <p:cNvPr id="10" name="Rounded Rectangle 9"/>
          <p:cNvSpPr/>
          <p:nvPr/>
        </p:nvSpPr>
        <p:spPr>
          <a:xfrm>
            <a:off x="762000" y="3352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893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We hebben op dit moment vooral moeite met het kwantificeren van pijn, waardoor de waarde van de tool lastiger in te schatten is en het moeilijker is om ons prijspunt te verdedigen.</a:t>
            </a:r>
          </a:p>
        </p:txBody>
      </p:sp>
      <p:sp>
        <p:nvSpPr>
          <p:cNvPr id="12" name="Rectangle 11"/>
          <p:cNvSpPr/>
          <p:nvPr/>
        </p:nvSpPr>
        <p:spPr>
          <a:xfrm>
            <a:off x="762000" y="40894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4267200"/>
            <a:ext cx="127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IN DE PRAKTIJK</a:t>
            </a:r>
          </a:p>
        </p:txBody>
      </p:sp>
      <p:sp>
        <p:nvSpPr>
          <p:cNvPr id="14" name="TextBox 13"/>
          <p:cNvSpPr txBox="1"/>
          <p:nvPr/>
        </p:nvSpPr>
        <p:spPr>
          <a:xfrm>
            <a:off x="762000" y="45212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RUG: het eigen ontwikkelteam van de universiteit is de concurrent, geen budgethouder in beeld.</a:t>
            </a:r>
          </a:p>
        </p:txBody>
      </p:sp>
      <p:sp>
        <p:nvSpPr>
          <p:cNvPr id="15" name="TextBox 14"/>
          <p:cNvSpPr txBox="1"/>
          <p:nvPr/>
        </p:nvSpPr>
        <p:spPr>
          <a:xfrm>
            <a:off x="762000" y="48514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Windesheim: aanbestedingsplicht boven €80k, wacht op een hoog-risico-AI-kader dat er nog niet is.</a:t>
            </a:r>
          </a:p>
        </p:txBody>
      </p:sp>
      <p:sp>
        <p:nvSpPr>
          <p:cNvPr id="16" name="TextBox 15"/>
          <p:cNvSpPr txBox="1"/>
          <p:nvPr/>
        </p:nvSpPr>
        <p:spPr>
          <a:xfrm>
            <a:off x="762000" y="51816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Bath Spa: net gestopt na maanden AIPB-proces, ondanks een positieve pilot.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Patroon over de actieve publieke deals, sep 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De Beslissing</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Volledige focus op particuliere instellingen: for-profit en non-profit, geen staatsgesubsidieerd.</a:t>
            </a:r>
          </a:p>
        </p:txBody>
      </p:sp>
      <p:sp>
        <p:nvSpPr>
          <p:cNvPr id="4" name="Rounded Rectangle 3"/>
          <p:cNvSpPr/>
          <p:nvPr/>
        </p:nvSpPr>
        <p:spPr>
          <a:xfrm>
            <a:off x="762000" y="1524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393700"/>
          </a:xfrm>
          <a:prstGeom prst="rect">
            <a:avLst/>
          </a:prstGeom>
          <a:noFill/>
        </p:spPr>
        <p:txBody>
          <a:bodyPr wrap="square" lIns="0" rIns="0" tIns="0" bIns="0">
            <a:spAutoFit/>
          </a:bodyPr>
          <a:lstStyle/>
          <a:p>
            <a:pPr algn="l">
              <a:lnSpc>
                <a:spcPct val="130000"/>
              </a:lnSpc>
            </a:pPr>
            <a:r>
              <a:rPr sz="1450" b="0">
                <a:solidFill>
                  <a:srgbClr val="002333"/>
                </a:solidFill>
                <a:latin typeface="Inter"/>
              </a:rPr>
              <a:t>Bij private instellingen gaan keuzes een stuk sneller en is er meer budget beschikbaar voor een veel kleinere implementatie.</a:t>
            </a:r>
          </a:p>
        </p:txBody>
      </p:sp>
      <p:sp>
        <p:nvSpPr>
          <p:cNvPr id="6" name="Rectangle 5"/>
          <p:cNvSpPr/>
          <p:nvPr/>
        </p:nvSpPr>
        <p:spPr>
          <a:xfrm>
            <a:off x="762000" y="2032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222500"/>
            <a:ext cx="254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DE MARKT ERACHTER</a:t>
            </a:r>
          </a:p>
        </p:txBody>
      </p:sp>
      <p:sp>
        <p:nvSpPr>
          <p:cNvPr id="8" name="TextBox 7"/>
          <p:cNvSpPr txBox="1"/>
          <p:nvPr/>
        </p:nvSpPr>
        <p:spPr>
          <a:xfrm>
            <a:off x="762000" y="2476500"/>
            <a:ext cx="3556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Markt</a:t>
            </a:r>
          </a:p>
        </p:txBody>
      </p:sp>
      <p:sp>
        <p:nvSpPr>
          <p:cNvPr id="9" name="TextBox 8"/>
          <p:cNvSpPr txBox="1"/>
          <p:nvPr/>
        </p:nvSpPr>
        <p:spPr>
          <a:xfrm>
            <a:off x="4445000" y="2476500"/>
            <a:ext cx="4318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Omvang</a:t>
            </a:r>
          </a:p>
        </p:txBody>
      </p:sp>
      <p:sp>
        <p:nvSpPr>
          <p:cNvPr id="10" name="TextBox 9"/>
          <p:cNvSpPr txBox="1"/>
          <p:nvPr/>
        </p:nvSpPr>
        <p:spPr>
          <a:xfrm>
            <a:off x="8890000" y="2476500"/>
            <a:ext cx="2540000" cy="190500"/>
          </a:xfrm>
          <a:prstGeom prst="rect">
            <a:avLst/>
          </a:prstGeom>
          <a:noFill/>
        </p:spPr>
        <p:txBody>
          <a:bodyPr wrap="square" lIns="0" rIns="0" tIns="0" bIns="0">
            <a:spAutoFit/>
          </a:bodyPr>
          <a:lstStyle/>
          <a:p>
            <a:pPr algn="r">
              <a:lnSpc>
                <a:spcPct val="115000"/>
              </a:lnSpc>
            </a:pPr>
            <a:r>
              <a:rPr sz="950" b="1">
                <a:solidFill>
                  <a:srgbClr val="5B7480"/>
                </a:solidFill>
                <a:latin typeface="Inter"/>
              </a:rPr>
              <a:t>ARR-potentie</a:t>
            </a:r>
          </a:p>
        </p:txBody>
      </p:sp>
      <p:sp>
        <p:nvSpPr>
          <p:cNvPr id="11" name="Rectangle 10"/>
          <p:cNvSpPr/>
          <p:nvPr/>
        </p:nvSpPr>
        <p:spPr>
          <a:xfrm>
            <a:off x="762000" y="2667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7559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Nederland</a:t>
            </a:r>
          </a:p>
        </p:txBody>
      </p:sp>
      <p:sp>
        <p:nvSpPr>
          <p:cNvPr id="13" name="TextBox 12"/>
          <p:cNvSpPr txBox="1"/>
          <p:nvPr/>
        </p:nvSpPr>
        <p:spPr>
          <a:xfrm>
            <a:off x="4445000" y="27559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127.024 particuliere studenten</a:t>
            </a:r>
          </a:p>
        </p:txBody>
      </p:sp>
      <p:sp>
        <p:nvSpPr>
          <p:cNvPr id="14" name="TextBox 13"/>
          <p:cNvSpPr txBox="1"/>
          <p:nvPr/>
        </p:nvSpPr>
        <p:spPr>
          <a:xfrm>
            <a:off x="8890000" y="27559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€1,0 mln</a:t>
            </a:r>
          </a:p>
        </p:txBody>
      </p:sp>
      <p:sp>
        <p:nvSpPr>
          <p:cNvPr id="15" name="TextBox 14"/>
          <p:cNvSpPr txBox="1"/>
          <p:nvPr/>
        </p:nvSpPr>
        <p:spPr>
          <a:xfrm>
            <a:off x="762000" y="30607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hoger onderwijs</a:t>
            </a:r>
          </a:p>
        </p:txBody>
      </p:sp>
      <p:sp>
        <p:nvSpPr>
          <p:cNvPr id="16" name="TextBox 15"/>
          <p:cNvSpPr txBox="1"/>
          <p:nvPr/>
        </p:nvSpPr>
        <p:spPr>
          <a:xfrm>
            <a:off x="4445000" y="30607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~275.000 studenten</a:t>
            </a:r>
          </a:p>
        </p:txBody>
      </p:sp>
      <p:sp>
        <p:nvSpPr>
          <p:cNvPr id="17" name="TextBox 16"/>
          <p:cNvSpPr txBox="1"/>
          <p:nvPr/>
        </p:nvSpPr>
        <p:spPr>
          <a:xfrm>
            <a:off x="8890000" y="30607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€2,17 mln (2,2x NL)</a:t>
            </a:r>
          </a:p>
        </p:txBody>
      </p:sp>
      <p:sp>
        <p:nvSpPr>
          <p:cNvPr id="18" name="TextBox 17"/>
          <p:cNvSpPr txBox="1"/>
          <p:nvPr/>
        </p:nvSpPr>
        <p:spPr>
          <a:xfrm>
            <a:off x="762000" y="33655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apprenticeships</a:t>
            </a:r>
          </a:p>
        </p:txBody>
      </p:sp>
      <p:sp>
        <p:nvSpPr>
          <p:cNvPr id="19" name="TextBox 18"/>
          <p:cNvSpPr txBox="1"/>
          <p:nvPr/>
        </p:nvSpPr>
        <p:spPr>
          <a:xfrm>
            <a:off x="4445000" y="33655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761.480 lerenden, 1.305 providers</a:t>
            </a:r>
          </a:p>
        </p:txBody>
      </p:sp>
      <p:sp>
        <p:nvSpPr>
          <p:cNvPr id="20" name="TextBox 19"/>
          <p:cNvSpPr txBox="1"/>
          <p:nvPr/>
        </p:nvSpPr>
        <p:spPr>
          <a:xfrm>
            <a:off x="8890000" y="33655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nog niet becijferd</a:t>
            </a:r>
          </a:p>
        </p:txBody>
      </p:sp>
      <p:sp>
        <p:nvSpPr>
          <p:cNvPr id="21" name="TextBox 20"/>
          <p:cNvSpPr txBox="1"/>
          <p:nvPr/>
        </p:nvSpPr>
        <p:spPr>
          <a:xfrm>
            <a:off x="762000" y="36703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Europa, excl. Turkije</a:t>
            </a:r>
          </a:p>
        </p:txBody>
      </p:sp>
      <p:sp>
        <p:nvSpPr>
          <p:cNvPr id="22" name="TextBox 21"/>
          <p:cNvSpPr txBox="1"/>
          <p:nvPr/>
        </p:nvSpPr>
        <p:spPr>
          <a:xfrm>
            <a:off x="4445000" y="36703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3,6 mln particuliere studenten</a:t>
            </a:r>
          </a:p>
        </p:txBody>
      </p:sp>
      <p:sp>
        <p:nvSpPr>
          <p:cNvPr id="23" name="TextBox 22"/>
          <p:cNvSpPr txBox="1"/>
          <p:nvPr/>
        </p:nvSpPr>
        <p:spPr>
          <a:xfrm>
            <a:off x="8890000" y="36703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~€28 mln</a:t>
            </a:r>
          </a:p>
        </p:txBody>
      </p:sp>
      <p:sp>
        <p:nvSpPr>
          <p:cNvPr id="24" name="TextBox 23"/>
          <p:cNvSpPr txBox="1"/>
          <p:nvPr/>
        </p:nvSpPr>
        <p:spPr>
          <a:xfrm>
            <a:off x="762000" y="4013200"/>
            <a:ext cx="10668000" cy="381000"/>
          </a:xfrm>
          <a:prstGeom prst="rect">
            <a:avLst/>
          </a:prstGeom>
          <a:noFill/>
        </p:spPr>
        <p:txBody>
          <a:bodyPr wrap="square" lIns="0" rIns="0" tIns="0" bIns="0">
            <a:spAutoFit/>
          </a:bodyPr>
          <a:lstStyle/>
          <a:p>
            <a:pPr algn="l">
              <a:lnSpc>
                <a:spcPct val="115000"/>
              </a:lnSpc>
            </a:pPr>
            <a:r>
              <a:rPr sz="950" b="0">
                <a:solidFill>
                  <a:srgbClr val="5B7480"/>
                </a:solidFill>
                <a:latin typeface="Inter"/>
              </a:rPr>
              <a:t>Interne eerste inschatting o.b.v. Eurostat 2023, niet extern gevalideerd.</a:t>
            </a:r>
          </a:p>
        </p:txBody>
      </p:sp>
      <p:sp>
        <p:nvSpPr>
          <p:cNvPr id="25" name="Rectangle 2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 marktomvang-particulier-onderwijs.md, sep 2026.</a:t>
            </a:r>
          </a:p>
        </p:txBody>
      </p:sp>
      <p:pic>
        <p:nvPicPr>
          <p:cNvPr id="27" name="Picture 26" descr="logo_navy.png"/>
          <p:cNvPicPr>
            <a:picLocks noChangeAspect="1"/>
          </p:cNvPicPr>
          <p:nvPr/>
        </p:nvPicPr>
        <p:blipFill>
          <a:blip r:embed="rId2"/>
          <a:stretch>
            <a:fillRect/>
          </a:stretch>
        </p:blipFill>
        <p:spPr>
          <a:xfrm>
            <a:off x="10668000" y="5727700"/>
            <a:ext cx="762000" cy="209550"/>
          </a:xfrm>
          <a:prstGeom prst="rect">
            <a:avLst/>
          </a:prstGeom>
        </p:spPr>
      </p:pic>
      <p:sp>
        <p:nvSpPr>
          <p:cNvPr id="28" name="TextBox 2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product</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Feedback verder configureerbaar gemaakt.</a:t>
            </a:r>
          </a:p>
        </p:txBody>
      </p:sp>
      <p:sp>
        <p:nvSpPr>
          <p:cNvPr id="4" name="TextBox 3"/>
          <p:cNvSpPr txBox="1"/>
          <p:nvPr/>
        </p:nvSpPr>
        <p:spPr>
          <a:xfrm>
            <a:off x="762000" y="1460500"/>
            <a:ext cx="10668000" cy="330200"/>
          </a:xfrm>
          <a:prstGeom prst="rect">
            <a:avLst/>
          </a:prstGeom>
          <a:noFill/>
        </p:spPr>
        <p:txBody>
          <a:bodyPr wrap="square" lIns="0" rIns="0" tIns="0" bIns="0">
            <a:spAutoFit/>
          </a:bodyPr>
          <a:lstStyle/>
          <a:p>
            <a:pPr algn="l">
              <a:lnSpc>
                <a:spcPct val="130000"/>
              </a:lnSpc>
            </a:pPr>
            <a:r>
              <a:rPr sz="1350" b="0">
                <a:solidFill>
                  <a:srgbClr val="002333"/>
                </a:solidFill>
                <a:latin typeface="Inter"/>
              </a:rPr>
              <a:t>Grootste uitdaging was de feedback kunnen aanpassen naar hoe de docent het zelf zou zeggen. Dat is nu heel makkelijk gemaakt.</a:t>
            </a:r>
          </a:p>
        </p:txBody>
      </p:sp>
      <p:sp>
        <p:nvSpPr>
          <p:cNvPr id="5" name="Rounded Rectangle 4"/>
          <p:cNvSpPr/>
          <p:nvPr/>
        </p:nvSpPr>
        <p:spPr>
          <a:xfrm>
            <a:off x="3276600" y="2006600"/>
            <a:ext cx="5638800" cy="3098800"/>
          </a:xfrm>
          <a:prstGeom prst="roundRect">
            <a:avLst>
              <a:gd name="adj" fmla="val 2459"/>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eedback-style-screenshot.png"/>
          <p:cNvPicPr>
            <a:picLocks noChangeAspect="1"/>
          </p:cNvPicPr>
          <p:nvPr/>
        </p:nvPicPr>
        <p:blipFill>
          <a:blip r:embed="rId2"/>
          <a:stretch>
            <a:fillRect/>
          </a:stretch>
        </p:blipFill>
        <p:spPr>
          <a:xfrm>
            <a:off x="3302000" y="2032000"/>
            <a:ext cx="5588000" cy="3048000"/>
          </a:xfrm>
          <a:prstGeom prst="rect">
            <a:avLst/>
          </a:prstGeom>
        </p:spPr>
      </p:pic>
      <p:sp>
        <p:nvSpPr>
          <p:cNvPr id="7" name="Rectangle 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Product-UI, sep 2026.</a:t>
            </a:r>
          </a:p>
        </p:txBody>
      </p:sp>
      <p:pic>
        <p:nvPicPr>
          <p:cNvPr id="9" name="Picture 8" descr="logo_navy.png"/>
          <p:cNvPicPr>
            <a:picLocks noChangeAspect="1"/>
          </p:cNvPicPr>
          <p:nvPr/>
        </p:nvPicPr>
        <p:blipFill>
          <a:blip r:embed="rId3"/>
          <a:stretch>
            <a:fillRect/>
          </a:stretch>
        </p:blipFill>
        <p:spPr>
          <a:xfrm>
            <a:off x="10668000" y="5727700"/>
            <a:ext cx="762000" cy="209550"/>
          </a:xfrm>
          <a:prstGeom prst="rect">
            <a:avLst/>
          </a:prstGeom>
        </p:spPr>
      </p:pic>
      <p:sp>
        <p:nvSpPr>
          <p:cNvPr id="10" name="TextBox 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GTM</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De aanpak is sinds vorige board meeting fundamenteel veranderd.</a:t>
            </a:r>
          </a:p>
        </p:txBody>
      </p:sp>
      <p:sp>
        <p:nvSpPr>
          <p:cNvPr id="4" name="TextBox 3"/>
          <p:cNvSpPr txBox="1"/>
          <p:nvPr/>
        </p:nvSpPr>
        <p:spPr>
          <a:xfrm>
            <a:off x="762000" y="1651000"/>
            <a:ext cx="5105400" cy="254000"/>
          </a:xfrm>
          <a:prstGeom prst="rect">
            <a:avLst/>
          </a:prstGeom>
          <a:noFill/>
        </p:spPr>
        <p:txBody>
          <a:bodyPr wrap="square" lIns="0" rIns="0" tIns="0" bIns="0">
            <a:spAutoFit/>
          </a:bodyPr>
          <a:lstStyle/>
          <a:p>
            <a:pPr algn="l">
              <a:lnSpc>
                <a:spcPct val="115000"/>
              </a:lnSpc>
            </a:pPr>
            <a:r>
              <a:rPr sz="1100" b="1">
                <a:solidFill>
                  <a:srgbClr val="5B7480"/>
                </a:solidFill>
                <a:latin typeface="Inter"/>
              </a:rPr>
              <a:t>TOEN</a:t>
            </a:r>
          </a:p>
        </p:txBody>
      </p:sp>
      <p:sp>
        <p:nvSpPr>
          <p:cNvPr id="5" name="Rounded Rectangle 4"/>
          <p:cNvSpPr/>
          <p:nvPr/>
        </p:nvSpPr>
        <p:spPr>
          <a:xfrm>
            <a:off x="762000" y="20320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9685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Introducties via het netwerk.</a:t>
            </a:r>
          </a:p>
        </p:txBody>
      </p:sp>
      <p:sp>
        <p:nvSpPr>
          <p:cNvPr id="7" name="Rounded Rectangle 6"/>
          <p:cNvSpPr/>
          <p:nvPr/>
        </p:nvSpPr>
        <p:spPr>
          <a:xfrm>
            <a:off x="762000" y="24511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23876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Dure beurzen en evenementen.</a:t>
            </a:r>
          </a:p>
        </p:txBody>
      </p:sp>
      <p:sp>
        <p:nvSpPr>
          <p:cNvPr id="9" name="Rounded Rectangle 8"/>
          <p:cNvSpPr/>
          <p:nvPr/>
        </p:nvSpPr>
        <p:spPr>
          <a:xfrm>
            <a:off x="762000" y="28702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28067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Webinars.</a:t>
            </a:r>
          </a:p>
        </p:txBody>
      </p:sp>
      <p:sp>
        <p:nvSpPr>
          <p:cNvPr id="11" name="Rounded Rectangle 10"/>
          <p:cNvSpPr/>
          <p:nvPr/>
        </p:nvSpPr>
        <p:spPr>
          <a:xfrm>
            <a:off x="762000" y="32893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2500" y="32258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Eén-op-één, duur per lead, niet herhaalbaar zonder het volgende evenement.</a:t>
            </a:r>
          </a:p>
        </p:txBody>
      </p:sp>
      <p:sp>
        <p:nvSpPr>
          <p:cNvPr id="13" name="TextBox 12"/>
          <p:cNvSpPr txBox="1"/>
          <p:nvPr/>
        </p:nvSpPr>
        <p:spPr>
          <a:xfrm>
            <a:off x="6324600" y="1651000"/>
            <a:ext cx="5105400" cy="254000"/>
          </a:xfrm>
          <a:prstGeom prst="rect">
            <a:avLst/>
          </a:prstGeom>
          <a:noFill/>
        </p:spPr>
        <p:txBody>
          <a:bodyPr wrap="square" lIns="0" rIns="0" tIns="0" bIns="0">
            <a:spAutoFit/>
          </a:bodyPr>
          <a:lstStyle/>
          <a:p>
            <a:pPr algn="l">
              <a:lnSpc>
                <a:spcPct val="115000"/>
              </a:lnSpc>
            </a:pPr>
            <a:r>
              <a:rPr sz="1100" b="1">
                <a:solidFill>
                  <a:srgbClr val="007B54"/>
                </a:solidFill>
                <a:latin typeface="Inter"/>
              </a:rPr>
              <a:t>NU: DE SHIFT-PIJPLIJN</a:t>
            </a:r>
          </a:p>
        </p:txBody>
      </p:sp>
      <p:sp>
        <p:nvSpPr>
          <p:cNvPr id="14" name="Rounded Rectangle 13"/>
          <p:cNvSpPr/>
          <p:nvPr/>
        </p:nvSpPr>
        <p:spPr>
          <a:xfrm>
            <a:off x="6324600" y="2032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9685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LinkedIn-bericht → mail → warm bellen, geautomatiseerd van sourcing tot bericht.</a:t>
            </a:r>
          </a:p>
        </p:txBody>
      </p:sp>
      <p:sp>
        <p:nvSpPr>
          <p:cNvPr id="16" name="Rounded Rectangle 15"/>
          <p:cNvSpPr/>
          <p:nvPr/>
        </p:nvSpPr>
        <p:spPr>
          <a:xfrm>
            <a:off x="6324600" y="25146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5100" y="24511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5 stappen: lead sourcing → contact sourcing → onderzoek → outreach → import in Lemlist.</a:t>
            </a:r>
          </a:p>
        </p:txBody>
      </p:sp>
      <p:sp>
        <p:nvSpPr>
          <p:cNvPr id="18" name="Rounded Rectangle 17"/>
          <p:cNvSpPr/>
          <p:nvPr/>
        </p:nvSpPr>
        <p:spPr>
          <a:xfrm>
            <a:off x="6324600" y="29972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5100" y="29337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466 organisaties gescreend, 340 contactpersonen, 231 dossiers met bewijscitaat.</a:t>
            </a:r>
          </a:p>
        </p:txBody>
      </p:sp>
      <p:sp>
        <p:nvSpPr>
          <p:cNvPr id="20" name="TextBox 19"/>
          <p:cNvSpPr txBox="1"/>
          <p:nvPr/>
        </p:nvSpPr>
        <p:spPr>
          <a:xfrm>
            <a:off x="5905500" y="2921000"/>
            <a:ext cx="381000" cy="381000"/>
          </a:xfrm>
          <a:prstGeom prst="rect">
            <a:avLst/>
          </a:prstGeom>
          <a:noFill/>
        </p:spPr>
        <p:txBody>
          <a:bodyPr wrap="square" lIns="0" rIns="0" tIns="0" bIns="0">
            <a:spAutoFit/>
          </a:bodyPr>
          <a:lstStyle/>
          <a:p>
            <a:pPr algn="ctr">
              <a:lnSpc>
                <a:spcPct val="115000"/>
              </a:lnSpc>
            </a:pPr>
            <a:r>
              <a:rPr sz="2800" b="1">
                <a:solidFill>
                  <a:srgbClr val="E07B00"/>
                </a:solidFill>
                <a:latin typeface="League Spartan"/>
              </a:rPr>
              <a:t>→</a:t>
            </a:r>
          </a:p>
        </p:txBody>
      </p:sp>
      <p:sp>
        <p:nvSpPr>
          <p:cNvPr id="21" name="Rectangle 20"/>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SHIFT-pijplijn, sinds vorige board meeting.</a:t>
            </a:r>
          </a:p>
        </p:txBody>
      </p:sp>
      <p:pic>
        <p:nvPicPr>
          <p:cNvPr id="23" name="Picture 22" descr="logo_navy.png"/>
          <p:cNvPicPr>
            <a:picLocks noChangeAspect="1"/>
          </p:cNvPicPr>
          <p:nvPr/>
        </p:nvPicPr>
        <p:blipFill>
          <a:blip r:embed="rId2"/>
          <a:stretch>
            <a:fillRect/>
          </a:stretch>
        </p:blipFill>
        <p:spPr>
          <a:xfrm>
            <a:off x="10668000" y="5727700"/>
            <a:ext cx="762000" cy="209550"/>
          </a:xfrm>
          <a:prstGeom prst="rect">
            <a:avLst/>
          </a:prstGeom>
        </p:spPr>
      </p:pic>
      <p:sp>
        <p:nvSpPr>
          <p:cNvPr id="24" name="TextBox 23"/>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Milestones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Drie voorwaarden voor de volgende CLA-tranche, nodig in december.</a:t>
            </a:r>
          </a:p>
        </p:txBody>
      </p:sp>
      <p:sp>
        <p:nvSpPr>
          <p:cNvPr id="4" name="Rounded Rectangle 3"/>
          <p:cNvSpPr/>
          <p:nvPr/>
        </p:nvSpPr>
        <p:spPr>
          <a:xfrm>
            <a:off x="762000" y="1587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1612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1</a:t>
            </a:r>
          </a:p>
        </p:txBody>
      </p:sp>
      <p:sp>
        <p:nvSpPr>
          <p:cNvPr id="6" name="TextBox 5"/>
          <p:cNvSpPr txBox="1"/>
          <p:nvPr/>
        </p:nvSpPr>
        <p:spPr>
          <a:xfrm>
            <a:off x="1231900" y="1587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2 betaalde pilotovereenkomsten met onafhankelijke HE-instellingen in het VK via Jisc/CHEST, elk ≥ £4.000, met Critical Success Factors richting een volledige institutionele licentie.</a:t>
            </a:r>
          </a:p>
        </p:txBody>
      </p:sp>
      <p:sp>
        <p:nvSpPr>
          <p:cNvPr id="7" name="TextBox 6"/>
          <p:cNvSpPr txBox="1"/>
          <p:nvPr/>
        </p:nvSpPr>
        <p:spPr>
          <a:xfrm>
            <a:off x="1231900" y="2070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Bristol University, Goldsmiths — beide UK, in pipeline, nog geen formele Jisc/CHEST-pilot gestart.</a:t>
            </a:r>
          </a:p>
        </p:txBody>
      </p:sp>
      <p:sp>
        <p:nvSpPr>
          <p:cNvPr id="8" name="Rounded Rectangle 7"/>
          <p:cNvSpPr/>
          <p:nvPr/>
        </p:nvSpPr>
        <p:spPr>
          <a:xfrm>
            <a:off x="762000" y="26670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924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2</a:t>
            </a:r>
          </a:p>
        </p:txBody>
      </p:sp>
      <p:sp>
        <p:nvSpPr>
          <p:cNvPr id="10" name="TextBox 9"/>
          <p:cNvSpPr txBox="1"/>
          <p:nvPr/>
        </p:nvSpPr>
        <p:spPr>
          <a:xfrm>
            <a:off x="1231900" y="26670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jaarwaarde ≥ €40.000, looptijd ≥ 12 maanden.</a:t>
            </a:r>
          </a:p>
        </p:txBody>
      </p:sp>
      <p:sp>
        <p:nvSpPr>
          <p:cNvPr id="11" name="TextBox 10"/>
          <p:cNvSpPr txBox="1"/>
          <p:nvPr/>
        </p:nvSpPr>
        <p:spPr>
          <a:xfrm>
            <a:off x="1231900" y="31496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UTI — technische validatie rond, demo voor campus leadership 25 sep, business case in opbouw.</a:t>
            </a:r>
          </a:p>
        </p:txBody>
      </p:sp>
      <p:sp>
        <p:nvSpPr>
          <p:cNvPr id="12" name="Rounded Rectangle 11"/>
          <p:cNvSpPr/>
          <p:nvPr/>
        </p:nvSpPr>
        <p:spPr>
          <a:xfrm>
            <a:off x="762000" y="3746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771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3</a:t>
            </a:r>
          </a:p>
        </p:txBody>
      </p:sp>
      <p:sp>
        <p:nvSpPr>
          <p:cNvPr id="14" name="TextBox 13"/>
          <p:cNvSpPr txBox="1"/>
          <p:nvPr/>
        </p:nvSpPr>
        <p:spPr>
          <a:xfrm>
            <a:off x="1231900" y="3746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waarde ≥ €10.000, looptijd ≥ 12 maanden.</a:t>
            </a:r>
          </a:p>
        </p:txBody>
      </p:sp>
      <p:sp>
        <p:nvSpPr>
          <p:cNvPr id="15" name="TextBox 14"/>
          <p:cNvSpPr txBox="1"/>
          <p:nvPr/>
        </p:nvSpPr>
        <p:spPr>
          <a:xfrm>
            <a:off x="1231900" y="4229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Drie kandidaten tegelijk: Breederode (licentie in onderhandeling), Hogeschool Rotterdam (procurement gestart), Haagse Hogeschool (evaluatiemeeting 2 okt).</a:t>
            </a:r>
          </a:p>
        </p:txBody>
      </p:sp>
      <p:sp>
        <p:nvSpPr>
          <p:cNvPr id="16" name="Rectangle 15"/>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CLA-tranche milestones, Q3 board knowledge doc. Koppeling aan deals is een voorstel, nog te bevestigen.</a:t>
            </a:r>
          </a:p>
        </p:txBody>
      </p:sp>
      <p:pic>
        <p:nvPicPr>
          <p:cNvPr id="18" name="Picture 17" descr="logo_navy.png"/>
          <p:cNvPicPr>
            <a:picLocks noChangeAspect="1"/>
          </p:cNvPicPr>
          <p:nvPr/>
        </p:nvPicPr>
        <p:blipFill>
          <a:blip r:embed="rId2"/>
          <a:stretch>
            <a:fillRect/>
          </a:stretch>
        </p:blipFill>
        <p:spPr>
          <a:xfrm>
            <a:off x="10668000" y="5727700"/>
            <a:ext cx="762000" cy="209550"/>
          </a:xfrm>
          <a:prstGeom prst="rect">
            <a:avLst/>
          </a:prstGeom>
        </p:spPr>
      </p:pic>
      <p:sp>
        <p:nvSpPr>
          <p:cNvPr id="19" name="TextBox 18"/>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21000"/>
            <a:ext cx="10668000" cy="1016000"/>
          </a:xfrm>
          <a:prstGeom prst="rect">
            <a:avLst/>
          </a:prstGeom>
          <a:noFill/>
        </p:spPr>
        <p:txBody>
          <a:bodyPr wrap="square" lIns="0" rIns="0" tIns="0" bIns="0">
            <a:spAutoFit/>
          </a:bodyPr>
          <a:lstStyle/>
          <a:p>
            <a:pPr algn="ctr">
              <a:lnSpc>
                <a:spcPct val="115000"/>
              </a:lnSpc>
            </a:pPr>
            <a:r>
              <a:rPr sz="4800" b="1">
                <a:solidFill>
                  <a:srgbClr val="FFFFFF"/>
                </a:solidFill>
                <a:latin typeface="League Spartan"/>
              </a:rPr>
              <a:t>Vragen</a:t>
            </a:r>
          </a:p>
        </p:txBody>
      </p:sp>
      <p:pic>
        <p:nvPicPr>
          <p:cNvPr id="4" name="Picture 3"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