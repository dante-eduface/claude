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Anderhalf jaar geleden heeft PHOV een bureau ingehuurd. De vraag was hoe ze AI in hun onderwijs kunnen inzetten en hoe ze docenten daarbij helpen.</a:t>
            </a:r>
          </a:p>
          <a:p>
            <a:r>
              <a:t>Het advies was "toetstermen aanpassen" en "docenten meenemen". Dat wisten ze 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ze wilden:</a:t>
            </a:r>
          </a:p>
          <a:p>
            <a:r>
              <a:t>1. Docenten die AI in hun vakgebied gebruiken, met een pragmatische partner ernaast</a:t>
            </a:r>
          </a:p>
          <a:p>
            <a:r>
              <a:t>2. Open-boek tentamens behouden (AI-detectie)</a:t>
            </a:r>
          </a:p>
          <a:p>
            <a:r>
              <a:t>3. Curriculumontwikkeling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Tentamens</a:t>
            </a:r>
          </a:p>
          <a:p>
            <a:r>
              <a:t>1. Studenten maken het tentamen</a:t>
            </a:r>
          </a:p>
          <a:p>
            <a:r>
              <a:t>2. Het antwoord van de student gaat terug naar de docent, die punten en feedback geeft</a:t>
            </a:r>
          </a:p>
          <a:p>
            <a:r>
              <a:t>3. De moduleleider controleert en stelt het cijfer vast</a:t>
            </a:r>
          </a:p>
          <a:p>
            <a:r>
              <a:t>4. Daarna gaat het naar het cursusbureau</a:t>
            </a:r>
          </a:p>
          <a:p/>
          <a:p>
            <a:r>
              <a:t>Schrijfopdrachten</a:t>
            </a:r>
          </a:p>
          <a:p>
            <a:r>
              <a:t>1. De student levert in via de leeromgeving (individueel, duo of groep)</a:t>
            </a:r>
          </a:p>
          <a:p>
            <a:r>
              <a:t>2. De docent krijgt een melding dat hij kan nakijken</a:t>
            </a:r>
          </a:p>
          <a:p>
            <a:r>
              <a:t>3. Elke docent geeft feedback in zijn eigen format, en elke opdracht heeft weer een ander format. Dat uploadt hij.</a:t>
            </a:r>
          </a:p>
          <a:p>
            <a:r>
              <a:t>4. Het cijfer wordt vastgesteld</a:t>
            </a:r>
          </a:p>
          <a:p>
            <a:r>
              <a:t>5. Het cursusbureau kijkt het nog na op taal en rariteiten</a:t>
            </a:r>
          </a:p>
          <a:p>
            <a:r>
              <a:t>6. Het secretariaat zet het open en de student ziet zijn cijfer en feedback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Geld</a:t>
            </a:r>
          </a:p>
          <a:p>
            <a:r>
              <a:t>- PHOV betaalt docenten voor elk uur dat ze beoordelen ("wij betalen voor de tijd die ze beoordelen")</a:t>
            </a:r>
          </a:p>
          <a:p>
            <a:r>
              <a:t>- En PHOV eist dat ze feedback geven ("wij eisen dat ze feedback geven")</a:t>
            </a:r>
          </a:p>
          <a:p/>
          <a:p>
            <a:r>
              <a:t>Consistentie</a:t>
            </a:r>
          </a:p>
          <a:p>
            <a:r>
              <a:t>- Vooraf liggen de oordelen van beoordelaars ver uit elkaar, pas na overleg komen ze dichter bij elkaar ("dan zie je dat de bandbreedte groot is, dan gaan ze overleggen met elkaar")</a:t>
            </a:r>
          </a:p>
          <a:p>
            <a:r>
              <a:t>- Daarom kalibreren ze scripties minstens een keer per twee jaar. De nieuwe rubric is nog niet getest.</a:t>
            </a:r>
          </a:p>
          <a:p>
            <a:r>
              <a:t>- Kalibratie hoort over de inhoud te gaan ("Het gaat om de inhoud. Je moet challengen."), maar gaat soms over handtekeningen op een formulier</a:t>
            </a:r>
          </a:p>
          <a:p>
            <a:r>
              <a:t>- De directie schuift zelf aan om mensen scherp te houden, als breekijzertje.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Geld besparen</a:t>
            </a:r>
          </a:p>
          <a:p>
            <a:r>
              <a:t>- De docent begint niet met een leeg vel maar met een eerste versie van feedback en cijfer. Hij kijkt dus sneller na en PHOV betaalt minder beoordelingsuren.</a:t>
            </a:r>
          </a:p>
          <a:p>
            <a:r>
              <a:t>- Bijkomstigheid: de doorlooptijd van zes weken wordt korter. Studenten krijgen eerder hun cijfer.</a:t>
            </a:r>
          </a:p>
          <a:p/>
          <a:p>
            <a:r>
              <a:t>Consistentie</a:t>
            </a:r>
          </a:p>
          <a:p>
            <a:r>
              <a:t>- Elke opdracht wordt op dezelfde rubric gescoord, met een uitlegbare cijferopbouw per criterium. Zo leggen alle beoordelaars dezelfde maat aan.</a:t>
            </a:r>
          </a:p>
          <a:p>
            <a:r>
              <a:t>- De kalibratie begint bij een beoordeling per criterium. Het gesprek gaat dan over de inhoud, niet over het formulier. (Eigen redenering, geen belofte.)</a:t>
            </a:r>
          </a:p>
          <a:p/>
          <a:p>
            <a:r>
              <a:t>Koppeling met de huidige situatie: de AI Exam Grader hoort bij Tentamens, de AI Paper Grader bij Schrijfopdrachten. Allebei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 euro per student per maand, minimaal 150 studenten</a:t>
            </a:r>
          </a:p>
          <a:p>
            <a:r>
              <a:t>- Minimaal 1.500 euro voor het reserveren van AI-capaciteit</a:t>
            </a:r>
          </a:p>
          <a:p/>
          <a:p>
            <a:r>
              <a:t>Wat het dekt: AI Paper Grader (schrijfopdrachten) en AI Exam Grader (tentamens), allebei live. Rubric-scoring met uitlegbare cijferopbouw. De docent keurt elke opmerking en elk cijfer goed voordat de student iets ziet.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png"/><Relationship Id="rId13" Type="http://schemas.openxmlformats.org/officeDocument/2006/relationships/image" Target="../media/image2.png"/><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 Id="rId7" Type="http://schemas.openxmlformats.org/officeDocument/2006/relationships/image" Target="../media/image19.png"/><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21.png"/><Relationship Id="rId6" Type="http://schemas.openxmlformats.org/officeDocument/2006/relationships/image" Target="../media/image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Aanleiding</a:t>
            </a:r>
          </a:p>
        </p:txBody>
      </p:sp>
      <p:sp>
        <p:nvSpPr>
          <p:cNvPr id="4" name="TextBox 3"/>
          <p:cNvSpPr txBox="1"/>
          <p:nvPr/>
        </p:nvSpPr>
        <p:spPr>
          <a:xfrm>
            <a:off x="762000" y="2095500"/>
            <a:ext cx="10668000" cy="889000"/>
          </a:xfrm>
          <a:prstGeom prst="rect">
            <a:avLst/>
          </a:prstGeom>
          <a:noFill/>
        </p:spPr>
        <p:txBody>
          <a:bodyPr wrap="square" lIns="0" rIns="0" tIns="0" bIns="0">
            <a:spAutoFit/>
          </a:bodyPr>
          <a:lstStyle/>
          <a:p>
            <a:pPr algn="ctr">
              <a:lnSpc>
                <a:spcPct val="120000"/>
              </a:lnSpc>
            </a:pPr>
            <a:r>
              <a:rPr sz="2800" b="1">
                <a:solidFill>
                  <a:srgbClr val="FFFFFF"/>
                </a:solidFill>
                <a:latin typeface="League Spartan"/>
              </a:rPr>
              <a:t>Hoe zetten we AI in ons onderwijs in,</a:t>
            </a:r>
          </a:p>
          <a:p>
            <a:pPr algn="ctr">
              <a:lnSpc>
                <a:spcPct val="120000"/>
              </a:lnSpc>
            </a:pPr>
            <a:r>
              <a:rPr sz="2800" b="1">
                <a:solidFill>
                  <a:srgbClr val="FFFFFF"/>
                </a:solidFill>
                <a:latin typeface="League Spartan"/>
              </a:rPr>
              <a:t>en hoe helpen we docenten daarbij?</a:t>
            </a:r>
          </a:p>
        </p:txBody>
      </p:sp>
      <p:sp>
        <p:nvSpPr>
          <p:cNvPr id="5" name="Rounded Rectangle 4"/>
          <p:cNvSpPr/>
          <p:nvPr/>
        </p:nvSpPr>
        <p:spPr>
          <a:xfrm>
            <a:off x="2584450" y="3746500"/>
            <a:ext cx="2857500" cy="482600"/>
          </a:xfrm>
          <a:prstGeom prst="roundRect">
            <a:avLst>
              <a:gd name="adj" fmla="val 50000"/>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84450" y="3867150"/>
            <a:ext cx="2857500" cy="254000"/>
          </a:xfrm>
          <a:prstGeom prst="rect">
            <a:avLst/>
          </a:prstGeom>
          <a:noFill/>
        </p:spPr>
        <p:txBody>
          <a:bodyPr wrap="square" lIns="0" rIns="0" tIns="0" bIns="0">
            <a:spAutoFit/>
          </a:bodyPr>
          <a:lstStyle/>
          <a:p>
            <a:pPr algn="ctr">
              <a:lnSpc>
                <a:spcPct val="100000"/>
              </a:lnSpc>
            </a:pPr>
            <a:r>
              <a:rPr sz="1700" b="0">
                <a:solidFill>
                  <a:srgbClr val="FFFFFF"/>
                </a:solidFill>
                <a:latin typeface="Inter"/>
              </a:rPr>
              <a:t>Toetstermen aanpassen</a:t>
            </a:r>
          </a:p>
        </p:txBody>
      </p:sp>
      <p:sp>
        <p:nvSpPr>
          <p:cNvPr id="7" name="Rounded Rectangle 6"/>
          <p:cNvSpPr/>
          <p:nvPr/>
        </p:nvSpPr>
        <p:spPr>
          <a:xfrm>
            <a:off x="5619750" y="3746500"/>
            <a:ext cx="2540000" cy="482600"/>
          </a:xfrm>
          <a:prstGeom prst="roundRect">
            <a:avLst>
              <a:gd name="adj" fmla="val 50000"/>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19750" y="3867150"/>
            <a:ext cx="2540000" cy="254000"/>
          </a:xfrm>
          <a:prstGeom prst="rect">
            <a:avLst/>
          </a:prstGeom>
          <a:noFill/>
        </p:spPr>
        <p:txBody>
          <a:bodyPr wrap="square" lIns="0" rIns="0" tIns="0" bIns="0">
            <a:spAutoFit/>
          </a:bodyPr>
          <a:lstStyle/>
          <a:p>
            <a:pPr algn="ctr">
              <a:lnSpc>
                <a:spcPct val="100000"/>
              </a:lnSpc>
            </a:pPr>
            <a:r>
              <a:rPr sz="1700" b="0">
                <a:solidFill>
                  <a:srgbClr val="FFFFFF"/>
                </a:solidFill>
                <a:latin typeface="Inter"/>
              </a:rPr>
              <a:t>Docenten meenemen</a:t>
            </a:r>
          </a:p>
        </p:txBody>
      </p:sp>
      <p:sp>
        <p:nvSpPr>
          <p:cNvPr id="9" name="TextBox 8"/>
          <p:cNvSpPr txBox="1"/>
          <p:nvPr/>
        </p:nvSpPr>
        <p:spPr>
          <a:xfrm>
            <a:off x="8413750" y="3867150"/>
            <a:ext cx="1270000" cy="254000"/>
          </a:xfrm>
          <a:prstGeom prst="rect">
            <a:avLst/>
          </a:prstGeom>
          <a:noFill/>
        </p:spPr>
        <p:txBody>
          <a:bodyPr wrap="square" lIns="0" rIns="0" tIns="0" bIns="0">
            <a:spAutoFit/>
          </a:bodyPr>
          <a:lstStyle/>
          <a:p>
            <a:pPr algn="l">
              <a:lnSpc>
                <a:spcPct val="100000"/>
              </a:lnSpc>
            </a:pPr>
            <a:r>
              <a:rPr sz="1700" b="1">
                <a:solidFill>
                  <a:srgbClr val="00E075"/>
                </a:solidFill>
                <a:latin typeface="Inter"/>
              </a:rPr>
              <a:t>Al bekend.</a:t>
            </a:r>
          </a:p>
        </p:txBody>
      </p:sp>
      <p:sp>
        <p:nvSpPr>
          <p:cNvPr id="10" name="Rectangle 9"/>
          <p:cNvSpPr/>
          <p:nvPr/>
        </p:nvSpPr>
        <p:spPr>
          <a:xfrm>
            <a:off x="762000" y="5511800"/>
            <a:ext cx="10668000" cy="63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90000" y="5626100"/>
            <a:ext cx="2540000" cy="5588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go_navy.png"/>
          <p:cNvPicPr>
            <a:picLocks noChangeAspect="1"/>
          </p:cNvPicPr>
          <p:nvPr/>
        </p:nvPicPr>
        <p:blipFill>
          <a:blip r:embed="rId2"/>
          <a:stretch>
            <a:fillRect/>
          </a:stretch>
        </p:blipFill>
        <p:spPr>
          <a:xfrm>
            <a:off x="8947150" y="5759450"/>
            <a:ext cx="1079500" cy="292100"/>
          </a:xfrm>
          <a:prstGeom prst="rect">
            <a:avLst/>
          </a:prstGeom>
        </p:spPr>
      </p:pic>
      <p:sp>
        <p:nvSpPr>
          <p:cNvPr id="13" name="Rectangle 12"/>
          <p:cNvSpPr/>
          <p:nvPr/>
        </p:nvSpPr>
        <p:spPr>
          <a:xfrm>
            <a:off x="102806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klant.png"/>
          <p:cNvPicPr>
            <a:picLocks noChangeAspect="1"/>
          </p:cNvPicPr>
          <p:nvPr/>
        </p:nvPicPr>
        <p:blipFill>
          <a:blip r:embed="rId3"/>
          <a:stretch>
            <a:fillRect/>
          </a:stretch>
        </p:blipFill>
        <p:spPr>
          <a:xfrm>
            <a:off x="10541000" y="5702300"/>
            <a:ext cx="406400" cy="406400"/>
          </a:xfrm>
          <a:prstGeom prst="rect">
            <a:avLst/>
          </a:prstGeom>
        </p:spPr>
      </p:pic>
      <p:sp>
        <p:nvSpPr>
          <p:cNvPr id="15" name="TextBox 14"/>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FFFFFF"/>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002333"/>
                </a:solidFill>
                <a:latin typeface="League Spartan"/>
              </a:rPr>
              <a:t>Doel</a:t>
            </a:r>
          </a:p>
        </p:txBody>
      </p:sp>
      <p:sp>
        <p:nvSpPr>
          <p:cNvPr id="3" name="Rounded Rectangle 2"/>
          <p:cNvSpPr/>
          <p:nvPr/>
        </p:nvSpPr>
        <p:spPr>
          <a:xfrm>
            <a:off x="1816100" y="2413000"/>
            <a:ext cx="1143000" cy="1143000"/>
          </a:xfrm>
          <a:prstGeom prst="roundRect">
            <a:avLst>
              <a:gd name="adj" fmla="val 24300"/>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con-lesgeven-green.png"/>
          <p:cNvPicPr>
            <a:picLocks noChangeAspect="1"/>
          </p:cNvPicPr>
          <p:nvPr/>
        </p:nvPicPr>
        <p:blipFill>
          <a:blip r:embed="rId2"/>
          <a:stretch>
            <a:fillRect/>
          </a:stretch>
        </p:blipFill>
        <p:spPr>
          <a:xfrm>
            <a:off x="2101850" y="2698750"/>
            <a:ext cx="571500" cy="571500"/>
          </a:xfrm>
          <a:prstGeom prst="rect">
            <a:avLst/>
          </a:prstGeom>
        </p:spPr>
      </p:pic>
      <p:sp>
        <p:nvSpPr>
          <p:cNvPr id="5" name="TextBox 4"/>
          <p:cNvSpPr txBox="1"/>
          <p:nvPr/>
        </p:nvSpPr>
        <p:spPr>
          <a:xfrm>
            <a:off x="571500" y="3810000"/>
            <a:ext cx="3632200" cy="381000"/>
          </a:xfrm>
          <a:prstGeom prst="rect">
            <a:avLst/>
          </a:prstGeom>
          <a:noFill/>
        </p:spPr>
        <p:txBody>
          <a:bodyPr wrap="square" lIns="0" rIns="0" tIns="0" bIns="0">
            <a:spAutoFit/>
          </a:bodyPr>
          <a:lstStyle/>
          <a:p>
            <a:pPr algn="ctr">
              <a:lnSpc>
                <a:spcPct val="100000"/>
              </a:lnSpc>
            </a:pPr>
            <a:r>
              <a:rPr sz="2600" b="1">
                <a:solidFill>
                  <a:srgbClr val="002333"/>
                </a:solidFill>
                <a:latin typeface="League Spartan"/>
              </a:rPr>
              <a:t>Docenten met AI</a:t>
            </a:r>
          </a:p>
        </p:txBody>
      </p:sp>
      <p:sp>
        <p:nvSpPr>
          <p:cNvPr id="6" name="Rounded Rectangle 5"/>
          <p:cNvSpPr/>
          <p:nvPr/>
        </p:nvSpPr>
        <p:spPr>
          <a:xfrm>
            <a:off x="5524500" y="2413000"/>
            <a:ext cx="1143000" cy="1143000"/>
          </a:xfrm>
          <a:prstGeom prst="roundRect">
            <a:avLst>
              <a:gd name="adj" fmla="val 24300"/>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boek-green.png"/>
          <p:cNvPicPr>
            <a:picLocks noChangeAspect="1"/>
          </p:cNvPicPr>
          <p:nvPr/>
        </p:nvPicPr>
        <p:blipFill>
          <a:blip r:embed="rId3"/>
          <a:stretch>
            <a:fillRect/>
          </a:stretch>
        </p:blipFill>
        <p:spPr>
          <a:xfrm>
            <a:off x="5810250" y="2698750"/>
            <a:ext cx="571500" cy="571500"/>
          </a:xfrm>
          <a:prstGeom prst="rect">
            <a:avLst/>
          </a:prstGeom>
        </p:spPr>
      </p:pic>
      <p:sp>
        <p:nvSpPr>
          <p:cNvPr id="8" name="TextBox 7"/>
          <p:cNvSpPr txBox="1"/>
          <p:nvPr/>
        </p:nvSpPr>
        <p:spPr>
          <a:xfrm>
            <a:off x="4279900" y="3810000"/>
            <a:ext cx="3632200" cy="381000"/>
          </a:xfrm>
          <a:prstGeom prst="rect">
            <a:avLst/>
          </a:prstGeom>
          <a:noFill/>
        </p:spPr>
        <p:txBody>
          <a:bodyPr wrap="square" lIns="0" rIns="0" tIns="0" bIns="0">
            <a:spAutoFit/>
          </a:bodyPr>
          <a:lstStyle/>
          <a:p>
            <a:pPr algn="ctr">
              <a:lnSpc>
                <a:spcPct val="100000"/>
              </a:lnSpc>
            </a:pPr>
            <a:r>
              <a:rPr sz="2600" b="1">
                <a:solidFill>
                  <a:srgbClr val="002333"/>
                </a:solidFill>
                <a:latin typeface="League Spartan"/>
              </a:rPr>
              <a:t>Open boek</a:t>
            </a:r>
          </a:p>
        </p:txBody>
      </p:sp>
      <p:sp>
        <p:nvSpPr>
          <p:cNvPr id="9" name="Rounded Rectangle 8"/>
          <p:cNvSpPr/>
          <p:nvPr/>
        </p:nvSpPr>
        <p:spPr>
          <a:xfrm>
            <a:off x="9232900" y="2413000"/>
            <a:ext cx="1143000" cy="1143000"/>
          </a:xfrm>
          <a:prstGeom prst="roundRect">
            <a:avLst>
              <a:gd name="adj" fmla="val 24300"/>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agen-green.png"/>
          <p:cNvPicPr>
            <a:picLocks noChangeAspect="1"/>
          </p:cNvPicPr>
          <p:nvPr/>
        </p:nvPicPr>
        <p:blipFill>
          <a:blip r:embed="rId4"/>
          <a:stretch>
            <a:fillRect/>
          </a:stretch>
        </p:blipFill>
        <p:spPr>
          <a:xfrm>
            <a:off x="9518650" y="2698750"/>
            <a:ext cx="571500" cy="571500"/>
          </a:xfrm>
          <a:prstGeom prst="rect">
            <a:avLst/>
          </a:prstGeom>
        </p:spPr>
      </p:pic>
      <p:sp>
        <p:nvSpPr>
          <p:cNvPr id="11" name="TextBox 10"/>
          <p:cNvSpPr txBox="1"/>
          <p:nvPr/>
        </p:nvSpPr>
        <p:spPr>
          <a:xfrm>
            <a:off x="7988300" y="3810000"/>
            <a:ext cx="3632200" cy="381000"/>
          </a:xfrm>
          <a:prstGeom prst="rect">
            <a:avLst/>
          </a:prstGeom>
          <a:noFill/>
        </p:spPr>
        <p:txBody>
          <a:bodyPr wrap="square" lIns="0" rIns="0" tIns="0" bIns="0">
            <a:spAutoFit/>
          </a:bodyPr>
          <a:lstStyle/>
          <a:p>
            <a:pPr algn="ctr">
              <a:lnSpc>
                <a:spcPct val="100000"/>
              </a:lnSpc>
            </a:pPr>
            <a:r>
              <a:rPr sz="2600" b="1">
                <a:solidFill>
                  <a:srgbClr val="002333"/>
                </a:solidFill>
                <a:latin typeface="League Spartan"/>
              </a:rPr>
              <a:t>Curriculum</a:t>
            </a:r>
          </a:p>
        </p:txBody>
      </p:sp>
      <p:sp>
        <p:nvSpPr>
          <p:cNvPr id="12" name="Rectangle 11"/>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go_navy.png"/>
          <p:cNvPicPr>
            <a:picLocks noChangeAspect="1"/>
          </p:cNvPicPr>
          <p:nvPr/>
        </p:nvPicPr>
        <p:blipFill>
          <a:blip r:embed="rId5"/>
          <a:stretch>
            <a:fillRect/>
          </a:stretch>
        </p:blipFill>
        <p:spPr>
          <a:xfrm>
            <a:off x="9010650" y="5759450"/>
            <a:ext cx="1079500" cy="292100"/>
          </a:xfrm>
          <a:prstGeom prst="rect">
            <a:avLst/>
          </a:prstGeom>
        </p:spPr>
      </p:pic>
      <p:sp>
        <p:nvSpPr>
          <p:cNvPr id="14" name="Rectangle 13"/>
          <p:cNvSpPr/>
          <p:nvPr/>
        </p:nvSpPr>
        <p:spPr>
          <a:xfrm>
            <a:off x="103441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klant.png"/>
          <p:cNvPicPr>
            <a:picLocks noChangeAspect="1"/>
          </p:cNvPicPr>
          <p:nvPr/>
        </p:nvPicPr>
        <p:blipFill>
          <a:blip r:embed="rId6"/>
          <a:stretch>
            <a:fillRect/>
          </a:stretch>
        </p:blipFill>
        <p:spPr>
          <a:xfrm>
            <a:off x="10604500" y="5702300"/>
            <a:ext cx="406400" cy="406400"/>
          </a:xfrm>
          <a:prstGeom prst="rect">
            <a:avLst/>
          </a:prstGeom>
        </p:spPr>
      </p:pic>
      <p:sp>
        <p:nvSpPr>
          <p:cNvPr id="16" name="TextBox 15"/>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9AAFB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Huidige situatie</a:t>
            </a:r>
          </a:p>
        </p:txBody>
      </p:sp>
      <p:sp>
        <p:nvSpPr>
          <p:cNvPr id="4" name="TextBox 3"/>
          <p:cNvSpPr txBox="1"/>
          <p:nvPr/>
        </p:nvSpPr>
        <p:spPr>
          <a:xfrm>
            <a:off x="762000" y="1498600"/>
            <a:ext cx="3810000" cy="254000"/>
          </a:xfrm>
          <a:prstGeom prst="rect">
            <a:avLst/>
          </a:prstGeom>
          <a:noFill/>
        </p:spPr>
        <p:txBody>
          <a:bodyPr wrap="square" lIns="0" rIns="0" tIns="0" bIns="0">
            <a:spAutoFit/>
          </a:bodyPr>
          <a:lstStyle/>
          <a:p>
            <a:pPr algn="l">
              <a:lnSpc>
                <a:spcPct val="100000"/>
              </a:lnSpc>
            </a:pPr>
            <a:r>
              <a:rPr sz="1800" b="1">
                <a:solidFill>
                  <a:srgbClr val="8FA9B4"/>
                </a:solidFill>
                <a:latin typeface="League Spartan"/>
              </a:rPr>
              <a:t>Tentamens</a:t>
            </a:r>
          </a:p>
        </p:txBody>
      </p:sp>
      <p:sp>
        <p:nvSpPr>
          <p:cNvPr id="5" name="Rectangle 4"/>
          <p:cNvSpPr/>
          <p:nvPr/>
        </p:nvSpPr>
        <p:spPr>
          <a:xfrm>
            <a:off x="1460500" y="2159000"/>
            <a:ext cx="5562600" cy="25400"/>
          </a:xfrm>
          <a:prstGeom prst="rect">
            <a:avLst/>
          </a:prstGeom>
          <a:solidFill>
            <a:srgbClr val="1E4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16000" y="18288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55700" y="18669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con-pen-navy.png"/>
          <p:cNvPicPr>
            <a:picLocks noChangeAspect="1"/>
          </p:cNvPicPr>
          <p:nvPr/>
        </p:nvPicPr>
        <p:blipFill>
          <a:blip r:embed="rId2"/>
          <a:stretch>
            <a:fillRect/>
          </a:stretch>
        </p:blipFill>
        <p:spPr>
          <a:xfrm>
            <a:off x="1308100" y="2019300"/>
            <a:ext cx="304800" cy="304800"/>
          </a:xfrm>
          <a:prstGeom prst="rect">
            <a:avLst/>
          </a:prstGeom>
        </p:spPr>
      </p:pic>
      <p:sp>
        <p:nvSpPr>
          <p:cNvPr id="9" name="TextBox 8"/>
          <p:cNvSpPr txBox="1"/>
          <p:nvPr/>
        </p:nvSpPr>
        <p:spPr>
          <a:xfrm>
            <a:off x="533400" y="25654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Student</a:t>
            </a:r>
          </a:p>
        </p:txBody>
      </p:sp>
      <p:sp>
        <p:nvSpPr>
          <p:cNvPr id="10" name="TextBox 9"/>
          <p:cNvSpPr txBox="1"/>
          <p:nvPr/>
        </p:nvSpPr>
        <p:spPr>
          <a:xfrm>
            <a:off x="381000" y="28321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maakt toets</a:t>
            </a:r>
          </a:p>
        </p:txBody>
      </p:sp>
      <p:sp>
        <p:nvSpPr>
          <p:cNvPr id="11" name="Rectangle 10"/>
          <p:cNvSpPr/>
          <p:nvPr/>
        </p:nvSpPr>
        <p:spPr>
          <a:xfrm>
            <a:off x="2870200" y="18288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09900" y="18669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on-cijfers-navy.png"/>
          <p:cNvPicPr>
            <a:picLocks noChangeAspect="1"/>
          </p:cNvPicPr>
          <p:nvPr/>
        </p:nvPicPr>
        <p:blipFill>
          <a:blip r:embed="rId3"/>
          <a:stretch>
            <a:fillRect/>
          </a:stretch>
        </p:blipFill>
        <p:spPr>
          <a:xfrm>
            <a:off x="3162300" y="2019300"/>
            <a:ext cx="304800" cy="304800"/>
          </a:xfrm>
          <a:prstGeom prst="rect">
            <a:avLst/>
          </a:prstGeom>
        </p:spPr>
      </p:pic>
      <p:sp>
        <p:nvSpPr>
          <p:cNvPr id="14" name="TextBox 13"/>
          <p:cNvSpPr txBox="1"/>
          <p:nvPr/>
        </p:nvSpPr>
        <p:spPr>
          <a:xfrm>
            <a:off x="2387600" y="25654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Docent</a:t>
            </a:r>
          </a:p>
        </p:txBody>
      </p:sp>
      <p:sp>
        <p:nvSpPr>
          <p:cNvPr id="15" name="TextBox 14"/>
          <p:cNvSpPr txBox="1"/>
          <p:nvPr/>
        </p:nvSpPr>
        <p:spPr>
          <a:xfrm>
            <a:off x="2235200" y="28321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punten, feedback</a:t>
            </a:r>
          </a:p>
        </p:txBody>
      </p:sp>
      <p:sp>
        <p:nvSpPr>
          <p:cNvPr id="16" name="Rectangle 15"/>
          <p:cNvSpPr/>
          <p:nvPr/>
        </p:nvSpPr>
        <p:spPr>
          <a:xfrm>
            <a:off x="4724400" y="18288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864100" y="18669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on-usercheck-navy.png"/>
          <p:cNvPicPr>
            <a:picLocks noChangeAspect="1"/>
          </p:cNvPicPr>
          <p:nvPr/>
        </p:nvPicPr>
        <p:blipFill>
          <a:blip r:embed="rId4"/>
          <a:stretch>
            <a:fillRect/>
          </a:stretch>
        </p:blipFill>
        <p:spPr>
          <a:xfrm>
            <a:off x="5016500" y="2019300"/>
            <a:ext cx="304800" cy="304800"/>
          </a:xfrm>
          <a:prstGeom prst="rect">
            <a:avLst/>
          </a:prstGeom>
        </p:spPr>
      </p:pic>
      <p:sp>
        <p:nvSpPr>
          <p:cNvPr id="19" name="TextBox 18"/>
          <p:cNvSpPr txBox="1"/>
          <p:nvPr/>
        </p:nvSpPr>
        <p:spPr>
          <a:xfrm>
            <a:off x="4241800" y="25654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Moduleleider</a:t>
            </a:r>
          </a:p>
        </p:txBody>
      </p:sp>
      <p:sp>
        <p:nvSpPr>
          <p:cNvPr id="20" name="TextBox 19"/>
          <p:cNvSpPr txBox="1"/>
          <p:nvPr/>
        </p:nvSpPr>
        <p:spPr>
          <a:xfrm>
            <a:off x="4089400" y="28321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stelt cijfer vast</a:t>
            </a:r>
          </a:p>
        </p:txBody>
      </p:sp>
      <p:sp>
        <p:nvSpPr>
          <p:cNvPr id="21" name="Rectangle 20"/>
          <p:cNvSpPr/>
          <p:nvPr/>
        </p:nvSpPr>
        <p:spPr>
          <a:xfrm>
            <a:off x="6578600" y="18288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718300" y="18669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data-navy.png"/>
          <p:cNvPicPr>
            <a:picLocks noChangeAspect="1"/>
          </p:cNvPicPr>
          <p:nvPr/>
        </p:nvPicPr>
        <p:blipFill>
          <a:blip r:embed="rId5"/>
          <a:stretch>
            <a:fillRect/>
          </a:stretch>
        </p:blipFill>
        <p:spPr>
          <a:xfrm>
            <a:off x="6870700" y="2019300"/>
            <a:ext cx="304800" cy="304800"/>
          </a:xfrm>
          <a:prstGeom prst="rect">
            <a:avLst/>
          </a:prstGeom>
        </p:spPr>
      </p:pic>
      <p:sp>
        <p:nvSpPr>
          <p:cNvPr id="24" name="TextBox 23"/>
          <p:cNvSpPr txBox="1"/>
          <p:nvPr/>
        </p:nvSpPr>
        <p:spPr>
          <a:xfrm>
            <a:off x="6096000" y="25654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Cursusbureau</a:t>
            </a:r>
          </a:p>
        </p:txBody>
      </p:sp>
      <p:sp>
        <p:nvSpPr>
          <p:cNvPr id="25" name="TextBox 24"/>
          <p:cNvSpPr txBox="1"/>
          <p:nvPr/>
        </p:nvSpPr>
        <p:spPr>
          <a:xfrm>
            <a:off x="5943600" y="28321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krijgt eindcijfer</a:t>
            </a:r>
          </a:p>
        </p:txBody>
      </p:sp>
      <p:sp>
        <p:nvSpPr>
          <p:cNvPr id="26" name="TextBox 25"/>
          <p:cNvSpPr txBox="1"/>
          <p:nvPr/>
        </p:nvSpPr>
        <p:spPr>
          <a:xfrm>
            <a:off x="762000" y="3619500"/>
            <a:ext cx="3810000" cy="254000"/>
          </a:xfrm>
          <a:prstGeom prst="rect">
            <a:avLst/>
          </a:prstGeom>
          <a:noFill/>
        </p:spPr>
        <p:txBody>
          <a:bodyPr wrap="square" lIns="0" rIns="0" tIns="0" bIns="0">
            <a:spAutoFit/>
          </a:bodyPr>
          <a:lstStyle/>
          <a:p>
            <a:pPr algn="l">
              <a:lnSpc>
                <a:spcPct val="100000"/>
              </a:lnSpc>
            </a:pPr>
            <a:r>
              <a:rPr sz="1800" b="1">
                <a:solidFill>
                  <a:srgbClr val="8FA9B4"/>
                </a:solidFill>
                <a:latin typeface="League Spartan"/>
              </a:rPr>
              <a:t>Schrijfopdrachten</a:t>
            </a:r>
          </a:p>
        </p:txBody>
      </p:sp>
      <p:sp>
        <p:nvSpPr>
          <p:cNvPr id="27" name="Rectangle 26"/>
          <p:cNvSpPr/>
          <p:nvPr/>
        </p:nvSpPr>
        <p:spPr>
          <a:xfrm>
            <a:off x="1460500" y="4279900"/>
            <a:ext cx="9271000" cy="25400"/>
          </a:xfrm>
          <a:prstGeom prst="rect">
            <a:avLst/>
          </a:prstGeom>
          <a:solidFill>
            <a:srgbClr val="1E4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6000" y="39497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55700" y="39878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on-inleveren-navy.png"/>
          <p:cNvPicPr>
            <a:picLocks noChangeAspect="1"/>
          </p:cNvPicPr>
          <p:nvPr/>
        </p:nvPicPr>
        <p:blipFill>
          <a:blip r:embed="rId6"/>
          <a:stretch>
            <a:fillRect/>
          </a:stretch>
        </p:blipFill>
        <p:spPr>
          <a:xfrm>
            <a:off x="1308100" y="4140200"/>
            <a:ext cx="304800" cy="304800"/>
          </a:xfrm>
          <a:prstGeom prst="rect">
            <a:avLst/>
          </a:prstGeom>
        </p:spPr>
      </p:pic>
      <p:sp>
        <p:nvSpPr>
          <p:cNvPr id="31" name="TextBox 30"/>
          <p:cNvSpPr txBox="1"/>
          <p:nvPr/>
        </p:nvSpPr>
        <p:spPr>
          <a:xfrm>
            <a:off x="533400" y="46863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Student</a:t>
            </a:r>
          </a:p>
        </p:txBody>
      </p:sp>
      <p:sp>
        <p:nvSpPr>
          <p:cNvPr id="32" name="TextBox 31"/>
          <p:cNvSpPr txBox="1"/>
          <p:nvPr/>
        </p:nvSpPr>
        <p:spPr>
          <a:xfrm>
            <a:off x="381000" y="49530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levert in</a:t>
            </a:r>
          </a:p>
        </p:txBody>
      </p:sp>
      <p:sp>
        <p:nvSpPr>
          <p:cNvPr id="33" name="Rectangle 32"/>
          <p:cNvSpPr/>
          <p:nvPr/>
        </p:nvSpPr>
        <p:spPr>
          <a:xfrm>
            <a:off x="2870200" y="39497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009900" y="39878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filepen-navy.png"/>
          <p:cNvPicPr>
            <a:picLocks noChangeAspect="1"/>
          </p:cNvPicPr>
          <p:nvPr/>
        </p:nvPicPr>
        <p:blipFill>
          <a:blip r:embed="rId7"/>
          <a:stretch>
            <a:fillRect/>
          </a:stretch>
        </p:blipFill>
        <p:spPr>
          <a:xfrm>
            <a:off x="3162300" y="4140200"/>
            <a:ext cx="304800" cy="304800"/>
          </a:xfrm>
          <a:prstGeom prst="rect">
            <a:avLst/>
          </a:prstGeom>
        </p:spPr>
      </p:pic>
      <p:sp>
        <p:nvSpPr>
          <p:cNvPr id="36" name="TextBox 35"/>
          <p:cNvSpPr txBox="1"/>
          <p:nvPr/>
        </p:nvSpPr>
        <p:spPr>
          <a:xfrm>
            <a:off x="2387600" y="46863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Docent</a:t>
            </a:r>
          </a:p>
        </p:txBody>
      </p:sp>
      <p:sp>
        <p:nvSpPr>
          <p:cNvPr id="37" name="TextBox 36"/>
          <p:cNvSpPr txBox="1"/>
          <p:nvPr/>
        </p:nvSpPr>
        <p:spPr>
          <a:xfrm>
            <a:off x="2235200" y="49530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wisselend format</a:t>
            </a:r>
          </a:p>
        </p:txBody>
      </p:sp>
      <p:sp>
        <p:nvSpPr>
          <p:cNvPr id="38" name="Rectangle 37"/>
          <p:cNvSpPr/>
          <p:nvPr/>
        </p:nvSpPr>
        <p:spPr>
          <a:xfrm>
            <a:off x="4724400" y="39497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64100" y="39878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con-aftekenen-navy.png"/>
          <p:cNvPicPr>
            <a:picLocks noChangeAspect="1"/>
          </p:cNvPicPr>
          <p:nvPr/>
        </p:nvPicPr>
        <p:blipFill>
          <a:blip r:embed="rId8"/>
          <a:stretch>
            <a:fillRect/>
          </a:stretch>
        </p:blipFill>
        <p:spPr>
          <a:xfrm>
            <a:off x="5016500" y="4140200"/>
            <a:ext cx="304800" cy="304800"/>
          </a:xfrm>
          <a:prstGeom prst="rect">
            <a:avLst/>
          </a:prstGeom>
        </p:spPr>
      </p:pic>
      <p:sp>
        <p:nvSpPr>
          <p:cNvPr id="41" name="TextBox 40"/>
          <p:cNvSpPr txBox="1"/>
          <p:nvPr/>
        </p:nvSpPr>
        <p:spPr>
          <a:xfrm>
            <a:off x="4241800" y="46863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Cijfer</a:t>
            </a:r>
          </a:p>
        </p:txBody>
      </p:sp>
      <p:sp>
        <p:nvSpPr>
          <p:cNvPr id="42" name="TextBox 41"/>
          <p:cNvSpPr txBox="1"/>
          <p:nvPr/>
        </p:nvSpPr>
        <p:spPr>
          <a:xfrm>
            <a:off x="4089400" y="49530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vastgesteld</a:t>
            </a:r>
          </a:p>
        </p:txBody>
      </p:sp>
      <p:sp>
        <p:nvSpPr>
          <p:cNvPr id="43" name="Rectangle 42"/>
          <p:cNvSpPr/>
          <p:nvPr/>
        </p:nvSpPr>
        <p:spPr>
          <a:xfrm>
            <a:off x="6578600" y="39497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718300" y="39878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n-check-navy.png"/>
          <p:cNvPicPr>
            <a:picLocks noChangeAspect="1"/>
          </p:cNvPicPr>
          <p:nvPr/>
        </p:nvPicPr>
        <p:blipFill>
          <a:blip r:embed="rId9"/>
          <a:stretch>
            <a:fillRect/>
          </a:stretch>
        </p:blipFill>
        <p:spPr>
          <a:xfrm>
            <a:off x="6870700" y="4140200"/>
            <a:ext cx="304800" cy="304800"/>
          </a:xfrm>
          <a:prstGeom prst="rect">
            <a:avLst/>
          </a:prstGeom>
        </p:spPr>
      </p:pic>
      <p:sp>
        <p:nvSpPr>
          <p:cNvPr id="46" name="TextBox 45"/>
          <p:cNvSpPr txBox="1"/>
          <p:nvPr/>
        </p:nvSpPr>
        <p:spPr>
          <a:xfrm>
            <a:off x="6096000" y="46863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Cursusbureau</a:t>
            </a:r>
          </a:p>
        </p:txBody>
      </p:sp>
      <p:sp>
        <p:nvSpPr>
          <p:cNvPr id="47" name="TextBox 46"/>
          <p:cNvSpPr txBox="1"/>
          <p:nvPr/>
        </p:nvSpPr>
        <p:spPr>
          <a:xfrm>
            <a:off x="5943600" y="49530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checkt taal</a:t>
            </a:r>
          </a:p>
        </p:txBody>
      </p:sp>
      <p:sp>
        <p:nvSpPr>
          <p:cNvPr id="48" name="Rectangle 47"/>
          <p:cNvSpPr/>
          <p:nvPr/>
        </p:nvSpPr>
        <p:spPr>
          <a:xfrm>
            <a:off x="8432800" y="39497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572500" y="39878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con-mail-navy.png"/>
          <p:cNvPicPr>
            <a:picLocks noChangeAspect="1"/>
          </p:cNvPicPr>
          <p:nvPr/>
        </p:nvPicPr>
        <p:blipFill>
          <a:blip r:embed="rId10"/>
          <a:stretch>
            <a:fillRect/>
          </a:stretch>
        </p:blipFill>
        <p:spPr>
          <a:xfrm>
            <a:off x="8724900" y="4140200"/>
            <a:ext cx="304800" cy="304800"/>
          </a:xfrm>
          <a:prstGeom prst="rect">
            <a:avLst/>
          </a:prstGeom>
        </p:spPr>
      </p:pic>
      <p:sp>
        <p:nvSpPr>
          <p:cNvPr id="51" name="TextBox 50"/>
          <p:cNvSpPr txBox="1"/>
          <p:nvPr/>
        </p:nvSpPr>
        <p:spPr>
          <a:xfrm>
            <a:off x="7950200" y="46863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Secretariaat</a:t>
            </a:r>
          </a:p>
        </p:txBody>
      </p:sp>
      <p:sp>
        <p:nvSpPr>
          <p:cNvPr id="52" name="TextBox 51"/>
          <p:cNvSpPr txBox="1"/>
          <p:nvPr/>
        </p:nvSpPr>
        <p:spPr>
          <a:xfrm>
            <a:off x="7797800" y="49530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zet het open</a:t>
            </a:r>
          </a:p>
        </p:txBody>
      </p:sp>
      <p:sp>
        <p:nvSpPr>
          <p:cNvPr id="53" name="Rectangle 52"/>
          <p:cNvSpPr/>
          <p:nvPr/>
        </p:nvSpPr>
        <p:spPr>
          <a:xfrm>
            <a:off x="10287000" y="3949700"/>
            <a:ext cx="889000" cy="6858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0426700" y="3987800"/>
            <a:ext cx="609600" cy="609600"/>
          </a:xfrm>
          <a:prstGeom prst="roundRect">
            <a:avLst>
              <a:gd name="adj" fmla="val 243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icon-studenten-navy.png"/>
          <p:cNvPicPr>
            <a:picLocks noChangeAspect="1"/>
          </p:cNvPicPr>
          <p:nvPr/>
        </p:nvPicPr>
        <p:blipFill>
          <a:blip r:embed="rId11"/>
          <a:stretch>
            <a:fillRect/>
          </a:stretch>
        </p:blipFill>
        <p:spPr>
          <a:xfrm>
            <a:off x="10579100" y="4140200"/>
            <a:ext cx="304800" cy="304800"/>
          </a:xfrm>
          <a:prstGeom prst="rect">
            <a:avLst/>
          </a:prstGeom>
        </p:spPr>
      </p:pic>
      <p:sp>
        <p:nvSpPr>
          <p:cNvPr id="56" name="TextBox 55"/>
          <p:cNvSpPr txBox="1"/>
          <p:nvPr/>
        </p:nvSpPr>
        <p:spPr>
          <a:xfrm>
            <a:off x="9804400" y="4686300"/>
            <a:ext cx="1854200" cy="254000"/>
          </a:xfrm>
          <a:prstGeom prst="rect">
            <a:avLst/>
          </a:prstGeom>
          <a:noFill/>
        </p:spPr>
        <p:txBody>
          <a:bodyPr wrap="square" lIns="0" rIns="0" tIns="0" bIns="0">
            <a:spAutoFit/>
          </a:bodyPr>
          <a:lstStyle/>
          <a:p>
            <a:pPr algn="ctr">
              <a:lnSpc>
                <a:spcPct val="100000"/>
              </a:lnSpc>
            </a:pPr>
            <a:r>
              <a:rPr sz="1700" b="1">
                <a:solidFill>
                  <a:srgbClr val="FFFFFF"/>
                </a:solidFill>
                <a:latin typeface="League Spartan"/>
              </a:rPr>
              <a:t>Student</a:t>
            </a:r>
          </a:p>
        </p:txBody>
      </p:sp>
      <p:sp>
        <p:nvSpPr>
          <p:cNvPr id="57" name="TextBox 56"/>
          <p:cNvSpPr txBox="1"/>
          <p:nvPr/>
        </p:nvSpPr>
        <p:spPr>
          <a:xfrm>
            <a:off x="9652000" y="4953000"/>
            <a:ext cx="2159000" cy="571500"/>
          </a:xfrm>
          <a:prstGeom prst="rect">
            <a:avLst/>
          </a:prstGeom>
          <a:noFill/>
        </p:spPr>
        <p:txBody>
          <a:bodyPr wrap="square" lIns="0" rIns="0" tIns="0" bIns="0">
            <a:spAutoFit/>
          </a:bodyPr>
          <a:lstStyle/>
          <a:p>
            <a:pPr algn="ctr">
              <a:lnSpc>
                <a:spcPct val="120000"/>
              </a:lnSpc>
            </a:pPr>
            <a:r>
              <a:rPr sz="1600" b="0">
                <a:solidFill>
                  <a:srgbClr val="8FA9B4"/>
                </a:solidFill>
                <a:latin typeface="Inter"/>
              </a:rPr>
              <a:t>ziet resultaat</a:t>
            </a:r>
          </a:p>
        </p:txBody>
      </p:sp>
      <p:sp>
        <p:nvSpPr>
          <p:cNvPr id="58" name="Rectangle 57"/>
          <p:cNvSpPr/>
          <p:nvPr/>
        </p:nvSpPr>
        <p:spPr>
          <a:xfrm>
            <a:off x="762000" y="5511800"/>
            <a:ext cx="10668000" cy="63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8890000" y="5626100"/>
            <a:ext cx="2540000" cy="5588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logo_navy.png"/>
          <p:cNvPicPr>
            <a:picLocks noChangeAspect="1"/>
          </p:cNvPicPr>
          <p:nvPr/>
        </p:nvPicPr>
        <p:blipFill>
          <a:blip r:embed="rId12"/>
          <a:stretch>
            <a:fillRect/>
          </a:stretch>
        </p:blipFill>
        <p:spPr>
          <a:xfrm>
            <a:off x="8947150" y="5759450"/>
            <a:ext cx="1079500" cy="292100"/>
          </a:xfrm>
          <a:prstGeom prst="rect">
            <a:avLst/>
          </a:prstGeom>
        </p:spPr>
      </p:pic>
      <p:sp>
        <p:nvSpPr>
          <p:cNvPr id="61" name="Rectangle 60"/>
          <p:cNvSpPr/>
          <p:nvPr/>
        </p:nvSpPr>
        <p:spPr>
          <a:xfrm>
            <a:off x="102806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klant.png"/>
          <p:cNvPicPr>
            <a:picLocks noChangeAspect="1"/>
          </p:cNvPicPr>
          <p:nvPr/>
        </p:nvPicPr>
        <p:blipFill>
          <a:blip r:embed="rId13"/>
          <a:stretch>
            <a:fillRect/>
          </a:stretch>
        </p:blipFill>
        <p:spPr>
          <a:xfrm>
            <a:off x="10541000" y="5702300"/>
            <a:ext cx="406400" cy="406400"/>
          </a:xfrm>
          <a:prstGeom prst="rect">
            <a:avLst/>
          </a:prstGeom>
        </p:spPr>
      </p:pic>
      <p:sp>
        <p:nvSpPr>
          <p:cNvPr id="63" name="TextBox 62"/>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FFFFFF"/>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002333"/>
                </a:solidFill>
                <a:latin typeface="League Spartan"/>
              </a:rPr>
              <a:t>Probleem</a:t>
            </a:r>
          </a:p>
        </p:txBody>
      </p:sp>
      <p:sp>
        <p:nvSpPr>
          <p:cNvPr id="3" name="TextBox 2"/>
          <p:cNvSpPr txBox="1"/>
          <p:nvPr/>
        </p:nvSpPr>
        <p:spPr>
          <a:xfrm>
            <a:off x="762000" y="1714500"/>
            <a:ext cx="4445000" cy="330200"/>
          </a:xfrm>
          <a:prstGeom prst="rect">
            <a:avLst/>
          </a:prstGeom>
          <a:noFill/>
        </p:spPr>
        <p:txBody>
          <a:bodyPr wrap="square" lIns="0" rIns="0" tIns="0" bIns="0">
            <a:spAutoFit/>
          </a:bodyPr>
          <a:lstStyle/>
          <a:p>
            <a:pPr algn="l">
              <a:lnSpc>
                <a:spcPct val="100000"/>
              </a:lnSpc>
            </a:pPr>
            <a:r>
              <a:rPr sz="2600" b="1">
                <a:solidFill>
                  <a:srgbClr val="002333"/>
                </a:solidFill>
                <a:latin typeface="League Spartan"/>
              </a:rPr>
              <a:t>Geld</a:t>
            </a:r>
          </a:p>
        </p:txBody>
      </p:sp>
      <p:sp>
        <p:nvSpPr>
          <p:cNvPr id="4" name="Rectangle 3"/>
          <p:cNvSpPr/>
          <p:nvPr/>
        </p:nvSpPr>
        <p:spPr>
          <a:xfrm>
            <a:off x="762000" y="2184400"/>
            <a:ext cx="4318000" cy="254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klok-navy.png"/>
          <p:cNvPicPr>
            <a:picLocks noChangeAspect="1"/>
          </p:cNvPicPr>
          <p:nvPr/>
        </p:nvPicPr>
        <p:blipFill>
          <a:blip r:embed="rId2"/>
          <a:stretch>
            <a:fillRect/>
          </a:stretch>
        </p:blipFill>
        <p:spPr>
          <a:xfrm>
            <a:off x="762000" y="2540000"/>
            <a:ext cx="355600" cy="355600"/>
          </a:xfrm>
          <a:prstGeom prst="rect">
            <a:avLst/>
          </a:prstGeom>
        </p:spPr>
      </p:pic>
      <p:sp>
        <p:nvSpPr>
          <p:cNvPr id="6" name="TextBox 5"/>
          <p:cNvSpPr txBox="1"/>
          <p:nvPr/>
        </p:nvSpPr>
        <p:spPr>
          <a:xfrm>
            <a:off x="1295400" y="2597150"/>
            <a:ext cx="3937000" cy="279400"/>
          </a:xfrm>
          <a:prstGeom prst="rect">
            <a:avLst/>
          </a:prstGeom>
          <a:noFill/>
        </p:spPr>
        <p:txBody>
          <a:bodyPr wrap="square" lIns="0" rIns="0" tIns="0" bIns="0">
            <a:spAutoFit/>
          </a:bodyPr>
          <a:lstStyle/>
          <a:p>
            <a:pPr algn="l">
              <a:lnSpc>
                <a:spcPct val="100000"/>
              </a:lnSpc>
            </a:pPr>
            <a:r>
              <a:rPr sz="1800" b="0">
                <a:solidFill>
                  <a:srgbClr val="002333"/>
                </a:solidFill>
                <a:latin typeface="Inter"/>
              </a:rPr>
              <a:t>Betaald per beoordelingsuur</a:t>
            </a:r>
          </a:p>
        </p:txBody>
      </p:sp>
      <p:pic>
        <p:nvPicPr>
          <p:cNvPr id="7" name="Picture 6" descr="icon-pen-navy.png"/>
          <p:cNvPicPr>
            <a:picLocks noChangeAspect="1"/>
          </p:cNvPicPr>
          <p:nvPr/>
        </p:nvPicPr>
        <p:blipFill>
          <a:blip r:embed="rId3"/>
          <a:stretch>
            <a:fillRect/>
          </a:stretch>
        </p:blipFill>
        <p:spPr>
          <a:xfrm>
            <a:off x="762000" y="3175000"/>
            <a:ext cx="355600" cy="355600"/>
          </a:xfrm>
          <a:prstGeom prst="rect">
            <a:avLst/>
          </a:prstGeom>
        </p:spPr>
      </p:pic>
      <p:sp>
        <p:nvSpPr>
          <p:cNvPr id="8" name="TextBox 7"/>
          <p:cNvSpPr txBox="1"/>
          <p:nvPr/>
        </p:nvSpPr>
        <p:spPr>
          <a:xfrm>
            <a:off x="1295400" y="3232150"/>
            <a:ext cx="3937000" cy="279400"/>
          </a:xfrm>
          <a:prstGeom prst="rect">
            <a:avLst/>
          </a:prstGeom>
          <a:noFill/>
        </p:spPr>
        <p:txBody>
          <a:bodyPr wrap="square" lIns="0" rIns="0" tIns="0" bIns="0">
            <a:spAutoFit/>
          </a:bodyPr>
          <a:lstStyle/>
          <a:p>
            <a:pPr algn="l">
              <a:lnSpc>
                <a:spcPct val="100000"/>
              </a:lnSpc>
            </a:pPr>
            <a:r>
              <a:rPr sz="1800" b="0">
                <a:solidFill>
                  <a:srgbClr val="002333"/>
                </a:solidFill>
                <a:latin typeface="Inter"/>
              </a:rPr>
              <a:t>Feedback is een eis</a:t>
            </a:r>
          </a:p>
        </p:txBody>
      </p:sp>
      <p:sp>
        <p:nvSpPr>
          <p:cNvPr id="9" name="TextBox 8"/>
          <p:cNvSpPr txBox="1"/>
          <p:nvPr/>
        </p:nvSpPr>
        <p:spPr>
          <a:xfrm>
            <a:off x="6350000" y="1714500"/>
            <a:ext cx="4445000" cy="330200"/>
          </a:xfrm>
          <a:prstGeom prst="rect">
            <a:avLst/>
          </a:prstGeom>
          <a:noFill/>
        </p:spPr>
        <p:txBody>
          <a:bodyPr wrap="square" lIns="0" rIns="0" tIns="0" bIns="0">
            <a:spAutoFit/>
          </a:bodyPr>
          <a:lstStyle/>
          <a:p>
            <a:pPr algn="l">
              <a:lnSpc>
                <a:spcPct val="100000"/>
              </a:lnSpc>
            </a:pPr>
            <a:r>
              <a:rPr sz="2600" b="1">
                <a:solidFill>
                  <a:srgbClr val="002333"/>
                </a:solidFill>
                <a:latin typeface="League Spartan"/>
              </a:rPr>
              <a:t>Consistentie</a:t>
            </a:r>
          </a:p>
        </p:txBody>
      </p:sp>
      <p:sp>
        <p:nvSpPr>
          <p:cNvPr id="10" name="Rectangle 9"/>
          <p:cNvSpPr/>
          <p:nvPr/>
        </p:nvSpPr>
        <p:spPr>
          <a:xfrm>
            <a:off x="6350000" y="2184400"/>
            <a:ext cx="4318000" cy="254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verschillen-navy.png"/>
          <p:cNvPicPr>
            <a:picLocks noChangeAspect="1"/>
          </p:cNvPicPr>
          <p:nvPr/>
        </p:nvPicPr>
        <p:blipFill>
          <a:blip r:embed="rId4"/>
          <a:stretch>
            <a:fillRect/>
          </a:stretch>
        </p:blipFill>
        <p:spPr>
          <a:xfrm>
            <a:off x="6350000" y="2540000"/>
            <a:ext cx="355600" cy="355600"/>
          </a:xfrm>
          <a:prstGeom prst="rect">
            <a:avLst/>
          </a:prstGeom>
        </p:spPr>
      </p:pic>
      <p:sp>
        <p:nvSpPr>
          <p:cNvPr id="12" name="TextBox 11"/>
          <p:cNvSpPr txBox="1"/>
          <p:nvPr/>
        </p:nvSpPr>
        <p:spPr>
          <a:xfrm>
            <a:off x="6883400" y="2597150"/>
            <a:ext cx="3937000" cy="279400"/>
          </a:xfrm>
          <a:prstGeom prst="rect">
            <a:avLst/>
          </a:prstGeom>
          <a:noFill/>
        </p:spPr>
        <p:txBody>
          <a:bodyPr wrap="square" lIns="0" rIns="0" tIns="0" bIns="0">
            <a:spAutoFit/>
          </a:bodyPr>
          <a:lstStyle/>
          <a:p>
            <a:pPr algn="l">
              <a:lnSpc>
                <a:spcPct val="100000"/>
              </a:lnSpc>
            </a:pPr>
            <a:r>
              <a:rPr sz="1800" b="0">
                <a:solidFill>
                  <a:srgbClr val="002333"/>
                </a:solidFill>
                <a:latin typeface="Inter"/>
              </a:rPr>
              <a:t>Oordelen lopen uiteen</a:t>
            </a:r>
          </a:p>
        </p:txBody>
      </p:sp>
      <p:pic>
        <p:nvPicPr>
          <p:cNvPr id="13" name="Picture 12" descr="icon-weegschaal-navy.png"/>
          <p:cNvPicPr>
            <a:picLocks noChangeAspect="1"/>
          </p:cNvPicPr>
          <p:nvPr/>
        </p:nvPicPr>
        <p:blipFill>
          <a:blip r:embed="rId5"/>
          <a:stretch>
            <a:fillRect/>
          </a:stretch>
        </p:blipFill>
        <p:spPr>
          <a:xfrm>
            <a:off x="6350000" y="3175000"/>
            <a:ext cx="355600" cy="355600"/>
          </a:xfrm>
          <a:prstGeom prst="rect">
            <a:avLst/>
          </a:prstGeom>
        </p:spPr>
      </p:pic>
      <p:sp>
        <p:nvSpPr>
          <p:cNvPr id="14" name="TextBox 13"/>
          <p:cNvSpPr txBox="1"/>
          <p:nvPr/>
        </p:nvSpPr>
        <p:spPr>
          <a:xfrm>
            <a:off x="6883400" y="3232150"/>
            <a:ext cx="3937000" cy="279400"/>
          </a:xfrm>
          <a:prstGeom prst="rect">
            <a:avLst/>
          </a:prstGeom>
          <a:noFill/>
        </p:spPr>
        <p:txBody>
          <a:bodyPr wrap="square" lIns="0" rIns="0" tIns="0" bIns="0">
            <a:spAutoFit/>
          </a:bodyPr>
          <a:lstStyle/>
          <a:p>
            <a:pPr algn="l">
              <a:lnSpc>
                <a:spcPct val="100000"/>
              </a:lnSpc>
            </a:pPr>
            <a:r>
              <a:rPr sz="1800" b="0">
                <a:solidFill>
                  <a:srgbClr val="002333"/>
                </a:solidFill>
                <a:latin typeface="Inter"/>
              </a:rPr>
              <a:t>Nieuwe rubric ongetest</a:t>
            </a:r>
          </a:p>
        </p:txBody>
      </p:sp>
      <p:pic>
        <p:nvPicPr>
          <p:cNvPr id="15" name="Picture 14" descr="icon-aftekenen-navy.png"/>
          <p:cNvPicPr>
            <a:picLocks noChangeAspect="1"/>
          </p:cNvPicPr>
          <p:nvPr/>
        </p:nvPicPr>
        <p:blipFill>
          <a:blip r:embed="rId6"/>
          <a:stretch>
            <a:fillRect/>
          </a:stretch>
        </p:blipFill>
        <p:spPr>
          <a:xfrm>
            <a:off x="6350000" y="3810000"/>
            <a:ext cx="355600" cy="355600"/>
          </a:xfrm>
          <a:prstGeom prst="rect">
            <a:avLst/>
          </a:prstGeom>
        </p:spPr>
      </p:pic>
      <p:sp>
        <p:nvSpPr>
          <p:cNvPr id="16" name="TextBox 15"/>
          <p:cNvSpPr txBox="1"/>
          <p:nvPr/>
        </p:nvSpPr>
        <p:spPr>
          <a:xfrm>
            <a:off x="6883400" y="3867150"/>
            <a:ext cx="3937000" cy="279400"/>
          </a:xfrm>
          <a:prstGeom prst="rect">
            <a:avLst/>
          </a:prstGeom>
          <a:noFill/>
        </p:spPr>
        <p:txBody>
          <a:bodyPr wrap="square" lIns="0" rIns="0" tIns="0" bIns="0">
            <a:spAutoFit/>
          </a:bodyPr>
          <a:lstStyle/>
          <a:p>
            <a:pPr algn="l">
              <a:lnSpc>
                <a:spcPct val="100000"/>
              </a:lnSpc>
            </a:pPr>
            <a:r>
              <a:rPr sz="1800" b="0">
                <a:solidFill>
                  <a:srgbClr val="002333"/>
                </a:solidFill>
                <a:latin typeface="Inter"/>
              </a:rPr>
              <a:t>Gesprek over het formulier</a:t>
            </a:r>
          </a:p>
        </p:txBody>
      </p:sp>
      <p:pic>
        <p:nvPicPr>
          <p:cNvPr id="17" name="Picture 16" descr="icon-groep-navy.png"/>
          <p:cNvPicPr>
            <a:picLocks noChangeAspect="1"/>
          </p:cNvPicPr>
          <p:nvPr/>
        </p:nvPicPr>
        <p:blipFill>
          <a:blip r:embed="rId7"/>
          <a:stretch>
            <a:fillRect/>
          </a:stretch>
        </p:blipFill>
        <p:spPr>
          <a:xfrm>
            <a:off x="6350000" y="4445000"/>
            <a:ext cx="355600" cy="355600"/>
          </a:xfrm>
          <a:prstGeom prst="rect">
            <a:avLst/>
          </a:prstGeom>
        </p:spPr>
      </p:pic>
      <p:sp>
        <p:nvSpPr>
          <p:cNvPr id="18" name="TextBox 17"/>
          <p:cNvSpPr txBox="1"/>
          <p:nvPr/>
        </p:nvSpPr>
        <p:spPr>
          <a:xfrm>
            <a:off x="6883400" y="4502150"/>
            <a:ext cx="3937000" cy="279400"/>
          </a:xfrm>
          <a:prstGeom prst="rect">
            <a:avLst/>
          </a:prstGeom>
          <a:noFill/>
        </p:spPr>
        <p:txBody>
          <a:bodyPr wrap="square" lIns="0" rIns="0" tIns="0" bIns="0">
            <a:spAutoFit/>
          </a:bodyPr>
          <a:lstStyle/>
          <a:p>
            <a:pPr algn="l">
              <a:lnSpc>
                <a:spcPct val="100000"/>
              </a:lnSpc>
            </a:pPr>
            <a:r>
              <a:rPr sz="1800" b="0">
                <a:solidFill>
                  <a:srgbClr val="002333"/>
                </a:solidFill>
                <a:latin typeface="Inter"/>
              </a:rPr>
              <a:t>Directie als breekijzer</a:t>
            </a:r>
          </a:p>
        </p:txBody>
      </p:sp>
      <p:sp>
        <p:nvSpPr>
          <p:cNvPr id="19" name="Rectangle 18"/>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ogo_navy.png"/>
          <p:cNvPicPr>
            <a:picLocks noChangeAspect="1"/>
          </p:cNvPicPr>
          <p:nvPr/>
        </p:nvPicPr>
        <p:blipFill>
          <a:blip r:embed="rId8"/>
          <a:stretch>
            <a:fillRect/>
          </a:stretch>
        </p:blipFill>
        <p:spPr>
          <a:xfrm>
            <a:off x="9010650" y="5759450"/>
            <a:ext cx="1079500" cy="292100"/>
          </a:xfrm>
          <a:prstGeom prst="rect">
            <a:avLst/>
          </a:prstGeom>
        </p:spPr>
      </p:pic>
      <p:sp>
        <p:nvSpPr>
          <p:cNvPr id="21" name="Rectangle 20"/>
          <p:cNvSpPr/>
          <p:nvPr/>
        </p:nvSpPr>
        <p:spPr>
          <a:xfrm>
            <a:off x="103441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klant.png"/>
          <p:cNvPicPr>
            <a:picLocks noChangeAspect="1"/>
          </p:cNvPicPr>
          <p:nvPr/>
        </p:nvPicPr>
        <p:blipFill>
          <a:blip r:embed="rId9"/>
          <a:stretch>
            <a:fillRect/>
          </a:stretch>
        </p:blipFill>
        <p:spPr>
          <a:xfrm>
            <a:off x="10604500" y="5702300"/>
            <a:ext cx="406400" cy="406400"/>
          </a:xfrm>
          <a:prstGeom prst="rect">
            <a:avLst/>
          </a:prstGeom>
        </p:spPr>
      </p:pic>
      <p:sp>
        <p:nvSpPr>
          <p:cNvPr id="23" name="TextBox 22"/>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9AAFB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Oplossing</a:t>
            </a:r>
          </a:p>
        </p:txBody>
      </p:sp>
      <p:sp>
        <p:nvSpPr>
          <p:cNvPr id="4" name="Rounded Rectangle 3"/>
          <p:cNvSpPr/>
          <p:nvPr/>
        </p:nvSpPr>
        <p:spPr>
          <a:xfrm>
            <a:off x="762000" y="1587500"/>
            <a:ext cx="5207000" cy="3619500"/>
          </a:xfrm>
          <a:prstGeom prst="roundRect">
            <a:avLst>
              <a:gd name="adj" fmla="val 5614"/>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7600" y="1905000"/>
            <a:ext cx="4445000" cy="304800"/>
          </a:xfrm>
          <a:prstGeom prst="rect">
            <a:avLst/>
          </a:prstGeom>
          <a:noFill/>
        </p:spPr>
        <p:txBody>
          <a:bodyPr wrap="square" lIns="0" rIns="0" tIns="0" bIns="0">
            <a:spAutoFit/>
          </a:bodyPr>
          <a:lstStyle/>
          <a:p>
            <a:pPr algn="l">
              <a:lnSpc>
                <a:spcPct val="100000"/>
              </a:lnSpc>
            </a:pPr>
            <a:r>
              <a:rPr sz="2400" b="1">
                <a:solidFill>
                  <a:srgbClr val="00E075"/>
                </a:solidFill>
                <a:latin typeface="League Spartan"/>
              </a:rPr>
              <a:t>Geld besparen</a:t>
            </a:r>
          </a:p>
        </p:txBody>
      </p:sp>
      <p:sp>
        <p:nvSpPr>
          <p:cNvPr id="6" name="Rounded Rectangle 5"/>
          <p:cNvSpPr/>
          <p:nvPr/>
        </p:nvSpPr>
        <p:spPr>
          <a:xfrm>
            <a:off x="1117600" y="2667000"/>
            <a:ext cx="355600" cy="355600"/>
          </a:xfrm>
          <a:prstGeom prst="roundRect">
            <a:avLst>
              <a:gd name="adj" fmla="val 25000"/>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check-mint.png"/>
          <p:cNvPicPr>
            <a:picLocks noChangeAspect="1"/>
          </p:cNvPicPr>
          <p:nvPr/>
        </p:nvPicPr>
        <p:blipFill>
          <a:blip r:embed="rId2"/>
          <a:stretch>
            <a:fillRect/>
          </a:stretch>
        </p:blipFill>
        <p:spPr>
          <a:xfrm>
            <a:off x="1206500" y="2755900"/>
            <a:ext cx="177800" cy="177800"/>
          </a:xfrm>
          <a:prstGeom prst="rect">
            <a:avLst/>
          </a:prstGeom>
        </p:spPr>
      </p:pic>
      <p:sp>
        <p:nvSpPr>
          <p:cNvPr id="8" name="TextBox 7"/>
          <p:cNvSpPr txBox="1"/>
          <p:nvPr/>
        </p:nvSpPr>
        <p:spPr>
          <a:xfrm>
            <a:off x="1651000" y="2724150"/>
            <a:ext cx="4064000" cy="279400"/>
          </a:xfrm>
          <a:prstGeom prst="rect">
            <a:avLst/>
          </a:prstGeom>
          <a:noFill/>
        </p:spPr>
        <p:txBody>
          <a:bodyPr wrap="square" lIns="0" rIns="0" tIns="0" bIns="0">
            <a:spAutoFit/>
          </a:bodyPr>
          <a:lstStyle/>
          <a:p>
            <a:pPr algn="l">
              <a:lnSpc>
                <a:spcPct val="100000"/>
              </a:lnSpc>
            </a:pPr>
            <a:r>
              <a:rPr sz="1800" b="0">
                <a:solidFill>
                  <a:srgbClr val="FFFFFF"/>
                </a:solidFill>
                <a:latin typeface="Inter"/>
              </a:rPr>
              <a:t>Start met een eerste versie</a:t>
            </a:r>
          </a:p>
        </p:txBody>
      </p:sp>
      <p:sp>
        <p:nvSpPr>
          <p:cNvPr id="9" name="Rounded Rectangle 8"/>
          <p:cNvSpPr/>
          <p:nvPr/>
        </p:nvSpPr>
        <p:spPr>
          <a:xfrm>
            <a:off x="1117600" y="3365500"/>
            <a:ext cx="355600" cy="355600"/>
          </a:xfrm>
          <a:prstGeom prst="roundRect">
            <a:avLst>
              <a:gd name="adj" fmla="val 25000"/>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check-mint.png"/>
          <p:cNvPicPr>
            <a:picLocks noChangeAspect="1"/>
          </p:cNvPicPr>
          <p:nvPr/>
        </p:nvPicPr>
        <p:blipFill>
          <a:blip r:embed="rId2"/>
          <a:stretch>
            <a:fillRect/>
          </a:stretch>
        </p:blipFill>
        <p:spPr>
          <a:xfrm>
            <a:off x="1206500" y="3454400"/>
            <a:ext cx="177800" cy="177800"/>
          </a:xfrm>
          <a:prstGeom prst="rect">
            <a:avLst/>
          </a:prstGeom>
        </p:spPr>
      </p:pic>
      <p:sp>
        <p:nvSpPr>
          <p:cNvPr id="11" name="TextBox 10"/>
          <p:cNvSpPr txBox="1"/>
          <p:nvPr/>
        </p:nvSpPr>
        <p:spPr>
          <a:xfrm>
            <a:off x="1651000" y="3422650"/>
            <a:ext cx="4064000" cy="279400"/>
          </a:xfrm>
          <a:prstGeom prst="rect">
            <a:avLst/>
          </a:prstGeom>
          <a:noFill/>
        </p:spPr>
        <p:txBody>
          <a:bodyPr wrap="square" lIns="0" rIns="0" tIns="0" bIns="0">
            <a:spAutoFit/>
          </a:bodyPr>
          <a:lstStyle/>
          <a:p>
            <a:pPr algn="l">
              <a:lnSpc>
                <a:spcPct val="100000"/>
              </a:lnSpc>
            </a:pPr>
            <a:r>
              <a:rPr sz="1800" b="0">
                <a:solidFill>
                  <a:srgbClr val="FFFFFF"/>
                </a:solidFill>
                <a:latin typeface="Inter"/>
              </a:rPr>
              <a:t>Minder beoordelingsuren</a:t>
            </a:r>
          </a:p>
        </p:txBody>
      </p:sp>
      <p:sp>
        <p:nvSpPr>
          <p:cNvPr id="12" name="Rounded Rectangle 11"/>
          <p:cNvSpPr/>
          <p:nvPr/>
        </p:nvSpPr>
        <p:spPr>
          <a:xfrm>
            <a:off x="1117600" y="4064000"/>
            <a:ext cx="355600" cy="355600"/>
          </a:xfrm>
          <a:prstGeom prst="roundRect">
            <a:avLst>
              <a:gd name="adj" fmla="val 25000"/>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on-check-mint.png"/>
          <p:cNvPicPr>
            <a:picLocks noChangeAspect="1"/>
          </p:cNvPicPr>
          <p:nvPr/>
        </p:nvPicPr>
        <p:blipFill>
          <a:blip r:embed="rId2"/>
          <a:stretch>
            <a:fillRect/>
          </a:stretch>
        </p:blipFill>
        <p:spPr>
          <a:xfrm>
            <a:off x="1206500" y="4152900"/>
            <a:ext cx="177800" cy="177800"/>
          </a:xfrm>
          <a:prstGeom prst="rect">
            <a:avLst/>
          </a:prstGeom>
        </p:spPr>
      </p:pic>
      <p:sp>
        <p:nvSpPr>
          <p:cNvPr id="14" name="TextBox 13"/>
          <p:cNvSpPr txBox="1"/>
          <p:nvPr/>
        </p:nvSpPr>
        <p:spPr>
          <a:xfrm>
            <a:off x="1651000" y="4121150"/>
            <a:ext cx="4064000" cy="279400"/>
          </a:xfrm>
          <a:prstGeom prst="rect">
            <a:avLst/>
          </a:prstGeom>
          <a:noFill/>
        </p:spPr>
        <p:txBody>
          <a:bodyPr wrap="square" lIns="0" rIns="0" tIns="0" bIns="0">
            <a:spAutoFit/>
          </a:bodyPr>
          <a:lstStyle/>
          <a:p>
            <a:pPr algn="l">
              <a:lnSpc>
                <a:spcPct val="100000"/>
              </a:lnSpc>
            </a:pPr>
            <a:r>
              <a:rPr sz="1800" b="0">
                <a:solidFill>
                  <a:srgbClr val="FFFFFF"/>
                </a:solidFill>
                <a:latin typeface="Inter"/>
              </a:rPr>
              <a:t>Eerder een cijfer</a:t>
            </a:r>
          </a:p>
        </p:txBody>
      </p:sp>
      <p:sp>
        <p:nvSpPr>
          <p:cNvPr id="15" name="Rounded Rectangle 14"/>
          <p:cNvSpPr/>
          <p:nvPr/>
        </p:nvSpPr>
        <p:spPr>
          <a:xfrm>
            <a:off x="6223000" y="1587500"/>
            <a:ext cx="5207000" cy="3619500"/>
          </a:xfrm>
          <a:prstGeom prst="roundRect">
            <a:avLst>
              <a:gd name="adj" fmla="val 5614"/>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78600" y="1905000"/>
            <a:ext cx="4445000" cy="304800"/>
          </a:xfrm>
          <a:prstGeom prst="rect">
            <a:avLst/>
          </a:prstGeom>
          <a:noFill/>
        </p:spPr>
        <p:txBody>
          <a:bodyPr wrap="square" lIns="0" rIns="0" tIns="0" bIns="0">
            <a:spAutoFit/>
          </a:bodyPr>
          <a:lstStyle/>
          <a:p>
            <a:pPr algn="l">
              <a:lnSpc>
                <a:spcPct val="100000"/>
              </a:lnSpc>
            </a:pPr>
            <a:r>
              <a:rPr sz="2400" b="1">
                <a:solidFill>
                  <a:srgbClr val="00E075"/>
                </a:solidFill>
                <a:latin typeface="League Spartan"/>
              </a:rPr>
              <a:t>Consistentie</a:t>
            </a:r>
          </a:p>
        </p:txBody>
      </p:sp>
      <p:sp>
        <p:nvSpPr>
          <p:cNvPr id="17" name="Rounded Rectangle 16"/>
          <p:cNvSpPr/>
          <p:nvPr/>
        </p:nvSpPr>
        <p:spPr>
          <a:xfrm>
            <a:off x="6578600" y="2667000"/>
            <a:ext cx="355600" cy="355600"/>
          </a:xfrm>
          <a:prstGeom prst="roundRect">
            <a:avLst>
              <a:gd name="adj" fmla="val 25000"/>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on-check-mint.png"/>
          <p:cNvPicPr>
            <a:picLocks noChangeAspect="1"/>
          </p:cNvPicPr>
          <p:nvPr/>
        </p:nvPicPr>
        <p:blipFill>
          <a:blip r:embed="rId2"/>
          <a:stretch>
            <a:fillRect/>
          </a:stretch>
        </p:blipFill>
        <p:spPr>
          <a:xfrm>
            <a:off x="6667500" y="2755900"/>
            <a:ext cx="177800" cy="177800"/>
          </a:xfrm>
          <a:prstGeom prst="rect">
            <a:avLst/>
          </a:prstGeom>
        </p:spPr>
      </p:pic>
      <p:sp>
        <p:nvSpPr>
          <p:cNvPr id="19" name="TextBox 18"/>
          <p:cNvSpPr txBox="1"/>
          <p:nvPr/>
        </p:nvSpPr>
        <p:spPr>
          <a:xfrm>
            <a:off x="7112000" y="2724150"/>
            <a:ext cx="4064000" cy="279400"/>
          </a:xfrm>
          <a:prstGeom prst="rect">
            <a:avLst/>
          </a:prstGeom>
          <a:noFill/>
        </p:spPr>
        <p:txBody>
          <a:bodyPr wrap="square" lIns="0" rIns="0" tIns="0" bIns="0">
            <a:spAutoFit/>
          </a:bodyPr>
          <a:lstStyle/>
          <a:p>
            <a:pPr algn="l">
              <a:lnSpc>
                <a:spcPct val="100000"/>
              </a:lnSpc>
            </a:pPr>
            <a:r>
              <a:rPr sz="1800" b="0">
                <a:solidFill>
                  <a:srgbClr val="FFFFFF"/>
                </a:solidFill>
                <a:latin typeface="Inter"/>
              </a:rPr>
              <a:t>Dezelfde rubric voor elke opdracht</a:t>
            </a:r>
          </a:p>
        </p:txBody>
      </p:sp>
      <p:sp>
        <p:nvSpPr>
          <p:cNvPr id="20" name="Rounded Rectangle 19"/>
          <p:cNvSpPr/>
          <p:nvPr/>
        </p:nvSpPr>
        <p:spPr>
          <a:xfrm>
            <a:off x="6578600" y="3365500"/>
            <a:ext cx="355600" cy="355600"/>
          </a:xfrm>
          <a:prstGeom prst="roundRect">
            <a:avLst>
              <a:gd name="adj" fmla="val 25000"/>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con-check-mint.png"/>
          <p:cNvPicPr>
            <a:picLocks noChangeAspect="1"/>
          </p:cNvPicPr>
          <p:nvPr/>
        </p:nvPicPr>
        <p:blipFill>
          <a:blip r:embed="rId2"/>
          <a:stretch>
            <a:fillRect/>
          </a:stretch>
        </p:blipFill>
        <p:spPr>
          <a:xfrm>
            <a:off x="6667500" y="3454400"/>
            <a:ext cx="177800" cy="177800"/>
          </a:xfrm>
          <a:prstGeom prst="rect">
            <a:avLst/>
          </a:prstGeom>
        </p:spPr>
      </p:pic>
      <p:sp>
        <p:nvSpPr>
          <p:cNvPr id="22" name="TextBox 21"/>
          <p:cNvSpPr txBox="1"/>
          <p:nvPr/>
        </p:nvSpPr>
        <p:spPr>
          <a:xfrm>
            <a:off x="7112000" y="3422650"/>
            <a:ext cx="4064000" cy="279400"/>
          </a:xfrm>
          <a:prstGeom prst="rect">
            <a:avLst/>
          </a:prstGeom>
          <a:noFill/>
        </p:spPr>
        <p:txBody>
          <a:bodyPr wrap="square" lIns="0" rIns="0" tIns="0" bIns="0">
            <a:spAutoFit/>
          </a:bodyPr>
          <a:lstStyle/>
          <a:p>
            <a:pPr algn="l">
              <a:lnSpc>
                <a:spcPct val="100000"/>
              </a:lnSpc>
            </a:pPr>
            <a:r>
              <a:rPr sz="1800" b="0">
                <a:solidFill>
                  <a:srgbClr val="FFFFFF"/>
                </a:solidFill>
                <a:latin typeface="Inter"/>
              </a:rPr>
              <a:t>Cijferopbouw per criterium</a:t>
            </a:r>
          </a:p>
        </p:txBody>
      </p:sp>
      <p:sp>
        <p:nvSpPr>
          <p:cNvPr id="23" name="Rounded Rectangle 22"/>
          <p:cNvSpPr/>
          <p:nvPr/>
        </p:nvSpPr>
        <p:spPr>
          <a:xfrm>
            <a:off x="6578600" y="4064000"/>
            <a:ext cx="355600" cy="355600"/>
          </a:xfrm>
          <a:prstGeom prst="roundRect">
            <a:avLst>
              <a:gd name="adj" fmla="val 25000"/>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on-check-mint.png"/>
          <p:cNvPicPr>
            <a:picLocks noChangeAspect="1"/>
          </p:cNvPicPr>
          <p:nvPr/>
        </p:nvPicPr>
        <p:blipFill>
          <a:blip r:embed="rId2"/>
          <a:stretch>
            <a:fillRect/>
          </a:stretch>
        </p:blipFill>
        <p:spPr>
          <a:xfrm>
            <a:off x="6667500" y="4152900"/>
            <a:ext cx="177800" cy="177800"/>
          </a:xfrm>
          <a:prstGeom prst="rect">
            <a:avLst/>
          </a:prstGeom>
        </p:spPr>
      </p:pic>
      <p:sp>
        <p:nvSpPr>
          <p:cNvPr id="25" name="TextBox 24"/>
          <p:cNvSpPr txBox="1"/>
          <p:nvPr/>
        </p:nvSpPr>
        <p:spPr>
          <a:xfrm>
            <a:off x="7112000" y="4121150"/>
            <a:ext cx="4064000" cy="279400"/>
          </a:xfrm>
          <a:prstGeom prst="rect">
            <a:avLst/>
          </a:prstGeom>
          <a:noFill/>
        </p:spPr>
        <p:txBody>
          <a:bodyPr wrap="square" lIns="0" rIns="0" tIns="0" bIns="0">
            <a:spAutoFit/>
          </a:bodyPr>
          <a:lstStyle/>
          <a:p>
            <a:pPr algn="l">
              <a:lnSpc>
                <a:spcPct val="100000"/>
              </a:lnSpc>
            </a:pPr>
            <a:r>
              <a:rPr sz="1800" b="0">
                <a:solidFill>
                  <a:srgbClr val="FFFFFF"/>
                </a:solidFill>
                <a:latin typeface="Inter"/>
              </a:rPr>
              <a:t>Kalibreren begint bij de inhoud</a:t>
            </a:r>
          </a:p>
        </p:txBody>
      </p:sp>
      <p:sp>
        <p:nvSpPr>
          <p:cNvPr id="26" name="Rectangle 25"/>
          <p:cNvSpPr/>
          <p:nvPr/>
        </p:nvSpPr>
        <p:spPr>
          <a:xfrm>
            <a:off x="762000" y="5511800"/>
            <a:ext cx="10668000" cy="63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890000" y="5626100"/>
            <a:ext cx="2540000" cy="5588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ogo_navy.png"/>
          <p:cNvPicPr>
            <a:picLocks noChangeAspect="1"/>
          </p:cNvPicPr>
          <p:nvPr/>
        </p:nvPicPr>
        <p:blipFill>
          <a:blip r:embed="rId3"/>
          <a:stretch>
            <a:fillRect/>
          </a:stretch>
        </p:blipFill>
        <p:spPr>
          <a:xfrm>
            <a:off x="8947150" y="5759450"/>
            <a:ext cx="1079500" cy="292100"/>
          </a:xfrm>
          <a:prstGeom prst="rect">
            <a:avLst/>
          </a:prstGeom>
        </p:spPr>
      </p:pic>
      <p:sp>
        <p:nvSpPr>
          <p:cNvPr id="29" name="Rectangle 28"/>
          <p:cNvSpPr/>
          <p:nvPr/>
        </p:nvSpPr>
        <p:spPr>
          <a:xfrm>
            <a:off x="102806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klant.png"/>
          <p:cNvPicPr>
            <a:picLocks noChangeAspect="1"/>
          </p:cNvPicPr>
          <p:nvPr/>
        </p:nvPicPr>
        <p:blipFill>
          <a:blip r:embed="rId4"/>
          <a:stretch>
            <a:fillRect/>
          </a:stretch>
        </p:blipFill>
        <p:spPr>
          <a:xfrm>
            <a:off x="10541000" y="5702300"/>
            <a:ext cx="406400" cy="406400"/>
          </a:xfrm>
          <a:prstGeom prst="rect">
            <a:avLst/>
          </a:prstGeom>
        </p:spPr>
      </p:pic>
      <p:sp>
        <p:nvSpPr>
          <p:cNvPr id="31" name="TextBox 30"/>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FFFFFF"/>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002333"/>
                </a:solidFill>
                <a:latin typeface="League Spartan"/>
              </a:rPr>
              <a:t>Prijs</a:t>
            </a:r>
          </a:p>
        </p:txBody>
      </p:sp>
      <p:sp>
        <p:nvSpPr>
          <p:cNvPr id="3" name="Rounded Rectangle 2"/>
          <p:cNvSpPr/>
          <p:nvPr/>
        </p:nvSpPr>
        <p:spPr>
          <a:xfrm>
            <a:off x="762000" y="1587500"/>
            <a:ext cx="10668000" cy="2413000"/>
          </a:xfrm>
          <a:prstGeom prst="roundRect">
            <a:avLst>
              <a:gd name="adj" fmla="val 8421"/>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1981200"/>
            <a:ext cx="2667000" cy="1460500"/>
          </a:xfrm>
          <a:prstGeom prst="rect">
            <a:avLst/>
          </a:prstGeom>
          <a:noFill/>
        </p:spPr>
        <p:txBody>
          <a:bodyPr wrap="square" lIns="0" rIns="0" tIns="0" bIns="0">
            <a:spAutoFit/>
          </a:bodyPr>
          <a:lstStyle/>
          <a:p>
            <a:pPr algn="l">
              <a:lnSpc>
                <a:spcPct val="100000"/>
              </a:lnSpc>
            </a:pPr>
            <a:r>
              <a:rPr sz="11500" b="1">
                <a:solidFill>
                  <a:srgbClr val="FFFFFF"/>
                </a:solidFill>
                <a:latin typeface="League Spartan"/>
              </a:rPr>
              <a:t>€10</a:t>
            </a:r>
          </a:p>
        </p:txBody>
      </p:sp>
      <p:sp>
        <p:nvSpPr>
          <p:cNvPr id="5" name="TextBox 4"/>
          <p:cNvSpPr txBox="1"/>
          <p:nvPr/>
        </p:nvSpPr>
        <p:spPr>
          <a:xfrm>
            <a:off x="3810000" y="2222500"/>
            <a:ext cx="2413000" cy="952500"/>
          </a:xfrm>
          <a:prstGeom prst="rect">
            <a:avLst/>
          </a:prstGeom>
          <a:noFill/>
        </p:spPr>
        <p:txBody>
          <a:bodyPr wrap="square" lIns="0" rIns="0" tIns="0" bIns="0">
            <a:spAutoFit/>
          </a:bodyPr>
          <a:lstStyle/>
          <a:p>
            <a:pPr algn="l">
              <a:lnSpc>
                <a:spcPct val="115000"/>
              </a:lnSpc>
            </a:pPr>
            <a:r>
              <a:rPr sz="2800" b="1">
                <a:solidFill>
                  <a:srgbClr val="FFFFFF"/>
                </a:solidFill>
                <a:latin typeface="League Spartan"/>
              </a:rPr>
              <a:t>per student,</a:t>
            </a:r>
          </a:p>
          <a:p>
            <a:pPr algn="l">
              <a:lnSpc>
                <a:spcPct val="115000"/>
              </a:lnSpc>
            </a:pPr>
            <a:r>
              <a:rPr sz="2800" b="1">
                <a:solidFill>
                  <a:srgbClr val="FFFFFF"/>
                </a:solidFill>
                <a:latin typeface="League Spartan"/>
              </a:rPr>
              <a:t>per maand</a:t>
            </a:r>
          </a:p>
        </p:txBody>
      </p:sp>
      <p:sp>
        <p:nvSpPr>
          <p:cNvPr id="6" name="Rectangle 5"/>
          <p:cNvSpPr/>
          <p:nvPr/>
        </p:nvSpPr>
        <p:spPr>
          <a:xfrm>
            <a:off x="6350000" y="1905000"/>
            <a:ext cx="12700" cy="1778000"/>
          </a:xfrm>
          <a:prstGeom prst="rect">
            <a:avLst/>
          </a:prstGeom>
          <a:solidFill>
            <a:srgbClr val="1E4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731000" y="2095500"/>
            <a:ext cx="355600" cy="355600"/>
          </a:xfrm>
          <a:prstGeom prst="roundRect">
            <a:avLst>
              <a:gd name="adj" fmla="val 25000"/>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con-check-mint.png"/>
          <p:cNvPicPr>
            <a:picLocks noChangeAspect="1"/>
          </p:cNvPicPr>
          <p:nvPr/>
        </p:nvPicPr>
        <p:blipFill>
          <a:blip r:embed="rId2"/>
          <a:stretch>
            <a:fillRect/>
          </a:stretch>
        </p:blipFill>
        <p:spPr>
          <a:xfrm>
            <a:off x="6819900" y="2184400"/>
            <a:ext cx="177800" cy="177800"/>
          </a:xfrm>
          <a:prstGeom prst="rect">
            <a:avLst/>
          </a:prstGeom>
        </p:spPr>
      </p:pic>
      <p:sp>
        <p:nvSpPr>
          <p:cNvPr id="9" name="TextBox 8"/>
          <p:cNvSpPr txBox="1"/>
          <p:nvPr/>
        </p:nvSpPr>
        <p:spPr>
          <a:xfrm>
            <a:off x="7239000" y="2152650"/>
            <a:ext cx="4064000" cy="635000"/>
          </a:xfrm>
          <a:prstGeom prst="rect">
            <a:avLst/>
          </a:prstGeom>
          <a:noFill/>
        </p:spPr>
        <p:txBody>
          <a:bodyPr wrap="square" lIns="0" rIns="0" tIns="0" bIns="0">
            <a:spAutoFit/>
          </a:bodyPr>
          <a:lstStyle/>
          <a:p>
            <a:pPr algn="l">
              <a:lnSpc>
                <a:spcPct val="125000"/>
              </a:lnSpc>
            </a:pPr>
            <a:r>
              <a:rPr sz="1800" b="0">
                <a:solidFill>
                  <a:srgbClr val="FFFFFF"/>
                </a:solidFill>
                <a:latin typeface="Inter"/>
              </a:rPr>
              <a:t>Minimaal 150 studenten</a:t>
            </a:r>
          </a:p>
        </p:txBody>
      </p:sp>
      <p:sp>
        <p:nvSpPr>
          <p:cNvPr id="10" name="Rounded Rectangle 9"/>
          <p:cNvSpPr/>
          <p:nvPr/>
        </p:nvSpPr>
        <p:spPr>
          <a:xfrm>
            <a:off x="6731000" y="2857500"/>
            <a:ext cx="355600" cy="355600"/>
          </a:xfrm>
          <a:prstGeom prst="roundRect">
            <a:avLst>
              <a:gd name="adj" fmla="val 25000"/>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check-mint.png"/>
          <p:cNvPicPr>
            <a:picLocks noChangeAspect="1"/>
          </p:cNvPicPr>
          <p:nvPr/>
        </p:nvPicPr>
        <p:blipFill>
          <a:blip r:embed="rId2"/>
          <a:stretch>
            <a:fillRect/>
          </a:stretch>
        </p:blipFill>
        <p:spPr>
          <a:xfrm>
            <a:off x="6819900" y="2946400"/>
            <a:ext cx="177800" cy="177800"/>
          </a:xfrm>
          <a:prstGeom prst="rect">
            <a:avLst/>
          </a:prstGeom>
        </p:spPr>
      </p:pic>
      <p:sp>
        <p:nvSpPr>
          <p:cNvPr id="12" name="TextBox 11"/>
          <p:cNvSpPr txBox="1"/>
          <p:nvPr/>
        </p:nvSpPr>
        <p:spPr>
          <a:xfrm>
            <a:off x="7239000" y="2914650"/>
            <a:ext cx="4064000" cy="635000"/>
          </a:xfrm>
          <a:prstGeom prst="rect">
            <a:avLst/>
          </a:prstGeom>
          <a:noFill/>
        </p:spPr>
        <p:txBody>
          <a:bodyPr wrap="square" lIns="0" rIns="0" tIns="0" bIns="0">
            <a:spAutoFit/>
          </a:bodyPr>
          <a:lstStyle/>
          <a:p>
            <a:pPr algn="l">
              <a:lnSpc>
                <a:spcPct val="125000"/>
              </a:lnSpc>
            </a:pPr>
            <a:r>
              <a:rPr sz="1800" b="0">
                <a:solidFill>
                  <a:srgbClr val="FFFFFF"/>
                </a:solidFill>
                <a:latin typeface="Inter"/>
              </a:rPr>
              <a:t>Minimaal €1.500 voor het</a:t>
            </a:r>
          </a:p>
          <a:p>
            <a:pPr algn="l">
              <a:lnSpc>
                <a:spcPct val="125000"/>
              </a:lnSpc>
            </a:pPr>
            <a:r>
              <a:rPr sz="1800" b="0">
                <a:solidFill>
                  <a:srgbClr val="FFFFFF"/>
                </a:solidFill>
                <a:latin typeface="Inter"/>
              </a:rPr>
              <a:t>reserveren van AI-capaciteit</a:t>
            </a:r>
          </a:p>
        </p:txBody>
      </p:sp>
      <p:sp>
        <p:nvSpPr>
          <p:cNvPr id="13" name="Rectangle 12"/>
          <p:cNvSpPr/>
          <p:nvPr/>
        </p:nvSpPr>
        <p:spPr>
          <a:xfrm>
            <a:off x="762000" y="4254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445000"/>
            <a:ext cx="3810000" cy="254000"/>
          </a:xfrm>
          <a:prstGeom prst="rect">
            <a:avLst/>
          </a:prstGeom>
          <a:noFill/>
        </p:spPr>
        <p:txBody>
          <a:bodyPr wrap="square" lIns="0" rIns="0" tIns="0" bIns="0">
            <a:spAutoFit/>
          </a:bodyPr>
          <a:lstStyle/>
          <a:p>
            <a:pPr algn="l">
              <a:lnSpc>
                <a:spcPct val="100000"/>
              </a:lnSpc>
            </a:pPr>
            <a:r>
              <a:rPr sz="1600" b="0">
                <a:solidFill>
                  <a:srgbClr val="5B7480"/>
                </a:solidFill>
                <a:latin typeface="Inter"/>
              </a:rPr>
              <a:t>Wat dat dekt</a:t>
            </a:r>
          </a:p>
        </p:txBody>
      </p:sp>
      <p:sp>
        <p:nvSpPr>
          <p:cNvPr id="15" name="Rounded Rectangle 14"/>
          <p:cNvSpPr/>
          <p:nvPr/>
        </p:nvSpPr>
        <p:spPr>
          <a:xfrm>
            <a:off x="762000" y="4826000"/>
            <a:ext cx="457200" cy="457200"/>
          </a:xfrm>
          <a:prstGeom prst="roundRect">
            <a:avLst>
              <a:gd name="adj" fmla="val 250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con-filepen-navy.png"/>
          <p:cNvPicPr>
            <a:picLocks noChangeAspect="1"/>
          </p:cNvPicPr>
          <p:nvPr/>
        </p:nvPicPr>
        <p:blipFill>
          <a:blip r:embed="rId3"/>
          <a:stretch>
            <a:fillRect/>
          </a:stretch>
        </p:blipFill>
        <p:spPr>
          <a:xfrm>
            <a:off x="876300" y="4940300"/>
            <a:ext cx="228600" cy="228600"/>
          </a:xfrm>
          <a:prstGeom prst="rect">
            <a:avLst/>
          </a:prstGeom>
        </p:spPr>
      </p:pic>
      <p:sp>
        <p:nvSpPr>
          <p:cNvPr id="17" name="TextBox 16"/>
          <p:cNvSpPr txBox="1"/>
          <p:nvPr/>
        </p:nvSpPr>
        <p:spPr>
          <a:xfrm>
            <a:off x="1371600" y="4927600"/>
            <a:ext cx="1714500" cy="254000"/>
          </a:xfrm>
          <a:prstGeom prst="rect">
            <a:avLst/>
          </a:prstGeom>
          <a:noFill/>
        </p:spPr>
        <p:txBody>
          <a:bodyPr wrap="square" lIns="0" rIns="0" tIns="0" bIns="0">
            <a:spAutoFit/>
          </a:bodyPr>
          <a:lstStyle/>
          <a:p>
            <a:pPr algn="l">
              <a:lnSpc>
                <a:spcPct val="100000"/>
              </a:lnSpc>
            </a:pPr>
            <a:r>
              <a:rPr sz="1600" b="0">
                <a:solidFill>
                  <a:srgbClr val="002333"/>
                </a:solidFill>
                <a:latin typeface="Inter"/>
              </a:rPr>
              <a:t>AI Paper Grader</a:t>
            </a:r>
          </a:p>
        </p:txBody>
      </p:sp>
      <p:sp>
        <p:nvSpPr>
          <p:cNvPr id="18" name="Rounded Rectangle 17"/>
          <p:cNvSpPr/>
          <p:nvPr/>
        </p:nvSpPr>
        <p:spPr>
          <a:xfrm>
            <a:off x="3543300" y="4826000"/>
            <a:ext cx="457200" cy="457200"/>
          </a:xfrm>
          <a:prstGeom prst="roundRect">
            <a:avLst>
              <a:gd name="adj" fmla="val 250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cijfers-navy.png"/>
          <p:cNvPicPr>
            <a:picLocks noChangeAspect="1"/>
          </p:cNvPicPr>
          <p:nvPr/>
        </p:nvPicPr>
        <p:blipFill>
          <a:blip r:embed="rId4"/>
          <a:stretch>
            <a:fillRect/>
          </a:stretch>
        </p:blipFill>
        <p:spPr>
          <a:xfrm>
            <a:off x="3657600" y="4940300"/>
            <a:ext cx="228600" cy="228600"/>
          </a:xfrm>
          <a:prstGeom prst="rect">
            <a:avLst/>
          </a:prstGeom>
        </p:spPr>
      </p:pic>
      <p:sp>
        <p:nvSpPr>
          <p:cNvPr id="20" name="TextBox 19"/>
          <p:cNvSpPr txBox="1"/>
          <p:nvPr/>
        </p:nvSpPr>
        <p:spPr>
          <a:xfrm>
            <a:off x="4152900" y="4927600"/>
            <a:ext cx="1714500" cy="254000"/>
          </a:xfrm>
          <a:prstGeom prst="rect">
            <a:avLst/>
          </a:prstGeom>
          <a:noFill/>
        </p:spPr>
        <p:txBody>
          <a:bodyPr wrap="square" lIns="0" rIns="0" tIns="0" bIns="0">
            <a:spAutoFit/>
          </a:bodyPr>
          <a:lstStyle/>
          <a:p>
            <a:pPr algn="l">
              <a:lnSpc>
                <a:spcPct val="100000"/>
              </a:lnSpc>
            </a:pPr>
            <a:r>
              <a:rPr sz="1600" b="0">
                <a:solidFill>
                  <a:srgbClr val="002333"/>
                </a:solidFill>
                <a:latin typeface="Inter"/>
              </a:rPr>
              <a:t>AI Exam Grader</a:t>
            </a:r>
          </a:p>
        </p:txBody>
      </p:sp>
      <p:sp>
        <p:nvSpPr>
          <p:cNvPr id="21" name="Rounded Rectangle 20"/>
          <p:cNvSpPr/>
          <p:nvPr/>
        </p:nvSpPr>
        <p:spPr>
          <a:xfrm>
            <a:off x="6324600" y="4826000"/>
            <a:ext cx="457200" cy="457200"/>
          </a:xfrm>
          <a:prstGeom prst="roundRect">
            <a:avLst>
              <a:gd name="adj" fmla="val 250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on-rubric-navy.png"/>
          <p:cNvPicPr>
            <a:picLocks noChangeAspect="1"/>
          </p:cNvPicPr>
          <p:nvPr/>
        </p:nvPicPr>
        <p:blipFill>
          <a:blip r:embed="rId5"/>
          <a:stretch>
            <a:fillRect/>
          </a:stretch>
        </p:blipFill>
        <p:spPr>
          <a:xfrm>
            <a:off x="6438900" y="4940300"/>
            <a:ext cx="228600" cy="228600"/>
          </a:xfrm>
          <a:prstGeom prst="rect">
            <a:avLst/>
          </a:prstGeom>
        </p:spPr>
      </p:pic>
      <p:sp>
        <p:nvSpPr>
          <p:cNvPr id="23" name="TextBox 22"/>
          <p:cNvSpPr txBox="1"/>
          <p:nvPr/>
        </p:nvSpPr>
        <p:spPr>
          <a:xfrm>
            <a:off x="6934200" y="4927600"/>
            <a:ext cx="1714500" cy="254000"/>
          </a:xfrm>
          <a:prstGeom prst="rect">
            <a:avLst/>
          </a:prstGeom>
          <a:noFill/>
        </p:spPr>
        <p:txBody>
          <a:bodyPr wrap="square" lIns="0" rIns="0" tIns="0" bIns="0">
            <a:spAutoFit/>
          </a:bodyPr>
          <a:lstStyle/>
          <a:p>
            <a:pPr algn="l">
              <a:lnSpc>
                <a:spcPct val="100000"/>
              </a:lnSpc>
            </a:pPr>
            <a:r>
              <a:rPr sz="1600" b="0">
                <a:solidFill>
                  <a:srgbClr val="002333"/>
                </a:solidFill>
                <a:latin typeface="Inter"/>
              </a:rPr>
              <a:t>Rubric-scoring</a:t>
            </a:r>
          </a:p>
        </p:txBody>
      </p:sp>
      <p:sp>
        <p:nvSpPr>
          <p:cNvPr id="24" name="Rounded Rectangle 23"/>
          <p:cNvSpPr/>
          <p:nvPr/>
        </p:nvSpPr>
        <p:spPr>
          <a:xfrm>
            <a:off x="9105900" y="4826000"/>
            <a:ext cx="457200" cy="457200"/>
          </a:xfrm>
          <a:prstGeom prst="roundRect">
            <a:avLst>
              <a:gd name="adj" fmla="val 25000"/>
            </a:avLst>
          </a:prstGeom>
          <a:solidFill>
            <a:srgbClr val="F3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on-usercheck-navy.png"/>
          <p:cNvPicPr>
            <a:picLocks noChangeAspect="1"/>
          </p:cNvPicPr>
          <p:nvPr/>
        </p:nvPicPr>
        <p:blipFill>
          <a:blip r:embed="rId6"/>
          <a:stretch>
            <a:fillRect/>
          </a:stretch>
        </p:blipFill>
        <p:spPr>
          <a:xfrm>
            <a:off x="9220200" y="4940300"/>
            <a:ext cx="228600" cy="228600"/>
          </a:xfrm>
          <a:prstGeom prst="rect">
            <a:avLst/>
          </a:prstGeom>
        </p:spPr>
      </p:pic>
      <p:sp>
        <p:nvSpPr>
          <p:cNvPr id="26" name="TextBox 25"/>
          <p:cNvSpPr txBox="1"/>
          <p:nvPr/>
        </p:nvSpPr>
        <p:spPr>
          <a:xfrm>
            <a:off x="9715500" y="4927600"/>
            <a:ext cx="1714500" cy="254000"/>
          </a:xfrm>
          <a:prstGeom prst="rect">
            <a:avLst/>
          </a:prstGeom>
          <a:noFill/>
        </p:spPr>
        <p:txBody>
          <a:bodyPr wrap="square" lIns="0" rIns="0" tIns="0" bIns="0">
            <a:spAutoFit/>
          </a:bodyPr>
          <a:lstStyle/>
          <a:p>
            <a:pPr algn="l">
              <a:lnSpc>
                <a:spcPct val="100000"/>
              </a:lnSpc>
            </a:pPr>
            <a:r>
              <a:rPr sz="1600" b="0">
                <a:solidFill>
                  <a:srgbClr val="002333"/>
                </a:solidFill>
                <a:latin typeface="Inter"/>
              </a:rPr>
              <a:t>Docent beslist</a:t>
            </a:r>
          </a:p>
        </p:txBody>
      </p:sp>
      <p:sp>
        <p:nvSpPr>
          <p:cNvPr id="27" name="Rectangle 2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ogo_navy.png"/>
          <p:cNvPicPr>
            <a:picLocks noChangeAspect="1"/>
          </p:cNvPicPr>
          <p:nvPr/>
        </p:nvPicPr>
        <p:blipFill>
          <a:blip r:embed="rId7"/>
          <a:stretch>
            <a:fillRect/>
          </a:stretch>
        </p:blipFill>
        <p:spPr>
          <a:xfrm>
            <a:off x="9010650" y="5759450"/>
            <a:ext cx="1079500" cy="292100"/>
          </a:xfrm>
          <a:prstGeom prst="rect">
            <a:avLst/>
          </a:prstGeom>
        </p:spPr>
      </p:pic>
      <p:sp>
        <p:nvSpPr>
          <p:cNvPr id="29" name="Rectangle 28"/>
          <p:cNvSpPr/>
          <p:nvPr/>
        </p:nvSpPr>
        <p:spPr>
          <a:xfrm>
            <a:off x="103441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klant.png"/>
          <p:cNvPicPr>
            <a:picLocks noChangeAspect="1"/>
          </p:cNvPicPr>
          <p:nvPr/>
        </p:nvPicPr>
        <p:blipFill>
          <a:blip r:embed="rId8"/>
          <a:stretch>
            <a:fillRect/>
          </a:stretch>
        </p:blipFill>
        <p:spPr>
          <a:xfrm>
            <a:off x="10604500" y="5702300"/>
            <a:ext cx="406400" cy="406400"/>
          </a:xfrm>
          <a:prstGeom prst="rect">
            <a:avLst/>
          </a:prstGeom>
        </p:spPr>
      </p:pic>
      <p:sp>
        <p:nvSpPr>
          <p:cNvPr id="31" name="TextBox 30"/>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9AAFB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Demo</a:t>
            </a:r>
          </a:p>
        </p:txBody>
      </p:sp>
      <p:sp>
        <p:nvSpPr>
          <p:cNvPr id="4" name="Rounded Rectangle 3"/>
          <p:cNvSpPr/>
          <p:nvPr/>
        </p:nvSpPr>
        <p:spPr>
          <a:xfrm>
            <a:off x="2878667" y="1587500"/>
            <a:ext cx="6434667" cy="3619500"/>
          </a:xfrm>
          <a:prstGeom prst="roundRect">
            <a:avLst>
              <a:gd name="adj" fmla="val 4912"/>
            </a:avLst>
          </a:prstGeom>
          <a:solidFill>
            <a:srgbClr val="0E35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878667" y="3257550"/>
            <a:ext cx="6434667" cy="279400"/>
          </a:xfrm>
          <a:prstGeom prst="rect">
            <a:avLst/>
          </a:prstGeom>
          <a:noFill/>
        </p:spPr>
        <p:txBody>
          <a:bodyPr wrap="square" lIns="0" rIns="0" tIns="0" bIns="0">
            <a:spAutoFit/>
          </a:bodyPr>
          <a:lstStyle/>
          <a:p>
            <a:pPr algn="ctr">
              <a:lnSpc>
                <a:spcPct val="100000"/>
              </a:lnSpc>
            </a:pPr>
            <a:r>
              <a:rPr sz="1800" b="0">
                <a:solidFill>
                  <a:srgbClr val="FFFFFF"/>
                </a:solidFill>
                <a:latin typeface="Inter"/>
              </a:rPr>
              <a:t>Screenshot volgt</a:t>
            </a:r>
          </a:p>
        </p:txBody>
      </p:sp>
      <p:sp>
        <p:nvSpPr>
          <p:cNvPr id="6" name="Rectangle 5"/>
          <p:cNvSpPr/>
          <p:nvPr/>
        </p:nvSpPr>
        <p:spPr>
          <a:xfrm>
            <a:off x="762000" y="5511800"/>
            <a:ext cx="10668000" cy="63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90000" y="5626100"/>
            <a:ext cx="2540000" cy="5588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_navy.png"/>
          <p:cNvPicPr>
            <a:picLocks noChangeAspect="1"/>
          </p:cNvPicPr>
          <p:nvPr/>
        </p:nvPicPr>
        <p:blipFill>
          <a:blip r:embed="rId2"/>
          <a:stretch>
            <a:fillRect/>
          </a:stretch>
        </p:blipFill>
        <p:spPr>
          <a:xfrm>
            <a:off x="8947150" y="5759450"/>
            <a:ext cx="1079500" cy="292100"/>
          </a:xfrm>
          <a:prstGeom prst="rect">
            <a:avLst/>
          </a:prstGeom>
        </p:spPr>
      </p:pic>
      <p:sp>
        <p:nvSpPr>
          <p:cNvPr id="9" name="Rectangle 8"/>
          <p:cNvSpPr/>
          <p:nvPr/>
        </p:nvSpPr>
        <p:spPr>
          <a:xfrm>
            <a:off x="10280650" y="5740400"/>
            <a:ext cx="6350" cy="330200"/>
          </a:xfrm>
          <a:prstGeom prst="rect">
            <a:avLst/>
          </a:prstGeom>
          <a:solidFill>
            <a:srgbClr val="CD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lant.png"/>
          <p:cNvPicPr>
            <a:picLocks noChangeAspect="1"/>
          </p:cNvPicPr>
          <p:nvPr/>
        </p:nvPicPr>
        <p:blipFill>
          <a:blip r:embed="rId3"/>
          <a:stretch>
            <a:fillRect/>
          </a:stretch>
        </p:blipFill>
        <p:spPr>
          <a:xfrm>
            <a:off x="10541000" y="5702300"/>
            <a:ext cx="406400" cy="406400"/>
          </a:xfrm>
          <a:prstGeom prst="rect">
            <a:avLst/>
          </a:prstGeom>
        </p:spPr>
      </p:pic>
      <p:sp>
        <p:nvSpPr>
          <p:cNvPr id="11" name="TextBox 10"/>
          <p:cNvSpPr txBox="1"/>
          <p:nvPr/>
        </p:nvSpPr>
        <p:spPr>
          <a:xfrm>
            <a:off x="10795000" y="6375400"/>
            <a:ext cx="635000" cy="228600"/>
          </a:xfrm>
          <a:prstGeom prst="rect">
            <a:avLst/>
          </a:prstGeom>
          <a:noFill/>
        </p:spPr>
        <p:txBody>
          <a:bodyPr wrap="square" lIns="0" rIns="0" tIns="0" bIns="0">
            <a:spAutoFit/>
          </a:bodyPr>
          <a:lstStyle/>
          <a:p>
            <a:pPr algn="r">
              <a:lnSpc>
                <a:spcPct val="115000"/>
              </a:lnSpc>
            </a:pPr>
            <a:r>
              <a:rPr sz="1150" b="0">
                <a:solidFill>
                  <a:srgbClr val="FFFFFF"/>
                </a:solidFill>
                <a:latin typeface="Int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