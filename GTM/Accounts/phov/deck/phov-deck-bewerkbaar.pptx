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Anderhalf jaar geleden heeft PHOV een bureau ingehuurd. De vraag was hoe ze AI in hun onderwijs kunnen inzetten en hoe ze docenten daarbij helpen.</a:t>
            </a:r>
          </a:p>
          <a:p>
            <a:r>
              <a:t>Het advies was "toetstermen aanpassen" en "docenten meenemen". Dat wisten ze 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ze wilden:</a:t>
            </a:r>
          </a:p>
          <a:p>
            <a:r>
              <a:t>1. Docenten die AI in hun vakgebied gebruiken, met een pragmatische partner ernaast</a:t>
            </a:r>
          </a:p>
          <a:p>
            <a:r>
              <a:t>2. Open-boek tentamens behouden (AI-detectie)</a:t>
            </a:r>
          </a:p>
          <a:p>
            <a:r>
              <a:t>3. Curriculumontwikkeling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Tentamens</a:t>
            </a:r>
          </a:p>
          <a:p>
            <a:r>
              <a:t>1. Studenten maken het tentamen</a:t>
            </a:r>
          </a:p>
          <a:p>
            <a:r>
              <a:t>2. Het antwoord van de student gaat terug naar de docent, die punten en feedback geeft</a:t>
            </a:r>
          </a:p>
          <a:p>
            <a:r>
              <a:t>3. De moduleleider controleert en stelt het cijfer vast</a:t>
            </a:r>
          </a:p>
          <a:p>
            <a:r>
              <a:t>4. Daarna gaat het naar het cursusbureau</a:t>
            </a:r>
          </a:p>
          <a:p/>
          <a:p>
            <a:r>
              <a:t>Schrijfopdrachten</a:t>
            </a:r>
          </a:p>
          <a:p>
            <a:r>
              <a:t>1. De student levert in via de leeromgeving (individueel, duo of groep)</a:t>
            </a:r>
          </a:p>
          <a:p>
            <a:r>
              <a:t>2. De docent krijgt een melding dat hij kan nakijken</a:t>
            </a:r>
          </a:p>
          <a:p>
            <a:r>
              <a:t>3. Elke docent geeft feedback in zijn eigen format, en elke opdracht heeft weer een ander format. Dat uploadt hij.</a:t>
            </a:r>
          </a:p>
          <a:p>
            <a:r>
              <a:t>4. Het cijfer wordt vastgesteld</a:t>
            </a:r>
          </a:p>
          <a:p>
            <a:r>
              <a:t>5. Het cursusbureau kijkt het nog na op taal en rariteiten</a:t>
            </a:r>
          </a:p>
          <a:p>
            <a:r>
              <a:t>6. Het secretariaat zet het open en de student ziet zijn cijfer en feedback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Geld</a:t>
            </a:r>
          </a:p>
          <a:p>
            <a:r>
              <a:t>- PHOV betaalt docenten voor elk uur dat ze beoordelen ("wij betalen voor de tijd die ze beoordelen")</a:t>
            </a:r>
          </a:p>
          <a:p>
            <a:r>
              <a:t>- En PHOV eist dat ze feedback geven ("wij eisen dat ze feedback geven")</a:t>
            </a:r>
          </a:p>
          <a:p/>
          <a:p>
            <a:r>
              <a:t>Consistentie</a:t>
            </a:r>
          </a:p>
          <a:p>
            <a:r>
              <a:t>- Vooraf liggen de oordelen van beoordelaars ver uit elkaar, pas na overleg komen ze dichter bij elkaar ("dan zie je dat de bandbreedte groot is, dan gaan ze overleggen met elkaar")</a:t>
            </a:r>
          </a:p>
          <a:p>
            <a:r>
              <a:t>- Daarom kalibreren ze scripties minstens een keer per twee jaar. De nieuwe rubric is nog niet getest.</a:t>
            </a:r>
          </a:p>
          <a:p>
            <a:r>
              <a:t>- Kalibratie hoort over de inhoud te gaan ("Het gaat om de inhoud. Je moet challengen."), maar gaat soms over handtekeningen op een formulier</a:t>
            </a:r>
          </a:p>
          <a:p>
            <a:r>
              <a:t>- De directie schuift zelf aan om mensen scherp te houden, als breekijzertje.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Geld besparen</a:t>
            </a:r>
          </a:p>
          <a:p>
            <a:r>
              <a:t>- De docent begint niet met een leeg vel maar met een eerste versie van feedback en cijfer. Hij kijkt dus sneller na en PHOV betaalt minder beoordelingsuren.</a:t>
            </a:r>
          </a:p>
          <a:p>
            <a:r>
              <a:t>- Bijkomstigheid: de doorlooptijd van zes weken wordt korter. Studenten krijgen eerder hun cijfer.</a:t>
            </a:r>
          </a:p>
          <a:p/>
          <a:p>
            <a:r>
              <a:t>Consistentie</a:t>
            </a:r>
          </a:p>
          <a:p>
            <a:r>
              <a:t>- Elke opdracht wordt op dezelfde rubric gescoord, met een uitlegbare cijferopbouw per criterium. Zo leggen alle beoordelaars dezelfde maat aan.</a:t>
            </a:r>
          </a:p>
          <a:p>
            <a:r>
              <a:t>- De kalibratie begint bij een beoordeling per criterium. Het gesprek gaat dan over de inhoud, niet over het formulier. (Eigen redenering, geen belofte.)</a:t>
            </a:r>
          </a:p>
          <a:p/>
          <a:p>
            <a:r>
              <a:t>Koppeling met de huidige situatie: de AI Exam Grader hoort bij Tentamens, de AI Paper Grader bij Schrijfopdrachten. Allebei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 euro per student per maand, minimaal 150 studenten</a:t>
            </a:r>
          </a:p>
          <a:p>
            <a:r>
              <a:t>- Minimaal 1.500 euro voor het reserveren van AI-capaciteit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12.png"/><Relationship Id="rId7" Type="http://schemas.openxmlformats.org/officeDocument/2006/relationships/image" Target="../media/image20.png"/><Relationship Id="rId8" Type="http://schemas.openxmlformats.org/officeDocument/2006/relationships/image" Target="../media/image1.png"/><Relationship Id="rId9" Type="http://schemas.openxmlformats.org/officeDocument/2006/relationships/image" Target="../media/image2.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7.png"/><Relationship Id="rId7" Type="http://schemas.openxmlformats.org/officeDocument/2006/relationships/image" Target="../media/image24.png"/><Relationship Id="rId8" Type="http://schemas.openxmlformats.org/officeDocument/2006/relationships/image" Target="../media/image1.png"/><Relationship Id="rId9" Type="http://schemas.openxmlformats.org/officeDocument/2006/relationships/image" Target="../media/image2.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58800"/>
            <a:ext cx="10668000" cy="762000"/>
          </a:xfrm>
          <a:prstGeom prst="rect">
            <a:avLst/>
          </a:prstGeom>
          <a:noFill/>
        </p:spPr>
        <p:txBody>
          <a:bodyPr wrap="square" lIns="0" rIns="0" tIns="0" bIns="0">
            <a:spAutoFit/>
          </a:bodyPr>
          <a:lstStyle/>
          <a:p>
            <a:pPr algn="ctr">
              <a:lnSpc>
                <a:spcPct val="100000"/>
              </a:lnSpc>
            </a:pPr>
            <a:r>
              <a:rPr sz="4800" b="1">
                <a:solidFill>
                  <a:srgbClr val="002333"/>
                </a:solidFill>
                <a:latin typeface="League Spartan"/>
              </a:rPr>
              <a:t>Aanleiding</a:t>
            </a:r>
          </a:p>
        </p:txBody>
      </p:sp>
      <p:sp>
        <p:nvSpPr>
          <p:cNvPr id="3" name="TextBox 2"/>
          <p:cNvSpPr txBox="1"/>
          <p:nvPr/>
        </p:nvSpPr>
        <p:spPr>
          <a:xfrm>
            <a:off x="762000" y="2095500"/>
            <a:ext cx="10668000" cy="889000"/>
          </a:xfrm>
          <a:prstGeom prst="rect">
            <a:avLst/>
          </a:prstGeom>
          <a:noFill/>
        </p:spPr>
        <p:txBody>
          <a:bodyPr wrap="square" lIns="0" rIns="0" tIns="0" bIns="0">
            <a:spAutoFit/>
          </a:bodyPr>
          <a:lstStyle/>
          <a:p>
            <a:pPr algn="ctr">
              <a:lnSpc>
                <a:spcPct val="120000"/>
              </a:lnSpc>
            </a:pPr>
            <a:r>
              <a:rPr sz="2800" b="1">
                <a:solidFill>
                  <a:srgbClr val="002333"/>
                </a:solidFill>
                <a:latin typeface="League Spartan"/>
              </a:rPr>
              <a:t>Hoe zetten we AI in ons onderwijs in,</a:t>
            </a:r>
          </a:p>
          <a:p>
            <a:pPr algn="ctr">
              <a:lnSpc>
                <a:spcPct val="120000"/>
              </a:lnSpc>
            </a:pPr>
            <a:r>
              <a:rPr sz="2800" b="1">
                <a:solidFill>
                  <a:srgbClr val="002333"/>
                </a:solidFill>
                <a:latin typeface="League Spartan"/>
              </a:rPr>
              <a:t>en hoe helpen we docenten daarbij?</a:t>
            </a:r>
          </a:p>
        </p:txBody>
      </p:sp>
      <p:sp>
        <p:nvSpPr>
          <p:cNvPr id="4" name="Rounded Rectangle 3"/>
          <p:cNvSpPr/>
          <p:nvPr/>
        </p:nvSpPr>
        <p:spPr>
          <a:xfrm>
            <a:off x="2584450" y="3746500"/>
            <a:ext cx="2857500" cy="482600"/>
          </a:xfrm>
          <a:prstGeom prst="roundRect">
            <a:avLst>
              <a:gd name="adj" fmla="val 500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84450" y="3867150"/>
            <a:ext cx="2857500" cy="254000"/>
          </a:xfrm>
          <a:prstGeom prst="rect">
            <a:avLst/>
          </a:prstGeom>
          <a:noFill/>
        </p:spPr>
        <p:txBody>
          <a:bodyPr wrap="square" lIns="0" rIns="0" tIns="0" bIns="0">
            <a:spAutoFit/>
          </a:bodyPr>
          <a:lstStyle/>
          <a:p>
            <a:pPr algn="ctr">
              <a:lnSpc>
                <a:spcPct val="100000"/>
              </a:lnSpc>
            </a:pPr>
            <a:r>
              <a:rPr sz="1700" b="0">
                <a:solidFill>
                  <a:srgbClr val="002333"/>
                </a:solidFill>
                <a:latin typeface="Inter"/>
              </a:rPr>
              <a:t>Toetstermen aanpassen</a:t>
            </a:r>
          </a:p>
        </p:txBody>
      </p:sp>
      <p:sp>
        <p:nvSpPr>
          <p:cNvPr id="6" name="Rounded Rectangle 5"/>
          <p:cNvSpPr/>
          <p:nvPr/>
        </p:nvSpPr>
        <p:spPr>
          <a:xfrm>
            <a:off x="5619750" y="3746500"/>
            <a:ext cx="2540000" cy="482600"/>
          </a:xfrm>
          <a:prstGeom prst="roundRect">
            <a:avLst>
              <a:gd name="adj" fmla="val 500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19750" y="3867150"/>
            <a:ext cx="2540000" cy="254000"/>
          </a:xfrm>
          <a:prstGeom prst="rect">
            <a:avLst/>
          </a:prstGeom>
          <a:noFill/>
        </p:spPr>
        <p:txBody>
          <a:bodyPr wrap="square" lIns="0" rIns="0" tIns="0" bIns="0">
            <a:spAutoFit/>
          </a:bodyPr>
          <a:lstStyle/>
          <a:p>
            <a:pPr algn="ctr">
              <a:lnSpc>
                <a:spcPct val="100000"/>
              </a:lnSpc>
            </a:pPr>
            <a:r>
              <a:rPr sz="1700" b="0">
                <a:solidFill>
                  <a:srgbClr val="002333"/>
                </a:solidFill>
                <a:latin typeface="Inter"/>
              </a:rPr>
              <a:t>Docenten meenemen</a:t>
            </a:r>
          </a:p>
        </p:txBody>
      </p:sp>
      <p:sp>
        <p:nvSpPr>
          <p:cNvPr id="8" name="TextBox 7"/>
          <p:cNvSpPr txBox="1"/>
          <p:nvPr/>
        </p:nvSpPr>
        <p:spPr>
          <a:xfrm>
            <a:off x="8413750" y="3867150"/>
            <a:ext cx="1270000" cy="254000"/>
          </a:xfrm>
          <a:prstGeom prst="rect">
            <a:avLst/>
          </a:prstGeom>
          <a:noFill/>
        </p:spPr>
        <p:txBody>
          <a:bodyPr wrap="square" lIns="0" rIns="0" tIns="0" bIns="0">
            <a:spAutoFit/>
          </a:bodyPr>
          <a:lstStyle/>
          <a:p>
            <a:pPr algn="l">
              <a:lnSpc>
                <a:spcPct val="100000"/>
              </a:lnSpc>
            </a:pPr>
            <a:r>
              <a:rPr sz="1700" b="1">
                <a:solidFill>
                  <a:srgbClr val="002333"/>
                </a:solidFill>
                <a:latin typeface="Inter"/>
              </a:rPr>
              <a:t>Al bekend.</a:t>
            </a:r>
          </a:p>
        </p:txBody>
      </p:sp>
      <p:sp>
        <p:nvSpPr>
          <p:cNvPr id="9" name="Rectangle 8"/>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ogo_navy.png"/>
          <p:cNvPicPr>
            <a:picLocks noChangeAspect="1"/>
          </p:cNvPicPr>
          <p:nvPr/>
        </p:nvPicPr>
        <p:blipFill>
          <a:blip r:embed="rId2"/>
          <a:stretch>
            <a:fillRect/>
          </a:stretch>
        </p:blipFill>
        <p:spPr>
          <a:xfrm>
            <a:off x="9010650" y="5759450"/>
            <a:ext cx="1079500" cy="292100"/>
          </a:xfrm>
          <a:prstGeom prst="rect">
            <a:avLst/>
          </a:prstGeom>
        </p:spPr>
      </p:pic>
      <p:sp>
        <p:nvSpPr>
          <p:cNvPr id="11" name="Rectangle 10"/>
          <p:cNvSpPr/>
          <p:nvPr/>
        </p:nvSpPr>
        <p:spPr>
          <a:xfrm>
            <a:off x="10344150" y="5740400"/>
            <a:ext cx="6350" cy="330200"/>
          </a:xfrm>
          <a:prstGeom prst="rect">
            <a:avLst/>
          </a:prstGeom>
          <a:solidFill>
            <a:srgbClr val="CD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lant.png"/>
          <p:cNvPicPr>
            <a:picLocks noChangeAspect="1"/>
          </p:cNvPicPr>
          <p:nvPr/>
        </p:nvPicPr>
        <p:blipFill>
          <a:blip r:embed="rId3"/>
          <a:stretch>
            <a:fillRect/>
          </a:stretch>
        </p:blipFill>
        <p:spPr>
          <a:xfrm>
            <a:off x="10604500" y="5702300"/>
            <a:ext cx="406400" cy="406400"/>
          </a:xfrm>
          <a:prstGeom prst="rect">
            <a:avLst/>
          </a:prstGeom>
        </p:spPr>
      </p:pic>
      <p:sp>
        <p:nvSpPr>
          <p:cNvPr id="13" name="TextBox 12"/>
          <p:cNvSpPr txBox="1"/>
          <p:nvPr/>
        </p:nvSpPr>
        <p:spPr>
          <a:xfrm>
            <a:off x="10795000" y="6375400"/>
            <a:ext cx="635000" cy="228600"/>
          </a:xfrm>
          <a:prstGeom prst="rect">
            <a:avLst/>
          </a:prstGeom>
          <a:noFill/>
        </p:spPr>
        <p:txBody>
          <a:bodyPr wrap="square" lIns="0" rIns="0" tIns="0" bIns="0">
            <a:spAutoFit/>
          </a:bodyPr>
          <a:lstStyle/>
          <a:p>
            <a:pPr algn="r">
              <a:lnSpc>
                <a:spcPct val="115000"/>
              </a:lnSpc>
            </a:pPr>
            <a:r>
              <a:rPr sz="1150" b="0">
                <a:solidFill>
                  <a:srgbClr val="9AAFB8"/>
                </a:solidFill>
                <a:latin typeface="Inter"/>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58800"/>
            <a:ext cx="10668000" cy="762000"/>
          </a:xfrm>
          <a:prstGeom prst="rect">
            <a:avLst/>
          </a:prstGeom>
          <a:noFill/>
        </p:spPr>
        <p:txBody>
          <a:bodyPr wrap="square" lIns="0" rIns="0" tIns="0" bIns="0">
            <a:spAutoFit/>
          </a:bodyPr>
          <a:lstStyle/>
          <a:p>
            <a:pPr algn="ctr">
              <a:lnSpc>
                <a:spcPct val="100000"/>
              </a:lnSpc>
            </a:pPr>
            <a:r>
              <a:rPr sz="4800" b="1">
                <a:solidFill>
                  <a:srgbClr val="002333"/>
                </a:solidFill>
                <a:latin typeface="League Spartan"/>
              </a:rPr>
              <a:t>Doel</a:t>
            </a:r>
          </a:p>
        </p:txBody>
      </p:sp>
      <p:sp>
        <p:nvSpPr>
          <p:cNvPr id="3" name="Rounded Rectangle 2"/>
          <p:cNvSpPr/>
          <p:nvPr/>
        </p:nvSpPr>
        <p:spPr>
          <a:xfrm>
            <a:off x="1816100" y="2413000"/>
            <a:ext cx="1143000" cy="1143000"/>
          </a:xfrm>
          <a:prstGeom prst="roundRect">
            <a:avLst>
              <a:gd name="adj" fmla="val 24300"/>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con-lesgeven-green.png"/>
          <p:cNvPicPr>
            <a:picLocks noChangeAspect="1"/>
          </p:cNvPicPr>
          <p:nvPr/>
        </p:nvPicPr>
        <p:blipFill>
          <a:blip r:embed="rId2"/>
          <a:stretch>
            <a:fillRect/>
          </a:stretch>
        </p:blipFill>
        <p:spPr>
          <a:xfrm>
            <a:off x="2101850" y="2698750"/>
            <a:ext cx="571500" cy="571500"/>
          </a:xfrm>
          <a:prstGeom prst="rect">
            <a:avLst/>
          </a:prstGeom>
        </p:spPr>
      </p:pic>
      <p:sp>
        <p:nvSpPr>
          <p:cNvPr id="5" name="TextBox 4"/>
          <p:cNvSpPr txBox="1"/>
          <p:nvPr/>
        </p:nvSpPr>
        <p:spPr>
          <a:xfrm>
            <a:off x="571500" y="3810000"/>
            <a:ext cx="3632200" cy="381000"/>
          </a:xfrm>
          <a:prstGeom prst="rect">
            <a:avLst/>
          </a:prstGeom>
          <a:noFill/>
        </p:spPr>
        <p:txBody>
          <a:bodyPr wrap="square" lIns="0" rIns="0" tIns="0" bIns="0">
            <a:spAutoFit/>
          </a:bodyPr>
          <a:lstStyle/>
          <a:p>
            <a:pPr algn="ctr">
              <a:lnSpc>
                <a:spcPct val="100000"/>
              </a:lnSpc>
            </a:pPr>
            <a:r>
              <a:rPr sz="2600" b="1">
                <a:solidFill>
                  <a:srgbClr val="002333"/>
                </a:solidFill>
                <a:latin typeface="League Spartan"/>
              </a:rPr>
              <a:t>Docenten met AI</a:t>
            </a:r>
          </a:p>
        </p:txBody>
      </p:sp>
      <p:sp>
        <p:nvSpPr>
          <p:cNvPr id="6" name="Rounded Rectangle 5"/>
          <p:cNvSpPr/>
          <p:nvPr/>
        </p:nvSpPr>
        <p:spPr>
          <a:xfrm>
            <a:off x="5524500" y="2413000"/>
            <a:ext cx="1143000" cy="1143000"/>
          </a:xfrm>
          <a:prstGeom prst="roundRect">
            <a:avLst>
              <a:gd name="adj" fmla="val 24300"/>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on-boek-green.png"/>
          <p:cNvPicPr>
            <a:picLocks noChangeAspect="1"/>
          </p:cNvPicPr>
          <p:nvPr/>
        </p:nvPicPr>
        <p:blipFill>
          <a:blip r:embed="rId3"/>
          <a:stretch>
            <a:fillRect/>
          </a:stretch>
        </p:blipFill>
        <p:spPr>
          <a:xfrm>
            <a:off x="5810250" y="2698750"/>
            <a:ext cx="571500" cy="571500"/>
          </a:xfrm>
          <a:prstGeom prst="rect">
            <a:avLst/>
          </a:prstGeom>
        </p:spPr>
      </p:pic>
      <p:sp>
        <p:nvSpPr>
          <p:cNvPr id="8" name="TextBox 7"/>
          <p:cNvSpPr txBox="1"/>
          <p:nvPr/>
        </p:nvSpPr>
        <p:spPr>
          <a:xfrm>
            <a:off x="4279900" y="3810000"/>
            <a:ext cx="3632200" cy="381000"/>
          </a:xfrm>
          <a:prstGeom prst="rect">
            <a:avLst/>
          </a:prstGeom>
          <a:noFill/>
        </p:spPr>
        <p:txBody>
          <a:bodyPr wrap="square" lIns="0" rIns="0" tIns="0" bIns="0">
            <a:spAutoFit/>
          </a:bodyPr>
          <a:lstStyle/>
          <a:p>
            <a:pPr algn="ctr">
              <a:lnSpc>
                <a:spcPct val="100000"/>
              </a:lnSpc>
            </a:pPr>
            <a:r>
              <a:rPr sz="2600" b="1">
                <a:solidFill>
                  <a:srgbClr val="002333"/>
                </a:solidFill>
                <a:latin typeface="League Spartan"/>
              </a:rPr>
              <a:t>Open boek</a:t>
            </a:r>
          </a:p>
        </p:txBody>
      </p:sp>
      <p:sp>
        <p:nvSpPr>
          <p:cNvPr id="9" name="Rounded Rectangle 8"/>
          <p:cNvSpPr/>
          <p:nvPr/>
        </p:nvSpPr>
        <p:spPr>
          <a:xfrm>
            <a:off x="9232900" y="2413000"/>
            <a:ext cx="1143000" cy="1143000"/>
          </a:xfrm>
          <a:prstGeom prst="roundRect">
            <a:avLst>
              <a:gd name="adj" fmla="val 24300"/>
            </a:avLst>
          </a:prstGeom>
          <a:solidFill>
            <a:srgbClr val="E2F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on-lagen-green.png"/>
          <p:cNvPicPr>
            <a:picLocks noChangeAspect="1"/>
          </p:cNvPicPr>
          <p:nvPr/>
        </p:nvPicPr>
        <p:blipFill>
          <a:blip r:embed="rId4"/>
          <a:stretch>
            <a:fillRect/>
          </a:stretch>
        </p:blipFill>
        <p:spPr>
          <a:xfrm>
            <a:off x="9518650" y="2698750"/>
            <a:ext cx="571500" cy="571500"/>
          </a:xfrm>
          <a:prstGeom prst="rect">
            <a:avLst/>
          </a:prstGeom>
        </p:spPr>
      </p:pic>
      <p:sp>
        <p:nvSpPr>
          <p:cNvPr id="11" name="TextBox 10"/>
          <p:cNvSpPr txBox="1"/>
          <p:nvPr/>
        </p:nvSpPr>
        <p:spPr>
          <a:xfrm>
            <a:off x="7988300" y="3810000"/>
            <a:ext cx="3632200" cy="381000"/>
          </a:xfrm>
          <a:prstGeom prst="rect">
            <a:avLst/>
          </a:prstGeom>
          <a:noFill/>
        </p:spPr>
        <p:txBody>
          <a:bodyPr wrap="square" lIns="0" rIns="0" tIns="0" bIns="0">
            <a:spAutoFit/>
          </a:bodyPr>
          <a:lstStyle/>
          <a:p>
            <a:pPr algn="ctr">
              <a:lnSpc>
                <a:spcPct val="100000"/>
              </a:lnSpc>
            </a:pPr>
            <a:r>
              <a:rPr sz="2600" b="1">
                <a:solidFill>
                  <a:srgbClr val="002333"/>
                </a:solidFill>
                <a:latin typeface="League Spartan"/>
              </a:rPr>
              <a:t>Curriculum</a:t>
            </a:r>
          </a:p>
        </p:txBody>
      </p:sp>
      <p:sp>
        <p:nvSpPr>
          <p:cNvPr id="12" name="Rectangle 11"/>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ogo_navy.png"/>
          <p:cNvPicPr>
            <a:picLocks noChangeAspect="1"/>
          </p:cNvPicPr>
          <p:nvPr/>
        </p:nvPicPr>
        <p:blipFill>
          <a:blip r:embed="rId5"/>
          <a:stretch>
            <a:fillRect/>
          </a:stretch>
        </p:blipFill>
        <p:spPr>
          <a:xfrm>
            <a:off x="9010650" y="5759450"/>
            <a:ext cx="1079500" cy="292100"/>
          </a:xfrm>
          <a:prstGeom prst="rect">
            <a:avLst/>
          </a:prstGeom>
        </p:spPr>
      </p:pic>
      <p:sp>
        <p:nvSpPr>
          <p:cNvPr id="14" name="Rectangle 13"/>
          <p:cNvSpPr/>
          <p:nvPr/>
        </p:nvSpPr>
        <p:spPr>
          <a:xfrm>
            <a:off x="10344150" y="5740400"/>
            <a:ext cx="6350" cy="330200"/>
          </a:xfrm>
          <a:prstGeom prst="rect">
            <a:avLst/>
          </a:prstGeom>
          <a:solidFill>
            <a:srgbClr val="CD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klant.png"/>
          <p:cNvPicPr>
            <a:picLocks noChangeAspect="1"/>
          </p:cNvPicPr>
          <p:nvPr/>
        </p:nvPicPr>
        <p:blipFill>
          <a:blip r:embed="rId6"/>
          <a:stretch>
            <a:fillRect/>
          </a:stretch>
        </p:blipFill>
        <p:spPr>
          <a:xfrm>
            <a:off x="10604500" y="5702300"/>
            <a:ext cx="406400" cy="406400"/>
          </a:xfrm>
          <a:prstGeom prst="rect">
            <a:avLst/>
          </a:prstGeom>
        </p:spPr>
      </p:pic>
      <p:sp>
        <p:nvSpPr>
          <p:cNvPr id="16" name="TextBox 15"/>
          <p:cNvSpPr txBox="1"/>
          <p:nvPr/>
        </p:nvSpPr>
        <p:spPr>
          <a:xfrm>
            <a:off x="10795000" y="6375400"/>
            <a:ext cx="635000" cy="228600"/>
          </a:xfrm>
          <a:prstGeom prst="rect">
            <a:avLst/>
          </a:prstGeom>
          <a:noFill/>
        </p:spPr>
        <p:txBody>
          <a:bodyPr wrap="square" lIns="0" rIns="0" tIns="0" bIns="0">
            <a:spAutoFit/>
          </a:bodyPr>
          <a:lstStyle/>
          <a:p>
            <a:pPr algn="r">
              <a:lnSpc>
                <a:spcPct val="115000"/>
              </a:lnSpc>
            </a:pPr>
            <a:r>
              <a:rPr sz="1150" b="0">
                <a:solidFill>
                  <a:srgbClr val="9AAFB8"/>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58800"/>
            <a:ext cx="10668000" cy="762000"/>
          </a:xfrm>
          <a:prstGeom prst="rect">
            <a:avLst/>
          </a:prstGeom>
          <a:noFill/>
        </p:spPr>
        <p:txBody>
          <a:bodyPr wrap="square" lIns="0" rIns="0" tIns="0" bIns="0">
            <a:spAutoFit/>
          </a:bodyPr>
          <a:lstStyle/>
          <a:p>
            <a:pPr algn="ctr">
              <a:lnSpc>
                <a:spcPct val="100000"/>
              </a:lnSpc>
            </a:pPr>
            <a:r>
              <a:rPr sz="4800" b="1">
                <a:solidFill>
                  <a:srgbClr val="002333"/>
                </a:solidFill>
                <a:latin typeface="League Spartan"/>
              </a:rPr>
              <a:t>Huidige situatie</a:t>
            </a:r>
          </a:p>
        </p:txBody>
      </p:sp>
      <p:sp>
        <p:nvSpPr>
          <p:cNvPr id="3" name="TextBox 2"/>
          <p:cNvSpPr txBox="1"/>
          <p:nvPr/>
        </p:nvSpPr>
        <p:spPr>
          <a:xfrm>
            <a:off x="762000" y="1498600"/>
            <a:ext cx="3810000" cy="254000"/>
          </a:xfrm>
          <a:prstGeom prst="rect">
            <a:avLst/>
          </a:prstGeom>
          <a:noFill/>
        </p:spPr>
        <p:txBody>
          <a:bodyPr wrap="square" lIns="0" rIns="0" tIns="0" bIns="0">
            <a:spAutoFit/>
          </a:bodyPr>
          <a:lstStyle/>
          <a:p>
            <a:pPr algn="l">
              <a:lnSpc>
                <a:spcPct val="100000"/>
              </a:lnSpc>
            </a:pPr>
            <a:r>
              <a:rPr sz="1800" b="1">
                <a:solidFill>
                  <a:srgbClr val="5B7480"/>
                </a:solidFill>
                <a:latin typeface="League Spartan"/>
              </a:rPr>
              <a:t>Tentamens</a:t>
            </a:r>
          </a:p>
        </p:txBody>
      </p:sp>
      <p:sp>
        <p:nvSpPr>
          <p:cNvPr id="4" name="Rectangle 3"/>
          <p:cNvSpPr/>
          <p:nvPr/>
        </p:nvSpPr>
        <p:spPr>
          <a:xfrm>
            <a:off x="1460500" y="2159000"/>
            <a:ext cx="5562600" cy="254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000" y="18288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55700" y="18669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on-pen-navy.png"/>
          <p:cNvPicPr>
            <a:picLocks noChangeAspect="1"/>
          </p:cNvPicPr>
          <p:nvPr/>
        </p:nvPicPr>
        <p:blipFill>
          <a:blip r:embed="rId2"/>
          <a:stretch>
            <a:fillRect/>
          </a:stretch>
        </p:blipFill>
        <p:spPr>
          <a:xfrm>
            <a:off x="1308100" y="2019300"/>
            <a:ext cx="304800" cy="304800"/>
          </a:xfrm>
          <a:prstGeom prst="rect">
            <a:avLst/>
          </a:prstGeom>
        </p:spPr>
      </p:pic>
      <p:sp>
        <p:nvSpPr>
          <p:cNvPr id="8" name="TextBox 7"/>
          <p:cNvSpPr txBox="1"/>
          <p:nvPr/>
        </p:nvSpPr>
        <p:spPr>
          <a:xfrm>
            <a:off x="533400" y="25654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Student</a:t>
            </a:r>
          </a:p>
        </p:txBody>
      </p:sp>
      <p:sp>
        <p:nvSpPr>
          <p:cNvPr id="9" name="TextBox 8"/>
          <p:cNvSpPr txBox="1"/>
          <p:nvPr/>
        </p:nvSpPr>
        <p:spPr>
          <a:xfrm>
            <a:off x="381000" y="28321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maakt toets</a:t>
            </a:r>
          </a:p>
        </p:txBody>
      </p:sp>
      <p:sp>
        <p:nvSpPr>
          <p:cNvPr id="10" name="Rectangle 9"/>
          <p:cNvSpPr/>
          <p:nvPr/>
        </p:nvSpPr>
        <p:spPr>
          <a:xfrm>
            <a:off x="2870200" y="18288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09900" y="18669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con-cijfers-navy.png"/>
          <p:cNvPicPr>
            <a:picLocks noChangeAspect="1"/>
          </p:cNvPicPr>
          <p:nvPr/>
        </p:nvPicPr>
        <p:blipFill>
          <a:blip r:embed="rId3"/>
          <a:stretch>
            <a:fillRect/>
          </a:stretch>
        </p:blipFill>
        <p:spPr>
          <a:xfrm>
            <a:off x="3162300" y="2019300"/>
            <a:ext cx="304800" cy="304800"/>
          </a:xfrm>
          <a:prstGeom prst="rect">
            <a:avLst/>
          </a:prstGeom>
        </p:spPr>
      </p:pic>
      <p:sp>
        <p:nvSpPr>
          <p:cNvPr id="13" name="TextBox 12"/>
          <p:cNvSpPr txBox="1"/>
          <p:nvPr/>
        </p:nvSpPr>
        <p:spPr>
          <a:xfrm>
            <a:off x="2387600" y="25654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Docent</a:t>
            </a:r>
          </a:p>
        </p:txBody>
      </p:sp>
      <p:sp>
        <p:nvSpPr>
          <p:cNvPr id="14" name="TextBox 13"/>
          <p:cNvSpPr txBox="1"/>
          <p:nvPr/>
        </p:nvSpPr>
        <p:spPr>
          <a:xfrm>
            <a:off x="2235200" y="28321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punten, feedback</a:t>
            </a:r>
          </a:p>
        </p:txBody>
      </p:sp>
      <p:sp>
        <p:nvSpPr>
          <p:cNvPr id="15" name="Rectangle 14"/>
          <p:cNvSpPr/>
          <p:nvPr/>
        </p:nvSpPr>
        <p:spPr>
          <a:xfrm>
            <a:off x="4724400" y="18288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64100" y="18669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usercheck-navy.png"/>
          <p:cNvPicPr>
            <a:picLocks noChangeAspect="1"/>
          </p:cNvPicPr>
          <p:nvPr/>
        </p:nvPicPr>
        <p:blipFill>
          <a:blip r:embed="rId4"/>
          <a:stretch>
            <a:fillRect/>
          </a:stretch>
        </p:blipFill>
        <p:spPr>
          <a:xfrm>
            <a:off x="5016500" y="2019300"/>
            <a:ext cx="304800" cy="304800"/>
          </a:xfrm>
          <a:prstGeom prst="rect">
            <a:avLst/>
          </a:prstGeom>
        </p:spPr>
      </p:pic>
      <p:sp>
        <p:nvSpPr>
          <p:cNvPr id="18" name="TextBox 17"/>
          <p:cNvSpPr txBox="1"/>
          <p:nvPr/>
        </p:nvSpPr>
        <p:spPr>
          <a:xfrm>
            <a:off x="4241800" y="25654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Moduleleider</a:t>
            </a:r>
          </a:p>
        </p:txBody>
      </p:sp>
      <p:sp>
        <p:nvSpPr>
          <p:cNvPr id="19" name="TextBox 18"/>
          <p:cNvSpPr txBox="1"/>
          <p:nvPr/>
        </p:nvSpPr>
        <p:spPr>
          <a:xfrm>
            <a:off x="4089400" y="28321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stelt cijfer vast</a:t>
            </a:r>
          </a:p>
        </p:txBody>
      </p:sp>
      <p:sp>
        <p:nvSpPr>
          <p:cNvPr id="20" name="Rectangle 19"/>
          <p:cNvSpPr/>
          <p:nvPr/>
        </p:nvSpPr>
        <p:spPr>
          <a:xfrm>
            <a:off x="6578600" y="18288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18300" y="18669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on-data-navy.png"/>
          <p:cNvPicPr>
            <a:picLocks noChangeAspect="1"/>
          </p:cNvPicPr>
          <p:nvPr/>
        </p:nvPicPr>
        <p:blipFill>
          <a:blip r:embed="rId5"/>
          <a:stretch>
            <a:fillRect/>
          </a:stretch>
        </p:blipFill>
        <p:spPr>
          <a:xfrm>
            <a:off x="6870700" y="2019300"/>
            <a:ext cx="304800" cy="304800"/>
          </a:xfrm>
          <a:prstGeom prst="rect">
            <a:avLst/>
          </a:prstGeom>
        </p:spPr>
      </p:pic>
      <p:sp>
        <p:nvSpPr>
          <p:cNvPr id="23" name="TextBox 22"/>
          <p:cNvSpPr txBox="1"/>
          <p:nvPr/>
        </p:nvSpPr>
        <p:spPr>
          <a:xfrm>
            <a:off x="6096000" y="25654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Cursusbureau</a:t>
            </a:r>
          </a:p>
        </p:txBody>
      </p:sp>
      <p:sp>
        <p:nvSpPr>
          <p:cNvPr id="24" name="TextBox 23"/>
          <p:cNvSpPr txBox="1"/>
          <p:nvPr/>
        </p:nvSpPr>
        <p:spPr>
          <a:xfrm>
            <a:off x="5943600" y="28321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krijgt eindcijfer</a:t>
            </a:r>
          </a:p>
        </p:txBody>
      </p:sp>
      <p:sp>
        <p:nvSpPr>
          <p:cNvPr id="25" name="TextBox 24"/>
          <p:cNvSpPr txBox="1"/>
          <p:nvPr/>
        </p:nvSpPr>
        <p:spPr>
          <a:xfrm>
            <a:off x="762000" y="3619500"/>
            <a:ext cx="3810000" cy="254000"/>
          </a:xfrm>
          <a:prstGeom prst="rect">
            <a:avLst/>
          </a:prstGeom>
          <a:noFill/>
        </p:spPr>
        <p:txBody>
          <a:bodyPr wrap="square" lIns="0" rIns="0" tIns="0" bIns="0">
            <a:spAutoFit/>
          </a:bodyPr>
          <a:lstStyle/>
          <a:p>
            <a:pPr algn="l">
              <a:lnSpc>
                <a:spcPct val="100000"/>
              </a:lnSpc>
            </a:pPr>
            <a:r>
              <a:rPr sz="1800" b="1">
                <a:solidFill>
                  <a:srgbClr val="5B7480"/>
                </a:solidFill>
                <a:latin typeface="League Spartan"/>
              </a:rPr>
              <a:t>Schrijfopdrachten</a:t>
            </a:r>
          </a:p>
        </p:txBody>
      </p:sp>
      <p:sp>
        <p:nvSpPr>
          <p:cNvPr id="26" name="Rectangle 25"/>
          <p:cNvSpPr/>
          <p:nvPr/>
        </p:nvSpPr>
        <p:spPr>
          <a:xfrm>
            <a:off x="1460500" y="4279900"/>
            <a:ext cx="9271000" cy="254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6000" y="39497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55700" y="39878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on-inleveren-navy.png"/>
          <p:cNvPicPr>
            <a:picLocks noChangeAspect="1"/>
          </p:cNvPicPr>
          <p:nvPr/>
        </p:nvPicPr>
        <p:blipFill>
          <a:blip r:embed="rId6"/>
          <a:stretch>
            <a:fillRect/>
          </a:stretch>
        </p:blipFill>
        <p:spPr>
          <a:xfrm>
            <a:off x="1308100" y="4140200"/>
            <a:ext cx="304800" cy="304800"/>
          </a:xfrm>
          <a:prstGeom prst="rect">
            <a:avLst/>
          </a:prstGeom>
        </p:spPr>
      </p:pic>
      <p:sp>
        <p:nvSpPr>
          <p:cNvPr id="30" name="TextBox 29"/>
          <p:cNvSpPr txBox="1"/>
          <p:nvPr/>
        </p:nvSpPr>
        <p:spPr>
          <a:xfrm>
            <a:off x="533400" y="46863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Student</a:t>
            </a:r>
          </a:p>
        </p:txBody>
      </p:sp>
      <p:sp>
        <p:nvSpPr>
          <p:cNvPr id="31" name="TextBox 30"/>
          <p:cNvSpPr txBox="1"/>
          <p:nvPr/>
        </p:nvSpPr>
        <p:spPr>
          <a:xfrm>
            <a:off x="381000" y="49530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levert in</a:t>
            </a:r>
          </a:p>
        </p:txBody>
      </p:sp>
      <p:sp>
        <p:nvSpPr>
          <p:cNvPr id="32" name="Rectangle 31"/>
          <p:cNvSpPr/>
          <p:nvPr/>
        </p:nvSpPr>
        <p:spPr>
          <a:xfrm>
            <a:off x="2870200" y="39497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009900" y="39878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on-filepen-navy.png"/>
          <p:cNvPicPr>
            <a:picLocks noChangeAspect="1"/>
          </p:cNvPicPr>
          <p:nvPr/>
        </p:nvPicPr>
        <p:blipFill>
          <a:blip r:embed="rId7"/>
          <a:stretch>
            <a:fillRect/>
          </a:stretch>
        </p:blipFill>
        <p:spPr>
          <a:xfrm>
            <a:off x="3162300" y="4140200"/>
            <a:ext cx="304800" cy="304800"/>
          </a:xfrm>
          <a:prstGeom prst="rect">
            <a:avLst/>
          </a:prstGeom>
        </p:spPr>
      </p:pic>
      <p:sp>
        <p:nvSpPr>
          <p:cNvPr id="35" name="TextBox 34"/>
          <p:cNvSpPr txBox="1"/>
          <p:nvPr/>
        </p:nvSpPr>
        <p:spPr>
          <a:xfrm>
            <a:off x="2387600" y="46863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Docent</a:t>
            </a:r>
          </a:p>
        </p:txBody>
      </p:sp>
      <p:sp>
        <p:nvSpPr>
          <p:cNvPr id="36" name="TextBox 35"/>
          <p:cNvSpPr txBox="1"/>
          <p:nvPr/>
        </p:nvSpPr>
        <p:spPr>
          <a:xfrm>
            <a:off x="2235200" y="49530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wisselend format</a:t>
            </a:r>
          </a:p>
        </p:txBody>
      </p:sp>
      <p:sp>
        <p:nvSpPr>
          <p:cNvPr id="37" name="Rectangle 36"/>
          <p:cNvSpPr/>
          <p:nvPr/>
        </p:nvSpPr>
        <p:spPr>
          <a:xfrm>
            <a:off x="4724400" y="39497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864100" y="39878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con-aftekenen-navy.png"/>
          <p:cNvPicPr>
            <a:picLocks noChangeAspect="1"/>
          </p:cNvPicPr>
          <p:nvPr/>
        </p:nvPicPr>
        <p:blipFill>
          <a:blip r:embed="rId8"/>
          <a:stretch>
            <a:fillRect/>
          </a:stretch>
        </p:blipFill>
        <p:spPr>
          <a:xfrm>
            <a:off x="5016500" y="4140200"/>
            <a:ext cx="304800" cy="304800"/>
          </a:xfrm>
          <a:prstGeom prst="rect">
            <a:avLst/>
          </a:prstGeom>
        </p:spPr>
      </p:pic>
      <p:sp>
        <p:nvSpPr>
          <p:cNvPr id="40" name="TextBox 39"/>
          <p:cNvSpPr txBox="1"/>
          <p:nvPr/>
        </p:nvSpPr>
        <p:spPr>
          <a:xfrm>
            <a:off x="4241800" y="46863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Cijfer</a:t>
            </a:r>
          </a:p>
        </p:txBody>
      </p:sp>
      <p:sp>
        <p:nvSpPr>
          <p:cNvPr id="41" name="TextBox 40"/>
          <p:cNvSpPr txBox="1"/>
          <p:nvPr/>
        </p:nvSpPr>
        <p:spPr>
          <a:xfrm>
            <a:off x="4089400" y="49530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vastgesteld</a:t>
            </a:r>
          </a:p>
        </p:txBody>
      </p:sp>
      <p:sp>
        <p:nvSpPr>
          <p:cNvPr id="42" name="Rectangle 41"/>
          <p:cNvSpPr/>
          <p:nvPr/>
        </p:nvSpPr>
        <p:spPr>
          <a:xfrm>
            <a:off x="6578600" y="39497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718300" y="39878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on-check-navy.png"/>
          <p:cNvPicPr>
            <a:picLocks noChangeAspect="1"/>
          </p:cNvPicPr>
          <p:nvPr/>
        </p:nvPicPr>
        <p:blipFill>
          <a:blip r:embed="rId9"/>
          <a:stretch>
            <a:fillRect/>
          </a:stretch>
        </p:blipFill>
        <p:spPr>
          <a:xfrm>
            <a:off x="6870700" y="4140200"/>
            <a:ext cx="304800" cy="304800"/>
          </a:xfrm>
          <a:prstGeom prst="rect">
            <a:avLst/>
          </a:prstGeom>
        </p:spPr>
      </p:pic>
      <p:sp>
        <p:nvSpPr>
          <p:cNvPr id="45" name="TextBox 44"/>
          <p:cNvSpPr txBox="1"/>
          <p:nvPr/>
        </p:nvSpPr>
        <p:spPr>
          <a:xfrm>
            <a:off x="6096000" y="46863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Cursusbureau</a:t>
            </a:r>
          </a:p>
        </p:txBody>
      </p:sp>
      <p:sp>
        <p:nvSpPr>
          <p:cNvPr id="46" name="TextBox 45"/>
          <p:cNvSpPr txBox="1"/>
          <p:nvPr/>
        </p:nvSpPr>
        <p:spPr>
          <a:xfrm>
            <a:off x="5943600" y="49530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checkt taal</a:t>
            </a:r>
          </a:p>
        </p:txBody>
      </p:sp>
      <p:sp>
        <p:nvSpPr>
          <p:cNvPr id="47" name="Rectangle 46"/>
          <p:cNvSpPr/>
          <p:nvPr/>
        </p:nvSpPr>
        <p:spPr>
          <a:xfrm>
            <a:off x="8432800" y="39497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572500" y="39878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con-mail-navy.png"/>
          <p:cNvPicPr>
            <a:picLocks noChangeAspect="1"/>
          </p:cNvPicPr>
          <p:nvPr/>
        </p:nvPicPr>
        <p:blipFill>
          <a:blip r:embed="rId10"/>
          <a:stretch>
            <a:fillRect/>
          </a:stretch>
        </p:blipFill>
        <p:spPr>
          <a:xfrm>
            <a:off x="8724900" y="4140200"/>
            <a:ext cx="304800" cy="304800"/>
          </a:xfrm>
          <a:prstGeom prst="rect">
            <a:avLst/>
          </a:prstGeom>
        </p:spPr>
      </p:pic>
      <p:sp>
        <p:nvSpPr>
          <p:cNvPr id="50" name="TextBox 49"/>
          <p:cNvSpPr txBox="1"/>
          <p:nvPr/>
        </p:nvSpPr>
        <p:spPr>
          <a:xfrm>
            <a:off x="7950200" y="46863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Secretariaat</a:t>
            </a:r>
          </a:p>
        </p:txBody>
      </p:sp>
      <p:sp>
        <p:nvSpPr>
          <p:cNvPr id="51" name="TextBox 50"/>
          <p:cNvSpPr txBox="1"/>
          <p:nvPr/>
        </p:nvSpPr>
        <p:spPr>
          <a:xfrm>
            <a:off x="7797800" y="49530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zet het open</a:t>
            </a:r>
          </a:p>
        </p:txBody>
      </p:sp>
      <p:sp>
        <p:nvSpPr>
          <p:cNvPr id="52" name="Rectangle 51"/>
          <p:cNvSpPr/>
          <p:nvPr/>
        </p:nvSpPr>
        <p:spPr>
          <a:xfrm>
            <a:off x="10287000" y="3949700"/>
            <a:ext cx="8890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0426700" y="3987800"/>
            <a:ext cx="609600" cy="609600"/>
          </a:xfrm>
          <a:prstGeom prst="roundRect">
            <a:avLst>
              <a:gd name="adj" fmla="val 24300"/>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icon-studenten-navy.png"/>
          <p:cNvPicPr>
            <a:picLocks noChangeAspect="1"/>
          </p:cNvPicPr>
          <p:nvPr/>
        </p:nvPicPr>
        <p:blipFill>
          <a:blip r:embed="rId11"/>
          <a:stretch>
            <a:fillRect/>
          </a:stretch>
        </p:blipFill>
        <p:spPr>
          <a:xfrm>
            <a:off x="10579100" y="4140200"/>
            <a:ext cx="304800" cy="304800"/>
          </a:xfrm>
          <a:prstGeom prst="rect">
            <a:avLst/>
          </a:prstGeom>
        </p:spPr>
      </p:pic>
      <p:sp>
        <p:nvSpPr>
          <p:cNvPr id="55" name="TextBox 54"/>
          <p:cNvSpPr txBox="1"/>
          <p:nvPr/>
        </p:nvSpPr>
        <p:spPr>
          <a:xfrm>
            <a:off x="9804400" y="4686300"/>
            <a:ext cx="1854200" cy="254000"/>
          </a:xfrm>
          <a:prstGeom prst="rect">
            <a:avLst/>
          </a:prstGeom>
          <a:noFill/>
        </p:spPr>
        <p:txBody>
          <a:bodyPr wrap="square" lIns="0" rIns="0" tIns="0" bIns="0">
            <a:spAutoFit/>
          </a:bodyPr>
          <a:lstStyle/>
          <a:p>
            <a:pPr algn="ctr">
              <a:lnSpc>
                <a:spcPct val="100000"/>
              </a:lnSpc>
            </a:pPr>
            <a:r>
              <a:rPr sz="1700" b="1">
                <a:solidFill>
                  <a:srgbClr val="002333"/>
                </a:solidFill>
                <a:latin typeface="League Spartan"/>
              </a:rPr>
              <a:t>Student</a:t>
            </a:r>
          </a:p>
        </p:txBody>
      </p:sp>
      <p:sp>
        <p:nvSpPr>
          <p:cNvPr id="56" name="TextBox 55"/>
          <p:cNvSpPr txBox="1"/>
          <p:nvPr/>
        </p:nvSpPr>
        <p:spPr>
          <a:xfrm>
            <a:off x="9652000" y="4953000"/>
            <a:ext cx="2159000" cy="571500"/>
          </a:xfrm>
          <a:prstGeom prst="rect">
            <a:avLst/>
          </a:prstGeom>
          <a:noFill/>
        </p:spPr>
        <p:txBody>
          <a:bodyPr wrap="square" lIns="0" rIns="0" tIns="0" bIns="0">
            <a:spAutoFit/>
          </a:bodyPr>
          <a:lstStyle/>
          <a:p>
            <a:pPr algn="ctr">
              <a:lnSpc>
                <a:spcPct val="120000"/>
              </a:lnSpc>
            </a:pPr>
            <a:r>
              <a:rPr sz="1600" b="0">
                <a:solidFill>
                  <a:srgbClr val="5B7480"/>
                </a:solidFill>
                <a:latin typeface="Inter"/>
              </a:rPr>
              <a:t>ziet resultaat</a:t>
            </a:r>
          </a:p>
        </p:txBody>
      </p:sp>
      <p:sp>
        <p:nvSpPr>
          <p:cNvPr id="57" name="Rectangle 56"/>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logo_navy.png"/>
          <p:cNvPicPr>
            <a:picLocks noChangeAspect="1"/>
          </p:cNvPicPr>
          <p:nvPr/>
        </p:nvPicPr>
        <p:blipFill>
          <a:blip r:embed="rId12"/>
          <a:stretch>
            <a:fillRect/>
          </a:stretch>
        </p:blipFill>
        <p:spPr>
          <a:xfrm>
            <a:off x="9010650" y="5759450"/>
            <a:ext cx="1079500" cy="292100"/>
          </a:xfrm>
          <a:prstGeom prst="rect">
            <a:avLst/>
          </a:prstGeom>
        </p:spPr>
      </p:pic>
      <p:sp>
        <p:nvSpPr>
          <p:cNvPr id="59" name="Rectangle 58"/>
          <p:cNvSpPr/>
          <p:nvPr/>
        </p:nvSpPr>
        <p:spPr>
          <a:xfrm>
            <a:off x="10344150" y="5740400"/>
            <a:ext cx="6350" cy="330200"/>
          </a:xfrm>
          <a:prstGeom prst="rect">
            <a:avLst/>
          </a:prstGeom>
          <a:solidFill>
            <a:srgbClr val="CD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klant.png"/>
          <p:cNvPicPr>
            <a:picLocks noChangeAspect="1"/>
          </p:cNvPicPr>
          <p:nvPr/>
        </p:nvPicPr>
        <p:blipFill>
          <a:blip r:embed="rId13"/>
          <a:stretch>
            <a:fillRect/>
          </a:stretch>
        </p:blipFill>
        <p:spPr>
          <a:xfrm>
            <a:off x="10604500" y="5702300"/>
            <a:ext cx="406400" cy="406400"/>
          </a:xfrm>
          <a:prstGeom prst="rect">
            <a:avLst/>
          </a:prstGeom>
        </p:spPr>
      </p:pic>
      <p:sp>
        <p:nvSpPr>
          <p:cNvPr id="61" name="TextBox 60"/>
          <p:cNvSpPr txBox="1"/>
          <p:nvPr/>
        </p:nvSpPr>
        <p:spPr>
          <a:xfrm>
            <a:off x="10795000" y="6375400"/>
            <a:ext cx="635000" cy="228600"/>
          </a:xfrm>
          <a:prstGeom prst="rect">
            <a:avLst/>
          </a:prstGeom>
          <a:noFill/>
        </p:spPr>
        <p:txBody>
          <a:bodyPr wrap="square" lIns="0" rIns="0" tIns="0" bIns="0">
            <a:spAutoFit/>
          </a:bodyPr>
          <a:lstStyle/>
          <a:p>
            <a:pPr algn="r">
              <a:lnSpc>
                <a:spcPct val="115000"/>
              </a:lnSpc>
            </a:pPr>
            <a:r>
              <a:rPr sz="1150" b="0">
                <a:solidFill>
                  <a:srgbClr val="9AAFB8"/>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58800"/>
            <a:ext cx="10668000" cy="762000"/>
          </a:xfrm>
          <a:prstGeom prst="rect">
            <a:avLst/>
          </a:prstGeom>
          <a:noFill/>
        </p:spPr>
        <p:txBody>
          <a:bodyPr wrap="square" lIns="0" rIns="0" tIns="0" bIns="0">
            <a:spAutoFit/>
          </a:bodyPr>
          <a:lstStyle/>
          <a:p>
            <a:pPr algn="ctr">
              <a:lnSpc>
                <a:spcPct val="100000"/>
              </a:lnSpc>
            </a:pPr>
            <a:r>
              <a:rPr sz="4800" b="1">
                <a:solidFill>
                  <a:srgbClr val="002333"/>
                </a:solidFill>
                <a:latin typeface="League Spartan"/>
              </a:rPr>
              <a:t>Probleem</a:t>
            </a:r>
          </a:p>
        </p:txBody>
      </p:sp>
      <p:sp>
        <p:nvSpPr>
          <p:cNvPr id="3" name="Rounded Rectangle 2"/>
          <p:cNvSpPr/>
          <p:nvPr/>
        </p:nvSpPr>
        <p:spPr>
          <a:xfrm>
            <a:off x="762000" y="1587500"/>
            <a:ext cx="4572000" cy="3619500"/>
          </a:xfrm>
          <a:prstGeom prst="roundRect">
            <a:avLst>
              <a:gd name="adj" fmla="val 5614"/>
            </a:avLst>
          </a:prstGeom>
          <a:solidFill>
            <a:srgbClr val="00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7600" y="1892300"/>
            <a:ext cx="3860800" cy="304800"/>
          </a:xfrm>
          <a:prstGeom prst="rect">
            <a:avLst/>
          </a:prstGeom>
          <a:noFill/>
        </p:spPr>
        <p:txBody>
          <a:bodyPr wrap="square" lIns="0" rIns="0" tIns="0" bIns="0">
            <a:spAutoFit/>
          </a:bodyPr>
          <a:lstStyle/>
          <a:p>
            <a:pPr algn="l">
              <a:lnSpc>
                <a:spcPct val="100000"/>
              </a:lnSpc>
            </a:pPr>
            <a:r>
              <a:rPr sz="2200" b="1">
                <a:solidFill>
                  <a:srgbClr val="00E075"/>
                </a:solidFill>
                <a:latin typeface="League Spartan"/>
              </a:rPr>
              <a:t>Geld</a:t>
            </a:r>
          </a:p>
        </p:txBody>
      </p:sp>
      <p:pic>
        <p:nvPicPr>
          <p:cNvPr id="5" name="Picture 4" descr="icon-klok-mint.png"/>
          <p:cNvPicPr>
            <a:picLocks noChangeAspect="1"/>
          </p:cNvPicPr>
          <p:nvPr/>
        </p:nvPicPr>
        <p:blipFill>
          <a:blip r:embed="rId2"/>
          <a:stretch>
            <a:fillRect/>
          </a:stretch>
        </p:blipFill>
        <p:spPr>
          <a:xfrm>
            <a:off x="1117600" y="2540000"/>
            <a:ext cx="355600" cy="355600"/>
          </a:xfrm>
          <a:prstGeom prst="rect">
            <a:avLst/>
          </a:prstGeom>
        </p:spPr>
      </p:pic>
      <p:sp>
        <p:nvSpPr>
          <p:cNvPr id="6" name="TextBox 5"/>
          <p:cNvSpPr txBox="1"/>
          <p:nvPr/>
        </p:nvSpPr>
        <p:spPr>
          <a:xfrm>
            <a:off x="1651000" y="2597150"/>
            <a:ext cx="3429000" cy="279400"/>
          </a:xfrm>
          <a:prstGeom prst="rect">
            <a:avLst/>
          </a:prstGeom>
          <a:noFill/>
        </p:spPr>
        <p:txBody>
          <a:bodyPr wrap="square" lIns="0" rIns="0" tIns="0" bIns="0">
            <a:spAutoFit/>
          </a:bodyPr>
          <a:lstStyle/>
          <a:p>
            <a:pPr algn="l">
              <a:lnSpc>
                <a:spcPct val="100000"/>
              </a:lnSpc>
            </a:pPr>
            <a:r>
              <a:rPr sz="1800" b="0">
                <a:solidFill>
                  <a:srgbClr val="FFFFFF"/>
                </a:solidFill>
                <a:latin typeface="Inter"/>
              </a:rPr>
              <a:t>Betaald per beoordelingsuur</a:t>
            </a:r>
          </a:p>
        </p:txBody>
      </p:sp>
      <p:pic>
        <p:nvPicPr>
          <p:cNvPr id="7" name="Picture 6" descr="icon-pen-mint.png"/>
          <p:cNvPicPr>
            <a:picLocks noChangeAspect="1"/>
          </p:cNvPicPr>
          <p:nvPr/>
        </p:nvPicPr>
        <p:blipFill>
          <a:blip r:embed="rId3"/>
          <a:stretch>
            <a:fillRect/>
          </a:stretch>
        </p:blipFill>
        <p:spPr>
          <a:xfrm>
            <a:off x="1117600" y="3175000"/>
            <a:ext cx="355600" cy="355600"/>
          </a:xfrm>
          <a:prstGeom prst="rect">
            <a:avLst/>
          </a:prstGeom>
        </p:spPr>
      </p:pic>
      <p:sp>
        <p:nvSpPr>
          <p:cNvPr id="8" name="TextBox 7"/>
          <p:cNvSpPr txBox="1"/>
          <p:nvPr/>
        </p:nvSpPr>
        <p:spPr>
          <a:xfrm>
            <a:off x="1651000" y="3232150"/>
            <a:ext cx="3429000" cy="279400"/>
          </a:xfrm>
          <a:prstGeom prst="rect">
            <a:avLst/>
          </a:prstGeom>
          <a:noFill/>
        </p:spPr>
        <p:txBody>
          <a:bodyPr wrap="square" lIns="0" rIns="0" tIns="0" bIns="0">
            <a:spAutoFit/>
          </a:bodyPr>
          <a:lstStyle/>
          <a:p>
            <a:pPr algn="l">
              <a:lnSpc>
                <a:spcPct val="100000"/>
              </a:lnSpc>
            </a:pPr>
            <a:r>
              <a:rPr sz="1800" b="0">
                <a:solidFill>
                  <a:srgbClr val="FFFFFF"/>
                </a:solidFill>
                <a:latin typeface="Inter"/>
              </a:rPr>
              <a:t>Feedback is een eis</a:t>
            </a:r>
          </a:p>
        </p:txBody>
      </p:sp>
      <p:sp>
        <p:nvSpPr>
          <p:cNvPr id="9" name="Rounded Rectangle 8"/>
          <p:cNvSpPr/>
          <p:nvPr/>
        </p:nvSpPr>
        <p:spPr>
          <a:xfrm>
            <a:off x="5588000" y="1587500"/>
            <a:ext cx="5842000" cy="3619500"/>
          </a:xfrm>
          <a:prstGeom prst="roundRect">
            <a:avLst>
              <a:gd name="adj" fmla="val 5614"/>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1892300"/>
            <a:ext cx="5130800" cy="304800"/>
          </a:xfrm>
          <a:prstGeom prst="rect">
            <a:avLst/>
          </a:prstGeom>
          <a:noFill/>
        </p:spPr>
        <p:txBody>
          <a:bodyPr wrap="square" lIns="0" rIns="0" tIns="0" bIns="0">
            <a:spAutoFit/>
          </a:bodyPr>
          <a:lstStyle/>
          <a:p>
            <a:pPr algn="l">
              <a:lnSpc>
                <a:spcPct val="100000"/>
              </a:lnSpc>
            </a:pPr>
            <a:r>
              <a:rPr sz="2200" b="1">
                <a:solidFill>
                  <a:srgbClr val="002333"/>
                </a:solidFill>
                <a:latin typeface="League Spartan"/>
              </a:rPr>
              <a:t>Consistentie</a:t>
            </a:r>
          </a:p>
        </p:txBody>
      </p:sp>
      <p:pic>
        <p:nvPicPr>
          <p:cNvPr id="11" name="Picture 10" descr="icon-verschillen-navy.png"/>
          <p:cNvPicPr>
            <a:picLocks noChangeAspect="1"/>
          </p:cNvPicPr>
          <p:nvPr/>
        </p:nvPicPr>
        <p:blipFill>
          <a:blip r:embed="rId4"/>
          <a:stretch>
            <a:fillRect/>
          </a:stretch>
        </p:blipFill>
        <p:spPr>
          <a:xfrm>
            <a:off x="5943600" y="2540000"/>
            <a:ext cx="355600" cy="355600"/>
          </a:xfrm>
          <a:prstGeom prst="rect">
            <a:avLst/>
          </a:prstGeom>
        </p:spPr>
      </p:pic>
      <p:sp>
        <p:nvSpPr>
          <p:cNvPr id="12" name="TextBox 11"/>
          <p:cNvSpPr txBox="1"/>
          <p:nvPr/>
        </p:nvSpPr>
        <p:spPr>
          <a:xfrm>
            <a:off x="6477000" y="2597150"/>
            <a:ext cx="4699000" cy="279400"/>
          </a:xfrm>
          <a:prstGeom prst="rect">
            <a:avLst/>
          </a:prstGeom>
          <a:noFill/>
        </p:spPr>
        <p:txBody>
          <a:bodyPr wrap="square" lIns="0" rIns="0" tIns="0" bIns="0">
            <a:spAutoFit/>
          </a:bodyPr>
          <a:lstStyle/>
          <a:p>
            <a:pPr algn="l">
              <a:lnSpc>
                <a:spcPct val="100000"/>
              </a:lnSpc>
            </a:pPr>
            <a:r>
              <a:rPr sz="1800" b="0">
                <a:solidFill>
                  <a:srgbClr val="002333"/>
                </a:solidFill>
                <a:latin typeface="Inter"/>
              </a:rPr>
              <a:t>Oordelen van beoordelaars lopen uiteen</a:t>
            </a:r>
          </a:p>
        </p:txBody>
      </p:sp>
      <p:pic>
        <p:nvPicPr>
          <p:cNvPr id="13" name="Picture 12" descr="icon-weegschaal-navy.png"/>
          <p:cNvPicPr>
            <a:picLocks noChangeAspect="1"/>
          </p:cNvPicPr>
          <p:nvPr/>
        </p:nvPicPr>
        <p:blipFill>
          <a:blip r:embed="rId5"/>
          <a:stretch>
            <a:fillRect/>
          </a:stretch>
        </p:blipFill>
        <p:spPr>
          <a:xfrm>
            <a:off x="5943600" y="3175000"/>
            <a:ext cx="355600" cy="355600"/>
          </a:xfrm>
          <a:prstGeom prst="rect">
            <a:avLst/>
          </a:prstGeom>
        </p:spPr>
      </p:pic>
      <p:sp>
        <p:nvSpPr>
          <p:cNvPr id="14" name="TextBox 13"/>
          <p:cNvSpPr txBox="1"/>
          <p:nvPr/>
        </p:nvSpPr>
        <p:spPr>
          <a:xfrm>
            <a:off x="6477000" y="3232150"/>
            <a:ext cx="4699000" cy="279400"/>
          </a:xfrm>
          <a:prstGeom prst="rect">
            <a:avLst/>
          </a:prstGeom>
          <a:noFill/>
        </p:spPr>
        <p:txBody>
          <a:bodyPr wrap="square" lIns="0" rIns="0" tIns="0" bIns="0">
            <a:spAutoFit/>
          </a:bodyPr>
          <a:lstStyle/>
          <a:p>
            <a:pPr algn="l">
              <a:lnSpc>
                <a:spcPct val="100000"/>
              </a:lnSpc>
            </a:pPr>
            <a:r>
              <a:rPr sz="1800" b="0">
                <a:solidFill>
                  <a:srgbClr val="002333"/>
                </a:solidFill>
                <a:latin typeface="Inter"/>
              </a:rPr>
              <a:t>Kalibreren, nieuwe rubric ongetest</a:t>
            </a:r>
          </a:p>
        </p:txBody>
      </p:sp>
      <p:pic>
        <p:nvPicPr>
          <p:cNvPr id="15" name="Picture 14" descr="icon-aftekenen-navy.png"/>
          <p:cNvPicPr>
            <a:picLocks noChangeAspect="1"/>
          </p:cNvPicPr>
          <p:nvPr/>
        </p:nvPicPr>
        <p:blipFill>
          <a:blip r:embed="rId6"/>
          <a:stretch>
            <a:fillRect/>
          </a:stretch>
        </p:blipFill>
        <p:spPr>
          <a:xfrm>
            <a:off x="5943600" y="3810000"/>
            <a:ext cx="355600" cy="355600"/>
          </a:xfrm>
          <a:prstGeom prst="rect">
            <a:avLst/>
          </a:prstGeom>
        </p:spPr>
      </p:pic>
      <p:sp>
        <p:nvSpPr>
          <p:cNvPr id="16" name="TextBox 15"/>
          <p:cNvSpPr txBox="1"/>
          <p:nvPr/>
        </p:nvSpPr>
        <p:spPr>
          <a:xfrm>
            <a:off x="6477000" y="3867150"/>
            <a:ext cx="4699000" cy="279400"/>
          </a:xfrm>
          <a:prstGeom prst="rect">
            <a:avLst/>
          </a:prstGeom>
          <a:noFill/>
        </p:spPr>
        <p:txBody>
          <a:bodyPr wrap="square" lIns="0" rIns="0" tIns="0" bIns="0">
            <a:spAutoFit/>
          </a:bodyPr>
          <a:lstStyle/>
          <a:p>
            <a:pPr algn="l">
              <a:lnSpc>
                <a:spcPct val="100000"/>
              </a:lnSpc>
            </a:pPr>
            <a:r>
              <a:rPr sz="1800" b="0">
                <a:solidFill>
                  <a:srgbClr val="002333"/>
                </a:solidFill>
                <a:latin typeface="Inter"/>
              </a:rPr>
              <a:t>Gesprek over het formulier</a:t>
            </a:r>
          </a:p>
        </p:txBody>
      </p:sp>
      <p:pic>
        <p:nvPicPr>
          <p:cNvPr id="17" name="Picture 16" descr="icon-groep-navy.png"/>
          <p:cNvPicPr>
            <a:picLocks noChangeAspect="1"/>
          </p:cNvPicPr>
          <p:nvPr/>
        </p:nvPicPr>
        <p:blipFill>
          <a:blip r:embed="rId7"/>
          <a:stretch>
            <a:fillRect/>
          </a:stretch>
        </p:blipFill>
        <p:spPr>
          <a:xfrm>
            <a:off x="5943600" y="4445000"/>
            <a:ext cx="355600" cy="355600"/>
          </a:xfrm>
          <a:prstGeom prst="rect">
            <a:avLst/>
          </a:prstGeom>
        </p:spPr>
      </p:pic>
      <p:sp>
        <p:nvSpPr>
          <p:cNvPr id="18" name="TextBox 17"/>
          <p:cNvSpPr txBox="1"/>
          <p:nvPr/>
        </p:nvSpPr>
        <p:spPr>
          <a:xfrm>
            <a:off x="6477000" y="4502150"/>
            <a:ext cx="4699000" cy="279400"/>
          </a:xfrm>
          <a:prstGeom prst="rect">
            <a:avLst/>
          </a:prstGeom>
          <a:noFill/>
        </p:spPr>
        <p:txBody>
          <a:bodyPr wrap="square" lIns="0" rIns="0" tIns="0" bIns="0">
            <a:spAutoFit/>
          </a:bodyPr>
          <a:lstStyle/>
          <a:p>
            <a:pPr algn="l">
              <a:lnSpc>
                <a:spcPct val="100000"/>
              </a:lnSpc>
            </a:pPr>
            <a:r>
              <a:rPr sz="1800" b="0">
                <a:solidFill>
                  <a:srgbClr val="002333"/>
                </a:solidFill>
                <a:latin typeface="Inter"/>
              </a:rPr>
              <a:t>Directie als breekijzer</a:t>
            </a:r>
          </a:p>
        </p:txBody>
      </p:sp>
      <p:sp>
        <p:nvSpPr>
          <p:cNvPr id="19" name="Rectangle 18"/>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ogo_navy.png"/>
          <p:cNvPicPr>
            <a:picLocks noChangeAspect="1"/>
          </p:cNvPicPr>
          <p:nvPr/>
        </p:nvPicPr>
        <p:blipFill>
          <a:blip r:embed="rId8"/>
          <a:stretch>
            <a:fillRect/>
          </a:stretch>
        </p:blipFill>
        <p:spPr>
          <a:xfrm>
            <a:off x="9010650" y="5759450"/>
            <a:ext cx="1079500" cy="292100"/>
          </a:xfrm>
          <a:prstGeom prst="rect">
            <a:avLst/>
          </a:prstGeom>
        </p:spPr>
      </p:pic>
      <p:sp>
        <p:nvSpPr>
          <p:cNvPr id="21" name="Rectangle 20"/>
          <p:cNvSpPr/>
          <p:nvPr/>
        </p:nvSpPr>
        <p:spPr>
          <a:xfrm>
            <a:off x="10344150" y="5740400"/>
            <a:ext cx="6350" cy="330200"/>
          </a:xfrm>
          <a:prstGeom prst="rect">
            <a:avLst/>
          </a:prstGeom>
          <a:solidFill>
            <a:srgbClr val="CD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klant.png"/>
          <p:cNvPicPr>
            <a:picLocks noChangeAspect="1"/>
          </p:cNvPicPr>
          <p:nvPr/>
        </p:nvPicPr>
        <p:blipFill>
          <a:blip r:embed="rId9"/>
          <a:stretch>
            <a:fillRect/>
          </a:stretch>
        </p:blipFill>
        <p:spPr>
          <a:xfrm>
            <a:off x="10604500" y="5702300"/>
            <a:ext cx="406400" cy="406400"/>
          </a:xfrm>
          <a:prstGeom prst="rect">
            <a:avLst/>
          </a:prstGeom>
        </p:spPr>
      </p:pic>
      <p:sp>
        <p:nvSpPr>
          <p:cNvPr id="23" name="TextBox 22"/>
          <p:cNvSpPr txBox="1"/>
          <p:nvPr/>
        </p:nvSpPr>
        <p:spPr>
          <a:xfrm>
            <a:off x="10795000" y="6375400"/>
            <a:ext cx="635000" cy="228600"/>
          </a:xfrm>
          <a:prstGeom prst="rect">
            <a:avLst/>
          </a:prstGeom>
          <a:noFill/>
        </p:spPr>
        <p:txBody>
          <a:bodyPr wrap="square" lIns="0" rIns="0" tIns="0" bIns="0">
            <a:spAutoFit/>
          </a:bodyPr>
          <a:lstStyle/>
          <a:p>
            <a:pPr algn="r">
              <a:lnSpc>
                <a:spcPct val="115000"/>
              </a:lnSpc>
            </a:pPr>
            <a:r>
              <a:rPr sz="1150" b="0">
                <a:solidFill>
                  <a:srgbClr val="9AAFB8"/>
                </a:solidFill>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58800"/>
            <a:ext cx="10668000" cy="762000"/>
          </a:xfrm>
          <a:prstGeom prst="rect">
            <a:avLst/>
          </a:prstGeom>
          <a:noFill/>
        </p:spPr>
        <p:txBody>
          <a:bodyPr wrap="square" lIns="0" rIns="0" tIns="0" bIns="0">
            <a:spAutoFit/>
          </a:bodyPr>
          <a:lstStyle/>
          <a:p>
            <a:pPr algn="ctr">
              <a:lnSpc>
                <a:spcPct val="100000"/>
              </a:lnSpc>
            </a:pPr>
            <a:r>
              <a:rPr sz="4800" b="1">
                <a:solidFill>
                  <a:srgbClr val="002333"/>
                </a:solidFill>
                <a:latin typeface="League Spartan"/>
              </a:rPr>
              <a:t>Oplossing</a:t>
            </a:r>
          </a:p>
        </p:txBody>
      </p:sp>
      <p:sp>
        <p:nvSpPr>
          <p:cNvPr id="3" name="Rounded Rectangle 2"/>
          <p:cNvSpPr/>
          <p:nvPr/>
        </p:nvSpPr>
        <p:spPr>
          <a:xfrm>
            <a:off x="762000" y="1587500"/>
            <a:ext cx="4572000" cy="3619500"/>
          </a:xfrm>
          <a:prstGeom prst="roundRect">
            <a:avLst>
              <a:gd name="adj" fmla="val 5614"/>
            </a:avLst>
          </a:prstGeom>
          <a:solidFill>
            <a:srgbClr val="00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7600" y="1892300"/>
            <a:ext cx="3860800" cy="304800"/>
          </a:xfrm>
          <a:prstGeom prst="rect">
            <a:avLst/>
          </a:prstGeom>
          <a:noFill/>
        </p:spPr>
        <p:txBody>
          <a:bodyPr wrap="square" lIns="0" rIns="0" tIns="0" bIns="0">
            <a:spAutoFit/>
          </a:bodyPr>
          <a:lstStyle/>
          <a:p>
            <a:pPr algn="l">
              <a:lnSpc>
                <a:spcPct val="100000"/>
              </a:lnSpc>
            </a:pPr>
            <a:r>
              <a:rPr sz="2200" b="1">
                <a:solidFill>
                  <a:srgbClr val="00E075"/>
                </a:solidFill>
                <a:latin typeface="League Spartan"/>
              </a:rPr>
              <a:t>Geld besparen</a:t>
            </a:r>
          </a:p>
        </p:txBody>
      </p:sp>
      <p:pic>
        <p:nvPicPr>
          <p:cNvPr id="5" name="Picture 4" descr="icon-filepen-mint.png"/>
          <p:cNvPicPr>
            <a:picLocks noChangeAspect="1"/>
          </p:cNvPicPr>
          <p:nvPr/>
        </p:nvPicPr>
        <p:blipFill>
          <a:blip r:embed="rId2"/>
          <a:stretch>
            <a:fillRect/>
          </a:stretch>
        </p:blipFill>
        <p:spPr>
          <a:xfrm>
            <a:off x="1117600" y="2540000"/>
            <a:ext cx="355600" cy="355600"/>
          </a:xfrm>
          <a:prstGeom prst="rect">
            <a:avLst/>
          </a:prstGeom>
        </p:spPr>
      </p:pic>
      <p:sp>
        <p:nvSpPr>
          <p:cNvPr id="6" name="TextBox 5"/>
          <p:cNvSpPr txBox="1"/>
          <p:nvPr/>
        </p:nvSpPr>
        <p:spPr>
          <a:xfrm>
            <a:off x="1651000" y="2597150"/>
            <a:ext cx="3429000" cy="279400"/>
          </a:xfrm>
          <a:prstGeom prst="rect">
            <a:avLst/>
          </a:prstGeom>
          <a:noFill/>
        </p:spPr>
        <p:txBody>
          <a:bodyPr wrap="square" lIns="0" rIns="0" tIns="0" bIns="0">
            <a:spAutoFit/>
          </a:bodyPr>
          <a:lstStyle/>
          <a:p>
            <a:pPr algn="l">
              <a:lnSpc>
                <a:spcPct val="100000"/>
              </a:lnSpc>
            </a:pPr>
            <a:r>
              <a:rPr sz="1800" b="0">
                <a:solidFill>
                  <a:srgbClr val="FFFFFF"/>
                </a:solidFill>
                <a:latin typeface="Inter"/>
              </a:rPr>
              <a:t>Start met een eerste versie</a:t>
            </a:r>
          </a:p>
        </p:txBody>
      </p:sp>
      <p:pic>
        <p:nvPicPr>
          <p:cNvPr id="7" name="Picture 6" descr="icon-klok-mint.png"/>
          <p:cNvPicPr>
            <a:picLocks noChangeAspect="1"/>
          </p:cNvPicPr>
          <p:nvPr/>
        </p:nvPicPr>
        <p:blipFill>
          <a:blip r:embed="rId3"/>
          <a:stretch>
            <a:fillRect/>
          </a:stretch>
        </p:blipFill>
        <p:spPr>
          <a:xfrm>
            <a:off x="1117600" y="3175000"/>
            <a:ext cx="355600" cy="355600"/>
          </a:xfrm>
          <a:prstGeom prst="rect">
            <a:avLst/>
          </a:prstGeom>
        </p:spPr>
      </p:pic>
      <p:sp>
        <p:nvSpPr>
          <p:cNvPr id="8" name="TextBox 7"/>
          <p:cNvSpPr txBox="1"/>
          <p:nvPr/>
        </p:nvSpPr>
        <p:spPr>
          <a:xfrm>
            <a:off x="1651000" y="3232150"/>
            <a:ext cx="3429000" cy="279400"/>
          </a:xfrm>
          <a:prstGeom prst="rect">
            <a:avLst/>
          </a:prstGeom>
          <a:noFill/>
        </p:spPr>
        <p:txBody>
          <a:bodyPr wrap="square" lIns="0" rIns="0" tIns="0" bIns="0">
            <a:spAutoFit/>
          </a:bodyPr>
          <a:lstStyle/>
          <a:p>
            <a:pPr algn="l">
              <a:lnSpc>
                <a:spcPct val="100000"/>
              </a:lnSpc>
            </a:pPr>
            <a:r>
              <a:rPr sz="1800" b="0">
                <a:solidFill>
                  <a:srgbClr val="FFFFFF"/>
                </a:solidFill>
                <a:latin typeface="Inter"/>
              </a:rPr>
              <a:t>Minder beoordelingsuren</a:t>
            </a:r>
          </a:p>
        </p:txBody>
      </p:sp>
      <p:pic>
        <p:nvPicPr>
          <p:cNvPr id="9" name="Picture 8" descr="icon-historie-mint.png"/>
          <p:cNvPicPr>
            <a:picLocks noChangeAspect="1"/>
          </p:cNvPicPr>
          <p:nvPr/>
        </p:nvPicPr>
        <p:blipFill>
          <a:blip r:embed="rId4"/>
          <a:stretch>
            <a:fillRect/>
          </a:stretch>
        </p:blipFill>
        <p:spPr>
          <a:xfrm>
            <a:off x="1117600" y="3810000"/>
            <a:ext cx="355600" cy="355600"/>
          </a:xfrm>
          <a:prstGeom prst="rect">
            <a:avLst/>
          </a:prstGeom>
        </p:spPr>
      </p:pic>
      <p:sp>
        <p:nvSpPr>
          <p:cNvPr id="10" name="TextBox 9"/>
          <p:cNvSpPr txBox="1"/>
          <p:nvPr/>
        </p:nvSpPr>
        <p:spPr>
          <a:xfrm>
            <a:off x="1651000" y="3867150"/>
            <a:ext cx="3429000" cy="279400"/>
          </a:xfrm>
          <a:prstGeom prst="rect">
            <a:avLst/>
          </a:prstGeom>
          <a:noFill/>
        </p:spPr>
        <p:txBody>
          <a:bodyPr wrap="square" lIns="0" rIns="0" tIns="0" bIns="0">
            <a:spAutoFit/>
          </a:bodyPr>
          <a:lstStyle/>
          <a:p>
            <a:pPr algn="l">
              <a:lnSpc>
                <a:spcPct val="100000"/>
              </a:lnSpc>
            </a:pPr>
            <a:r>
              <a:rPr sz="1800" b="0">
                <a:solidFill>
                  <a:srgbClr val="FFFFFF"/>
                </a:solidFill>
                <a:latin typeface="Inter"/>
              </a:rPr>
              <a:t>Eerder een cijfer</a:t>
            </a:r>
          </a:p>
        </p:txBody>
      </p:sp>
      <p:sp>
        <p:nvSpPr>
          <p:cNvPr id="11" name="Rounded Rectangle 10"/>
          <p:cNvSpPr/>
          <p:nvPr/>
        </p:nvSpPr>
        <p:spPr>
          <a:xfrm>
            <a:off x="5588000" y="1587500"/>
            <a:ext cx="5842000" cy="3619500"/>
          </a:xfrm>
          <a:prstGeom prst="roundRect">
            <a:avLst>
              <a:gd name="adj" fmla="val 5614"/>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0" y="1892300"/>
            <a:ext cx="5130800" cy="304800"/>
          </a:xfrm>
          <a:prstGeom prst="rect">
            <a:avLst/>
          </a:prstGeom>
          <a:noFill/>
        </p:spPr>
        <p:txBody>
          <a:bodyPr wrap="square" lIns="0" rIns="0" tIns="0" bIns="0">
            <a:spAutoFit/>
          </a:bodyPr>
          <a:lstStyle/>
          <a:p>
            <a:pPr algn="l">
              <a:lnSpc>
                <a:spcPct val="100000"/>
              </a:lnSpc>
            </a:pPr>
            <a:r>
              <a:rPr sz="2200" b="1">
                <a:solidFill>
                  <a:srgbClr val="002333"/>
                </a:solidFill>
                <a:latin typeface="League Spartan"/>
              </a:rPr>
              <a:t>Consistentie</a:t>
            </a:r>
          </a:p>
        </p:txBody>
      </p:sp>
      <p:pic>
        <p:nvPicPr>
          <p:cNvPr id="13" name="Picture 12" descr="icon-rubric-navy.png"/>
          <p:cNvPicPr>
            <a:picLocks noChangeAspect="1"/>
          </p:cNvPicPr>
          <p:nvPr/>
        </p:nvPicPr>
        <p:blipFill>
          <a:blip r:embed="rId5"/>
          <a:stretch>
            <a:fillRect/>
          </a:stretch>
        </p:blipFill>
        <p:spPr>
          <a:xfrm>
            <a:off x="5943600" y="2540000"/>
            <a:ext cx="355600" cy="355600"/>
          </a:xfrm>
          <a:prstGeom prst="rect">
            <a:avLst/>
          </a:prstGeom>
        </p:spPr>
      </p:pic>
      <p:sp>
        <p:nvSpPr>
          <p:cNvPr id="14" name="TextBox 13"/>
          <p:cNvSpPr txBox="1"/>
          <p:nvPr/>
        </p:nvSpPr>
        <p:spPr>
          <a:xfrm>
            <a:off x="6477000" y="2597150"/>
            <a:ext cx="4699000" cy="279400"/>
          </a:xfrm>
          <a:prstGeom prst="rect">
            <a:avLst/>
          </a:prstGeom>
          <a:noFill/>
        </p:spPr>
        <p:txBody>
          <a:bodyPr wrap="square" lIns="0" rIns="0" tIns="0" bIns="0">
            <a:spAutoFit/>
          </a:bodyPr>
          <a:lstStyle/>
          <a:p>
            <a:pPr algn="l">
              <a:lnSpc>
                <a:spcPct val="100000"/>
              </a:lnSpc>
            </a:pPr>
            <a:r>
              <a:rPr sz="1800" b="0">
                <a:solidFill>
                  <a:srgbClr val="002333"/>
                </a:solidFill>
                <a:latin typeface="Inter"/>
              </a:rPr>
              <a:t>Dezelfde rubric voor elke opdracht</a:t>
            </a:r>
          </a:p>
        </p:txBody>
      </p:sp>
      <p:pic>
        <p:nvPicPr>
          <p:cNvPr id="15" name="Picture 14" descr="icon-cijfers-navy.png"/>
          <p:cNvPicPr>
            <a:picLocks noChangeAspect="1"/>
          </p:cNvPicPr>
          <p:nvPr/>
        </p:nvPicPr>
        <p:blipFill>
          <a:blip r:embed="rId6"/>
          <a:stretch>
            <a:fillRect/>
          </a:stretch>
        </p:blipFill>
        <p:spPr>
          <a:xfrm>
            <a:off x="5943600" y="3175000"/>
            <a:ext cx="355600" cy="355600"/>
          </a:xfrm>
          <a:prstGeom prst="rect">
            <a:avLst/>
          </a:prstGeom>
        </p:spPr>
      </p:pic>
      <p:sp>
        <p:nvSpPr>
          <p:cNvPr id="16" name="TextBox 15"/>
          <p:cNvSpPr txBox="1"/>
          <p:nvPr/>
        </p:nvSpPr>
        <p:spPr>
          <a:xfrm>
            <a:off x="6477000" y="3232150"/>
            <a:ext cx="4699000" cy="279400"/>
          </a:xfrm>
          <a:prstGeom prst="rect">
            <a:avLst/>
          </a:prstGeom>
          <a:noFill/>
        </p:spPr>
        <p:txBody>
          <a:bodyPr wrap="square" lIns="0" rIns="0" tIns="0" bIns="0">
            <a:spAutoFit/>
          </a:bodyPr>
          <a:lstStyle/>
          <a:p>
            <a:pPr algn="l">
              <a:lnSpc>
                <a:spcPct val="100000"/>
              </a:lnSpc>
            </a:pPr>
            <a:r>
              <a:rPr sz="1800" b="0">
                <a:solidFill>
                  <a:srgbClr val="002333"/>
                </a:solidFill>
                <a:latin typeface="Inter"/>
              </a:rPr>
              <a:t>Uitlegbare cijferopbouw per criterium</a:t>
            </a:r>
          </a:p>
        </p:txBody>
      </p:sp>
      <p:pic>
        <p:nvPicPr>
          <p:cNvPr id="17" name="Picture 16" descr="icon-gesprek-navy.png"/>
          <p:cNvPicPr>
            <a:picLocks noChangeAspect="1"/>
          </p:cNvPicPr>
          <p:nvPr/>
        </p:nvPicPr>
        <p:blipFill>
          <a:blip r:embed="rId7"/>
          <a:stretch>
            <a:fillRect/>
          </a:stretch>
        </p:blipFill>
        <p:spPr>
          <a:xfrm>
            <a:off x="5943600" y="3810000"/>
            <a:ext cx="355600" cy="355600"/>
          </a:xfrm>
          <a:prstGeom prst="rect">
            <a:avLst/>
          </a:prstGeom>
        </p:spPr>
      </p:pic>
      <p:sp>
        <p:nvSpPr>
          <p:cNvPr id="18" name="TextBox 17"/>
          <p:cNvSpPr txBox="1"/>
          <p:nvPr/>
        </p:nvSpPr>
        <p:spPr>
          <a:xfrm>
            <a:off x="6477000" y="3867150"/>
            <a:ext cx="4699000" cy="279400"/>
          </a:xfrm>
          <a:prstGeom prst="rect">
            <a:avLst/>
          </a:prstGeom>
          <a:noFill/>
        </p:spPr>
        <p:txBody>
          <a:bodyPr wrap="square" lIns="0" rIns="0" tIns="0" bIns="0">
            <a:spAutoFit/>
          </a:bodyPr>
          <a:lstStyle/>
          <a:p>
            <a:pPr algn="l">
              <a:lnSpc>
                <a:spcPct val="100000"/>
              </a:lnSpc>
            </a:pPr>
            <a:r>
              <a:rPr sz="1800" b="0">
                <a:solidFill>
                  <a:srgbClr val="002333"/>
                </a:solidFill>
                <a:latin typeface="Inter"/>
              </a:rPr>
              <a:t>Kalibreren begint bij de inhoud</a:t>
            </a:r>
          </a:p>
        </p:txBody>
      </p:sp>
      <p:sp>
        <p:nvSpPr>
          <p:cNvPr id="19" name="Rectangle 18"/>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ogo_navy.png"/>
          <p:cNvPicPr>
            <a:picLocks noChangeAspect="1"/>
          </p:cNvPicPr>
          <p:nvPr/>
        </p:nvPicPr>
        <p:blipFill>
          <a:blip r:embed="rId8"/>
          <a:stretch>
            <a:fillRect/>
          </a:stretch>
        </p:blipFill>
        <p:spPr>
          <a:xfrm>
            <a:off x="9010650" y="5759450"/>
            <a:ext cx="1079500" cy="292100"/>
          </a:xfrm>
          <a:prstGeom prst="rect">
            <a:avLst/>
          </a:prstGeom>
        </p:spPr>
      </p:pic>
      <p:sp>
        <p:nvSpPr>
          <p:cNvPr id="21" name="Rectangle 20"/>
          <p:cNvSpPr/>
          <p:nvPr/>
        </p:nvSpPr>
        <p:spPr>
          <a:xfrm>
            <a:off x="10344150" y="5740400"/>
            <a:ext cx="6350" cy="330200"/>
          </a:xfrm>
          <a:prstGeom prst="rect">
            <a:avLst/>
          </a:prstGeom>
          <a:solidFill>
            <a:srgbClr val="CD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klant.png"/>
          <p:cNvPicPr>
            <a:picLocks noChangeAspect="1"/>
          </p:cNvPicPr>
          <p:nvPr/>
        </p:nvPicPr>
        <p:blipFill>
          <a:blip r:embed="rId9"/>
          <a:stretch>
            <a:fillRect/>
          </a:stretch>
        </p:blipFill>
        <p:spPr>
          <a:xfrm>
            <a:off x="10604500" y="5702300"/>
            <a:ext cx="406400" cy="406400"/>
          </a:xfrm>
          <a:prstGeom prst="rect">
            <a:avLst/>
          </a:prstGeom>
        </p:spPr>
      </p:pic>
      <p:sp>
        <p:nvSpPr>
          <p:cNvPr id="23" name="TextBox 22"/>
          <p:cNvSpPr txBox="1"/>
          <p:nvPr/>
        </p:nvSpPr>
        <p:spPr>
          <a:xfrm>
            <a:off x="10795000" y="6375400"/>
            <a:ext cx="635000" cy="228600"/>
          </a:xfrm>
          <a:prstGeom prst="rect">
            <a:avLst/>
          </a:prstGeom>
          <a:noFill/>
        </p:spPr>
        <p:txBody>
          <a:bodyPr wrap="square" lIns="0" rIns="0" tIns="0" bIns="0">
            <a:spAutoFit/>
          </a:bodyPr>
          <a:lstStyle/>
          <a:p>
            <a:pPr algn="r">
              <a:lnSpc>
                <a:spcPct val="115000"/>
              </a:lnSpc>
            </a:pPr>
            <a:r>
              <a:rPr sz="1150" b="0">
                <a:solidFill>
                  <a:srgbClr val="9AAFB8"/>
                </a:solidFill>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58800"/>
            <a:ext cx="10668000" cy="762000"/>
          </a:xfrm>
          <a:prstGeom prst="rect">
            <a:avLst/>
          </a:prstGeom>
          <a:noFill/>
        </p:spPr>
        <p:txBody>
          <a:bodyPr wrap="square" lIns="0" rIns="0" tIns="0" bIns="0">
            <a:spAutoFit/>
          </a:bodyPr>
          <a:lstStyle/>
          <a:p>
            <a:pPr algn="ctr">
              <a:lnSpc>
                <a:spcPct val="100000"/>
              </a:lnSpc>
            </a:pPr>
            <a:r>
              <a:rPr sz="4800" b="1">
                <a:solidFill>
                  <a:srgbClr val="002333"/>
                </a:solidFill>
                <a:latin typeface="League Spartan"/>
              </a:rPr>
              <a:t>Prijs</a:t>
            </a:r>
          </a:p>
        </p:txBody>
      </p:sp>
      <p:sp>
        <p:nvSpPr>
          <p:cNvPr id="3" name="TextBox 2"/>
          <p:cNvSpPr txBox="1"/>
          <p:nvPr/>
        </p:nvSpPr>
        <p:spPr>
          <a:xfrm>
            <a:off x="762000" y="1905000"/>
            <a:ext cx="5105400" cy="1206500"/>
          </a:xfrm>
          <a:prstGeom prst="rect">
            <a:avLst/>
          </a:prstGeom>
          <a:noFill/>
        </p:spPr>
        <p:txBody>
          <a:bodyPr wrap="square" lIns="0" rIns="0" tIns="0" bIns="0">
            <a:spAutoFit/>
          </a:bodyPr>
          <a:lstStyle/>
          <a:p>
            <a:pPr algn="ctr">
              <a:lnSpc>
                <a:spcPct val="100000"/>
              </a:lnSpc>
            </a:pPr>
            <a:r>
              <a:rPr sz="9000" b="1">
                <a:solidFill>
                  <a:srgbClr val="002333"/>
                </a:solidFill>
                <a:latin typeface="League Spartan"/>
              </a:rPr>
              <a:t>€10</a:t>
            </a:r>
          </a:p>
        </p:txBody>
      </p:sp>
      <p:sp>
        <p:nvSpPr>
          <p:cNvPr id="4" name="TextBox 3"/>
          <p:cNvSpPr txBox="1"/>
          <p:nvPr/>
        </p:nvSpPr>
        <p:spPr>
          <a:xfrm>
            <a:off x="762000" y="3365500"/>
            <a:ext cx="5105400" cy="317500"/>
          </a:xfrm>
          <a:prstGeom prst="rect">
            <a:avLst/>
          </a:prstGeom>
          <a:noFill/>
        </p:spPr>
        <p:txBody>
          <a:bodyPr wrap="square" lIns="0" rIns="0" tIns="0" bIns="0">
            <a:spAutoFit/>
          </a:bodyPr>
          <a:lstStyle/>
          <a:p>
            <a:pPr algn="ctr">
              <a:lnSpc>
                <a:spcPct val="100000"/>
              </a:lnSpc>
            </a:pPr>
            <a:r>
              <a:rPr sz="2200" b="1">
                <a:solidFill>
                  <a:srgbClr val="002333"/>
                </a:solidFill>
                <a:latin typeface="League Spartan"/>
              </a:rPr>
              <a:t>per student per maand</a:t>
            </a:r>
          </a:p>
        </p:txBody>
      </p:sp>
      <p:sp>
        <p:nvSpPr>
          <p:cNvPr id="5" name="TextBox 4"/>
          <p:cNvSpPr txBox="1"/>
          <p:nvPr/>
        </p:nvSpPr>
        <p:spPr>
          <a:xfrm>
            <a:off x="762000" y="3797300"/>
            <a:ext cx="5105400" cy="279400"/>
          </a:xfrm>
          <a:prstGeom prst="rect">
            <a:avLst/>
          </a:prstGeom>
          <a:noFill/>
        </p:spPr>
        <p:txBody>
          <a:bodyPr wrap="square" lIns="0" rIns="0" tIns="0" bIns="0">
            <a:spAutoFit/>
          </a:bodyPr>
          <a:lstStyle/>
          <a:p>
            <a:pPr algn="ctr">
              <a:lnSpc>
                <a:spcPct val="100000"/>
              </a:lnSpc>
            </a:pPr>
            <a:r>
              <a:rPr sz="1700" b="0">
                <a:solidFill>
                  <a:srgbClr val="5B7480"/>
                </a:solidFill>
                <a:latin typeface="Inter"/>
              </a:rPr>
              <a:t>minimaal 150 studenten</a:t>
            </a:r>
          </a:p>
        </p:txBody>
      </p:sp>
      <p:sp>
        <p:nvSpPr>
          <p:cNvPr id="6" name="TextBox 5"/>
          <p:cNvSpPr txBox="1"/>
          <p:nvPr/>
        </p:nvSpPr>
        <p:spPr>
          <a:xfrm>
            <a:off x="6324600" y="1905000"/>
            <a:ext cx="5105400" cy="1206500"/>
          </a:xfrm>
          <a:prstGeom prst="rect">
            <a:avLst/>
          </a:prstGeom>
          <a:noFill/>
        </p:spPr>
        <p:txBody>
          <a:bodyPr wrap="square" lIns="0" rIns="0" tIns="0" bIns="0">
            <a:spAutoFit/>
          </a:bodyPr>
          <a:lstStyle/>
          <a:p>
            <a:pPr algn="ctr">
              <a:lnSpc>
                <a:spcPct val="100000"/>
              </a:lnSpc>
            </a:pPr>
            <a:r>
              <a:rPr sz="9000" b="1">
                <a:solidFill>
                  <a:srgbClr val="002333"/>
                </a:solidFill>
                <a:latin typeface="League Spartan"/>
              </a:rPr>
              <a:t>€1.500</a:t>
            </a:r>
          </a:p>
        </p:txBody>
      </p:sp>
      <p:sp>
        <p:nvSpPr>
          <p:cNvPr id="7" name="TextBox 6"/>
          <p:cNvSpPr txBox="1"/>
          <p:nvPr/>
        </p:nvSpPr>
        <p:spPr>
          <a:xfrm>
            <a:off x="6324600" y="3365500"/>
            <a:ext cx="5105400" cy="317500"/>
          </a:xfrm>
          <a:prstGeom prst="rect">
            <a:avLst/>
          </a:prstGeom>
          <a:noFill/>
        </p:spPr>
        <p:txBody>
          <a:bodyPr wrap="square" lIns="0" rIns="0" tIns="0" bIns="0">
            <a:spAutoFit/>
          </a:bodyPr>
          <a:lstStyle/>
          <a:p>
            <a:pPr algn="ctr">
              <a:lnSpc>
                <a:spcPct val="100000"/>
              </a:lnSpc>
            </a:pPr>
            <a:r>
              <a:rPr sz="2200" b="1">
                <a:solidFill>
                  <a:srgbClr val="002333"/>
                </a:solidFill>
                <a:latin typeface="League Spartan"/>
              </a:rPr>
              <a:t>minimaal</a:t>
            </a:r>
          </a:p>
        </p:txBody>
      </p:sp>
      <p:sp>
        <p:nvSpPr>
          <p:cNvPr id="8" name="TextBox 7"/>
          <p:cNvSpPr txBox="1"/>
          <p:nvPr/>
        </p:nvSpPr>
        <p:spPr>
          <a:xfrm>
            <a:off x="6324600" y="3797300"/>
            <a:ext cx="5105400" cy="279400"/>
          </a:xfrm>
          <a:prstGeom prst="rect">
            <a:avLst/>
          </a:prstGeom>
          <a:noFill/>
        </p:spPr>
        <p:txBody>
          <a:bodyPr wrap="square" lIns="0" rIns="0" tIns="0" bIns="0">
            <a:spAutoFit/>
          </a:bodyPr>
          <a:lstStyle/>
          <a:p>
            <a:pPr algn="ctr">
              <a:lnSpc>
                <a:spcPct val="100000"/>
              </a:lnSpc>
            </a:pPr>
            <a:r>
              <a:rPr sz="1700" b="0">
                <a:solidFill>
                  <a:srgbClr val="5B7480"/>
                </a:solidFill>
                <a:latin typeface="Inter"/>
              </a:rPr>
              <a:t>voor het reserveren van AI-capaciteit</a:t>
            </a:r>
          </a:p>
        </p:txBody>
      </p:sp>
      <p:sp>
        <p:nvSpPr>
          <p:cNvPr id="9" name="Rectangle 8"/>
          <p:cNvSpPr/>
          <p:nvPr/>
        </p:nvSpPr>
        <p:spPr>
          <a:xfrm>
            <a:off x="6089650" y="1905000"/>
            <a:ext cx="12700" cy="215900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go_navy.png"/>
          <p:cNvPicPr>
            <a:picLocks noChangeAspect="1"/>
          </p:cNvPicPr>
          <p:nvPr/>
        </p:nvPicPr>
        <p:blipFill>
          <a:blip r:embed="rId2"/>
          <a:stretch>
            <a:fillRect/>
          </a:stretch>
        </p:blipFill>
        <p:spPr>
          <a:xfrm>
            <a:off x="9010650" y="5759450"/>
            <a:ext cx="1079500" cy="292100"/>
          </a:xfrm>
          <a:prstGeom prst="rect">
            <a:avLst/>
          </a:prstGeom>
        </p:spPr>
      </p:pic>
      <p:sp>
        <p:nvSpPr>
          <p:cNvPr id="12" name="Rectangle 11"/>
          <p:cNvSpPr/>
          <p:nvPr/>
        </p:nvSpPr>
        <p:spPr>
          <a:xfrm>
            <a:off x="10344150" y="5740400"/>
            <a:ext cx="6350" cy="330200"/>
          </a:xfrm>
          <a:prstGeom prst="rect">
            <a:avLst/>
          </a:prstGeom>
          <a:solidFill>
            <a:srgbClr val="CD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klant.png"/>
          <p:cNvPicPr>
            <a:picLocks noChangeAspect="1"/>
          </p:cNvPicPr>
          <p:nvPr/>
        </p:nvPicPr>
        <p:blipFill>
          <a:blip r:embed="rId3"/>
          <a:stretch>
            <a:fillRect/>
          </a:stretch>
        </p:blipFill>
        <p:spPr>
          <a:xfrm>
            <a:off x="10604500" y="5702300"/>
            <a:ext cx="406400" cy="406400"/>
          </a:xfrm>
          <a:prstGeom prst="rect">
            <a:avLst/>
          </a:prstGeom>
        </p:spPr>
      </p:pic>
      <p:sp>
        <p:nvSpPr>
          <p:cNvPr id="14" name="TextBox 13"/>
          <p:cNvSpPr txBox="1"/>
          <p:nvPr/>
        </p:nvSpPr>
        <p:spPr>
          <a:xfrm>
            <a:off x="10795000" y="6375400"/>
            <a:ext cx="635000" cy="228600"/>
          </a:xfrm>
          <a:prstGeom prst="rect">
            <a:avLst/>
          </a:prstGeom>
          <a:noFill/>
        </p:spPr>
        <p:txBody>
          <a:bodyPr wrap="square" lIns="0" rIns="0" tIns="0" bIns="0">
            <a:spAutoFit/>
          </a:bodyPr>
          <a:lstStyle/>
          <a:p>
            <a:pPr algn="r">
              <a:lnSpc>
                <a:spcPct val="115000"/>
              </a:lnSpc>
            </a:pPr>
            <a:r>
              <a:rPr sz="1150" b="0">
                <a:solidFill>
                  <a:srgbClr val="9AAFB8"/>
                </a:solidFill>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558800"/>
            <a:ext cx="10668000" cy="762000"/>
          </a:xfrm>
          <a:prstGeom prst="rect">
            <a:avLst/>
          </a:prstGeom>
          <a:noFill/>
        </p:spPr>
        <p:txBody>
          <a:bodyPr wrap="square" lIns="0" rIns="0" tIns="0" bIns="0">
            <a:spAutoFit/>
          </a:bodyPr>
          <a:lstStyle/>
          <a:p>
            <a:pPr algn="ctr">
              <a:lnSpc>
                <a:spcPct val="100000"/>
              </a:lnSpc>
            </a:pPr>
            <a:r>
              <a:rPr sz="4800" b="1">
                <a:solidFill>
                  <a:srgbClr val="002333"/>
                </a:solidFill>
                <a:latin typeface="League Spartan"/>
              </a:rPr>
              <a:t>Demo</a:t>
            </a:r>
          </a:p>
        </p:txBody>
      </p:sp>
      <p:sp>
        <p:nvSpPr>
          <p:cNvPr id="3" name="Rounded Rectangle 2"/>
          <p:cNvSpPr/>
          <p:nvPr/>
        </p:nvSpPr>
        <p:spPr>
          <a:xfrm>
            <a:off x="2878667" y="1587500"/>
            <a:ext cx="6434667" cy="3619500"/>
          </a:xfrm>
          <a:prstGeom prst="roundRect">
            <a:avLst>
              <a:gd name="adj" fmla="val 4912"/>
            </a:avLst>
          </a:prstGeom>
          <a:solidFill>
            <a:srgbClr val="F3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78667" y="3257550"/>
            <a:ext cx="6434667" cy="279400"/>
          </a:xfrm>
          <a:prstGeom prst="rect">
            <a:avLst/>
          </a:prstGeom>
          <a:noFill/>
        </p:spPr>
        <p:txBody>
          <a:bodyPr wrap="square" lIns="0" rIns="0" tIns="0" bIns="0">
            <a:spAutoFit/>
          </a:bodyPr>
          <a:lstStyle/>
          <a:p>
            <a:pPr algn="ctr">
              <a:lnSpc>
                <a:spcPct val="100000"/>
              </a:lnSpc>
            </a:pPr>
            <a:r>
              <a:rPr sz="1800" b="0">
                <a:solidFill>
                  <a:srgbClr val="002333"/>
                </a:solidFill>
                <a:latin typeface="Inter"/>
              </a:rPr>
              <a:t>Screenshot volgt</a:t>
            </a:r>
          </a:p>
        </p:txBody>
      </p:sp>
      <p:sp>
        <p:nvSpPr>
          <p:cNvPr id="5" name="Rectangle 4"/>
          <p:cNvSpPr/>
          <p:nvPr/>
        </p:nvSpPr>
        <p:spPr>
          <a:xfrm>
            <a:off x="762000" y="5511800"/>
            <a:ext cx="10668000" cy="6350"/>
          </a:xfrm>
          <a:prstGeom prst="rect">
            <a:avLst/>
          </a:prstGeom>
          <a:solidFill>
            <a:srgbClr val="E7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navy.png"/>
          <p:cNvPicPr>
            <a:picLocks noChangeAspect="1"/>
          </p:cNvPicPr>
          <p:nvPr/>
        </p:nvPicPr>
        <p:blipFill>
          <a:blip r:embed="rId2"/>
          <a:stretch>
            <a:fillRect/>
          </a:stretch>
        </p:blipFill>
        <p:spPr>
          <a:xfrm>
            <a:off x="9010650" y="5759450"/>
            <a:ext cx="1079500" cy="292100"/>
          </a:xfrm>
          <a:prstGeom prst="rect">
            <a:avLst/>
          </a:prstGeom>
        </p:spPr>
      </p:pic>
      <p:sp>
        <p:nvSpPr>
          <p:cNvPr id="7" name="Rectangle 6"/>
          <p:cNvSpPr/>
          <p:nvPr/>
        </p:nvSpPr>
        <p:spPr>
          <a:xfrm>
            <a:off x="10344150" y="5740400"/>
            <a:ext cx="6350" cy="330200"/>
          </a:xfrm>
          <a:prstGeom prst="rect">
            <a:avLst/>
          </a:prstGeom>
          <a:solidFill>
            <a:srgbClr val="CD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lant.png"/>
          <p:cNvPicPr>
            <a:picLocks noChangeAspect="1"/>
          </p:cNvPicPr>
          <p:nvPr/>
        </p:nvPicPr>
        <p:blipFill>
          <a:blip r:embed="rId3"/>
          <a:stretch>
            <a:fillRect/>
          </a:stretch>
        </p:blipFill>
        <p:spPr>
          <a:xfrm>
            <a:off x="10604500" y="5702300"/>
            <a:ext cx="406400" cy="406400"/>
          </a:xfrm>
          <a:prstGeom prst="rect">
            <a:avLst/>
          </a:prstGeom>
        </p:spPr>
      </p:pic>
      <p:sp>
        <p:nvSpPr>
          <p:cNvPr id="9" name="TextBox 8"/>
          <p:cNvSpPr txBox="1"/>
          <p:nvPr/>
        </p:nvSpPr>
        <p:spPr>
          <a:xfrm>
            <a:off x="10795000" y="6375400"/>
            <a:ext cx="635000" cy="228600"/>
          </a:xfrm>
          <a:prstGeom prst="rect">
            <a:avLst/>
          </a:prstGeom>
          <a:noFill/>
        </p:spPr>
        <p:txBody>
          <a:bodyPr wrap="square" lIns="0" rIns="0" tIns="0" bIns="0">
            <a:spAutoFit/>
          </a:bodyPr>
          <a:lstStyle/>
          <a:p>
            <a:pPr algn="r">
              <a:lnSpc>
                <a:spcPct val="115000"/>
              </a:lnSpc>
            </a:pPr>
            <a:r>
              <a:rPr sz="1150" b="0">
                <a:solidFill>
                  <a:srgbClr val="9AAFB8"/>
                </a:solidFill>
                <a:latin typeface="Inter"/>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