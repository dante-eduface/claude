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97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9700"/>
            <a:ext cx="12192000" cy="63500"/>
          </a:xfrm>
          <a:prstGeom prst="rect">
            <a:avLst/>
          </a:prstGeom>
          <a:solidFill>
            <a:srgbClr val="D4E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5715000"/>
            <a:ext cx="10668000" cy="19050"/>
          </a:xfrm>
          <a:prstGeom prst="rect">
            <a:avLst/>
          </a:prstGeom>
          <a:solidFill>
            <a:srgbClr val="91B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l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05500"/>
            <a:ext cx="571500" cy="571500"/>
          </a:xfrm>
          <a:prstGeom prst="rect">
            <a:avLst/>
          </a:prstGeom>
        </p:spPr>
      </p:pic>
      <p:pic>
        <p:nvPicPr>
          <p:cNvPr id="6" name="Picture 5" descr="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6083300"/>
            <a:ext cx="825500" cy="222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22000" y="60960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300" b="0">
                <a:solidFill>
                  <a:srgbClr val="6B7A90"/>
                </a:solidFill>
                <a:latin typeface="Fira San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952500"/>
            <a:ext cx="3937000" cy="3937000"/>
          </a:xfrm>
          <a:prstGeom prst="rect">
            <a:avLst/>
          </a:prstGeom>
          <a:solidFill>
            <a:srgbClr val="112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7600" y="13081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CC63F"/>
                </a:solidFill>
                <a:latin typeface="Barlow Condensed"/>
              </a:rPr>
              <a:t>GELD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7600" y="2000885"/>
            <a:ext cx="88900" cy="88900"/>
          </a:xfrm>
          <a:prstGeom prst="roundRect">
            <a:avLst>
              <a:gd name="adj" fmla="val 21428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05000"/>
            <a:ext cx="3048000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Fira Sans"/>
              </a:rPr>
              <a:t>PHOV betaalt docenten voor elk uur dat ze beoordelen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7600" y="2816225"/>
            <a:ext cx="88900" cy="88900"/>
          </a:xfrm>
          <a:prstGeom prst="roundRect">
            <a:avLst>
              <a:gd name="adj" fmla="val 21428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720340"/>
            <a:ext cx="3048000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Fira Sans"/>
              </a:rPr>
              <a:t>En PHOV eist dat ze feedback geven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8600" y="1308100"/>
            <a:ext cx="5080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69AA13"/>
                </a:solidFill>
                <a:latin typeface="Barlow Condensed"/>
              </a:rPr>
              <a:t>CONSISTENTIE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8600" y="2000885"/>
            <a:ext cx="88900" cy="88900"/>
          </a:xfrm>
          <a:prstGeom prst="roundRect">
            <a:avLst>
              <a:gd name="adj" fmla="val 21428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62600" y="1905000"/>
            <a:ext cx="5867400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112E65"/>
                </a:solidFill>
                <a:latin typeface="Fira Sans"/>
              </a:rPr>
              <a:t>Vooraf liggen de oordelen van beoordelaars ver uit elkaar, pas na overleg komen ze dichter bij elkaar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8600" y="2752725"/>
            <a:ext cx="88900" cy="88900"/>
          </a:xfrm>
          <a:prstGeom prst="roundRect">
            <a:avLst>
              <a:gd name="adj" fmla="val 21428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62600" y="2656840"/>
            <a:ext cx="5867400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112E65"/>
                </a:solidFill>
                <a:latin typeface="Fira Sans"/>
              </a:rPr>
              <a:t>Daarom kalibreren jullie scripties minstens één keer per twee jaar. De nieuwe rubric is nog niet getest.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8600" y="3504565"/>
            <a:ext cx="88900" cy="88900"/>
          </a:xfrm>
          <a:prstGeom prst="roundRect">
            <a:avLst>
              <a:gd name="adj" fmla="val 21428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3408680"/>
            <a:ext cx="5867400" cy="561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112E65"/>
                </a:solidFill>
                <a:latin typeface="Fira Sans"/>
              </a:rPr>
              <a:t>Kalibratie hoort over de inhoud te gaan, maar gaat soms over handtekeningen op een formulier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8600" y="4256405"/>
            <a:ext cx="88900" cy="88900"/>
          </a:xfrm>
          <a:prstGeom prst="roundRect">
            <a:avLst>
              <a:gd name="adj" fmla="val 21428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62600" y="4160520"/>
            <a:ext cx="5867400" cy="280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112E65"/>
                </a:solidFill>
                <a:latin typeface="Fira Sans"/>
              </a:rPr>
              <a:t>De directie schuift zelf aan om mensen scherp te houden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