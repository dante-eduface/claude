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Visitatie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717800"/>
            <a:ext cx="10668000" cy="2540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9050" y="21336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B7480"/>
                </a:solidFill>
                <a:latin typeface="League Spartan"/>
              </a:rPr>
              <a:t>2021</a:t>
            </a:r>
          </a:p>
        </p:txBody>
      </p:sp>
      <p:sp>
        <p:nvSpPr>
          <p:cNvPr id="5" name="Oval 4"/>
          <p:cNvSpPr/>
          <p:nvPr/>
        </p:nvSpPr>
        <p:spPr>
          <a:xfrm>
            <a:off x="1847850" y="26543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11350" y="2806700"/>
            <a:ext cx="254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4150" y="3213100"/>
            <a:ext cx="939800" cy="939800"/>
          </a:xfrm>
          <a:prstGeom prst="roundRect">
            <a:avLst>
              <a:gd name="adj" fmla="val 24324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verschil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3448050"/>
            <a:ext cx="469900" cy="46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4318000"/>
            <a:ext cx="23241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Verschillen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0350" y="21336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B7480"/>
                </a:solidFill>
                <a:latin typeface="League Spartan"/>
              </a:rPr>
              <a:t>2022</a:t>
            </a:r>
          </a:p>
        </p:txBody>
      </p:sp>
      <p:sp>
        <p:nvSpPr>
          <p:cNvPr id="11" name="Oval 10"/>
          <p:cNvSpPr/>
          <p:nvPr/>
        </p:nvSpPr>
        <p:spPr>
          <a:xfrm>
            <a:off x="4629150" y="26543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2650" y="2806700"/>
            <a:ext cx="254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35450" y="3213100"/>
            <a:ext cx="939800" cy="939800"/>
          </a:xfrm>
          <a:prstGeom prst="roundRect">
            <a:avLst>
              <a:gd name="adj" fmla="val 24324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varia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3448050"/>
            <a:ext cx="469900" cy="469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3300" y="4318000"/>
            <a:ext cx="23241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Variatie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1650" y="21336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B7480"/>
                </a:solidFill>
                <a:latin typeface="League Spartan"/>
              </a:rPr>
              <a:t>2024</a:t>
            </a:r>
          </a:p>
        </p:txBody>
      </p:sp>
      <p:sp>
        <p:nvSpPr>
          <p:cNvPr id="17" name="Oval 16"/>
          <p:cNvSpPr/>
          <p:nvPr/>
        </p:nvSpPr>
        <p:spPr>
          <a:xfrm>
            <a:off x="7410450" y="26543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73950" y="2806700"/>
            <a:ext cx="254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16750" y="3213100"/>
            <a:ext cx="939800" cy="939800"/>
          </a:xfrm>
          <a:prstGeom prst="roundRect">
            <a:avLst>
              <a:gd name="adj" fmla="val 24324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-wissel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700" y="3448050"/>
            <a:ext cx="469900" cy="469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24600" y="4318000"/>
            <a:ext cx="23241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Wisselend ingevuld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2950" y="21336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B7480"/>
                </a:solidFill>
                <a:latin typeface="League Spartan"/>
              </a:rPr>
              <a:t>2025</a:t>
            </a:r>
          </a:p>
        </p:txBody>
      </p:sp>
      <p:sp>
        <p:nvSpPr>
          <p:cNvPr id="23" name="Oval 22"/>
          <p:cNvSpPr/>
          <p:nvPr/>
        </p:nvSpPr>
        <p:spPr>
          <a:xfrm>
            <a:off x="10191750" y="26543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55250" y="2806700"/>
            <a:ext cx="254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98050" y="3213100"/>
            <a:ext cx="939800" cy="939800"/>
          </a:xfrm>
          <a:prstGeom prst="roundRect">
            <a:avLst>
              <a:gd name="adj" fmla="val 24324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ongelij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0" y="3448050"/>
            <a:ext cx="469900" cy="469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05900" y="4318000"/>
            <a:ext cx="23241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Cijfer ≠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" y="56642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002333"/>
                </a:solidFill>
                <a:latin typeface="Inter"/>
              </a:rPr>
              <a:t>“De narratieve feedback is niet altijd helemaal passend bij de rubric.”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6032500"/>
            <a:ext cx="8382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NQA, Ad E-commerce Windesheim, visitatie november 2024, p. 24. Zelfde patroon in vier andere visitatierapporten, 2021-2025.</a:t>
            </a:r>
          </a:p>
        </p:txBody>
      </p:sp>
      <p:pic>
        <p:nvPicPr>
          <p:cNvPr id="31" name="Picture 30" descr="logo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650" y="5759450"/>
            <a:ext cx="1078651" cy="2921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windeshe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