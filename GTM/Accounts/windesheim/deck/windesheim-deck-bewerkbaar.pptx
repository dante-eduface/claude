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56000" y="2362200"/>
            <a:ext cx="5080000" cy="1625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400" y="2971800"/>
            <a:ext cx="1403350" cy="381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54750" y="2927350"/>
            <a:ext cx="6350" cy="4699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0" y="2927350"/>
            <a:ext cx="1073150" cy="469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4450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8FA9B4"/>
                </a:solidFill>
                <a:latin typeface="Inter"/>
              </a:rPr>
              <a:t>Demo en gesprek  ·  14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Waarom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794000"/>
            <a:ext cx="10668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Eerst het probleem.</a:t>
            </a:r>
          </a:p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Dan pas de 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Voldoet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61000" y="2540000"/>
            <a:ext cx="1270000" cy="12700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chec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00" y="2857500"/>
            <a:ext cx="635000" cy="63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41910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2333"/>
                </a:solidFill>
                <a:latin typeface="League Spartan"/>
              </a:rPr>
              <a:t>Alle standaarden, vijf visitatierapporten.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NQA en Hobéon, visitatierapporten Hogeschool Windesheim, 2021-2025. Standaard 3 Toetsing en standaard 4 Gerealiseerde leerresultaten.</a:t>
            </a:r>
          </a:p>
        </p:txBody>
      </p:sp>
      <p:pic>
        <p:nvPicPr>
          <p:cNvPr id="8" name="Picture 7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indeshe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Visitatie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2717800"/>
            <a:ext cx="106680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90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2021</a:t>
            </a:r>
          </a:p>
        </p:txBody>
      </p:sp>
      <p:sp>
        <p:nvSpPr>
          <p:cNvPr id="5" name="Oval 4"/>
          <p:cNvSpPr/>
          <p:nvPr/>
        </p:nvSpPr>
        <p:spPr>
          <a:xfrm>
            <a:off x="18478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9113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4150" y="32131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verschillen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100" y="34480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Verschillen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03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2022</a:t>
            </a:r>
          </a:p>
        </p:txBody>
      </p:sp>
      <p:sp>
        <p:nvSpPr>
          <p:cNvPr id="11" name="Oval 10"/>
          <p:cNvSpPr/>
          <p:nvPr/>
        </p:nvSpPr>
        <p:spPr>
          <a:xfrm>
            <a:off x="46291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26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35450" y="32131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variatie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400" y="3448050"/>
            <a:ext cx="469900" cy="469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433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Variatie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16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2024</a:t>
            </a:r>
          </a:p>
        </p:txBody>
      </p:sp>
      <p:sp>
        <p:nvSpPr>
          <p:cNvPr id="17" name="Oval 16"/>
          <p:cNvSpPr/>
          <p:nvPr/>
        </p:nvSpPr>
        <p:spPr>
          <a:xfrm>
            <a:off x="74104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739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16750" y="32131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-wisselend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700" y="3448050"/>
            <a:ext cx="469900" cy="469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246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Wisselend ingevuld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2950" y="2133600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5B7480"/>
                </a:solidFill>
                <a:latin typeface="League Spartan"/>
              </a:rPr>
              <a:t>2025</a:t>
            </a:r>
          </a:p>
        </p:txBody>
      </p:sp>
      <p:sp>
        <p:nvSpPr>
          <p:cNvPr id="23" name="Oval 22"/>
          <p:cNvSpPr/>
          <p:nvPr/>
        </p:nvSpPr>
        <p:spPr>
          <a:xfrm>
            <a:off x="10191750" y="2654300"/>
            <a:ext cx="152400" cy="152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5250" y="2806700"/>
            <a:ext cx="25400" cy="3556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98050" y="32131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ongelijk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0" y="3448050"/>
            <a:ext cx="469900" cy="469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05900" y="4318000"/>
            <a:ext cx="23241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Cijfer ≠ feedback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5664200"/>
            <a:ext cx="8382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002333"/>
                </a:solidFill>
                <a:latin typeface="Inter"/>
              </a:rPr>
              <a:t>“De narratieve feedback is niet altijd helemaal passend bij de rubric.”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60325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NQA, Ad E-commerce Windesheim, visitatie november 2024, p. 24. Zelfde patroon in vier andere visitatierapporten, 2021-2025.</a:t>
            </a:r>
          </a:p>
        </p:txBody>
      </p:sp>
      <p:pic>
        <p:nvPicPr>
          <p:cNvPr id="31" name="Picture 30" descr="logo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indeshei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Eigen leerroute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3556000" y="4953000"/>
            <a:ext cx="50800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10000" y="4705350"/>
            <a:ext cx="1016000" cy="247650"/>
          </a:xfrm>
          <a:prstGeom prst="roundRect">
            <a:avLst>
              <a:gd name="adj" fmla="val 30769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56000" y="4210050"/>
            <a:ext cx="1524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900" b="1">
                <a:solidFill>
                  <a:srgbClr val="002333"/>
                </a:solidFill>
                <a:latin typeface="League Spartan"/>
              </a:rPr>
              <a:t>900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56000" y="51054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2023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8000" y="4216400"/>
            <a:ext cx="1016000" cy="736600"/>
          </a:xfrm>
          <a:prstGeom prst="roundRect">
            <a:avLst>
              <a:gd name="adj" fmla="val 10344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0" y="3721100"/>
            <a:ext cx="1524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900" b="1">
                <a:solidFill>
                  <a:srgbClr val="002333"/>
                </a:solidFill>
                <a:latin typeface="League Spartan"/>
              </a:rPr>
              <a:t>2.700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51054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0" y="3048000"/>
            <a:ext cx="1016000" cy="1905000"/>
          </a:xfrm>
          <a:prstGeom prst="roundRect">
            <a:avLst>
              <a:gd name="adj" fmla="val 75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0" y="2552700"/>
            <a:ext cx="1524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900" b="1">
                <a:solidFill>
                  <a:srgbClr val="002333"/>
                </a:solidFill>
                <a:latin typeface="League Spartan"/>
              </a:rPr>
              <a:t>7.000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0" y="51054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0320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5B7480"/>
                </a:solidFill>
                <a:latin typeface="Inter"/>
              </a:rPr>
              <a:t>studenten in de eigen leerroute, per september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Jaarverantwoording 2025 Hogeschool Windesheim, p. 14 en Jaarverantwoording 2024, p. 20.</a:t>
            </a:r>
          </a:p>
        </p:txBody>
      </p:sp>
      <p:pic>
        <p:nvPicPr>
          <p:cNvPr id="16" name="Picture 15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Krimp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448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studenten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750" y="2647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556000"/>
            <a:ext cx="5105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0" b="1">
                <a:solidFill>
                  <a:srgbClr val="002333"/>
                </a:solidFill>
                <a:latin typeface="League Spartan"/>
              </a:rPr>
              <a:t>-6%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635500"/>
            <a:ext cx="510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Studenten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07400" y="2413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docenten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350" y="2647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600" y="3556000"/>
            <a:ext cx="51054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0" b="1">
                <a:solidFill>
                  <a:srgbClr val="E07B00"/>
                </a:solidFill>
                <a:latin typeface="League Spartan"/>
              </a:rPr>
              <a:t>-21%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4635500"/>
            <a:ext cx="51054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Docenten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Jaarverantwoording 2025 Hogeschool Windesheim, tabel 14. Onderwijsformatie van 1.302 naar 1.033 fte, tot 2030.</a:t>
            </a:r>
          </a:p>
        </p:txBody>
      </p:sp>
      <p:pic>
        <p:nvPicPr>
          <p:cNvPr id="13" name="Picture 12" descr="logo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ndeshe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Herkenbaar?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90000" y="5626100"/>
            <a:ext cx="25400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0" y="5759450"/>
            <a:ext cx="1079500" cy="292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806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5715000"/>
            <a:ext cx="8255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Feedback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inleveren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774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7465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Inleveren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349750"/>
            <a:ext cx="2743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Student levert een schrijfopdracht 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61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voorstel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774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70400" y="37465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Voorstel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400" y="4349750"/>
            <a:ext cx="2743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Eduface schrijft feedback en cijfer voor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aftekenen-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774950"/>
            <a:ext cx="469900" cy="469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78800" y="37465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Docent tekent af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800" y="4349750"/>
            <a:ext cx="2743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Niets gaat naar de student zonder akkoord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indeshe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90000" y="5626100"/>
            <a:ext cx="2540000" cy="5588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7150" y="5759450"/>
            <a:ext cx="1079500" cy="292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2806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5715000"/>
            <a:ext cx="8255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FFFFFF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Bewijs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7940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435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8735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inzendingen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3300" y="27940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43300" y="38735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nakijkers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27940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2-3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38735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minuten per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5900" y="2794000"/>
            <a:ext cx="23241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0" b="1">
                <a:solidFill>
                  <a:srgbClr val="002333"/>
                </a:solidFill>
                <a:latin typeface="League Spartan"/>
              </a:rPr>
              <a:t>94%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05900" y="3873500"/>
            <a:ext cx="23241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5B7480"/>
                </a:solidFill>
                <a:latin typeface="Inter"/>
              </a:rPr>
              <a:t>accuraatheid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Bath Spa University-pilot, juni 2026. Accuraatheid is het verschil tussen ons cijfervoorstel en dat van de docent, geen overeenstemmingspercentage.</a:t>
            </a:r>
          </a:p>
        </p:txBody>
      </p:sp>
      <p:pic>
        <p:nvPicPr>
          <p:cNvPr id="13" name="Picture 12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AI 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aanbieder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774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7465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Aanbieder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445000"/>
            <a:ext cx="2870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Eduface levert het systeem en de documentatie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61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instelling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774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70400" y="37465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Gebruiksverantwoordelijke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900" y="4445000"/>
            <a:ext cx="2870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Windesheim bepaalt waarvoor het wordt ingezet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aftekenen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774950"/>
            <a:ext cx="469900" cy="469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78800" y="3746500"/>
            <a:ext cx="32512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Mens in de 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300" y="4445000"/>
            <a:ext cx="2870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De docent beslist, het model stelt voor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Rolverdeling volgens de EU AI Act. Hoog-risico toepassingen in het onderwijs, bijlage III.</a:t>
            </a:r>
          </a:p>
        </p:txBody>
      </p:sp>
      <p:pic>
        <p:nvPicPr>
          <p:cNvPr id="17" name="Picture 16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windeshe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Vervolg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7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cijfers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650" y="2774950"/>
            <a:ext cx="469900" cy="46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37465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Cijfers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349750"/>
            <a:ext cx="2870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Wat kost nakijken nu, in uren en in euro’s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61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iama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50" y="2774950"/>
            <a:ext cx="469900" cy="46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470400" y="37465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IAMA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900" y="4349750"/>
            <a:ext cx="2870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Welke route leidt naar goedkeuring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0" y="2540000"/>
            <a:ext cx="939800" cy="939800"/>
          </a:xfrm>
          <a:prstGeom prst="roundRect">
            <a:avLst>
              <a:gd name="adj" fmla="val 243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pilot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450" y="2774950"/>
            <a:ext cx="469900" cy="469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78800" y="37465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9300" y="4349750"/>
            <a:ext cx="28702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>
                <a:solidFill>
                  <a:srgbClr val="5B7480"/>
                </a:solidFill>
                <a:latin typeface="Inter"/>
              </a:rPr>
              <a:t>Eén opleiding, één onderwijsperiode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indeshe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95000" y="63754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50" b="0">
                <a:solidFill>
                  <a:srgbClr val="CDD9DE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