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Elke opdracht is een datapunt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25600"/>
            <a:ext cx="3175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Bronnen</a:t>
            </a:r>
          </a:p>
        </p:txBody>
      </p:sp>
      <p:pic>
        <p:nvPicPr>
          <p:cNvPr id="4" name="Picture 3" descr="icon-filepen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81300"/>
            <a:ext cx="254000" cy="25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7813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Schrijfopdrachten en papers</a:t>
            </a:r>
          </a:p>
        </p:txBody>
      </p:sp>
      <p:pic>
        <p:nvPicPr>
          <p:cNvPr id="6" name="Picture 5" descr="icon-pen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43300"/>
            <a:ext cx="254000" cy="25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35433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Open vragen</a:t>
            </a:r>
          </a:p>
        </p:txBody>
      </p:sp>
      <p:pic>
        <p:nvPicPr>
          <p:cNvPr id="8" name="Picture 7" descr="icon-gesprek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305300"/>
            <a:ext cx="254000" cy="25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43053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Docentfeedback in Eduface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6500" y="1625600"/>
            <a:ext cx="2667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Elk datapunt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6500" y="2159000"/>
            <a:ext cx="2667000" cy="3022600"/>
          </a:xfrm>
          <a:prstGeom prst="roundRect">
            <a:avLst>
              <a:gd name="adj" fmla="val 476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0500" y="25273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500" y="28321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per rubriccriterium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0500" y="33909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Leerdoel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0500" y="36957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van het vak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500" y="42545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0500" y="45593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in de tijd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900" y="2898775"/>
            <a:ext cx="4191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900" y="3660775"/>
            <a:ext cx="4191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900" y="4422775"/>
            <a:ext cx="4191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99000" y="2908300"/>
            <a:ext cx="19050" cy="15240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9000" y="3660775"/>
            <a:ext cx="3175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8500" y="1625600"/>
            <a:ext cx="31115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Leerprofiel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18500" y="2159000"/>
            <a:ext cx="3111500" cy="3022600"/>
          </a:xfrm>
          <a:prstGeom prst="roundRect">
            <a:avLst>
              <a:gd name="adj" fmla="val 4201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3500" y="3660775"/>
            <a:ext cx="6350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500" y="23876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9BCC4"/>
                </a:solidFill>
                <a:latin typeface="Inter"/>
              </a:rPr>
              <a:t>Eén student, over tijd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0" y="293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Analyseren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25100" y="28194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25100" y="3157220"/>
            <a:ext cx="88900" cy="144780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477500" y="28194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77500" y="3099308"/>
            <a:ext cx="88900" cy="202692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629900" y="28194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629900" y="3108960"/>
            <a:ext cx="88900" cy="193040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782300" y="28194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782300" y="3036570"/>
            <a:ext cx="88900" cy="265430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934700" y="28194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934700" y="3002788"/>
            <a:ext cx="88900" cy="299212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087100" y="28194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087100" y="2935224"/>
            <a:ext cx="88900" cy="366776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2500" y="36449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Bronnengebruik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25100" y="35306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25100" y="3781552"/>
            <a:ext cx="88900" cy="231648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477500" y="35306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477500" y="3791204"/>
            <a:ext cx="88900" cy="221996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629900" y="35306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629900" y="3771900"/>
            <a:ext cx="88900" cy="241300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782300" y="35306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782300" y="3786378"/>
            <a:ext cx="88900" cy="226822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934700" y="35306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934700" y="3776726"/>
            <a:ext cx="88900" cy="236474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087100" y="35306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087100" y="3771900"/>
            <a:ext cx="88900" cy="241300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2500" y="43561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Argumenteren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325100" y="42418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325100" y="4603750"/>
            <a:ext cx="88900" cy="120650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477500" y="42418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477500" y="4560316"/>
            <a:ext cx="88900" cy="164084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629900" y="42418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629900" y="4492752"/>
            <a:ext cx="88900" cy="231648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782300" y="42418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782300" y="4550664"/>
            <a:ext cx="88900" cy="173736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934700" y="42418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934700" y="4444492"/>
            <a:ext cx="88900" cy="279908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1087100" y="4241800"/>
            <a:ext cx="88900" cy="482600"/>
          </a:xfrm>
          <a:prstGeom prst="roundRect">
            <a:avLst>
              <a:gd name="adj" fmla="val 28571"/>
            </a:avLst>
          </a:prstGeom>
          <a:solidFill>
            <a:srgbClr val="2C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087100" y="4396232"/>
            <a:ext cx="88900" cy="328168"/>
          </a:xfrm>
          <a:prstGeom prst="roundRect">
            <a:avLst>
              <a:gd name="adj" fmla="val 2857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71100" y="4800600"/>
            <a:ext cx="1104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A9BCC4"/>
                </a:solidFill>
                <a:latin typeface="Inter"/>
              </a:rPr>
              <a:t>tijd  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2000" y="581025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Het leerprofiel is een concept. De leerdoelen zijn voorbeelden: elk vak werkt met zijn eigen leerdoelen.</a:t>
            </a:r>
          </a:p>
        </p:txBody>
      </p:sp>
      <p:pic>
        <p:nvPicPr>
          <p:cNvPr id="69" name="Picture 68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6650" y="5759450"/>
            <a:ext cx="1079500" cy="29210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10090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kla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5791200"/>
            <a:ext cx="1079500" cy="2286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9AAFB8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Wie ligt op schema, en waarom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498600"/>
            <a:ext cx="10668000" cy="3810000"/>
          </a:xfrm>
          <a:prstGeom prst="roundRect">
            <a:avLst>
              <a:gd name="adj" fmla="val 3333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200" y="16383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Inter"/>
              </a:rPr>
              <a:t>Docentweergave  ·  Onderzoeksmethoden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07400" y="1600200"/>
            <a:ext cx="2870200" cy="2794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7400" y="1657350"/>
            <a:ext cx="2870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Illustratief voorbeeld, fictieve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06600"/>
            <a:ext cx="6096000" cy="3149600"/>
          </a:xfrm>
          <a:prstGeom prst="roundRect">
            <a:avLst>
              <a:gd name="adj" fmla="val 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" y="21717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Learning Evidence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2463800"/>
            <a:ext cx="381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Sanne de Vries, per leerdoel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7200" y="24638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tijd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2895600"/>
            <a:ext cx="158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2333"/>
                </a:solidFill>
                <a:latin typeface="Inter"/>
              </a:rPr>
              <a:t>Analyseren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9400" y="28321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9400" y="3088132"/>
            <a:ext cx="177800" cy="99568"/>
          </a:xfrm>
          <a:prstGeom prst="roundRect">
            <a:avLst>
              <a:gd name="adj" fmla="val 2551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52800" y="28321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52800" y="3059684"/>
            <a:ext cx="177800" cy="128016"/>
          </a:xfrm>
          <a:prstGeom prst="roundRect">
            <a:avLst>
              <a:gd name="adj" fmla="val 1984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86200" y="28321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86200" y="3041904"/>
            <a:ext cx="177800" cy="145796"/>
          </a:xfrm>
          <a:prstGeom prst="roundRect">
            <a:avLst>
              <a:gd name="adj" fmla="val 17421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19600" y="28321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9600" y="3017012"/>
            <a:ext cx="177800" cy="170688"/>
          </a:xfrm>
          <a:prstGeom prst="roundRect">
            <a:avLst>
              <a:gd name="adj" fmla="val 1488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53000" y="28321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53000" y="2992120"/>
            <a:ext cx="177800" cy="195580"/>
          </a:xfrm>
          <a:prstGeom prst="roundRect">
            <a:avLst>
              <a:gd name="adj" fmla="val 14285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0" y="28321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0" y="2974340"/>
            <a:ext cx="177800" cy="213360"/>
          </a:xfrm>
          <a:prstGeom prst="roundRect">
            <a:avLst>
              <a:gd name="adj" fmla="val 14285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19800" y="28321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19800" y="2953004"/>
            <a:ext cx="177800" cy="234696"/>
          </a:xfrm>
          <a:prstGeom prst="roundRect">
            <a:avLst>
              <a:gd name="adj" fmla="val 14285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3200" y="28321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53200" y="2931668"/>
            <a:ext cx="177800" cy="256032"/>
          </a:xfrm>
          <a:prstGeom prst="roundRect">
            <a:avLst>
              <a:gd name="adj" fmla="val 14285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600" y="3378200"/>
            <a:ext cx="158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2333"/>
                </a:solidFill>
                <a:latin typeface="Inter"/>
              </a:rPr>
              <a:t>Bronnengebruik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9400" y="33147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19400" y="3510280"/>
            <a:ext cx="177800" cy="160020"/>
          </a:xfrm>
          <a:prstGeom prst="roundRect">
            <a:avLst>
              <a:gd name="adj" fmla="val 15873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52800" y="33147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52800" y="3503168"/>
            <a:ext cx="177800" cy="167132"/>
          </a:xfrm>
          <a:prstGeom prst="roundRect">
            <a:avLst>
              <a:gd name="adj" fmla="val 15197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86200" y="33147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86200" y="3513836"/>
            <a:ext cx="177800" cy="156464"/>
          </a:xfrm>
          <a:prstGeom prst="roundRect">
            <a:avLst>
              <a:gd name="adj" fmla="val 16233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19600" y="33147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19600" y="3506724"/>
            <a:ext cx="177800" cy="163576"/>
          </a:xfrm>
          <a:prstGeom prst="roundRect">
            <a:avLst>
              <a:gd name="adj" fmla="val 15527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53000" y="33147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953000" y="3499612"/>
            <a:ext cx="177800" cy="170688"/>
          </a:xfrm>
          <a:prstGeom prst="roundRect">
            <a:avLst>
              <a:gd name="adj" fmla="val 1488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0" y="33147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0" y="3510280"/>
            <a:ext cx="177800" cy="160020"/>
          </a:xfrm>
          <a:prstGeom prst="roundRect">
            <a:avLst>
              <a:gd name="adj" fmla="val 15873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19800" y="33147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19800" y="3503168"/>
            <a:ext cx="177800" cy="167132"/>
          </a:xfrm>
          <a:prstGeom prst="roundRect">
            <a:avLst>
              <a:gd name="adj" fmla="val 15197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53200" y="33147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53200" y="3506724"/>
            <a:ext cx="177800" cy="163576"/>
          </a:xfrm>
          <a:prstGeom prst="roundRect">
            <a:avLst>
              <a:gd name="adj" fmla="val 15527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7600" y="3860800"/>
            <a:ext cx="158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2333"/>
                </a:solidFill>
                <a:latin typeface="Inter"/>
              </a:rPr>
              <a:t>Argumenteren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19400" y="37973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819400" y="4046220"/>
            <a:ext cx="177800" cy="106680"/>
          </a:xfrm>
          <a:prstGeom prst="roundRect">
            <a:avLst>
              <a:gd name="adj" fmla="val 23809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352800" y="37973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352800" y="4017772"/>
            <a:ext cx="177800" cy="135128"/>
          </a:xfrm>
          <a:prstGeom prst="roundRect">
            <a:avLst>
              <a:gd name="adj" fmla="val 18796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886200" y="37973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886200" y="3989324"/>
            <a:ext cx="177800" cy="163576"/>
          </a:xfrm>
          <a:prstGeom prst="roundRect">
            <a:avLst>
              <a:gd name="adj" fmla="val 15527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419600" y="37973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19600" y="3967988"/>
            <a:ext cx="177800" cy="184912"/>
          </a:xfrm>
          <a:prstGeom prst="roundRect">
            <a:avLst>
              <a:gd name="adj" fmla="val 14285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953000" y="37973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953000" y="4031996"/>
            <a:ext cx="177800" cy="120904"/>
          </a:xfrm>
          <a:prstGeom prst="roundRect">
            <a:avLst>
              <a:gd name="adj" fmla="val 21008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0" y="37973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486400" y="3957320"/>
            <a:ext cx="177800" cy="195580"/>
          </a:xfrm>
          <a:prstGeom prst="roundRect">
            <a:avLst>
              <a:gd name="adj" fmla="val 14285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19800" y="37973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19800" y="3932428"/>
            <a:ext cx="177800" cy="220472"/>
          </a:xfrm>
          <a:prstGeom prst="roundRect">
            <a:avLst>
              <a:gd name="adj" fmla="val 14285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53200" y="3797300"/>
            <a:ext cx="177800" cy="355600"/>
          </a:xfrm>
          <a:prstGeom prst="roundRect">
            <a:avLst>
              <a:gd name="adj" fmla="val 14285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53200" y="3911092"/>
            <a:ext cx="177800" cy="241808"/>
          </a:xfrm>
          <a:prstGeom prst="roundRect">
            <a:avLst>
              <a:gd name="adj" fmla="val 14285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32375" y="4152900"/>
            <a:ext cx="19050" cy="1524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117600" y="4305300"/>
            <a:ext cx="5689600" cy="698500"/>
          </a:xfrm>
          <a:prstGeom prst="roundRect">
            <a:avLst>
              <a:gd name="adj" fmla="val 7272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70000" y="4406900"/>
            <a:ext cx="5384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Paper 2, week 6  ·  Argumenteren 2 van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70000" y="4660900"/>
            <a:ext cx="5384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Feedback docent: “Je conclusie volgt niet uit je eigen data.”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62800" y="2006600"/>
            <a:ext cx="4114800" cy="3149600"/>
          </a:xfrm>
          <a:prstGeom prst="roundRect">
            <a:avLst>
              <a:gd name="adj" fmla="val 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66000" y="2171700"/>
            <a:ext cx="3708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Groep 2B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66000" y="2463800"/>
            <a:ext cx="37084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28 studenten</a:t>
            </a:r>
          </a:p>
        </p:txBody>
      </p:sp>
      <p:pic>
        <p:nvPicPr>
          <p:cNvPr id="69" name="Picture 68" descr="icon-check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0" y="2933700"/>
            <a:ext cx="228600" cy="2286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696200" y="2895600"/>
            <a:ext cx="482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04200" y="2921000"/>
            <a:ext cx="2870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op schema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04200" y="3162300"/>
            <a:ext cx="2870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op alle leerdoelen</a:t>
            </a:r>
          </a:p>
        </p:txBody>
      </p:sp>
      <p:pic>
        <p:nvPicPr>
          <p:cNvPr id="73" name="Picture 72" descr="icon-wisselend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3619500"/>
            <a:ext cx="228600" cy="2286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696200" y="3581400"/>
            <a:ext cx="482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04200" y="3606800"/>
            <a:ext cx="2870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extra aandacht nodig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04200" y="3848100"/>
            <a:ext cx="2870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op Bronnengebruik</a:t>
            </a:r>
          </a:p>
        </p:txBody>
      </p:sp>
      <p:pic>
        <p:nvPicPr>
          <p:cNvPr id="77" name="Picture 76" descr="icon-groep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4305300"/>
            <a:ext cx="228600" cy="2286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696200" y="4267200"/>
            <a:ext cx="482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04200" y="4292600"/>
            <a:ext cx="2870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maken dezelfde fout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04200" y="4533900"/>
            <a:ext cx="2870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correlatie gelezen als causaliteit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2000" y="581025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Illustratief voorbeeld met fictieve namen en cijfers. Het leerprofiel is een concept, dit is geen bestaand scherm.</a:t>
            </a:r>
          </a:p>
        </p:txBody>
      </p:sp>
      <p:pic>
        <p:nvPicPr>
          <p:cNvPr id="83" name="Picture 82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6650" y="5759450"/>
            <a:ext cx="1079500" cy="292100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10090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kla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5791200"/>
            <a:ext cx="1079500" cy="2286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9AAFB8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Van inzicht naar actie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74800"/>
            <a:ext cx="4572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Wat de docent doet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0" y="1574800"/>
            <a:ext cx="56388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Wat de instelling wint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1200" y="2057400"/>
            <a:ext cx="5638800" cy="3200400"/>
          </a:xfrm>
          <a:prstGeom prst="roundRect">
            <a:avLst>
              <a:gd name="adj" fmla="val 3968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247900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Vroeg signaleren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552700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wie achterloopt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0600" y="22479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Draagt bij aan minder uitstroom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0600" y="25527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9BCC4"/>
                </a:solidFill>
                <a:latin typeface="Inter"/>
              </a:rPr>
              <a:t>behoud van studenten, collegegeld en financiering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01433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Gericht instructie geven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306233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aan groepen die dezelfde les nodig hebben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0600" y="3001433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Betere voortgang van studenten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0600" y="3306233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9BCC4"/>
                </a:solidFill>
                <a:latin typeface="Inter"/>
              </a:rPr>
              <a:t>achterstand is eerder zichtbaar en bij te sturen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754967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Gesprekken op basis van bewijs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059767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met de student, in plaats van op gevoel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0600" y="3754967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Onderbouwing van onderwijskwaliteit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0600" y="4059767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9BCC4"/>
                </a:solidFill>
                <a:latin typeface="Inter"/>
              </a:rPr>
              <a:t>met bewijs per leerdoel, over alle studenten heen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508500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Onderwijs bijsturen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813300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op wat veel studenten lastig vinden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0600" y="45085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Inzicht dat nakijken niet geeft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0600" y="48133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9BCC4"/>
                </a:solidFill>
                <a:latin typeface="Inter"/>
              </a:rPr>
              <a:t>groei per leerdoel over tijd, niet één cijfer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581025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Effecten op uitstroom en voortgang zijn verwachtingen, nog niet gemeten. Het leerprofiel is een concept.</a:t>
            </a:r>
          </a:p>
        </p:txBody>
      </p:sp>
      <p:pic>
        <p:nvPicPr>
          <p:cNvPr id="24" name="Picture 23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650" y="5759450"/>
            <a:ext cx="1079500" cy="2921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0090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kl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500" y="5791200"/>
            <a:ext cx="10795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9AAFB8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