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374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ademica.png"/>
          <p:cNvPicPr>
            <a:picLocks noChangeAspect="1"/>
          </p:cNvPicPr>
          <p:nvPr/>
        </p:nvPicPr>
        <p:blipFill>
          <a:blip r:embed="rId2"/>
          <a:stretch>
            <a:fillRect/>
          </a:stretch>
        </p:blipFill>
        <p:spPr>
          <a:xfrm>
            <a:off x="585290" y="585290"/>
            <a:ext cx="2011935" cy="390194"/>
          </a:xfrm>
          <a:prstGeom prst="rect">
            <a:avLst/>
          </a:prstGeom>
        </p:spPr>
      </p:pic>
      <p:sp>
        <p:nvSpPr>
          <p:cNvPr id="3" name="TextBox 2"/>
          <p:cNvSpPr txBox="1"/>
          <p:nvPr/>
        </p:nvSpPr>
        <p:spPr>
          <a:xfrm>
            <a:off x="585290" y="1512000"/>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MANAGEMENTSAMENVATTING</a:t>
            </a:r>
          </a:p>
        </p:txBody>
      </p:sp>
      <p:pic>
        <p:nvPicPr>
          <p:cNvPr id="4" name="Picture 3" descr="eduface.png"/>
          <p:cNvPicPr>
            <a:picLocks noChangeAspect="1"/>
          </p:cNvPicPr>
          <p:nvPr/>
        </p:nvPicPr>
        <p:blipFill>
          <a:blip r:embed="rId3"/>
          <a:stretch>
            <a:fillRect/>
          </a:stretch>
        </p:blipFill>
        <p:spPr>
          <a:xfrm>
            <a:off x="585290" y="1768065"/>
            <a:ext cx="1438839" cy="390194"/>
          </a:xfrm>
          <a:prstGeom prst="rect">
            <a:avLst/>
          </a:prstGeom>
        </p:spPr>
      </p:pic>
      <p:sp>
        <p:nvSpPr>
          <p:cNvPr id="5" name="TextBox 4"/>
          <p:cNvSpPr txBox="1"/>
          <p:nvPr/>
        </p:nvSpPr>
        <p:spPr>
          <a:xfrm>
            <a:off x="585290" y="2389935"/>
            <a:ext cx="5974839" cy="1341290"/>
          </a:xfrm>
          <a:prstGeom prst="rect">
            <a:avLst/>
          </a:prstGeom>
          <a:noFill/>
        </p:spPr>
        <p:txBody>
          <a:bodyPr wrap="square" anchor="t" lIns="0" rIns="0" tIns="0" bIns="0">
            <a:spAutoFit/>
          </a:bodyPr>
          <a:lstStyle/>
          <a:p>
            <a:pPr algn="l">
              <a:lnSpc>
                <a:spcPct val="155000"/>
              </a:lnSpc>
            </a:pPr>
            <a:r>
              <a:rPr sz="1056" b="0">
                <a:solidFill>
                  <a:srgbClr val="2C4A57"/>
                </a:solidFill>
                <a:latin typeface="Inter"/>
              </a:rPr>
              <a:t>Eduface is een onderwijskundig AI-model, ontwikkeld met hulp van de Universiteit Leiden en de Radboud Universiteit, dat formatieve en summatieve feedback geeft op studentopdrachten. Docenten besteden daardoor minder tijd aan het formuleren van feedback, elke student krijgt formatieve feedback, en een groeiend aantal studenten vraagt niet om evenredig meer nakijkers. Dat is een concrete invulling van het koerspunt efficiëntie.</a:t>
            </a:r>
          </a:p>
        </p:txBody>
      </p:sp>
      <p:sp>
        <p:nvSpPr>
          <p:cNvPr id="6" name="Rounded Rectangle 5"/>
          <p:cNvSpPr/>
          <p:nvPr/>
        </p:nvSpPr>
        <p:spPr>
          <a:xfrm>
            <a:off x="585290" y="4072645"/>
            <a:ext cx="6389419" cy="1597355"/>
          </a:xfrm>
          <a:prstGeom prst="roundRect">
            <a:avLst>
              <a:gd name="adj" fmla="val 7633"/>
            </a:avLst>
          </a:prstGeom>
          <a:solidFill>
            <a:srgbClr val="F3F7F8"/>
          </a:solidFill>
          <a:ln>
            <a:noFill/>
          </a:ln>
          <a:effectLst/>
        </p:spPr>
        <p:txBody>
          <a:bodyPr rtlCol="0" anchor="ctr"/>
          <a:lstStyle/>
          <a:p>
            <a:pPr algn="ctr"/>
          </a:p>
        </p:txBody>
      </p:sp>
      <p:sp>
        <p:nvSpPr>
          <p:cNvPr id="7" name="TextBox 6"/>
          <p:cNvSpPr txBox="1"/>
          <p:nvPr/>
        </p:nvSpPr>
        <p:spPr>
          <a:xfrm>
            <a:off x="926710" y="4340903"/>
            <a:ext cx="3658065"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NU</a:t>
            </a:r>
          </a:p>
        </p:txBody>
      </p:sp>
      <p:sp>
        <p:nvSpPr>
          <p:cNvPr id="8" name="TextBox 7"/>
          <p:cNvSpPr txBox="1"/>
          <p:nvPr/>
        </p:nvSpPr>
        <p:spPr>
          <a:xfrm>
            <a:off x="926710" y="4560387"/>
            <a:ext cx="5487097" cy="731613"/>
          </a:xfrm>
          <a:prstGeom prst="rect">
            <a:avLst/>
          </a:prstGeom>
          <a:noFill/>
        </p:spPr>
        <p:txBody>
          <a:bodyPr wrap="square" anchor="t" lIns="0" rIns="0" tIns="0" bIns="0">
            <a:spAutoFit/>
          </a:bodyPr>
          <a:lstStyle/>
          <a:p>
            <a:pPr algn="l">
              <a:lnSpc>
                <a:spcPct val="80000"/>
              </a:lnSpc>
            </a:pPr>
            <a:r>
              <a:rPr sz="5760" b="1">
                <a:solidFill>
                  <a:srgbClr val="002333"/>
                </a:solidFill>
                <a:latin typeface="League Spartan"/>
              </a:rPr>
              <a:t>€ 37.000</a:t>
            </a:r>
          </a:p>
        </p:txBody>
      </p:sp>
      <p:sp>
        <p:nvSpPr>
          <p:cNvPr id="9" name="TextBox 8"/>
          <p:cNvSpPr txBox="1"/>
          <p:nvPr/>
        </p:nvSpPr>
        <p:spPr>
          <a:xfrm>
            <a:off x="926710" y="5292000"/>
            <a:ext cx="5487097" cy="182903"/>
          </a:xfrm>
          <a:prstGeom prst="rect">
            <a:avLst/>
          </a:prstGeom>
          <a:noFill/>
        </p:spPr>
        <p:txBody>
          <a:bodyPr wrap="square" anchor="t" lIns="0" rIns="0" tIns="0" bIns="0">
            <a:spAutoFit/>
          </a:bodyPr>
          <a:lstStyle/>
          <a:p>
            <a:pPr algn="l">
              <a:lnSpc>
                <a:spcPct val="130000"/>
              </a:lnSpc>
            </a:pPr>
            <a:r>
              <a:rPr sz="1008" b="0">
                <a:solidFill>
                  <a:srgbClr val="2C4A57"/>
                </a:solidFill>
                <a:latin typeface="Inter"/>
              </a:rPr>
              <a:t>Wat nakijken de opleiding nu kost</a:t>
            </a:r>
          </a:p>
        </p:txBody>
      </p:sp>
      <p:pic>
        <p:nvPicPr>
          <p:cNvPr id="10" name="Picture 9" descr="icon-down.png"/>
          <p:cNvPicPr>
            <a:picLocks noChangeAspect="1"/>
          </p:cNvPicPr>
          <p:nvPr/>
        </p:nvPicPr>
        <p:blipFill>
          <a:blip r:embed="rId4"/>
          <a:stretch>
            <a:fillRect/>
          </a:stretch>
        </p:blipFill>
        <p:spPr>
          <a:xfrm>
            <a:off x="3633677" y="5743161"/>
            <a:ext cx="292645" cy="292645"/>
          </a:xfrm>
          <a:prstGeom prst="rect">
            <a:avLst/>
          </a:prstGeom>
        </p:spPr>
      </p:pic>
      <p:sp>
        <p:nvSpPr>
          <p:cNvPr id="11" name="Rounded Rectangle 10"/>
          <p:cNvSpPr/>
          <p:nvPr/>
        </p:nvSpPr>
        <p:spPr>
          <a:xfrm>
            <a:off x="585290" y="6108968"/>
            <a:ext cx="6389419" cy="1597355"/>
          </a:xfrm>
          <a:prstGeom prst="roundRect">
            <a:avLst>
              <a:gd name="adj" fmla="val 7633"/>
            </a:avLst>
          </a:prstGeom>
          <a:solidFill>
            <a:srgbClr val="002333"/>
          </a:solidFill>
          <a:ln>
            <a:noFill/>
          </a:ln>
          <a:effectLst/>
        </p:spPr>
        <p:txBody>
          <a:bodyPr rtlCol="0" anchor="ctr"/>
          <a:lstStyle/>
          <a:p>
            <a:pPr algn="ctr"/>
          </a:p>
        </p:txBody>
      </p:sp>
      <p:sp>
        <p:nvSpPr>
          <p:cNvPr id="12" name="TextBox 11"/>
          <p:cNvSpPr txBox="1"/>
          <p:nvPr/>
        </p:nvSpPr>
        <p:spPr>
          <a:xfrm>
            <a:off x="926710" y="6377226"/>
            <a:ext cx="3658065" cy="134129"/>
          </a:xfrm>
          <a:prstGeom prst="rect">
            <a:avLst/>
          </a:prstGeom>
          <a:noFill/>
        </p:spPr>
        <p:txBody>
          <a:bodyPr wrap="square" anchor="t" lIns="0" rIns="0" tIns="0" bIns="0">
            <a:spAutoFit/>
          </a:bodyPr>
          <a:lstStyle/>
          <a:p>
            <a:pPr algn="l">
              <a:lnSpc>
                <a:spcPct val="120000"/>
              </a:lnSpc>
            </a:pPr>
            <a:r>
              <a:rPr sz="768" b="1" spc="61">
                <a:solidFill>
                  <a:srgbClr val="9EABB1"/>
                </a:solidFill>
                <a:latin typeface="Inter"/>
              </a:rPr>
              <a:t>MET EDUFACE</a:t>
            </a:r>
          </a:p>
        </p:txBody>
      </p:sp>
      <p:sp>
        <p:nvSpPr>
          <p:cNvPr id="13" name="TextBox 12"/>
          <p:cNvSpPr txBox="1"/>
          <p:nvPr/>
        </p:nvSpPr>
        <p:spPr>
          <a:xfrm>
            <a:off x="926710" y="6596710"/>
            <a:ext cx="5487097" cy="731613"/>
          </a:xfrm>
          <a:prstGeom prst="rect">
            <a:avLst/>
          </a:prstGeom>
          <a:noFill/>
        </p:spPr>
        <p:txBody>
          <a:bodyPr wrap="square" anchor="t" lIns="0" rIns="0" tIns="0" bIns="0">
            <a:spAutoFit/>
          </a:bodyPr>
          <a:lstStyle/>
          <a:p>
            <a:pPr algn="l">
              <a:lnSpc>
                <a:spcPct val="80000"/>
              </a:lnSpc>
            </a:pPr>
            <a:r>
              <a:rPr sz="5760" b="1">
                <a:solidFill>
                  <a:srgbClr val="FFFFFF"/>
                </a:solidFill>
                <a:latin typeface="League Spartan"/>
              </a:rPr>
              <a:t>106%</a:t>
            </a:r>
          </a:p>
        </p:txBody>
      </p:sp>
      <p:sp>
        <p:nvSpPr>
          <p:cNvPr id="14" name="TextBox 13"/>
          <p:cNvSpPr txBox="1"/>
          <p:nvPr/>
        </p:nvSpPr>
        <p:spPr>
          <a:xfrm>
            <a:off x="926710" y="7328323"/>
            <a:ext cx="5487097" cy="182903"/>
          </a:xfrm>
          <a:prstGeom prst="rect">
            <a:avLst/>
          </a:prstGeom>
          <a:noFill/>
        </p:spPr>
        <p:txBody>
          <a:bodyPr wrap="square" anchor="t" lIns="0" rIns="0" tIns="0" bIns="0">
            <a:spAutoFit/>
          </a:bodyPr>
          <a:lstStyle/>
          <a:p>
            <a:pPr algn="l">
              <a:lnSpc>
                <a:spcPct val="130000"/>
              </a:lnSpc>
            </a:pPr>
            <a:r>
              <a:rPr sz="1008" b="0">
                <a:solidFill>
                  <a:srgbClr val="FFFFFF"/>
                </a:solidFill>
                <a:latin typeface="Inter"/>
              </a:rPr>
              <a:t>Rendement op de investering</a:t>
            </a:r>
          </a:p>
        </p:txBody>
      </p:sp>
      <p:sp>
        <p:nvSpPr>
          <p:cNvPr id="15" name="Rectangle 14"/>
          <p:cNvSpPr/>
          <p:nvPr/>
        </p:nvSpPr>
        <p:spPr>
          <a:xfrm>
            <a:off x="585290" y="8206258"/>
            <a:ext cx="6389419" cy="12194"/>
          </a:xfrm>
          <a:prstGeom prst="rect">
            <a:avLst/>
          </a:prstGeom>
          <a:solidFill>
            <a:srgbClr val="E7EEF0"/>
          </a:solidFill>
          <a:ln>
            <a:noFill/>
          </a:ln>
          <a:effectLst/>
        </p:spPr>
        <p:txBody>
          <a:bodyPr rtlCol="0" anchor="ctr"/>
          <a:lstStyle/>
          <a:p>
            <a:pPr algn="ctr"/>
          </a:p>
        </p:txBody>
      </p:sp>
      <p:sp>
        <p:nvSpPr>
          <p:cNvPr id="16" name="Rectangle 15"/>
          <p:cNvSpPr/>
          <p:nvPr/>
        </p:nvSpPr>
        <p:spPr>
          <a:xfrm>
            <a:off x="585290" y="9084194"/>
            <a:ext cx="6389419" cy="12194"/>
          </a:xfrm>
          <a:prstGeom prst="rect">
            <a:avLst/>
          </a:prstGeom>
          <a:solidFill>
            <a:srgbClr val="E7EEF0"/>
          </a:solidFill>
          <a:ln>
            <a:noFill/>
          </a:ln>
          <a:effectLst/>
        </p:spPr>
        <p:txBody>
          <a:bodyPr rtlCol="0" anchor="ctr"/>
          <a:lstStyle/>
          <a:p>
            <a:pPr algn="ctr"/>
          </a:p>
        </p:txBody>
      </p:sp>
      <p:pic>
        <p:nvPicPr>
          <p:cNvPr id="17" name="Picture 16" descr="hr.png"/>
          <p:cNvPicPr>
            <a:picLocks noChangeAspect="1"/>
          </p:cNvPicPr>
          <p:nvPr/>
        </p:nvPicPr>
        <p:blipFill>
          <a:blip r:embed="rId5"/>
          <a:stretch>
            <a:fillRect/>
          </a:stretch>
        </p:blipFill>
        <p:spPr>
          <a:xfrm>
            <a:off x="1194968" y="8465371"/>
            <a:ext cx="1438839" cy="371903"/>
          </a:xfrm>
          <a:prstGeom prst="rect">
            <a:avLst/>
          </a:prstGeom>
        </p:spPr>
      </p:pic>
      <p:pic>
        <p:nvPicPr>
          <p:cNvPr id="18" name="Picture 17" descr="tilburg.png"/>
          <p:cNvPicPr>
            <a:picLocks noChangeAspect="1"/>
          </p:cNvPicPr>
          <p:nvPr/>
        </p:nvPicPr>
        <p:blipFill>
          <a:blip r:embed="rId6"/>
          <a:stretch>
            <a:fillRect/>
          </a:stretch>
        </p:blipFill>
        <p:spPr>
          <a:xfrm>
            <a:off x="3072774" y="8474516"/>
            <a:ext cx="1390065" cy="353613"/>
          </a:xfrm>
          <a:prstGeom prst="rect">
            <a:avLst/>
          </a:prstGeom>
        </p:spPr>
      </p:pic>
      <p:pic>
        <p:nvPicPr>
          <p:cNvPr id="19" name="Picture 18" descr="radboud.png"/>
          <p:cNvPicPr>
            <a:picLocks noChangeAspect="1"/>
          </p:cNvPicPr>
          <p:nvPr/>
        </p:nvPicPr>
        <p:blipFill>
          <a:blip r:embed="rId7"/>
          <a:stretch>
            <a:fillRect/>
          </a:stretch>
        </p:blipFill>
        <p:spPr>
          <a:xfrm>
            <a:off x="4901806" y="8468419"/>
            <a:ext cx="1597355" cy="365806"/>
          </a:xfrm>
          <a:prstGeom prst="rect">
            <a:avLst/>
          </a:prstGeom>
        </p:spPr>
      </p:pic>
      <p:sp>
        <p:nvSpPr>
          <p:cNvPr id="20" name="Rectangle 19"/>
          <p:cNvSpPr/>
          <p:nvPr/>
        </p:nvSpPr>
        <p:spPr>
          <a:xfrm>
            <a:off x="585290" y="10120645"/>
            <a:ext cx="6389419" cy="12194"/>
          </a:xfrm>
          <a:prstGeom prst="rect">
            <a:avLst/>
          </a:prstGeom>
          <a:solidFill>
            <a:srgbClr val="E7EEF0"/>
          </a:solidFill>
          <a:ln>
            <a:noFill/>
          </a:ln>
          <a:effectLst/>
        </p:spPr>
        <p:txBody>
          <a:bodyPr rtlCol="0" anchor="ctr"/>
          <a:lstStyle/>
          <a:p>
            <a:pPr algn="ctr"/>
          </a:p>
        </p:txBody>
      </p:sp>
      <p:sp>
        <p:nvSpPr>
          <p:cNvPr id="21" name="TextBox 20"/>
          <p:cNvSpPr txBox="1"/>
          <p:nvPr/>
        </p:nvSpPr>
        <p:spPr>
          <a:xfrm>
            <a:off x="585290" y="10266968"/>
            <a:ext cx="5487097" cy="146323"/>
          </a:xfrm>
          <a:prstGeom prst="rect">
            <a:avLst/>
          </a:prstGeom>
          <a:noFill/>
        </p:spPr>
        <p:txBody>
          <a:bodyPr wrap="square" anchor="t" lIns="0" rIns="0" tIns="0" bIns="0">
            <a:spAutoFit/>
          </a:bodyPr>
          <a:lstStyle/>
          <a:p>
            <a:pPr algn="l">
              <a:lnSpc>
                <a:spcPct val="120000"/>
              </a:lnSpc>
            </a:pPr>
            <a:r>
              <a:rPr sz="768" b="0">
                <a:solidFill>
                  <a:srgbClr val="5B7480"/>
                </a:solidFill>
                <a:latin typeface="Inter"/>
              </a:rPr>
              <a:t>Business case Eduface · Academica University of Applied Sciences · concept</a:t>
            </a:r>
          </a:p>
        </p:txBody>
      </p:sp>
      <p:sp>
        <p:nvSpPr>
          <p:cNvPr id="22" name="TextBox 21"/>
          <p:cNvSpPr txBox="1"/>
          <p:nvPr/>
        </p:nvSpPr>
        <p:spPr>
          <a:xfrm>
            <a:off x="6365032" y="10266968"/>
            <a:ext cx="609677" cy="146323"/>
          </a:xfrm>
          <a:prstGeom prst="rect">
            <a:avLst/>
          </a:prstGeom>
          <a:noFill/>
        </p:spPr>
        <p:txBody>
          <a:bodyPr wrap="square" anchor="t" lIns="0" rIns="0" tIns="0" bIns="0">
            <a:spAutoFit/>
          </a:bodyPr>
          <a:lstStyle/>
          <a:p>
            <a:pPr algn="r">
              <a:lnSpc>
                <a:spcPct val="120000"/>
              </a:lnSpc>
            </a:pPr>
            <a:r>
              <a:rPr sz="768" b="1">
                <a:solidFill>
                  <a:srgbClr val="5B7480"/>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90" y="585290"/>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KOSTEN</a:t>
            </a:r>
          </a:p>
        </p:txBody>
      </p:sp>
      <p:sp>
        <p:nvSpPr>
          <p:cNvPr id="3" name="TextBox 2"/>
          <p:cNvSpPr txBox="1"/>
          <p:nvPr/>
        </p:nvSpPr>
        <p:spPr>
          <a:xfrm>
            <a:off x="585290" y="756000"/>
            <a:ext cx="6389419" cy="365806"/>
          </a:xfrm>
          <a:prstGeom prst="rect">
            <a:avLst/>
          </a:prstGeom>
          <a:noFill/>
        </p:spPr>
        <p:txBody>
          <a:bodyPr wrap="square" anchor="t" lIns="0" rIns="0" tIns="0" bIns="0">
            <a:spAutoFit/>
          </a:bodyPr>
          <a:lstStyle/>
          <a:p>
            <a:pPr algn="l">
              <a:lnSpc>
                <a:spcPct val="110000"/>
              </a:lnSpc>
            </a:pPr>
            <a:r>
              <a:rPr sz="2208" b="1">
                <a:solidFill>
                  <a:srgbClr val="002333"/>
                </a:solidFill>
                <a:latin typeface="League Spartan"/>
              </a:rPr>
              <a:t>Dit kost Eduface</a:t>
            </a:r>
          </a:p>
        </p:txBody>
      </p:sp>
      <p:sp>
        <p:nvSpPr>
          <p:cNvPr id="4" name="Rounded Rectangle 3"/>
          <p:cNvSpPr/>
          <p:nvPr/>
        </p:nvSpPr>
        <p:spPr>
          <a:xfrm>
            <a:off x="585290" y="1316903"/>
            <a:ext cx="6389419" cy="1950968"/>
          </a:xfrm>
          <a:prstGeom prst="roundRect">
            <a:avLst>
              <a:gd name="adj" fmla="val 6250"/>
            </a:avLst>
          </a:prstGeom>
          <a:solidFill>
            <a:srgbClr val="002333"/>
          </a:solidFill>
          <a:ln>
            <a:noFill/>
          </a:ln>
          <a:effectLst/>
        </p:spPr>
        <p:txBody>
          <a:bodyPr rtlCol="0" anchor="ctr"/>
          <a:lstStyle/>
          <a:p>
            <a:pPr algn="ctr"/>
          </a:p>
        </p:txBody>
      </p:sp>
      <p:sp>
        <p:nvSpPr>
          <p:cNvPr id="5" name="TextBox 4"/>
          <p:cNvSpPr txBox="1"/>
          <p:nvPr/>
        </p:nvSpPr>
        <p:spPr>
          <a:xfrm>
            <a:off x="926710" y="1621742"/>
            <a:ext cx="5487097" cy="914516"/>
          </a:xfrm>
          <a:prstGeom prst="rect">
            <a:avLst/>
          </a:prstGeom>
          <a:noFill/>
        </p:spPr>
        <p:txBody>
          <a:bodyPr wrap="square" anchor="t" lIns="0" rIns="0" tIns="0" bIns="0">
            <a:spAutoFit/>
          </a:bodyPr>
          <a:lstStyle/>
          <a:p>
            <a:pPr algn="l">
              <a:lnSpc>
                <a:spcPct val="80000"/>
              </a:lnSpc>
            </a:pPr>
            <a:r>
              <a:rPr sz="7200" b="1">
                <a:solidFill>
                  <a:srgbClr val="FFFFFF"/>
                </a:solidFill>
                <a:latin typeface="League Spartan"/>
              </a:rPr>
              <a:t>€ 1.500</a:t>
            </a:r>
          </a:p>
        </p:txBody>
      </p:sp>
      <p:sp>
        <p:nvSpPr>
          <p:cNvPr id="6" name="TextBox 5"/>
          <p:cNvSpPr txBox="1"/>
          <p:nvPr/>
        </p:nvSpPr>
        <p:spPr>
          <a:xfrm>
            <a:off x="926710" y="2585032"/>
            <a:ext cx="5487097" cy="243871"/>
          </a:xfrm>
          <a:prstGeom prst="rect">
            <a:avLst/>
          </a:prstGeom>
          <a:noFill/>
        </p:spPr>
        <p:txBody>
          <a:bodyPr wrap="square" anchor="t" lIns="0" rIns="0" tIns="0" bIns="0">
            <a:spAutoFit/>
          </a:bodyPr>
          <a:lstStyle/>
          <a:p>
            <a:pPr algn="l">
              <a:lnSpc>
                <a:spcPct val="120000"/>
              </a:lnSpc>
            </a:pPr>
            <a:r>
              <a:rPr sz="1440" b="0">
                <a:solidFill>
                  <a:srgbClr val="FFFFFF"/>
                </a:solidFill>
                <a:latin typeface="Inter"/>
              </a:rPr>
              <a:t>per maand, vooraf betaald</a:t>
            </a:r>
          </a:p>
        </p:txBody>
      </p:sp>
      <p:sp>
        <p:nvSpPr>
          <p:cNvPr id="7" name="TextBox 6"/>
          <p:cNvSpPr txBox="1"/>
          <p:nvPr/>
        </p:nvSpPr>
        <p:spPr>
          <a:xfrm>
            <a:off x="926710" y="2841097"/>
            <a:ext cx="5487097" cy="182903"/>
          </a:xfrm>
          <a:prstGeom prst="rect">
            <a:avLst/>
          </a:prstGeom>
          <a:noFill/>
        </p:spPr>
        <p:txBody>
          <a:bodyPr wrap="square" anchor="t" lIns="0" rIns="0" tIns="0" bIns="0">
            <a:spAutoFit/>
          </a:bodyPr>
          <a:lstStyle/>
          <a:p>
            <a:pPr algn="l">
              <a:lnSpc>
                <a:spcPct val="130000"/>
              </a:lnSpc>
            </a:pPr>
            <a:r>
              <a:rPr sz="1008" b="0">
                <a:solidFill>
                  <a:srgbClr val="9EABB1"/>
                </a:solidFill>
                <a:latin typeface="Inter"/>
              </a:rPr>
              <a:t>€ 18.000 per jaar, exclusief btw</a:t>
            </a:r>
          </a:p>
        </p:txBody>
      </p:sp>
      <p:sp>
        <p:nvSpPr>
          <p:cNvPr id="8" name="Rounded Rectangle 7"/>
          <p:cNvSpPr/>
          <p:nvPr/>
        </p:nvSpPr>
        <p:spPr>
          <a:xfrm>
            <a:off x="585290" y="3414194"/>
            <a:ext cx="3121548" cy="756000"/>
          </a:xfrm>
          <a:prstGeom prst="roundRect">
            <a:avLst>
              <a:gd name="adj" fmla="val 16129"/>
            </a:avLst>
          </a:prstGeom>
          <a:solidFill>
            <a:srgbClr val="F3F7F8"/>
          </a:solidFill>
          <a:ln>
            <a:noFill/>
          </a:ln>
          <a:effectLst/>
        </p:spPr>
        <p:txBody>
          <a:bodyPr rtlCol="0" anchor="ctr"/>
          <a:lstStyle/>
          <a:p>
            <a:pPr algn="ctr"/>
          </a:p>
        </p:txBody>
      </p:sp>
      <p:sp>
        <p:nvSpPr>
          <p:cNvPr id="9" name="TextBox 8"/>
          <p:cNvSpPr txBox="1"/>
          <p:nvPr/>
        </p:nvSpPr>
        <p:spPr>
          <a:xfrm>
            <a:off x="804774" y="3584903"/>
            <a:ext cx="2682581"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Eerste 400 studenten</a:t>
            </a:r>
          </a:p>
        </p:txBody>
      </p:sp>
      <p:sp>
        <p:nvSpPr>
          <p:cNvPr id="10" name="TextBox 9"/>
          <p:cNvSpPr txBox="1"/>
          <p:nvPr/>
        </p:nvSpPr>
        <p:spPr>
          <a:xfrm>
            <a:off x="804774" y="3816581"/>
            <a:ext cx="2682581" cy="182903"/>
          </a:xfrm>
          <a:prstGeom prst="rect">
            <a:avLst/>
          </a:prstGeom>
          <a:noFill/>
        </p:spPr>
        <p:txBody>
          <a:bodyPr wrap="square" anchor="t" lIns="0" rIns="0" tIns="0" bIns="0">
            <a:spAutoFit/>
          </a:bodyPr>
          <a:lstStyle/>
          <a:p>
            <a:pPr algn="l">
              <a:lnSpc>
                <a:spcPct val="140000"/>
              </a:lnSpc>
            </a:pPr>
            <a:r>
              <a:rPr sz="912" b="0">
                <a:solidFill>
                  <a:srgbClr val="2C4A57"/>
                </a:solidFill>
                <a:latin typeface="Inter"/>
              </a:rPr>
              <a:t>€ 3,75 per student per maand, samen € 1.500</a:t>
            </a:r>
          </a:p>
        </p:txBody>
      </p:sp>
      <p:sp>
        <p:nvSpPr>
          <p:cNvPr id="11" name="Rounded Rectangle 10"/>
          <p:cNvSpPr/>
          <p:nvPr/>
        </p:nvSpPr>
        <p:spPr>
          <a:xfrm>
            <a:off x="3853161" y="3414194"/>
            <a:ext cx="3121548" cy="756000"/>
          </a:xfrm>
          <a:prstGeom prst="roundRect">
            <a:avLst>
              <a:gd name="adj" fmla="val 16129"/>
            </a:avLst>
          </a:prstGeom>
          <a:solidFill>
            <a:srgbClr val="F3F7F8"/>
          </a:solidFill>
          <a:ln>
            <a:noFill/>
          </a:ln>
          <a:effectLst/>
        </p:spPr>
        <p:txBody>
          <a:bodyPr rtlCol="0" anchor="ctr"/>
          <a:lstStyle/>
          <a:p>
            <a:pPr algn="ctr"/>
          </a:p>
        </p:txBody>
      </p:sp>
      <p:sp>
        <p:nvSpPr>
          <p:cNvPr id="12" name="TextBox 11"/>
          <p:cNvSpPr txBox="1"/>
          <p:nvPr/>
        </p:nvSpPr>
        <p:spPr>
          <a:xfrm>
            <a:off x="4072645" y="3584903"/>
            <a:ext cx="2682581"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Elke student daarboven</a:t>
            </a:r>
          </a:p>
        </p:txBody>
      </p:sp>
      <p:sp>
        <p:nvSpPr>
          <p:cNvPr id="13" name="TextBox 12"/>
          <p:cNvSpPr txBox="1"/>
          <p:nvPr/>
        </p:nvSpPr>
        <p:spPr>
          <a:xfrm>
            <a:off x="4072645" y="3816581"/>
            <a:ext cx="2682581" cy="182903"/>
          </a:xfrm>
          <a:prstGeom prst="rect">
            <a:avLst/>
          </a:prstGeom>
          <a:noFill/>
        </p:spPr>
        <p:txBody>
          <a:bodyPr wrap="square" anchor="t" lIns="0" rIns="0" tIns="0" bIns="0">
            <a:spAutoFit/>
          </a:bodyPr>
          <a:lstStyle/>
          <a:p>
            <a:pPr algn="l">
              <a:lnSpc>
                <a:spcPct val="140000"/>
              </a:lnSpc>
            </a:pPr>
            <a:r>
              <a:rPr sz="912" b="0">
                <a:solidFill>
                  <a:srgbClr val="2C4A57"/>
                </a:solidFill>
                <a:latin typeface="Inter"/>
              </a:rPr>
              <a:t>€ 3 per student per maand</a:t>
            </a:r>
          </a:p>
        </p:txBody>
      </p:sp>
      <p:sp>
        <p:nvSpPr>
          <p:cNvPr id="14" name="TextBox 13"/>
          <p:cNvSpPr txBox="1"/>
          <p:nvPr/>
        </p:nvSpPr>
        <p:spPr>
          <a:xfrm>
            <a:off x="585290" y="4462839"/>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WAT DE INSTELLING ERVOOR KRIJGT</a:t>
            </a:r>
          </a:p>
        </p:txBody>
      </p:sp>
      <p:sp>
        <p:nvSpPr>
          <p:cNvPr id="15" name="Rounded Rectangle 14"/>
          <p:cNvSpPr/>
          <p:nvPr/>
        </p:nvSpPr>
        <p:spPr>
          <a:xfrm>
            <a:off x="585290" y="4682323"/>
            <a:ext cx="6389419" cy="756000"/>
          </a:xfrm>
          <a:prstGeom prst="roundRect">
            <a:avLst>
              <a:gd name="adj" fmla="val 16129"/>
            </a:avLst>
          </a:prstGeom>
          <a:solidFill>
            <a:srgbClr val="F3F7F8"/>
          </a:solidFill>
          <a:ln>
            <a:noFill/>
          </a:ln>
          <a:effectLst/>
        </p:spPr>
        <p:txBody>
          <a:bodyPr rtlCol="0" anchor="ctr"/>
          <a:lstStyle/>
          <a:p>
            <a:pPr algn="ctr"/>
          </a:p>
        </p:txBody>
      </p:sp>
      <p:sp>
        <p:nvSpPr>
          <p:cNvPr id="16" name="Oval 15"/>
          <p:cNvSpPr/>
          <p:nvPr/>
        </p:nvSpPr>
        <p:spPr>
          <a:xfrm>
            <a:off x="756000" y="4877419"/>
            <a:ext cx="365806" cy="365806"/>
          </a:xfrm>
          <a:prstGeom prst="ellipse">
            <a:avLst/>
          </a:prstGeom>
          <a:solidFill>
            <a:srgbClr val="FFFFFF"/>
          </a:solidFill>
          <a:ln>
            <a:noFill/>
          </a:ln>
          <a:effectLst/>
        </p:spPr>
        <p:txBody>
          <a:bodyPr rtlCol="0" anchor="ctr"/>
          <a:lstStyle/>
          <a:p>
            <a:pPr algn="ctr"/>
          </a:p>
        </p:txBody>
      </p:sp>
      <p:pic>
        <p:nvPicPr>
          <p:cNvPr id="17" name="Picture 16" descr="icon-scale.png"/>
          <p:cNvPicPr>
            <a:picLocks noChangeAspect="1"/>
          </p:cNvPicPr>
          <p:nvPr/>
        </p:nvPicPr>
        <p:blipFill>
          <a:blip r:embed="rId2"/>
          <a:stretch>
            <a:fillRect/>
          </a:stretch>
        </p:blipFill>
        <p:spPr>
          <a:xfrm>
            <a:off x="856597" y="4978016"/>
            <a:ext cx="164613" cy="164613"/>
          </a:xfrm>
          <a:prstGeom prst="rect">
            <a:avLst/>
          </a:prstGeom>
        </p:spPr>
      </p:pic>
      <p:sp>
        <p:nvSpPr>
          <p:cNvPr id="18" name="TextBox 17"/>
          <p:cNvSpPr txBox="1"/>
          <p:nvPr/>
        </p:nvSpPr>
        <p:spPr>
          <a:xfrm>
            <a:off x="1292516" y="4789016"/>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Uniforme beoordeling</a:t>
            </a:r>
          </a:p>
        </p:txBody>
      </p:sp>
      <p:sp>
        <p:nvSpPr>
          <p:cNvPr id="19" name="TextBox 18"/>
          <p:cNvSpPr txBox="1"/>
          <p:nvPr/>
        </p:nvSpPr>
        <p:spPr>
          <a:xfrm>
            <a:off x="1292516" y="5020694"/>
            <a:ext cx="5609032" cy="365806"/>
          </a:xfrm>
          <a:prstGeom prst="rect">
            <a:avLst/>
          </a:prstGeom>
          <a:noFill/>
        </p:spPr>
        <p:txBody>
          <a:bodyPr wrap="square" anchor="t" lIns="0" rIns="0" tIns="0" bIns="0">
            <a:spAutoFit/>
          </a:bodyPr>
          <a:lstStyle/>
          <a:p>
            <a:pPr algn="l">
              <a:lnSpc>
                <a:spcPct val="140000"/>
              </a:lnSpc>
            </a:pPr>
            <a:r>
              <a:rPr sz="912" b="0">
                <a:solidFill>
                  <a:srgbClr val="2C4A57"/>
                </a:solidFill>
                <a:latin typeface="Inter"/>
              </a:rPr>
              <a:t>Elke opdracht wordt langs dezelfde criteria beoordeeld, door elke beoordelaar.</a:t>
            </a:r>
          </a:p>
        </p:txBody>
      </p:sp>
      <p:sp>
        <p:nvSpPr>
          <p:cNvPr id="20" name="Rounded Rectangle 19"/>
          <p:cNvSpPr/>
          <p:nvPr/>
        </p:nvSpPr>
        <p:spPr>
          <a:xfrm>
            <a:off x="585290" y="5535871"/>
            <a:ext cx="6389419" cy="756000"/>
          </a:xfrm>
          <a:prstGeom prst="roundRect">
            <a:avLst>
              <a:gd name="adj" fmla="val 16129"/>
            </a:avLst>
          </a:prstGeom>
          <a:solidFill>
            <a:srgbClr val="F3F7F8"/>
          </a:solidFill>
          <a:ln>
            <a:noFill/>
          </a:ln>
          <a:effectLst/>
        </p:spPr>
        <p:txBody>
          <a:bodyPr rtlCol="0" anchor="ctr"/>
          <a:lstStyle/>
          <a:p>
            <a:pPr algn="ctr"/>
          </a:p>
        </p:txBody>
      </p:sp>
      <p:sp>
        <p:nvSpPr>
          <p:cNvPr id="21" name="Oval 20"/>
          <p:cNvSpPr/>
          <p:nvPr/>
        </p:nvSpPr>
        <p:spPr>
          <a:xfrm>
            <a:off x="756000" y="5730968"/>
            <a:ext cx="365806" cy="365806"/>
          </a:xfrm>
          <a:prstGeom prst="ellipse">
            <a:avLst/>
          </a:prstGeom>
          <a:solidFill>
            <a:srgbClr val="FFFFFF"/>
          </a:solidFill>
          <a:ln>
            <a:noFill/>
          </a:ln>
          <a:effectLst/>
        </p:spPr>
        <p:txBody>
          <a:bodyPr rtlCol="0" anchor="ctr"/>
          <a:lstStyle/>
          <a:p>
            <a:pPr algn="ctr"/>
          </a:p>
        </p:txBody>
      </p:sp>
      <p:pic>
        <p:nvPicPr>
          <p:cNvPr id="22" name="Picture 21" descr="icon-link.png"/>
          <p:cNvPicPr>
            <a:picLocks noChangeAspect="1"/>
          </p:cNvPicPr>
          <p:nvPr/>
        </p:nvPicPr>
        <p:blipFill>
          <a:blip r:embed="rId3"/>
          <a:stretch>
            <a:fillRect/>
          </a:stretch>
        </p:blipFill>
        <p:spPr>
          <a:xfrm>
            <a:off x="856597" y="5831565"/>
            <a:ext cx="164613" cy="164613"/>
          </a:xfrm>
          <a:prstGeom prst="rect">
            <a:avLst/>
          </a:prstGeom>
        </p:spPr>
      </p:pic>
      <p:sp>
        <p:nvSpPr>
          <p:cNvPr id="23" name="TextBox 22"/>
          <p:cNvSpPr txBox="1"/>
          <p:nvPr/>
        </p:nvSpPr>
        <p:spPr>
          <a:xfrm>
            <a:off x="1292516" y="5642565"/>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Integratie in NEO LMS</a:t>
            </a:r>
          </a:p>
        </p:txBody>
      </p:sp>
      <p:sp>
        <p:nvSpPr>
          <p:cNvPr id="24" name="TextBox 23"/>
          <p:cNvSpPr txBox="1"/>
          <p:nvPr/>
        </p:nvSpPr>
        <p:spPr>
          <a:xfrm>
            <a:off x="1292516" y="5874242"/>
            <a:ext cx="5609032" cy="365806"/>
          </a:xfrm>
          <a:prstGeom prst="rect">
            <a:avLst/>
          </a:prstGeom>
          <a:noFill/>
        </p:spPr>
        <p:txBody>
          <a:bodyPr wrap="square" anchor="t" lIns="0" rIns="0" tIns="0" bIns="0">
            <a:spAutoFit/>
          </a:bodyPr>
          <a:lstStyle/>
          <a:p>
            <a:pPr algn="l">
              <a:lnSpc>
                <a:spcPct val="140000"/>
              </a:lnSpc>
            </a:pPr>
            <a:r>
              <a:rPr sz="912" b="0">
                <a:solidFill>
                  <a:srgbClr val="2C4A57"/>
                </a:solidFill>
                <a:latin typeface="Inter"/>
              </a:rPr>
              <a:t>Opdrachten en cijfers lopen via NEO. Docenten en studenten werken in de omgeving die ze kennen.</a:t>
            </a:r>
          </a:p>
        </p:txBody>
      </p:sp>
      <p:sp>
        <p:nvSpPr>
          <p:cNvPr id="25" name="Rounded Rectangle 24"/>
          <p:cNvSpPr/>
          <p:nvPr/>
        </p:nvSpPr>
        <p:spPr>
          <a:xfrm>
            <a:off x="585290" y="6389419"/>
            <a:ext cx="6389419" cy="756000"/>
          </a:xfrm>
          <a:prstGeom prst="roundRect">
            <a:avLst>
              <a:gd name="adj" fmla="val 16129"/>
            </a:avLst>
          </a:prstGeom>
          <a:solidFill>
            <a:srgbClr val="F3F7F8"/>
          </a:solidFill>
          <a:ln>
            <a:noFill/>
          </a:ln>
          <a:effectLst/>
        </p:spPr>
        <p:txBody>
          <a:bodyPr rtlCol="0" anchor="ctr"/>
          <a:lstStyle/>
          <a:p>
            <a:pPr algn="ctr"/>
          </a:p>
        </p:txBody>
      </p:sp>
      <p:sp>
        <p:nvSpPr>
          <p:cNvPr id="26" name="Oval 25"/>
          <p:cNvSpPr/>
          <p:nvPr/>
        </p:nvSpPr>
        <p:spPr>
          <a:xfrm>
            <a:off x="756000" y="6584516"/>
            <a:ext cx="365806" cy="365806"/>
          </a:xfrm>
          <a:prstGeom prst="ellipse">
            <a:avLst/>
          </a:prstGeom>
          <a:solidFill>
            <a:srgbClr val="FFFFFF"/>
          </a:solidFill>
          <a:ln>
            <a:noFill/>
          </a:ln>
          <a:effectLst/>
        </p:spPr>
        <p:txBody>
          <a:bodyPr rtlCol="0" anchor="ctr"/>
          <a:lstStyle/>
          <a:p>
            <a:pPr algn="ctr"/>
          </a:p>
        </p:txBody>
      </p:sp>
      <p:pic>
        <p:nvPicPr>
          <p:cNvPr id="27" name="Picture 26" descr="icon-feedback.png"/>
          <p:cNvPicPr>
            <a:picLocks noChangeAspect="1"/>
          </p:cNvPicPr>
          <p:nvPr/>
        </p:nvPicPr>
        <p:blipFill>
          <a:blip r:embed="rId4"/>
          <a:stretch>
            <a:fillRect/>
          </a:stretch>
        </p:blipFill>
        <p:spPr>
          <a:xfrm>
            <a:off x="856597" y="6685113"/>
            <a:ext cx="164613" cy="164613"/>
          </a:xfrm>
          <a:prstGeom prst="rect">
            <a:avLst/>
          </a:prstGeom>
        </p:spPr>
      </p:pic>
      <p:sp>
        <p:nvSpPr>
          <p:cNvPr id="28" name="TextBox 27"/>
          <p:cNvSpPr txBox="1"/>
          <p:nvPr/>
        </p:nvSpPr>
        <p:spPr>
          <a:xfrm>
            <a:off x="1292516" y="6413806"/>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Formatieve feedback voor elke student</a:t>
            </a:r>
          </a:p>
        </p:txBody>
      </p:sp>
      <p:sp>
        <p:nvSpPr>
          <p:cNvPr id="29" name="TextBox 28"/>
          <p:cNvSpPr txBox="1"/>
          <p:nvPr/>
        </p:nvSpPr>
        <p:spPr>
          <a:xfrm>
            <a:off x="1292516" y="6645484"/>
            <a:ext cx="3414194" cy="365806"/>
          </a:xfrm>
          <a:prstGeom prst="rect">
            <a:avLst/>
          </a:prstGeom>
          <a:noFill/>
        </p:spPr>
        <p:txBody>
          <a:bodyPr wrap="square" anchor="t" lIns="0" rIns="0" tIns="0" bIns="0">
            <a:spAutoFit/>
          </a:bodyPr>
          <a:lstStyle/>
          <a:p>
            <a:pPr algn="l">
              <a:lnSpc>
                <a:spcPct val="140000"/>
              </a:lnSpc>
            </a:pPr>
            <a:r>
              <a:rPr sz="912" b="0">
                <a:solidFill>
                  <a:srgbClr val="2C4A57"/>
                </a:solidFill>
                <a:latin typeface="Inter"/>
              </a:rPr>
              <a:t>Nu krijgt de helft van de studenten formatieve feedback. Met Eduface is dat iedereen.</a:t>
            </a:r>
          </a:p>
        </p:txBody>
      </p:sp>
      <p:sp>
        <p:nvSpPr>
          <p:cNvPr id="30" name="TextBox 29"/>
          <p:cNvSpPr txBox="1"/>
          <p:nvPr/>
        </p:nvSpPr>
        <p:spPr>
          <a:xfrm>
            <a:off x="4779871" y="6608903"/>
            <a:ext cx="1999742" cy="341419"/>
          </a:xfrm>
          <a:prstGeom prst="rect">
            <a:avLst/>
          </a:prstGeom>
          <a:noFill/>
        </p:spPr>
        <p:txBody>
          <a:bodyPr wrap="square" anchor="t" lIns="0" rIns="0" tIns="0" bIns="0">
            <a:spAutoFit/>
          </a:bodyPr>
          <a:lstStyle/>
          <a:p>
            <a:pPr algn="r">
              <a:lnSpc>
                <a:spcPct val="100000"/>
              </a:lnSpc>
            </a:pPr>
            <a:r>
              <a:rPr sz="2304" b="1">
                <a:solidFill>
                  <a:srgbClr val="002333"/>
                </a:solidFill>
                <a:latin typeface="League Spartan"/>
              </a:rPr>
              <a:t>50% → 100%</a:t>
            </a:r>
          </a:p>
        </p:txBody>
      </p:sp>
      <p:sp>
        <p:nvSpPr>
          <p:cNvPr id="31" name="Rectangle 30"/>
          <p:cNvSpPr/>
          <p:nvPr/>
        </p:nvSpPr>
        <p:spPr>
          <a:xfrm>
            <a:off x="585290" y="10120645"/>
            <a:ext cx="6389419" cy="12194"/>
          </a:xfrm>
          <a:prstGeom prst="rect">
            <a:avLst/>
          </a:prstGeom>
          <a:solidFill>
            <a:srgbClr val="E7EEF0"/>
          </a:solidFill>
          <a:ln>
            <a:noFill/>
          </a:ln>
          <a:effectLst/>
        </p:spPr>
        <p:txBody>
          <a:bodyPr rtlCol="0" anchor="ctr"/>
          <a:lstStyle/>
          <a:p>
            <a:pPr algn="ctr"/>
          </a:p>
        </p:txBody>
      </p:sp>
      <p:sp>
        <p:nvSpPr>
          <p:cNvPr id="32" name="TextBox 31"/>
          <p:cNvSpPr txBox="1"/>
          <p:nvPr/>
        </p:nvSpPr>
        <p:spPr>
          <a:xfrm>
            <a:off x="585290" y="10266968"/>
            <a:ext cx="5487097" cy="146323"/>
          </a:xfrm>
          <a:prstGeom prst="rect">
            <a:avLst/>
          </a:prstGeom>
          <a:noFill/>
        </p:spPr>
        <p:txBody>
          <a:bodyPr wrap="square" anchor="t" lIns="0" rIns="0" tIns="0" bIns="0">
            <a:spAutoFit/>
          </a:bodyPr>
          <a:lstStyle/>
          <a:p>
            <a:pPr algn="l">
              <a:lnSpc>
                <a:spcPct val="120000"/>
              </a:lnSpc>
            </a:pPr>
            <a:r>
              <a:rPr sz="768" b="0">
                <a:solidFill>
                  <a:srgbClr val="5B7480"/>
                </a:solidFill>
                <a:latin typeface="Inter"/>
              </a:rPr>
              <a:t>Business case Eduface · Academica University of Applied Sciences · concept</a:t>
            </a:r>
          </a:p>
        </p:txBody>
      </p:sp>
      <p:sp>
        <p:nvSpPr>
          <p:cNvPr id="33" name="TextBox 32"/>
          <p:cNvSpPr txBox="1"/>
          <p:nvPr/>
        </p:nvSpPr>
        <p:spPr>
          <a:xfrm>
            <a:off x="6365032" y="10266968"/>
            <a:ext cx="609677" cy="146323"/>
          </a:xfrm>
          <a:prstGeom prst="rect">
            <a:avLst/>
          </a:prstGeom>
          <a:noFill/>
        </p:spPr>
        <p:txBody>
          <a:bodyPr wrap="square" anchor="t" lIns="0" rIns="0" tIns="0" bIns="0">
            <a:spAutoFit/>
          </a:bodyPr>
          <a:lstStyle/>
          <a:p>
            <a:pPr algn="r">
              <a:lnSpc>
                <a:spcPct val="120000"/>
              </a:lnSpc>
            </a:pPr>
            <a:r>
              <a:rPr sz="768" b="1">
                <a:solidFill>
                  <a:srgbClr val="5B7480"/>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90" y="585290"/>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KOERSPLAN</a:t>
            </a:r>
          </a:p>
        </p:txBody>
      </p:sp>
      <p:sp>
        <p:nvSpPr>
          <p:cNvPr id="3" name="TextBox 2"/>
          <p:cNvSpPr txBox="1"/>
          <p:nvPr/>
        </p:nvSpPr>
        <p:spPr>
          <a:xfrm>
            <a:off x="585290" y="756000"/>
            <a:ext cx="6389419" cy="365806"/>
          </a:xfrm>
          <a:prstGeom prst="rect">
            <a:avLst/>
          </a:prstGeom>
          <a:noFill/>
        </p:spPr>
        <p:txBody>
          <a:bodyPr wrap="square" anchor="t" lIns="0" rIns="0" tIns="0" bIns="0">
            <a:spAutoFit/>
          </a:bodyPr>
          <a:lstStyle/>
          <a:p>
            <a:pPr algn="l">
              <a:lnSpc>
                <a:spcPct val="110000"/>
              </a:lnSpc>
            </a:pPr>
            <a:r>
              <a:rPr sz="2208" b="1">
                <a:solidFill>
                  <a:srgbClr val="002333"/>
                </a:solidFill>
                <a:latin typeface="League Spartan"/>
              </a:rPr>
              <a:t>Efficiency en organisatie als voorwaarde</a:t>
            </a:r>
          </a:p>
        </p:txBody>
      </p:sp>
      <p:sp>
        <p:nvSpPr>
          <p:cNvPr id="4" name="TextBox 3"/>
          <p:cNvSpPr txBox="1"/>
          <p:nvPr/>
        </p:nvSpPr>
        <p:spPr>
          <a:xfrm>
            <a:off x="585290" y="1170581"/>
            <a:ext cx="6389419" cy="182903"/>
          </a:xfrm>
          <a:prstGeom prst="rect">
            <a:avLst/>
          </a:prstGeom>
          <a:noFill/>
        </p:spPr>
        <p:txBody>
          <a:bodyPr wrap="square" anchor="t" lIns="0" rIns="0" tIns="0" bIns="0">
            <a:spAutoFit/>
          </a:bodyPr>
          <a:lstStyle/>
          <a:p>
            <a:pPr algn="l">
              <a:lnSpc>
                <a:spcPct val="130000"/>
              </a:lnSpc>
            </a:pPr>
            <a:r>
              <a:rPr sz="1008" b="0">
                <a:solidFill>
                  <a:srgbClr val="5B7480"/>
                </a:solidFill>
                <a:latin typeface="Inter"/>
              </a:rPr>
              <a:t>Op deze onderdelen van ons koersplan heeft Eduface impact.</a:t>
            </a:r>
          </a:p>
        </p:txBody>
      </p:sp>
      <p:sp>
        <p:nvSpPr>
          <p:cNvPr id="5" name="Rounded Rectangle 4"/>
          <p:cNvSpPr/>
          <p:nvPr/>
        </p:nvSpPr>
        <p:spPr>
          <a:xfrm>
            <a:off x="585290" y="1524194"/>
            <a:ext cx="6389419" cy="560903"/>
          </a:xfrm>
          <a:prstGeom prst="roundRect">
            <a:avLst>
              <a:gd name="adj" fmla="val 21739"/>
            </a:avLst>
          </a:prstGeom>
          <a:solidFill>
            <a:srgbClr val="F3F7F8"/>
          </a:solidFill>
          <a:ln>
            <a:noFill/>
          </a:ln>
          <a:effectLst/>
        </p:spPr>
        <p:txBody>
          <a:bodyPr rtlCol="0" anchor="ctr"/>
          <a:lstStyle/>
          <a:p>
            <a:pPr algn="ctr"/>
          </a:p>
        </p:txBody>
      </p:sp>
      <p:sp>
        <p:nvSpPr>
          <p:cNvPr id="6" name="Oval 5"/>
          <p:cNvSpPr/>
          <p:nvPr/>
        </p:nvSpPr>
        <p:spPr>
          <a:xfrm>
            <a:off x="756000" y="1621742"/>
            <a:ext cx="365806" cy="365806"/>
          </a:xfrm>
          <a:prstGeom prst="ellipse">
            <a:avLst/>
          </a:prstGeom>
          <a:solidFill>
            <a:srgbClr val="FFFFFF"/>
          </a:solidFill>
          <a:ln>
            <a:noFill/>
          </a:ln>
          <a:effectLst/>
        </p:spPr>
        <p:txBody>
          <a:bodyPr rtlCol="0" anchor="ctr"/>
          <a:lstStyle/>
          <a:p>
            <a:pPr algn="ctr"/>
          </a:p>
        </p:txBody>
      </p:sp>
      <p:pic>
        <p:nvPicPr>
          <p:cNvPr id="7" name="Picture 6" descr="icon-monitor.png"/>
          <p:cNvPicPr>
            <a:picLocks noChangeAspect="1"/>
          </p:cNvPicPr>
          <p:nvPr/>
        </p:nvPicPr>
        <p:blipFill>
          <a:blip r:embed="rId2"/>
          <a:stretch>
            <a:fillRect/>
          </a:stretch>
        </p:blipFill>
        <p:spPr>
          <a:xfrm>
            <a:off x="856597" y="1722339"/>
            <a:ext cx="164613" cy="164613"/>
          </a:xfrm>
          <a:prstGeom prst="rect">
            <a:avLst/>
          </a:prstGeom>
        </p:spPr>
      </p:pic>
      <p:sp>
        <p:nvSpPr>
          <p:cNvPr id="8" name="TextBox 7"/>
          <p:cNvSpPr txBox="1"/>
          <p:nvPr/>
        </p:nvSpPr>
        <p:spPr>
          <a:xfrm>
            <a:off x="1292516" y="1713194"/>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Inzet op IT</a:t>
            </a:r>
          </a:p>
        </p:txBody>
      </p:sp>
      <p:sp>
        <p:nvSpPr>
          <p:cNvPr id="9" name="Rounded Rectangle 8"/>
          <p:cNvSpPr/>
          <p:nvPr/>
        </p:nvSpPr>
        <p:spPr>
          <a:xfrm>
            <a:off x="585290" y="2158258"/>
            <a:ext cx="6389419" cy="560903"/>
          </a:xfrm>
          <a:prstGeom prst="roundRect">
            <a:avLst>
              <a:gd name="adj" fmla="val 21739"/>
            </a:avLst>
          </a:prstGeom>
          <a:solidFill>
            <a:srgbClr val="F3F7F8"/>
          </a:solidFill>
          <a:ln>
            <a:noFill/>
          </a:ln>
          <a:effectLst/>
        </p:spPr>
        <p:txBody>
          <a:bodyPr rtlCol="0" anchor="ctr"/>
          <a:lstStyle/>
          <a:p>
            <a:pPr algn="ctr"/>
          </a:p>
        </p:txBody>
      </p:sp>
      <p:sp>
        <p:nvSpPr>
          <p:cNvPr id="10" name="Oval 9"/>
          <p:cNvSpPr/>
          <p:nvPr/>
        </p:nvSpPr>
        <p:spPr>
          <a:xfrm>
            <a:off x="756000" y="2255806"/>
            <a:ext cx="365806" cy="365806"/>
          </a:xfrm>
          <a:prstGeom prst="ellipse">
            <a:avLst/>
          </a:prstGeom>
          <a:solidFill>
            <a:srgbClr val="FFFFFF"/>
          </a:solidFill>
          <a:ln>
            <a:noFill/>
          </a:ln>
          <a:effectLst/>
        </p:spPr>
        <p:txBody>
          <a:bodyPr rtlCol="0" anchor="ctr"/>
          <a:lstStyle/>
          <a:p>
            <a:pPr algn="ctr"/>
          </a:p>
        </p:txBody>
      </p:sp>
      <p:pic>
        <p:nvPicPr>
          <p:cNvPr id="11" name="Picture 10" descr="icon-workflow.png"/>
          <p:cNvPicPr>
            <a:picLocks noChangeAspect="1"/>
          </p:cNvPicPr>
          <p:nvPr/>
        </p:nvPicPr>
        <p:blipFill>
          <a:blip r:embed="rId3"/>
          <a:stretch>
            <a:fillRect/>
          </a:stretch>
        </p:blipFill>
        <p:spPr>
          <a:xfrm>
            <a:off x="856597" y="2356403"/>
            <a:ext cx="164613" cy="164613"/>
          </a:xfrm>
          <a:prstGeom prst="rect">
            <a:avLst/>
          </a:prstGeom>
        </p:spPr>
      </p:pic>
      <p:sp>
        <p:nvSpPr>
          <p:cNvPr id="12" name="TextBox 11"/>
          <p:cNvSpPr txBox="1"/>
          <p:nvPr/>
        </p:nvSpPr>
        <p:spPr>
          <a:xfrm>
            <a:off x="1292516" y="2347258"/>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Betere processen</a:t>
            </a:r>
          </a:p>
        </p:txBody>
      </p:sp>
      <p:sp>
        <p:nvSpPr>
          <p:cNvPr id="13" name="Rounded Rectangle 12"/>
          <p:cNvSpPr/>
          <p:nvPr/>
        </p:nvSpPr>
        <p:spPr>
          <a:xfrm>
            <a:off x="585290" y="2792323"/>
            <a:ext cx="6389419" cy="560903"/>
          </a:xfrm>
          <a:prstGeom prst="roundRect">
            <a:avLst>
              <a:gd name="adj" fmla="val 21739"/>
            </a:avLst>
          </a:prstGeom>
          <a:solidFill>
            <a:srgbClr val="F3F7F8"/>
          </a:solidFill>
          <a:ln>
            <a:noFill/>
          </a:ln>
          <a:effectLst/>
        </p:spPr>
        <p:txBody>
          <a:bodyPr rtlCol="0" anchor="ctr"/>
          <a:lstStyle/>
          <a:p>
            <a:pPr algn="ctr"/>
          </a:p>
        </p:txBody>
      </p:sp>
      <p:sp>
        <p:nvSpPr>
          <p:cNvPr id="14" name="Oval 13"/>
          <p:cNvSpPr/>
          <p:nvPr/>
        </p:nvSpPr>
        <p:spPr>
          <a:xfrm>
            <a:off x="756000" y="2889871"/>
            <a:ext cx="365806" cy="365806"/>
          </a:xfrm>
          <a:prstGeom prst="ellipse">
            <a:avLst/>
          </a:prstGeom>
          <a:solidFill>
            <a:srgbClr val="FFFFFF"/>
          </a:solidFill>
          <a:ln>
            <a:noFill/>
          </a:ln>
          <a:effectLst/>
        </p:spPr>
        <p:txBody>
          <a:bodyPr rtlCol="0" anchor="ctr"/>
          <a:lstStyle/>
          <a:p>
            <a:pPr algn="ctr"/>
          </a:p>
        </p:txBody>
      </p:sp>
      <p:pic>
        <p:nvPicPr>
          <p:cNvPr id="15" name="Picture 14" descr="icon-chart.png"/>
          <p:cNvPicPr>
            <a:picLocks noChangeAspect="1"/>
          </p:cNvPicPr>
          <p:nvPr/>
        </p:nvPicPr>
        <p:blipFill>
          <a:blip r:embed="rId4"/>
          <a:stretch>
            <a:fillRect/>
          </a:stretch>
        </p:blipFill>
        <p:spPr>
          <a:xfrm>
            <a:off x="856597" y="2990468"/>
            <a:ext cx="164613" cy="164613"/>
          </a:xfrm>
          <a:prstGeom prst="rect">
            <a:avLst/>
          </a:prstGeom>
        </p:spPr>
      </p:pic>
      <p:sp>
        <p:nvSpPr>
          <p:cNvPr id="16" name="TextBox 15"/>
          <p:cNvSpPr txBox="1"/>
          <p:nvPr/>
        </p:nvSpPr>
        <p:spPr>
          <a:xfrm>
            <a:off x="1292516" y="2981323"/>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Datagedreven</a:t>
            </a:r>
          </a:p>
        </p:txBody>
      </p:sp>
      <p:sp>
        <p:nvSpPr>
          <p:cNvPr id="17" name="Rounded Rectangle 16"/>
          <p:cNvSpPr/>
          <p:nvPr/>
        </p:nvSpPr>
        <p:spPr>
          <a:xfrm>
            <a:off x="585290" y="3426387"/>
            <a:ext cx="6389419" cy="560903"/>
          </a:xfrm>
          <a:prstGeom prst="roundRect">
            <a:avLst>
              <a:gd name="adj" fmla="val 21739"/>
            </a:avLst>
          </a:prstGeom>
          <a:solidFill>
            <a:srgbClr val="F3F7F8"/>
          </a:solidFill>
          <a:ln>
            <a:noFill/>
          </a:ln>
          <a:effectLst/>
        </p:spPr>
        <p:txBody>
          <a:bodyPr rtlCol="0" anchor="ctr"/>
          <a:lstStyle/>
          <a:p>
            <a:pPr algn="ctr"/>
          </a:p>
        </p:txBody>
      </p:sp>
      <p:sp>
        <p:nvSpPr>
          <p:cNvPr id="18" name="Oval 17"/>
          <p:cNvSpPr/>
          <p:nvPr/>
        </p:nvSpPr>
        <p:spPr>
          <a:xfrm>
            <a:off x="756000" y="3523935"/>
            <a:ext cx="365806" cy="365806"/>
          </a:xfrm>
          <a:prstGeom prst="ellipse">
            <a:avLst/>
          </a:prstGeom>
          <a:solidFill>
            <a:srgbClr val="FFFFFF"/>
          </a:solidFill>
          <a:ln>
            <a:noFill/>
          </a:ln>
          <a:effectLst/>
        </p:spPr>
        <p:txBody>
          <a:bodyPr rtlCol="0" anchor="ctr"/>
          <a:lstStyle/>
          <a:p>
            <a:pPr algn="ctr"/>
          </a:p>
        </p:txBody>
      </p:sp>
      <p:pic>
        <p:nvPicPr>
          <p:cNvPr id="19" name="Picture 18" descr="icon-users.png"/>
          <p:cNvPicPr>
            <a:picLocks noChangeAspect="1"/>
          </p:cNvPicPr>
          <p:nvPr/>
        </p:nvPicPr>
        <p:blipFill>
          <a:blip r:embed="rId5"/>
          <a:stretch>
            <a:fillRect/>
          </a:stretch>
        </p:blipFill>
        <p:spPr>
          <a:xfrm>
            <a:off x="856597" y="3624532"/>
            <a:ext cx="164613" cy="164613"/>
          </a:xfrm>
          <a:prstGeom prst="rect">
            <a:avLst/>
          </a:prstGeom>
        </p:spPr>
      </p:pic>
      <p:sp>
        <p:nvSpPr>
          <p:cNvPr id="20" name="TextBox 19"/>
          <p:cNvSpPr txBox="1"/>
          <p:nvPr/>
        </p:nvSpPr>
        <p:spPr>
          <a:xfrm>
            <a:off x="1292516" y="3615387"/>
            <a:ext cx="5243226" cy="182903"/>
          </a:xfrm>
          <a:prstGeom prst="rect">
            <a:avLst/>
          </a:prstGeom>
          <a:noFill/>
        </p:spPr>
        <p:txBody>
          <a:bodyPr wrap="square" anchor="t" lIns="0" rIns="0" tIns="0" bIns="0">
            <a:spAutoFit/>
          </a:bodyPr>
          <a:lstStyle/>
          <a:p>
            <a:pPr algn="l">
              <a:lnSpc>
                <a:spcPct val="120000"/>
              </a:lnSpc>
            </a:pPr>
            <a:r>
              <a:rPr sz="1200" b="1">
                <a:solidFill>
                  <a:srgbClr val="002333"/>
                </a:solidFill>
                <a:latin typeface="Inter"/>
              </a:rPr>
              <a:t>Een stevig kernteam</a:t>
            </a:r>
          </a:p>
        </p:txBody>
      </p:sp>
      <p:sp>
        <p:nvSpPr>
          <p:cNvPr id="21" name="TextBox 20"/>
          <p:cNvSpPr txBox="1"/>
          <p:nvPr/>
        </p:nvSpPr>
        <p:spPr>
          <a:xfrm>
            <a:off x="585290" y="4267742"/>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ACCREDITATIE</a:t>
            </a:r>
          </a:p>
        </p:txBody>
      </p:sp>
      <p:sp>
        <p:nvSpPr>
          <p:cNvPr id="22" name="TextBox 21"/>
          <p:cNvSpPr txBox="1"/>
          <p:nvPr/>
        </p:nvSpPr>
        <p:spPr>
          <a:xfrm>
            <a:off x="585290" y="4438452"/>
            <a:ext cx="6389419" cy="670645"/>
          </a:xfrm>
          <a:prstGeom prst="rect">
            <a:avLst/>
          </a:prstGeom>
          <a:noFill/>
        </p:spPr>
        <p:txBody>
          <a:bodyPr wrap="square" anchor="t" lIns="0" rIns="0" tIns="0" bIns="0">
            <a:spAutoFit/>
          </a:bodyPr>
          <a:lstStyle/>
          <a:p>
            <a:pPr algn="l">
              <a:lnSpc>
                <a:spcPct val="110000"/>
              </a:lnSpc>
            </a:pPr>
            <a:r>
              <a:rPr sz="2208" b="1">
                <a:solidFill>
                  <a:srgbClr val="002333"/>
                </a:solidFill>
                <a:latin typeface="League Spartan"/>
              </a:rPr>
              <a:t>Elke beoordeling blijft navolgbaar, de docent blijft eindverantwoordelijk</a:t>
            </a:r>
          </a:p>
        </p:txBody>
      </p:sp>
      <p:sp>
        <p:nvSpPr>
          <p:cNvPr id="23" name="Rounded Rectangle 22"/>
          <p:cNvSpPr/>
          <p:nvPr/>
        </p:nvSpPr>
        <p:spPr>
          <a:xfrm>
            <a:off x="585290" y="5292000"/>
            <a:ext cx="2032258" cy="3231290"/>
          </a:xfrm>
          <a:prstGeom prst="roundRect">
            <a:avLst>
              <a:gd name="adj" fmla="val 6000"/>
            </a:avLst>
          </a:prstGeom>
          <a:solidFill>
            <a:srgbClr val="F3F7F8"/>
          </a:solidFill>
          <a:ln>
            <a:noFill/>
          </a:ln>
          <a:effectLst/>
        </p:spPr>
        <p:txBody>
          <a:bodyPr rtlCol="0" anchor="ctr"/>
          <a:lstStyle/>
          <a:p>
            <a:pPr algn="ctr"/>
          </a:p>
        </p:txBody>
      </p:sp>
      <p:sp>
        <p:nvSpPr>
          <p:cNvPr id="24" name="Oval 23"/>
          <p:cNvSpPr/>
          <p:nvPr/>
        </p:nvSpPr>
        <p:spPr>
          <a:xfrm>
            <a:off x="756000" y="5462710"/>
            <a:ext cx="365806" cy="365806"/>
          </a:xfrm>
          <a:prstGeom prst="ellipse">
            <a:avLst/>
          </a:prstGeom>
          <a:solidFill>
            <a:srgbClr val="FFFFFF"/>
          </a:solidFill>
          <a:ln>
            <a:noFill/>
          </a:ln>
          <a:effectLst/>
        </p:spPr>
        <p:txBody>
          <a:bodyPr rtlCol="0" anchor="ctr"/>
          <a:lstStyle/>
          <a:p>
            <a:pPr algn="ctr"/>
          </a:p>
        </p:txBody>
      </p:sp>
      <p:pic>
        <p:nvPicPr>
          <p:cNvPr id="25" name="Picture 24" descr="icon-file.png"/>
          <p:cNvPicPr>
            <a:picLocks noChangeAspect="1"/>
          </p:cNvPicPr>
          <p:nvPr/>
        </p:nvPicPr>
        <p:blipFill>
          <a:blip r:embed="rId6"/>
          <a:stretch>
            <a:fillRect/>
          </a:stretch>
        </p:blipFill>
        <p:spPr>
          <a:xfrm>
            <a:off x="856597" y="5563306"/>
            <a:ext cx="164613" cy="164613"/>
          </a:xfrm>
          <a:prstGeom prst="rect">
            <a:avLst/>
          </a:prstGeom>
        </p:spPr>
      </p:pic>
      <p:sp>
        <p:nvSpPr>
          <p:cNvPr id="26" name="TextBox 25"/>
          <p:cNvSpPr txBox="1"/>
          <p:nvPr/>
        </p:nvSpPr>
        <p:spPr>
          <a:xfrm>
            <a:off x="756000" y="5974839"/>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EIS</a:t>
            </a:r>
          </a:p>
        </p:txBody>
      </p:sp>
      <p:sp>
        <p:nvSpPr>
          <p:cNvPr id="27" name="TextBox 26"/>
          <p:cNvSpPr txBox="1"/>
          <p:nvPr/>
        </p:nvSpPr>
        <p:spPr>
          <a:xfrm>
            <a:off x="756000" y="6133355"/>
            <a:ext cx="1690839" cy="390194"/>
          </a:xfrm>
          <a:prstGeom prst="rect">
            <a:avLst/>
          </a:prstGeom>
          <a:noFill/>
        </p:spPr>
        <p:txBody>
          <a:bodyPr wrap="square" anchor="t" lIns="0" rIns="0" tIns="0" bIns="0">
            <a:spAutoFit/>
          </a:bodyPr>
          <a:lstStyle/>
          <a:p>
            <a:pPr algn="l">
              <a:lnSpc>
                <a:spcPct val="125000"/>
              </a:lnSpc>
            </a:pPr>
            <a:r>
              <a:rPr sz="1104" b="1">
                <a:solidFill>
                  <a:srgbClr val="002333"/>
                </a:solidFill>
                <a:latin typeface="Inter"/>
              </a:rPr>
              <a:t>Beoordeling is navolgbaar</a:t>
            </a:r>
          </a:p>
        </p:txBody>
      </p:sp>
      <p:sp>
        <p:nvSpPr>
          <p:cNvPr id="28" name="Rectangle 27"/>
          <p:cNvSpPr/>
          <p:nvPr/>
        </p:nvSpPr>
        <p:spPr>
          <a:xfrm>
            <a:off x="756000" y="6621097"/>
            <a:ext cx="1690839" cy="12194"/>
          </a:xfrm>
          <a:prstGeom prst="rect">
            <a:avLst/>
          </a:prstGeom>
          <a:solidFill>
            <a:srgbClr val="CDD9DE"/>
          </a:solidFill>
          <a:ln>
            <a:noFill/>
          </a:ln>
          <a:effectLst/>
        </p:spPr>
        <p:txBody>
          <a:bodyPr rtlCol="0" anchor="ctr"/>
          <a:lstStyle/>
          <a:p>
            <a:pPr algn="ctr"/>
          </a:p>
        </p:txBody>
      </p:sp>
      <p:sp>
        <p:nvSpPr>
          <p:cNvPr id="29" name="TextBox 28"/>
          <p:cNvSpPr txBox="1"/>
          <p:nvPr/>
        </p:nvSpPr>
        <p:spPr>
          <a:xfrm>
            <a:off x="756000" y="6743032"/>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MET EDUFACE</a:t>
            </a:r>
          </a:p>
        </p:txBody>
      </p:sp>
      <p:sp>
        <p:nvSpPr>
          <p:cNvPr id="30" name="TextBox 29"/>
          <p:cNvSpPr txBox="1"/>
          <p:nvPr/>
        </p:nvSpPr>
        <p:spPr>
          <a:xfrm>
            <a:off x="756000" y="6913742"/>
            <a:ext cx="1690839" cy="1036452"/>
          </a:xfrm>
          <a:prstGeom prst="rect">
            <a:avLst/>
          </a:prstGeom>
          <a:noFill/>
        </p:spPr>
        <p:txBody>
          <a:bodyPr wrap="square" anchor="t" lIns="0" rIns="0" tIns="0" bIns="0">
            <a:spAutoFit/>
          </a:bodyPr>
          <a:lstStyle/>
          <a:p>
            <a:pPr algn="l">
              <a:lnSpc>
                <a:spcPct val="140000"/>
              </a:lnSpc>
            </a:pPr>
            <a:r>
              <a:rPr sz="864" b="0">
                <a:solidFill>
                  <a:srgbClr val="2C4A57"/>
                </a:solidFill>
                <a:latin typeface="Inter"/>
              </a:rPr>
              <a:t>Elk cijfer heeft een onderbouwing per rubriccriterium.</a:t>
            </a:r>
          </a:p>
          <a:p>
            <a:pPr algn="l">
              <a:lnSpc>
                <a:spcPct val="140000"/>
              </a:lnSpc>
            </a:pPr>
            <a:r>
              <a:rPr sz="864" b="0">
                <a:solidFill>
                  <a:srgbClr val="2C4A57"/>
                </a:solidFill>
                <a:latin typeface="Inter"/>
              </a:rPr>
              <a:t>Een audit trail die voldoet aan de AI Act legt elke summatieve beoordeling vast.</a:t>
            </a:r>
          </a:p>
        </p:txBody>
      </p:sp>
      <p:sp>
        <p:nvSpPr>
          <p:cNvPr id="31" name="Rounded Rectangle 30"/>
          <p:cNvSpPr/>
          <p:nvPr/>
        </p:nvSpPr>
        <p:spPr>
          <a:xfrm>
            <a:off x="756000" y="8084323"/>
            <a:ext cx="1690839" cy="280452"/>
          </a:xfrm>
          <a:prstGeom prst="roundRect">
            <a:avLst>
              <a:gd name="adj" fmla="val 50000"/>
            </a:avLst>
          </a:prstGeom>
          <a:solidFill>
            <a:srgbClr val="FFFFFF"/>
          </a:solidFill>
          <a:ln>
            <a:noFill/>
          </a:ln>
          <a:effectLst/>
        </p:spPr>
        <p:txBody>
          <a:bodyPr rtlCol="0" anchor="ctr"/>
          <a:lstStyle/>
          <a:p>
            <a:pPr algn="ctr"/>
          </a:p>
        </p:txBody>
      </p:sp>
      <p:sp>
        <p:nvSpPr>
          <p:cNvPr id="32" name="TextBox 31"/>
          <p:cNvSpPr txBox="1"/>
          <p:nvPr/>
        </p:nvSpPr>
        <p:spPr>
          <a:xfrm>
            <a:off x="756000" y="8084323"/>
            <a:ext cx="1690839" cy="280452"/>
          </a:xfrm>
          <a:prstGeom prst="rect">
            <a:avLst/>
          </a:prstGeom>
          <a:noFill/>
        </p:spPr>
        <p:txBody>
          <a:bodyPr wrap="square" anchor="ctr" lIns="0" rIns="0" tIns="0" bIns="0">
            <a:spAutoFit/>
          </a:bodyPr>
          <a:lstStyle/>
          <a:p>
            <a:pPr algn="ctr">
              <a:lnSpc>
                <a:spcPct val="120000"/>
              </a:lnSpc>
            </a:pPr>
            <a:r>
              <a:rPr sz="720" b="1">
                <a:solidFill>
                  <a:srgbClr val="002333"/>
                </a:solidFill>
                <a:latin typeface="Inter"/>
              </a:rPr>
              <a:t>Blijft: de docent stelt het cijfer vast</a:t>
            </a:r>
          </a:p>
        </p:txBody>
      </p:sp>
      <p:sp>
        <p:nvSpPr>
          <p:cNvPr id="33" name="Rounded Rectangle 32"/>
          <p:cNvSpPr/>
          <p:nvPr/>
        </p:nvSpPr>
        <p:spPr>
          <a:xfrm>
            <a:off x="2763871" y="5292000"/>
            <a:ext cx="2032258" cy="3231290"/>
          </a:xfrm>
          <a:prstGeom prst="roundRect">
            <a:avLst>
              <a:gd name="adj" fmla="val 6000"/>
            </a:avLst>
          </a:prstGeom>
          <a:solidFill>
            <a:srgbClr val="F3F7F8"/>
          </a:solidFill>
          <a:ln>
            <a:noFill/>
          </a:ln>
          <a:effectLst/>
        </p:spPr>
        <p:txBody>
          <a:bodyPr rtlCol="0" anchor="ctr"/>
          <a:lstStyle/>
          <a:p>
            <a:pPr algn="ctr"/>
          </a:p>
        </p:txBody>
      </p:sp>
      <p:sp>
        <p:nvSpPr>
          <p:cNvPr id="34" name="Oval 33"/>
          <p:cNvSpPr/>
          <p:nvPr/>
        </p:nvSpPr>
        <p:spPr>
          <a:xfrm>
            <a:off x="2934581" y="5462710"/>
            <a:ext cx="365806" cy="365806"/>
          </a:xfrm>
          <a:prstGeom prst="ellipse">
            <a:avLst/>
          </a:prstGeom>
          <a:solidFill>
            <a:srgbClr val="FFFFFF"/>
          </a:solidFill>
          <a:ln>
            <a:noFill/>
          </a:ln>
          <a:effectLst/>
        </p:spPr>
        <p:txBody>
          <a:bodyPr rtlCol="0" anchor="ctr"/>
          <a:lstStyle/>
          <a:p>
            <a:pPr algn="ctr"/>
          </a:p>
        </p:txBody>
      </p:sp>
      <p:pic>
        <p:nvPicPr>
          <p:cNvPr id="35" name="Picture 34" descr="icon-scale.png"/>
          <p:cNvPicPr>
            <a:picLocks noChangeAspect="1"/>
          </p:cNvPicPr>
          <p:nvPr/>
        </p:nvPicPr>
        <p:blipFill>
          <a:blip r:embed="rId7"/>
          <a:stretch>
            <a:fillRect/>
          </a:stretch>
        </p:blipFill>
        <p:spPr>
          <a:xfrm>
            <a:off x="3035177" y="5563306"/>
            <a:ext cx="164613" cy="164613"/>
          </a:xfrm>
          <a:prstGeom prst="rect">
            <a:avLst/>
          </a:prstGeom>
        </p:spPr>
      </p:pic>
      <p:sp>
        <p:nvSpPr>
          <p:cNvPr id="36" name="TextBox 35"/>
          <p:cNvSpPr txBox="1"/>
          <p:nvPr/>
        </p:nvSpPr>
        <p:spPr>
          <a:xfrm>
            <a:off x="2934581" y="5974839"/>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EIS</a:t>
            </a:r>
          </a:p>
        </p:txBody>
      </p:sp>
      <p:sp>
        <p:nvSpPr>
          <p:cNvPr id="37" name="TextBox 36"/>
          <p:cNvSpPr txBox="1"/>
          <p:nvPr/>
        </p:nvSpPr>
        <p:spPr>
          <a:xfrm>
            <a:off x="2934581" y="6133355"/>
            <a:ext cx="1690839" cy="390194"/>
          </a:xfrm>
          <a:prstGeom prst="rect">
            <a:avLst/>
          </a:prstGeom>
          <a:noFill/>
        </p:spPr>
        <p:txBody>
          <a:bodyPr wrap="square" anchor="t" lIns="0" rIns="0" tIns="0" bIns="0">
            <a:spAutoFit/>
          </a:bodyPr>
          <a:lstStyle/>
          <a:p>
            <a:pPr algn="l">
              <a:lnSpc>
                <a:spcPct val="125000"/>
              </a:lnSpc>
            </a:pPr>
            <a:r>
              <a:rPr sz="1104" b="1">
                <a:solidFill>
                  <a:srgbClr val="002333"/>
                </a:solidFill>
                <a:latin typeface="Inter"/>
              </a:rPr>
              <a:t>Beoordelaars oordelen consistent</a:t>
            </a:r>
          </a:p>
        </p:txBody>
      </p:sp>
      <p:sp>
        <p:nvSpPr>
          <p:cNvPr id="38" name="Rectangle 37"/>
          <p:cNvSpPr/>
          <p:nvPr/>
        </p:nvSpPr>
        <p:spPr>
          <a:xfrm>
            <a:off x="2934581" y="6621097"/>
            <a:ext cx="1690839" cy="12194"/>
          </a:xfrm>
          <a:prstGeom prst="rect">
            <a:avLst/>
          </a:prstGeom>
          <a:solidFill>
            <a:srgbClr val="CDD9DE"/>
          </a:solidFill>
          <a:ln>
            <a:noFill/>
          </a:ln>
          <a:effectLst/>
        </p:spPr>
        <p:txBody>
          <a:bodyPr rtlCol="0" anchor="ctr"/>
          <a:lstStyle/>
          <a:p>
            <a:pPr algn="ctr"/>
          </a:p>
        </p:txBody>
      </p:sp>
      <p:sp>
        <p:nvSpPr>
          <p:cNvPr id="39" name="TextBox 38"/>
          <p:cNvSpPr txBox="1"/>
          <p:nvPr/>
        </p:nvSpPr>
        <p:spPr>
          <a:xfrm>
            <a:off x="2934581" y="6743032"/>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MET EDUFACE</a:t>
            </a:r>
          </a:p>
        </p:txBody>
      </p:sp>
      <p:sp>
        <p:nvSpPr>
          <p:cNvPr id="40" name="TextBox 39"/>
          <p:cNvSpPr txBox="1"/>
          <p:nvPr/>
        </p:nvSpPr>
        <p:spPr>
          <a:xfrm>
            <a:off x="2934581" y="6913742"/>
            <a:ext cx="1690839" cy="1036452"/>
          </a:xfrm>
          <a:prstGeom prst="rect">
            <a:avLst/>
          </a:prstGeom>
          <a:noFill/>
        </p:spPr>
        <p:txBody>
          <a:bodyPr wrap="square" anchor="t" lIns="0" rIns="0" tIns="0" bIns="0">
            <a:spAutoFit/>
          </a:bodyPr>
          <a:lstStyle/>
          <a:p>
            <a:pPr algn="l">
              <a:lnSpc>
                <a:spcPct val="140000"/>
              </a:lnSpc>
            </a:pPr>
            <a:r>
              <a:rPr sz="864" b="0">
                <a:solidFill>
                  <a:srgbClr val="2C4A57"/>
                </a:solidFill>
                <a:latin typeface="Inter"/>
              </a:rPr>
              <a:t>Een overzicht toont welke beoordelaar afwijkt van het team.</a:t>
            </a:r>
          </a:p>
        </p:txBody>
      </p:sp>
      <p:sp>
        <p:nvSpPr>
          <p:cNvPr id="41" name="Rounded Rectangle 40"/>
          <p:cNvSpPr/>
          <p:nvPr/>
        </p:nvSpPr>
        <p:spPr>
          <a:xfrm>
            <a:off x="2934581" y="8084323"/>
            <a:ext cx="1690839" cy="280452"/>
          </a:xfrm>
          <a:prstGeom prst="roundRect">
            <a:avLst>
              <a:gd name="adj" fmla="val 50000"/>
            </a:avLst>
          </a:prstGeom>
          <a:solidFill>
            <a:srgbClr val="FFFFFF"/>
          </a:solidFill>
          <a:ln>
            <a:noFill/>
          </a:ln>
          <a:effectLst/>
        </p:spPr>
        <p:txBody>
          <a:bodyPr rtlCol="0" anchor="ctr"/>
          <a:lstStyle/>
          <a:p>
            <a:pPr algn="ctr"/>
          </a:p>
        </p:txBody>
      </p:sp>
      <p:sp>
        <p:nvSpPr>
          <p:cNvPr id="42" name="TextBox 41"/>
          <p:cNvSpPr txBox="1"/>
          <p:nvPr/>
        </p:nvSpPr>
        <p:spPr>
          <a:xfrm>
            <a:off x="2934581" y="8084323"/>
            <a:ext cx="1690839" cy="280452"/>
          </a:xfrm>
          <a:prstGeom prst="rect">
            <a:avLst/>
          </a:prstGeom>
          <a:noFill/>
        </p:spPr>
        <p:txBody>
          <a:bodyPr wrap="square" anchor="ctr" lIns="0" rIns="0" tIns="0" bIns="0">
            <a:spAutoFit/>
          </a:bodyPr>
          <a:lstStyle/>
          <a:p>
            <a:pPr algn="ctr">
              <a:lnSpc>
                <a:spcPct val="120000"/>
              </a:lnSpc>
            </a:pPr>
            <a:r>
              <a:rPr sz="720" b="1">
                <a:solidFill>
                  <a:srgbClr val="002333"/>
                </a:solidFill>
                <a:latin typeface="Inter"/>
              </a:rPr>
              <a:t>Blijft: kalibratie twee keer per jaar</a:t>
            </a:r>
          </a:p>
        </p:txBody>
      </p:sp>
      <p:sp>
        <p:nvSpPr>
          <p:cNvPr id="43" name="Rounded Rectangle 42"/>
          <p:cNvSpPr/>
          <p:nvPr/>
        </p:nvSpPr>
        <p:spPr>
          <a:xfrm>
            <a:off x="4942452" y="5292000"/>
            <a:ext cx="2032258" cy="3231290"/>
          </a:xfrm>
          <a:prstGeom prst="roundRect">
            <a:avLst>
              <a:gd name="adj" fmla="val 6000"/>
            </a:avLst>
          </a:prstGeom>
          <a:solidFill>
            <a:srgbClr val="F3F7F8"/>
          </a:solidFill>
          <a:ln>
            <a:noFill/>
          </a:ln>
          <a:effectLst/>
        </p:spPr>
        <p:txBody>
          <a:bodyPr rtlCol="0" anchor="ctr"/>
          <a:lstStyle/>
          <a:p>
            <a:pPr algn="ctr"/>
          </a:p>
        </p:txBody>
      </p:sp>
      <p:sp>
        <p:nvSpPr>
          <p:cNvPr id="44" name="Oval 43"/>
          <p:cNvSpPr/>
          <p:nvPr/>
        </p:nvSpPr>
        <p:spPr>
          <a:xfrm>
            <a:off x="5113161" y="5462710"/>
            <a:ext cx="365806" cy="365806"/>
          </a:xfrm>
          <a:prstGeom prst="ellipse">
            <a:avLst/>
          </a:prstGeom>
          <a:solidFill>
            <a:srgbClr val="FFFFFF"/>
          </a:solidFill>
          <a:ln>
            <a:noFill/>
          </a:ln>
          <a:effectLst/>
        </p:spPr>
        <p:txBody>
          <a:bodyPr rtlCol="0" anchor="ctr"/>
          <a:lstStyle/>
          <a:p>
            <a:pPr algn="ctr"/>
          </a:p>
        </p:txBody>
      </p:sp>
      <p:pic>
        <p:nvPicPr>
          <p:cNvPr id="45" name="Picture 44" descr="icon-shield.png"/>
          <p:cNvPicPr>
            <a:picLocks noChangeAspect="1"/>
          </p:cNvPicPr>
          <p:nvPr/>
        </p:nvPicPr>
        <p:blipFill>
          <a:blip r:embed="rId8"/>
          <a:stretch>
            <a:fillRect/>
          </a:stretch>
        </p:blipFill>
        <p:spPr>
          <a:xfrm>
            <a:off x="5213758" y="5563306"/>
            <a:ext cx="164613" cy="164613"/>
          </a:xfrm>
          <a:prstGeom prst="rect">
            <a:avLst/>
          </a:prstGeom>
        </p:spPr>
      </p:pic>
      <p:sp>
        <p:nvSpPr>
          <p:cNvPr id="46" name="TextBox 45"/>
          <p:cNvSpPr txBox="1"/>
          <p:nvPr/>
        </p:nvSpPr>
        <p:spPr>
          <a:xfrm>
            <a:off x="5113161" y="5974839"/>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EIS</a:t>
            </a:r>
          </a:p>
        </p:txBody>
      </p:sp>
      <p:sp>
        <p:nvSpPr>
          <p:cNvPr id="47" name="TextBox 46"/>
          <p:cNvSpPr txBox="1"/>
          <p:nvPr/>
        </p:nvSpPr>
        <p:spPr>
          <a:xfrm>
            <a:off x="5113161" y="6133355"/>
            <a:ext cx="1690839" cy="390194"/>
          </a:xfrm>
          <a:prstGeom prst="rect">
            <a:avLst/>
          </a:prstGeom>
          <a:noFill/>
        </p:spPr>
        <p:txBody>
          <a:bodyPr wrap="square" anchor="t" lIns="0" rIns="0" tIns="0" bIns="0">
            <a:spAutoFit/>
          </a:bodyPr>
          <a:lstStyle/>
          <a:p>
            <a:pPr algn="l">
              <a:lnSpc>
                <a:spcPct val="125000"/>
              </a:lnSpc>
            </a:pPr>
            <a:r>
              <a:rPr sz="1104" b="1">
                <a:solidFill>
                  <a:srgbClr val="002333"/>
                </a:solidFill>
                <a:latin typeface="Inter"/>
              </a:rPr>
              <a:t>De examencommissie borgt de kwaliteit</a:t>
            </a:r>
          </a:p>
        </p:txBody>
      </p:sp>
      <p:sp>
        <p:nvSpPr>
          <p:cNvPr id="48" name="Rectangle 47"/>
          <p:cNvSpPr/>
          <p:nvPr/>
        </p:nvSpPr>
        <p:spPr>
          <a:xfrm>
            <a:off x="5113161" y="6621097"/>
            <a:ext cx="1690839" cy="12194"/>
          </a:xfrm>
          <a:prstGeom prst="rect">
            <a:avLst/>
          </a:prstGeom>
          <a:solidFill>
            <a:srgbClr val="CDD9DE"/>
          </a:solidFill>
          <a:ln>
            <a:noFill/>
          </a:ln>
          <a:effectLst/>
        </p:spPr>
        <p:txBody>
          <a:bodyPr rtlCol="0" anchor="ctr"/>
          <a:lstStyle/>
          <a:p>
            <a:pPr algn="ctr"/>
          </a:p>
        </p:txBody>
      </p:sp>
      <p:sp>
        <p:nvSpPr>
          <p:cNvPr id="49" name="TextBox 48"/>
          <p:cNvSpPr txBox="1"/>
          <p:nvPr/>
        </p:nvSpPr>
        <p:spPr>
          <a:xfrm>
            <a:off x="5113161" y="6743032"/>
            <a:ext cx="169083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MET EDUFACE</a:t>
            </a:r>
          </a:p>
        </p:txBody>
      </p:sp>
      <p:sp>
        <p:nvSpPr>
          <p:cNvPr id="50" name="TextBox 49"/>
          <p:cNvSpPr txBox="1"/>
          <p:nvPr/>
        </p:nvSpPr>
        <p:spPr>
          <a:xfrm>
            <a:off x="5113161" y="6913742"/>
            <a:ext cx="1690839" cy="1036452"/>
          </a:xfrm>
          <a:prstGeom prst="rect">
            <a:avLst/>
          </a:prstGeom>
          <a:noFill/>
        </p:spPr>
        <p:txBody>
          <a:bodyPr wrap="square" anchor="t" lIns="0" rIns="0" tIns="0" bIns="0">
            <a:spAutoFit/>
          </a:bodyPr>
          <a:lstStyle/>
          <a:p>
            <a:pPr algn="l">
              <a:lnSpc>
                <a:spcPct val="140000"/>
              </a:lnSpc>
            </a:pPr>
            <a:r>
              <a:rPr sz="864" b="0">
                <a:solidFill>
                  <a:srgbClr val="2C4A57"/>
                </a:solidFill>
                <a:latin typeface="Inter"/>
              </a:rPr>
              <a:t>Per beoordeling is de onderbouwing direct in te zien.</a:t>
            </a:r>
          </a:p>
        </p:txBody>
      </p:sp>
      <p:sp>
        <p:nvSpPr>
          <p:cNvPr id="51" name="Rounded Rectangle 50"/>
          <p:cNvSpPr/>
          <p:nvPr/>
        </p:nvSpPr>
        <p:spPr>
          <a:xfrm>
            <a:off x="5113161" y="8084323"/>
            <a:ext cx="1690839" cy="280452"/>
          </a:xfrm>
          <a:prstGeom prst="roundRect">
            <a:avLst>
              <a:gd name="adj" fmla="val 50000"/>
            </a:avLst>
          </a:prstGeom>
          <a:solidFill>
            <a:srgbClr val="FFFFFF"/>
          </a:solidFill>
          <a:ln>
            <a:noFill/>
          </a:ln>
          <a:effectLst/>
        </p:spPr>
        <p:txBody>
          <a:bodyPr rtlCol="0" anchor="ctr"/>
          <a:lstStyle/>
          <a:p>
            <a:pPr algn="ctr"/>
          </a:p>
        </p:txBody>
      </p:sp>
      <p:sp>
        <p:nvSpPr>
          <p:cNvPr id="52" name="TextBox 51"/>
          <p:cNvSpPr txBox="1"/>
          <p:nvPr/>
        </p:nvSpPr>
        <p:spPr>
          <a:xfrm>
            <a:off x="5113161" y="8084323"/>
            <a:ext cx="1690839" cy="280452"/>
          </a:xfrm>
          <a:prstGeom prst="rect">
            <a:avLst/>
          </a:prstGeom>
          <a:noFill/>
        </p:spPr>
        <p:txBody>
          <a:bodyPr wrap="square" anchor="ctr" lIns="0" rIns="0" tIns="0" bIns="0">
            <a:spAutoFit/>
          </a:bodyPr>
          <a:lstStyle/>
          <a:p>
            <a:pPr algn="ctr">
              <a:lnSpc>
                <a:spcPct val="120000"/>
              </a:lnSpc>
            </a:pPr>
            <a:r>
              <a:rPr sz="720" b="1">
                <a:solidFill>
                  <a:srgbClr val="002333"/>
                </a:solidFill>
                <a:latin typeface="Inter"/>
              </a:rPr>
              <a:t>Blijft: de steekproef</a:t>
            </a:r>
          </a:p>
        </p:txBody>
      </p:sp>
      <p:sp>
        <p:nvSpPr>
          <p:cNvPr id="53" name="Rounded Rectangle 52"/>
          <p:cNvSpPr/>
          <p:nvPr/>
        </p:nvSpPr>
        <p:spPr>
          <a:xfrm>
            <a:off x="585290" y="8669613"/>
            <a:ext cx="6389419" cy="634065"/>
          </a:xfrm>
          <a:prstGeom prst="roundRect">
            <a:avLst>
              <a:gd name="adj" fmla="val 19230"/>
            </a:avLst>
          </a:prstGeom>
          <a:solidFill>
            <a:srgbClr val="F3F7F8"/>
          </a:solidFill>
          <a:ln>
            <a:noFill/>
          </a:ln>
          <a:effectLst/>
        </p:spPr>
        <p:txBody>
          <a:bodyPr rtlCol="0" anchor="ctr"/>
          <a:lstStyle/>
          <a:p>
            <a:pPr algn="ctr"/>
          </a:p>
        </p:txBody>
      </p:sp>
      <p:sp>
        <p:nvSpPr>
          <p:cNvPr id="54" name="Rectangle 53"/>
          <p:cNvSpPr/>
          <p:nvPr/>
        </p:nvSpPr>
        <p:spPr>
          <a:xfrm>
            <a:off x="585290" y="8669613"/>
            <a:ext cx="48774" cy="634065"/>
          </a:xfrm>
          <a:prstGeom prst="rect">
            <a:avLst/>
          </a:prstGeom>
          <a:solidFill>
            <a:srgbClr val="002333"/>
          </a:solidFill>
          <a:ln>
            <a:noFill/>
          </a:ln>
          <a:effectLst/>
        </p:spPr>
        <p:txBody>
          <a:bodyPr rtlCol="0" anchor="ctr"/>
          <a:lstStyle/>
          <a:p>
            <a:pPr algn="ctr"/>
          </a:p>
        </p:txBody>
      </p:sp>
      <p:sp>
        <p:nvSpPr>
          <p:cNvPr id="55" name="TextBox 54"/>
          <p:cNvSpPr txBox="1"/>
          <p:nvPr/>
        </p:nvSpPr>
        <p:spPr>
          <a:xfrm>
            <a:off x="804774" y="8803742"/>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WAAROM NU</a:t>
            </a:r>
          </a:p>
        </p:txBody>
      </p:sp>
      <p:sp>
        <p:nvSpPr>
          <p:cNvPr id="56" name="TextBox 55"/>
          <p:cNvSpPr txBox="1"/>
          <p:nvPr/>
        </p:nvSpPr>
        <p:spPr>
          <a:xfrm>
            <a:off x="804774" y="8974452"/>
            <a:ext cx="5950452" cy="182903"/>
          </a:xfrm>
          <a:prstGeom prst="rect">
            <a:avLst/>
          </a:prstGeom>
          <a:noFill/>
        </p:spPr>
        <p:txBody>
          <a:bodyPr wrap="square" anchor="t" lIns="0" rIns="0" tIns="0" bIns="0">
            <a:spAutoFit/>
          </a:bodyPr>
          <a:lstStyle/>
          <a:p>
            <a:pPr algn="l">
              <a:lnSpc>
                <a:spcPct val="130000"/>
              </a:lnSpc>
            </a:pPr>
            <a:r>
              <a:rPr sz="912" b="1">
                <a:solidFill>
                  <a:srgbClr val="002333"/>
                </a:solidFill>
                <a:latin typeface="Inter"/>
              </a:rPr>
              <a:t>Bij nieuwe accreditaties is consistent beoordelen een aandachtspunt. De Pabo zit nu in accreditatie.</a:t>
            </a:r>
          </a:p>
        </p:txBody>
      </p:sp>
      <p:sp>
        <p:nvSpPr>
          <p:cNvPr id="57" name="Rectangle 56"/>
          <p:cNvSpPr/>
          <p:nvPr/>
        </p:nvSpPr>
        <p:spPr>
          <a:xfrm>
            <a:off x="585290" y="10120645"/>
            <a:ext cx="6389419" cy="12194"/>
          </a:xfrm>
          <a:prstGeom prst="rect">
            <a:avLst/>
          </a:prstGeom>
          <a:solidFill>
            <a:srgbClr val="E7EEF0"/>
          </a:solidFill>
          <a:ln>
            <a:noFill/>
          </a:ln>
          <a:effectLst/>
        </p:spPr>
        <p:txBody>
          <a:bodyPr rtlCol="0" anchor="ctr"/>
          <a:lstStyle/>
          <a:p>
            <a:pPr algn="ctr"/>
          </a:p>
        </p:txBody>
      </p:sp>
      <p:sp>
        <p:nvSpPr>
          <p:cNvPr id="58" name="TextBox 57"/>
          <p:cNvSpPr txBox="1"/>
          <p:nvPr/>
        </p:nvSpPr>
        <p:spPr>
          <a:xfrm>
            <a:off x="585290" y="10266968"/>
            <a:ext cx="5487097" cy="146323"/>
          </a:xfrm>
          <a:prstGeom prst="rect">
            <a:avLst/>
          </a:prstGeom>
          <a:noFill/>
        </p:spPr>
        <p:txBody>
          <a:bodyPr wrap="square" anchor="t" lIns="0" rIns="0" tIns="0" bIns="0">
            <a:spAutoFit/>
          </a:bodyPr>
          <a:lstStyle/>
          <a:p>
            <a:pPr algn="l">
              <a:lnSpc>
                <a:spcPct val="120000"/>
              </a:lnSpc>
            </a:pPr>
            <a:r>
              <a:rPr sz="768" b="0">
                <a:solidFill>
                  <a:srgbClr val="5B7480"/>
                </a:solidFill>
                <a:latin typeface="Inter"/>
              </a:rPr>
              <a:t>Business case Eduface · Academica University of Applied Sciences · concept</a:t>
            </a:r>
          </a:p>
        </p:txBody>
      </p:sp>
      <p:sp>
        <p:nvSpPr>
          <p:cNvPr id="59" name="TextBox 58"/>
          <p:cNvSpPr txBox="1"/>
          <p:nvPr/>
        </p:nvSpPr>
        <p:spPr>
          <a:xfrm>
            <a:off x="6365032" y="10266968"/>
            <a:ext cx="609677" cy="146323"/>
          </a:xfrm>
          <a:prstGeom prst="rect">
            <a:avLst/>
          </a:prstGeom>
          <a:noFill/>
        </p:spPr>
        <p:txBody>
          <a:bodyPr wrap="square" anchor="t" lIns="0" rIns="0" tIns="0" bIns="0">
            <a:spAutoFit/>
          </a:bodyPr>
          <a:lstStyle/>
          <a:p>
            <a:pPr algn="r">
              <a:lnSpc>
                <a:spcPct val="120000"/>
              </a:lnSpc>
            </a:pPr>
            <a:r>
              <a:rPr sz="768" b="1">
                <a:solidFill>
                  <a:srgbClr val="5B7480"/>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90" y="585290"/>
            <a:ext cx="6389419" cy="134129"/>
          </a:xfrm>
          <a:prstGeom prst="rect">
            <a:avLst/>
          </a:prstGeom>
          <a:noFill/>
        </p:spPr>
        <p:txBody>
          <a:bodyPr wrap="square" anchor="t" lIns="0" rIns="0" tIns="0" bIns="0">
            <a:spAutoFit/>
          </a:bodyPr>
          <a:lstStyle/>
          <a:p>
            <a:pPr algn="l">
              <a:lnSpc>
                <a:spcPct val="120000"/>
              </a:lnSpc>
            </a:pPr>
            <a:r>
              <a:rPr sz="768" b="1" spc="61">
                <a:solidFill>
                  <a:srgbClr val="5B7480"/>
                </a:solidFill>
                <a:latin typeface="Inter"/>
              </a:rPr>
              <a:t>PRIVACY</a:t>
            </a:r>
          </a:p>
        </p:txBody>
      </p:sp>
      <p:pic>
        <p:nvPicPr>
          <p:cNvPr id="3" name="Picture 2" descr="icon-check.png"/>
          <p:cNvPicPr>
            <a:picLocks noChangeAspect="1"/>
          </p:cNvPicPr>
          <p:nvPr/>
        </p:nvPicPr>
        <p:blipFill>
          <a:blip r:embed="rId2"/>
          <a:stretch>
            <a:fillRect/>
          </a:stretch>
        </p:blipFill>
        <p:spPr>
          <a:xfrm>
            <a:off x="585290" y="938903"/>
            <a:ext cx="170710" cy="170710"/>
          </a:xfrm>
          <a:prstGeom prst="rect">
            <a:avLst/>
          </a:prstGeom>
        </p:spPr>
      </p:pic>
      <p:sp>
        <p:nvSpPr>
          <p:cNvPr id="4" name="TextBox 3"/>
          <p:cNvSpPr txBox="1"/>
          <p:nvPr/>
        </p:nvSpPr>
        <p:spPr>
          <a:xfrm>
            <a:off x="902323" y="926710"/>
            <a:ext cx="6072387" cy="268258"/>
          </a:xfrm>
          <a:prstGeom prst="rect">
            <a:avLst/>
          </a:prstGeom>
          <a:noFill/>
        </p:spPr>
        <p:txBody>
          <a:bodyPr wrap="square" anchor="t" lIns="0" rIns="0" tIns="0" bIns="0">
            <a:spAutoFit/>
          </a:bodyPr>
          <a:lstStyle/>
          <a:p>
            <a:pPr algn="l">
              <a:lnSpc>
                <a:spcPct val="145000"/>
              </a:lnSpc>
            </a:pPr>
            <a:r>
              <a:rPr sz="1008" b="0">
                <a:solidFill>
                  <a:srgbClr val="002333"/>
                </a:solidFill>
                <a:latin typeface="Inter"/>
              </a:rPr>
              <a:t>Academica blijft eigenaar van al het studentenwerk en alle data.</a:t>
            </a:r>
          </a:p>
        </p:txBody>
      </p:sp>
      <p:sp>
        <p:nvSpPr>
          <p:cNvPr id="5" name="Rectangle 4"/>
          <p:cNvSpPr/>
          <p:nvPr/>
        </p:nvSpPr>
        <p:spPr>
          <a:xfrm>
            <a:off x="585290" y="1219355"/>
            <a:ext cx="6389419" cy="12194"/>
          </a:xfrm>
          <a:prstGeom prst="rect">
            <a:avLst/>
          </a:prstGeom>
          <a:solidFill>
            <a:srgbClr val="E7EEF0"/>
          </a:solidFill>
          <a:ln>
            <a:noFill/>
          </a:ln>
          <a:effectLst/>
        </p:spPr>
        <p:txBody>
          <a:bodyPr rtlCol="0" anchor="ctr"/>
          <a:lstStyle/>
          <a:p>
            <a:pPr algn="ctr"/>
          </a:p>
        </p:txBody>
      </p:sp>
      <p:pic>
        <p:nvPicPr>
          <p:cNvPr id="6" name="Picture 5" descr="icon-check.png"/>
          <p:cNvPicPr>
            <a:picLocks noChangeAspect="1"/>
          </p:cNvPicPr>
          <p:nvPr/>
        </p:nvPicPr>
        <p:blipFill>
          <a:blip r:embed="rId2"/>
          <a:stretch>
            <a:fillRect/>
          </a:stretch>
        </p:blipFill>
        <p:spPr>
          <a:xfrm>
            <a:off x="585290" y="1329097"/>
            <a:ext cx="170710" cy="170710"/>
          </a:xfrm>
          <a:prstGeom prst="rect">
            <a:avLst/>
          </a:prstGeom>
        </p:spPr>
      </p:pic>
      <p:sp>
        <p:nvSpPr>
          <p:cNvPr id="7" name="TextBox 6"/>
          <p:cNvSpPr txBox="1"/>
          <p:nvPr/>
        </p:nvSpPr>
        <p:spPr>
          <a:xfrm>
            <a:off x="902323" y="1316903"/>
            <a:ext cx="6072387" cy="268258"/>
          </a:xfrm>
          <a:prstGeom prst="rect">
            <a:avLst/>
          </a:prstGeom>
          <a:noFill/>
        </p:spPr>
        <p:txBody>
          <a:bodyPr wrap="square" anchor="t" lIns="0" rIns="0" tIns="0" bIns="0">
            <a:spAutoFit/>
          </a:bodyPr>
          <a:lstStyle/>
          <a:p>
            <a:pPr algn="l">
              <a:lnSpc>
                <a:spcPct val="145000"/>
              </a:lnSpc>
            </a:pPr>
            <a:r>
              <a:rPr sz="1008" b="0">
                <a:solidFill>
                  <a:srgbClr val="002333"/>
                </a:solidFill>
                <a:latin typeface="Inter"/>
              </a:rPr>
              <a:t>Studentenwerk wordt niet gebruikt om AI-modellen te trainen.</a:t>
            </a:r>
          </a:p>
        </p:txBody>
      </p:sp>
      <p:sp>
        <p:nvSpPr>
          <p:cNvPr id="8" name="Rectangle 7"/>
          <p:cNvSpPr/>
          <p:nvPr/>
        </p:nvSpPr>
        <p:spPr>
          <a:xfrm>
            <a:off x="585290" y="1609548"/>
            <a:ext cx="6389419" cy="12194"/>
          </a:xfrm>
          <a:prstGeom prst="rect">
            <a:avLst/>
          </a:prstGeom>
          <a:solidFill>
            <a:srgbClr val="E7EEF0"/>
          </a:solidFill>
          <a:ln>
            <a:noFill/>
          </a:ln>
          <a:effectLst/>
        </p:spPr>
        <p:txBody>
          <a:bodyPr rtlCol="0" anchor="ctr"/>
          <a:lstStyle/>
          <a:p>
            <a:pPr algn="ctr"/>
          </a:p>
        </p:txBody>
      </p:sp>
      <p:pic>
        <p:nvPicPr>
          <p:cNvPr id="9" name="Picture 8" descr="icon-check.png"/>
          <p:cNvPicPr>
            <a:picLocks noChangeAspect="1"/>
          </p:cNvPicPr>
          <p:nvPr/>
        </p:nvPicPr>
        <p:blipFill>
          <a:blip r:embed="rId2"/>
          <a:stretch>
            <a:fillRect/>
          </a:stretch>
        </p:blipFill>
        <p:spPr>
          <a:xfrm>
            <a:off x="585290" y="1719290"/>
            <a:ext cx="170710" cy="170710"/>
          </a:xfrm>
          <a:prstGeom prst="rect">
            <a:avLst/>
          </a:prstGeom>
        </p:spPr>
      </p:pic>
      <p:sp>
        <p:nvSpPr>
          <p:cNvPr id="10" name="TextBox 9"/>
          <p:cNvSpPr txBox="1"/>
          <p:nvPr/>
        </p:nvSpPr>
        <p:spPr>
          <a:xfrm>
            <a:off x="902323" y="1707097"/>
            <a:ext cx="6072387" cy="268258"/>
          </a:xfrm>
          <a:prstGeom prst="rect">
            <a:avLst/>
          </a:prstGeom>
          <a:noFill/>
        </p:spPr>
        <p:txBody>
          <a:bodyPr wrap="square" anchor="t" lIns="0" rIns="0" tIns="0" bIns="0">
            <a:spAutoFit/>
          </a:bodyPr>
          <a:lstStyle/>
          <a:p>
            <a:pPr algn="l">
              <a:lnSpc>
                <a:spcPct val="145000"/>
              </a:lnSpc>
            </a:pPr>
            <a:r>
              <a:rPr sz="1008" b="0">
                <a:solidFill>
                  <a:srgbClr val="002333"/>
                </a:solidFill>
                <a:latin typeface="Inter"/>
              </a:rPr>
              <a:t>Studentdata gaat niet naar externe AI-aanbieders.</a:t>
            </a:r>
          </a:p>
        </p:txBody>
      </p:sp>
      <p:sp>
        <p:nvSpPr>
          <p:cNvPr id="11" name="Rectangle 10"/>
          <p:cNvSpPr/>
          <p:nvPr/>
        </p:nvSpPr>
        <p:spPr>
          <a:xfrm>
            <a:off x="585290" y="1999742"/>
            <a:ext cx="6389419" cy="12194"/>
          </a:xfrm>
          <a:prstGeom prst="rect">
            <a:avLst/>
          </a:prstGeom>
          <a:solidFill>
            <a:srgbClr val="E7EEF0"/>
          </a:solidFill>
          <a:ln>
            <a:noFill/>
          </a:ln>
          <a:effectLst/>
        </p:spPr>
        <p:txBody>
          <a:bodyPr rtlCol="0" anchor="ctr"/>
          <a:lstStyle/>
          <a:p>
            <a:pPr algn="ctr"/>
          </a:p>
        </p:txBody>
      </p:sp>
      <p:pic>
        <p:nvPicPr>
          <p:cNvPr id="12" name="Picture 11" descr="icon-check.png"/>
          <p:cNvPicPr>
            <a:picLocks noChangeAspect="1"/>
          </p:cNvPicPr>
          <p:nvPr/>
        </p:nvPicPr>
        <p:blipFill>
          <a:blip r:embed="rId2"/>
          <a:stretch>
            <a:fillRect/>
          </a:stretch>
        </p:blipFill>
        <p:spPr>
          <a:xfrm>
            <a:off x="585290" y="2109484"/>
            <a:ext cx="170710" cy="170710"/>
          </a:xfrm>
          <a:prstGeom prst="rect">
            <a:avLst/>
          </a:prstGeom>
        </p:spPr>
      </p:pic>
      <p:sp>
        <p:nvSpPr>
          <p:cNvPr id="13" name="TextBox 12"/>
          <p:cNvSpPr txBox="1"/>
          <p:nvPr/>
        </p:nvSpPr>
        <p:spPr>
          <a:xfrm>
            <a:off x="902323" y="2097290"/>
            <a:ext cx="6072387" cy="268258"/>
          </a:xfrm>
          <a:prstGeom prst="rect">
            <a:avLst/>
          </a:prstGeom>
          <a:noFill/>
        </p:spPr>
        <p:txBody>
          <a:bodyPr wrap="square" anchor="t" lIns="0" rIns="0" tIns="0" bIns="0">
            <a:spAutoFit/>
          </a:bodyPr>
          <a:lstStyle/>
          <a:p>
            <a:pPr algn="l">
              <a:lnSpc>
                <a:spcPct val="145000"/>
              </a:lnSpc>
            </a:pPr>
            <a:r>
              <a:rPr sz="1008" b="0">
                <a:solidFill>
                  <a:srgbClr val="002333"/>
                </a:solidFill>
                <a:latin typeface="Inter"/>
              </a:rPr>
              <a:t>Verwerking alleen voor het afgesproken onderwijsdoel.</a:t>
            </a:r>
          </a:p>
        </p:txBody>
      </p:sp>
      <p:sp>
        <p:nvSpPr>
          <p:cNvPr id="14" name="Rectangle 13"/>
          <p:cNvSpPr/>
          <p:nvPr/>
        </p:nvSpPr>
        <p:spPr>
          <a:xfrm>
            <a:off x="585290" y="2389935"/>
            <a:ext cx="6389419" cy="12194"/>
          </a:xfrm>
          <a:prstGeom prst="rect">
            <a:avLst/>
          </a:prstGeom>
          <a:solidFill>
            <a:srgbClr val="E7EEF0"/>
          </a:solidFill>
          <a:ln>
            <a:noFill/>
          </a:ln>
          <a:effectLst/>
        </p:spPr>
        <p:txBody>
          <a:bodyPr rtlCol="0" anchor="ctr"/>
          <a:lstStyle/>
          <a:p>
            <a:pPr algn="ctr"/>
          </a:p>
        </p:txBody>
      </p:sp>
      <p:pic>
        <p:nvPicPr>
          <p:cNvPr id="15" name="Picture 14" descr="icon-check.png"/>
          <p:cNvPicPr>
            <a:picLocks noChangeAspect="1"/>
          </p:cNvPicPr>
          <p:nvPr/>
        </p:nvPicPr>
        <p:blipFill>
          <a:blip r:embed="rId2"/>
          <a:stretch>
            <a:fillRect/>
          </a:stretch>
        </p:blipFill>
        <p:spPr>
          <a:xfrm>
            <a:off x="585290" y="2499677"/>
            <a:ext cx="170710" cy="170710"/>
          </a:xfrm>
          <a:prstGeom prst="rect">
            <a:avLst/>
          </a:prstGeom>
        </p:spPr>
      </p:pic>
      <p:sp>
        <p:nvSpPr>
          <p:cNvPr id="16" name="TextBox 15"/>
          <p:cNvSpPr txBox="1"/>
          <p:nvPr/>
        </p:nvSpPr>
        <p:spPr>
          <a:xfrm>
            <a:off x="902323" y="2487484"/>
            <a:ext cx="6072387" cy="463355"/>
          </a:xfrm>
          <a:prstGeom prst="rect">
            <a:avLst/>
          </a:prstGeom>
          <a:noFill/>
        </p:spPr>
        <p:txBody>
          <a:bodyPr wrap="square" anchor="t" lIns="0" rIns="0" tIns="0" bIns="0">
            <a:spAutoFit/>
          </a:bodyPr>
          <a:lstStyle/>
          <a:p>
            <a:pPr algn="l">
              <a:lnSpc>
                <a:spcPct val="145000"/>
              </a:lnSpc>
            </a:pPr>
            <a:r>
              <a:rPr sz="1008" b="0">
                <a:solidFill>
                  <a:srgbClr val="002333"/>
                </a:solidFill>
                <a:latin typeface="Inter"/>
              </a:rPr>
              <a:t>Verwerkersovereenkomst afgesloten (bijlage: "Verwerkersovereenkomst Eduface", versie voor onbekostigde instellingen).</a:t>
            </a:r>
          </a:p>
        </p:txBody>
      </p:sp>
      <p:sp>
        <p:nvSpPr>
          <p:cNvPr id="17" name="TextBox 16"/>
          <p:cNvSpPr txBox="1"/>
          <p:nvPr/>
        </p:nvSpPr>
        <p:spPr>
          <a:xfrm>
            <a:off x="585290" y="3048387"/>
            <a:ext cx="6389419" cy="158516"/>
          </a:xfrm>
          <a:prstGeom prst="rect">
            <a:avLst/>
          </a:prstGeom>
          <a:noFill/>
        </p:spPr>
        <p:txBody>
          <a:bodyPr wrap="square" anchor="t" lIns="0" rIns="0" tIns="0" bIns="0">
            <a:spAutoFit/>
          </a:bodyPr>
          <a:lstStyle/>
          <a:p>
            <a:pPr algn="l">
              <a:lnSpc>
                <a:spcPct val="130000"/>
              </a:lnSpc>
            </a:pPr>
            <a:r>
              <a:rPr sz="816" b="0">
                <a:solidFill>
                  <a:srgbClr val="5B7480"/>
                </a:solidFill>
                <a:latin typeface="Inter"/>
              </a:rPr>
              <a:t>De verwerkersovereenkomst ligt ter beoordeling bij onze AVG-functionaris.</a:t>
            </a:r>
          </a:p>
        </p:txBody>
      </p:sp>
      <p:sp>
        <p:nvSpPr>
          <p:cNvPr id="18" name="TextBox 17"/>
          <p:cNvSpPr txBox="1"/>
          <p:nvPr/>
        </p:nvSpPr>
        <p:spPr>
          <a:xfrm>
            <a:off x="585290" y="3706839"/>
            <a:ext cx="6389419" cy="365806"/>
          </a:xfrm>
          <a:prstGeom prst="rect">
            <a:avLst/>
          </a:prstGeom>
          <a:noFill/>
        </p:spPr>
        <p:txBody>
          <a:bodyPr wrap="square" anchor="t" lIns="0" rIns="0" tIns="0" bIns="0">
            <a:spAutoFit/>
          </a:bodyPr>
          <a:lstStyle/>
          <a:p>
            <a:pPr algn="l">
              <a:lnSpc>
                <a:spcPct val="110000"/>
              </a:lnSpc>
            </a:pPr>
            <a:r>
              <a:rPr sz="2208" b="1">
                <a:solidFill>
                  <a:srgbClr val="002333"/>
                </a:solidFill>
                <a:latin typeface="League Spartan"/>
              </a:rPr>
              <a:t>Riso anylaze comming soon</a:t>
            </a:r>
          </a:p>
        </p:txBody>
      </p:sp>
      <p:sp>
        <p:nvSpPr>
          <p:cNvPr id="19" name="Rectangle 18"/>
          <p:cNvSpPr/>
          <p:nvPr/>
        </p:nvSpPr>
        <p:spPr>
          <a:xfrm>
            <a:off x="585290" y="10120645"/>
            <a:ext cx="6389419" cy="12194"/>
          </a:xfrm>
          <a:prstGeom prst="rect">
            <a:avLst/>
          </a:prstGeom>
          <a:solidFill>
            <a:srgbClr val="E7EEF0"/>
          </a:solidFill>
          <a:ln>
            <a:noFill/>
          </a:ln>
          <a:effectLst/>
        </p:spPr>
        <p:txBody>
          <a:bodyPr rtlCol="0" anchor="ctr"/>
          <a:lstStyle/>
          <a:p>
            <a:pPr algn="ctr"/>
          </a:p>
        </p:txBody>
      </p:sp>
      <p:sp>
        <p:nvSpPr>
          <p:cNvPr id="20" name="TextBox 19"/>
          <p:cNvSpPr txBox="1"/>
          <p:nvPr/>
        </p:nvSpPr>
        <p:spPr>
          <a:xfrm>
            <a:off x="585290" y="10266968"/>
            <a:ext cx="5487097" cy="146323"/>
          </a:xfrm>
          <a:prstGeom prst="rect">
            <a:avLst/>
          </a:prstGeom>
          <a:noFill/>
        </p:spPr>
        <p:txBody>
          <a:bodyPr wrap="square" anchor="t" lIns="0" rIns="0" tIns="0" bIns="0">
            <a:spAutoFit/>
          </a:bodyPr>
          <a:lstStyle/>
          <a:p>
            <a:pPr algn="l">
              <a:lnSpc>
                <a:spcPct val="120000"/>
              </a:lnSpc>
            </a:pPr>
            <a:r>
              <a:rPr sz="768" b="0">
                <a:solidFill>
                  <a:srgbClr val="5B7480"/>
                </a:solidFill>
                <a:latin typeface="Inter"/>
              </a:rPr>
              <a:t>Business case Eduface · Academica University of Applied Sciences · concept</a:t>
            </a:r>
          </a:p>
        </p:txBody>
      </p:sp>
      <p:sp>
        <p:nvSpPr>
          <p:cNvPr id="21" name="TextBox 20"/>
          <p:cNvSpPr txBox="1"/>
          <p:nvPr/>
        </p:nvSpPr>
        <p:spPr>
          <a:xfrm>
            <a:off x="6365032" y="10266968"/>
            <a:ext cx="609677" cy="146323"/>
          </a:xfrm>
          <a:prstGeom prst="rect">
            <a:avLst/>
          </a:prstGeom>
          <a:noFill/>
        </p:spPr>
        <p:txBody>
          <a:bodyPr wrap="square" anchor="t" lIns="0" rIns="0" tIns="0" bIns="0">
            <a:spAutoFit/>
          </a:bodyPr>
          <a:lstStyle/>
          <a:p>
            <a:pPr algn="r">
              <a:lnSpc>
                <a:spcPct val="120000"/>
              </a:lnSpc>
            </a:pPr>
            <a:r>
              <a:rPr sz="768" b="1">
                <a:solidFill>
                  <a:srgbClr val="5B7480"/>
                </a:solidFill>
                <a:latin typeface="Inter"/>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