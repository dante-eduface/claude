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academica.png"/>
          <p:cNvPicPr>
            <a:picLocks noChangeAspect="1"/>
          </p:cNvPicPr>
          <p:nvPr/>
        </p:nvPicPr>
        <p:blipFill>
          <a:blip r:embed="rId2"/>
          <a:stretch>
            <a:fillRect/>
          </a:stretch>
        </p:blipFill>
        <p:spPr>
          <a:xfrm>
            <a:off x="648000" y="648000"/>
            <a:ext cx="1670625" cy="324000"/>
          </a:xfrm>
          <a:prstGeom prst="rect">
            <a:avLst/>
          </a:prstGeom>
        </p:spPr>
      </p:pic>
      <p:sp>
        <p:nvSpPr>
          <p:cNvPr id="3" name="TextBox 2"/>
          <p:cNvSpPr txBox="1"/>
          <p:nvPr/>
        </p:nvSpPr>
        <p:spPr>
          <a:xfrm>
            <a:off x="5112000" y="648000"/>
            <a:ext cx="1800000" cy="324000"/>
          </a:xfrm>
          <a:prstGeom prst="rect">
            <a:avLst/>
          </a:prstGeom>
          <a:noFill/>
        </p:spPr>
        <p:txBody>
          <a:bodyPr wrap="square" lIns="0" rIns="0" tIns="0" bIns="0" anchor="t">
            <a:spAutoFit/>
          </a:bodyPr>
          <a:lstStyle/>
          <a:p>
            <a:pPr algn="r">
              <a:lnSpc>
                <a:spcPct val="115000"/>
              </a:lnSpc>
            </a:pPr>
            <a:r>
              <a:rPr sz="850" b="0">
                <a:solidFill>
                  <a:srgbClr val="5B6474"/>
                </a:solidFill>
                <a:latin typeface="Inter"/>
              </a:rPr>
              <a:t>Business case</a:t>
            </a:r>
          </a:p>
          <a:p>
            <a:pPr algn="r">
              <a:lnSpc>
                <a:spcPct val="115000"/>
              </a:lnSpc>
              <a:spcBef>
                <a:spcPts val="0"/>
              </a:spcBef>
            </a:pPr>
            <a:r>
              <a:rPr sz="850" b="0">
                <a:solidFill>
                  <a:srgbClr val="5B6474"/>
                </a:solidFill>
                <a:latin typeface="Inter"/>
              </a:rPr>
              <a:t>opgesteld met Eduface</a:t>
            </a:r>
          </a:p>
        </p:txBody>
      </p:sp>
      <p:sp>
        <p:nvSpPr>
          <p:cNvPr id="4" name="Rounded Rectangle 3"/>
          <p:cNvSpPr/>
          <p:nvPr/>
        </p:nvSpPr>
        <p:spPr>
          <a:xfrm>
            <a:off x="648000" y="1368000"/>
            <a:ext cx="3024000" cy="216000"/>
          </a:xfrm>
          <a:prstGeom prst="roundRect">
            <a:avLst>
              <a:gd name="adj" fmla="val 25000"/>
            </a:avLst>
          </a:prstGeom>
          <a:noFill/>
          <a:ln w="9525">
            <a:solidFill>
              <a:srgbClr val="D9DDE4"/>
            </a:solidFill>
          </a:ln>
        </p:spPr>
        <p:txBody>
          <a:bodyPr rtlCol="0" anchor="ctr"/>
          <a:lstStyle/>
          <a:p/>
        </p:txBody>
      </p:sp>
      <p:sp>
        <p:nvSpPr>
          <p:cNvPr id="5" name="TextBox 4"/>
          <p:cNvSpPr txBox="1"/>
          <p:nvPr/>
        </p:nvSpPr>
        <p:spPr>
          <a:xfrm>
            <a:off x="738000" y="1368000"/>
            <a:ext cx="2880000" cy="216000"/>
          </a:xfrm>
          <a:prstGeom prst="rect">
            <a:avLst/>
          </a:prstGeom>
          <a:noFill/>
        </p:spPr>
        <p:txBody>
          <a:bodyPr wrap="square" lIns="0" rIns="0" tIns="0" bIns="0" anchor="ctr">
            <a:spAutoFit/>
          </a:bodyPr>
          <a:lstStyle/>
          <a:p>
            <a:pPr algn="l">
              <a:lnSpc>
                <a:spcPct val="115000"/>
              </a:lnSpc>
            </a:pPr>
            <a:r>
              <a:rPr sz="800" b="0">
                <a:solidFill>
                  <a:srgbClr val="5B6474"/>
                </a:solidFill>
                <a:latin typeface="Inter"/>
              </a:rPr>
              <a:t>Concept voor 22 oktober 2026 · </a:t>
            </a:r>
            <a:r>
              <a:rPr sz="800" b="1">
                <a:solidFill>
                  <a:srgbClr val="5B6474"/>
                </a:solidFill>
                <a:latin typeface="Inter"/>
              </a:rPr>
              <a:t>[?]</a:t>
            </a:r>
            <a:r>
              <a:rPr sz="800" b="0">
                <a:solidFill>
                  <a:srgbClr val="5B6474"/>
                </a:solidFill>
                <a:latin typeface="Inter"/>
              </a:rPr>
              <a:t> = nog in te vullen</a:t>
            </a:r>
          </a:p>
        </p:txBody>
      </p:sp>
      <p:sp>
        <p:nvSpPr>
          <p:cNvPr id="6" name="TextBox 5"/>
          <p:cNvSpPr txBox="1"/>
          <p:nvPr/>
        </p:nvSpPr>
        <p:spPr>
          <a:xfrm>
            <a:off x="648000" y="1800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MANAGEMENTSAMENVATTING</a:t>
            </a:r>
          </a:p>
        </p:txBody>
      </p:sp>
      <p:sp>
        <p:nvSpPr>
          <p:cNvPr id="7" name="TextBox 6"/>
          <p:cNvSpPr txBox="1"/>
          <p:nvPr/>
        </p:nvSpPr>
        <p:spPr>
          <a:xfrm>
            <a:off x="648000" y="2016000"/>
            <a:ext cx="504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Nederlands onderwijskundig AI-model voor formatieve feedback</a:t>
            </a:r>
          </a:p>
        </p:txBody>
      </p:sp>
      <p:sp>
        <p:nvSpPr>
          <p:cNvPr id="8" name="TextBox 7"/>
          <p:cNvSpPr txBox="1"/>
          <p:nvPr/>
        </p:nvSpPr>
        <p:spPr>
          <a:xfrm>
            <a:off x="648000" y="2844000"/>
            <a:ext cx="5832000" cy="1224000"/>
          </a:xfrm>
          <a:prstGeom prst="rect">
            <a:avLst/>
          </a:prstGeom>
          <a:noFill/>
        </p:spPr>
        <p:txBody>
          <a:bodyPr wrap="square" lIns="0" rIns="0" tIns="0" bIns="0" anchor="t">
            <a:spAutoFit/>
          </a:bodyPr>
          <a:lstStyle/>
          <a:p>
            <a:pPr algn="l">
              <a:lnSpc>
                <a:spcPct val="125000"/>
              </a:lnSpc>
            </a:pPr>
            <a:r>
              <a:rPr sz="1050" b="0">
                <a:solidFill>
                  <a:srgbClr val="5B6474"/>
                </a:solidFill>
                <a:latin typeface="Inter"/>
              </a:rPr>
              <a:t>Wij stellen voor Eduface in te voeren bij alle geaccrediteerde opleidingen. Eduface doet bij elke opdracht een eerste beoordeling en een feedbackvoorstel per criterium. De docent controleert dat voorstel, past het aan en houdt het laatste woord. Zo besteden docenten minder tijd aan het formuleren van feedback, krijgt elke student formatieve feedback, en vangen we de groei op zonder evenredig meer nakijkers. Dat is een concrete invulling van het koerspunt efficiency.</a:t>
            </a:r>
          </a:p>
        </p:txBody>
      </p:sp>
      <p:sp>
        <p:nvSpPr>
          <p:cNvPr id="9" name="Rounded Rectangle 8"/>
          <p:cNvSpPr/>
          <p:nvPr/>
        </p:nvSpPr>
        <p:spPr>
          <a:xfrm>
            <a:off x="648000" y="4248000"/>
            <a:ext cx="6264000" cy="756000"/>
          </a:xfrm>
          <a:prstGeom prst="roundRect">
            <a:avLst>
              <a:gd name="adj" fmla="val 19047"/>
            </a:avLst>
          </a:prstGeom>
          <a:solidFill>
            <a:srgbClr val="EAF3FB"/>
          </a:solidFill>
          <a:ln>
            <a:noFill/>
          </a:ln>
        </p:spPr>
        <p:txBody>
          <a:bodyPr rtlCol="0" anchor="ctr"/>
          <a:lstStyle/>
          <a:p/>
        </p:txBody>
      </p:sp>
      <p:sp>
        <p:nvSpPr>
          <p:cNvPr id="10" name="Rounded Rectangle 9"/>
          <p:cNvSpPr/>
          <p:nvPr/>
        </p:nvSpPr>
        <p:spPr>
          <a:xfrm>
            <a:off x="864000" y="4428000"/>
            <a:ext cx="396000" cy="396000"/>
          </a:xfrm>
          <a:prstGeom prst="roundRect">
            <a:avLst>
              <a:gd name="adj" fmla="val 50000"/>
            </a:avLst>
          </a:prstGeom>
          <a:solidFill>
            <a:srgbClr val="FFFFFF"/>
          </a:solidFill>
          <a:ln>
            <a:noFill/>
          </a:ln>
        </p:spPr>
        <p:txBody>
          <a:bodyPr rtlCol="0" anchor="ctr"/>
          <a:lstStyle/>
          <a:p/>
        </p:txBody>
      </p:sp>
      <p:pic>
        <p:nvPicPr>
          <p:cNvPr id="11" name="Picture 10" descr="icoon-geld.png"/>
          <p:cNvPicPr>
            <a:picLocks noChangeAspect="1"/>
          </p:cNvPicPr>
          <p:nvPr/>
        </p:nvPicPr>
        <p:blipFill>
          <a:blip r:embed="rId3"/>
          <a:stretch>
            <a:fillRect/>
          </a:stretch>
        </p:blipFill>
        <p:spPr>
          <a:xfrm>
            <a:off x="969285" y="4527000"/>
            <a:ext cx="185428" cy="198000"/>
          </a:xfrm>
          <a:prstGeom prst="rect">
            <a:avLst/>
          </a:prstGeom>
        </p:spPr>
      </p:pic>
      <p:sp>
        <p:nvSpPr>
          <p:cNvPr id="12" name="TextBox 11"/>
          <p:cNvSpPr txBox="1"/>
          <p:nvPr/>
        </p:nvSpPr>
        <p:spPr>
          <a:xfrm>
            <a:off x="1476000" y="4248000"/>
            <a:ext cx="1620000" cy="756000"/>
          </a:xfrm>
          <a:prstGeom prst="rect">
            <a:avLst/>
          </a:prstGeom>
          <a:noFill/>
        </p:spPr>
        <p:txBody>
          <a:bodyPr wrap="square" lIns="0" rIns="0" tIns="0" bIns="0" anchor="ctr">
            <a:spAutoFit/>
          </a:bodyPr>
          <a:lstStyle/>
          <a:p>
            <a:pPr algn="l">
              <a:lnSpc>
                <a:spcPct val="115000"/>
              </a:lnSpc>
            </a:pPr>
            <a:r>
              <a:rPr sz="2400" b="1">
                <a:solidFill>
                  <a:srgbClr val="000326"/>
                </a:solidFill>
                <a:latin typeface="Inter"/>
              </a:rPr>
              <a:t>€ </a:t>
            </a:r>
            <a:r>
              <a:rPr sz="2400" b="1">
                <a:solidFill>
                  <a:srgbClr val="5B6474"/>
                </a:solidFill>
                <a:latin typeface="Inter"/>
              </a:rPr>
              <a:t>?</a:t>
            </a:r>
          </a:p>
        </p:txBody>
      </p:sp>
      <p:sp>
        <p:nvSpPr>
          <p:cNvPr id="13" name="TextBox 12"/>
          <p:cNvSpPr txBox="1"/>
          <p:nvPr/>
        </p:nvSpPr>
        <p:spPr>
          <a:xfrm>
            <a:off x="3240000" y="4248000"/>
            <a:ext cx="3456000" cy="756000"/>
          </a:xfrm>
          <a:prstGeom prst="rect">
            <a:avLst/>
          </a:prstGeom>
          <a:noFill/>
        </p:spPr>
        <p:txBody>
          <a:bodyPr wrap="square" lIns="0" rIns="0" tIns="0" bIns="0" anchor="ctr">
            <a:spAutoFit/>
          </a:bodyPr>
          <a:lstStyle/>
          <a:p>
            <a:pPr algn="l">
              <a:lnSpc>
                <a:spcPct val="115000"/>
              </a:lnSpc>
            </a:pPr>
            <a:r>
              <a:rPr sz="950" b="1">
                <a:solidFill>
                  <a:srgbClr val="1D2433"/>
                </a:solidFill>
                <a:latin typeface="Inter"/>
              </a:rPr>
              <a:t>besparing per jaar</a:t>
            </a:r>
          </a:p>
          <a:p>
            <a:pPr algn="l">
              <a:lnSpc>
                <a:spcPct val="115000"/>
              </a:lnSpc>
              <a:spcBef>
                <a:spcPts val="100"/>
              </a:spcBef>
            </a:pPr>
            <a:r>
              <a:rPr sz="950" b="0">
                <a:solidFill>
                  <a:srgbClr val="5B6474"/>
                </a:solidFill>
                <a:latin typeface="Inter"/>
              </a:rPr>
              <a:t>Bespaarde uren feedback schrijven × ons normbedrag per uur, tegen een licentie van € 18.000 per jaar.</a:t>
            </a:r>
          </a:p>
        </p:txBody>
      </p:sp>
      <p:sp>
        <p:nvSpPr>
          <p:cNvPr id="14" name="Rounded Rectangle 13"/>
          <p:cNvSpPr/>
          <p:nvPr/>
        </p:nvSpPr>
        <p:spPr>
          <a:xfrm>
            <a:off x="648000" y="5112000"/>
            <a:ext cx="6264000" cy="756000"/>
          </a:xfrm>
          <a:prstGeom prst="roundRect">
            <a:avLst>
              <a:gd name="adj" fmla="val 19047"/>
            </a:avLst>
          </a:prstGeom>
          <a:solidFill>
            <a:srgbClr val="EAF3FB"/>
          </a:solidFill>
          <a:ln>
            <a:noFill/>
          </a:ln>
        </p:spPr>
        <p:txBody>
          <a:bodyPr rtlCol="0" anchor="ctr"/>
          <a:lstStyle/>
          <a:p/>
        </p:txBody>
      </p:sp>
      <p:sp>
        <p:nvSpPr>
          <p:cNvPr id="15" name="Rounded Rectangle 14"/>
          <p:cNvSpPr/>
          <p:nvPr/>
        </p:nvSpPr>
        <p:spPr>
          <a:xfrm>
            <a:off x="864000" y="5292000"/>
            <a:ext cx="396000" cy="396000"/>
          </a:xfrm>
          <a:prstGeom prst="roundRect">
            <a:avLst>
              <a:gd name="adj" fmla="val 50000"/>
            </a:avLst>
          </a:prstGeom>
          <a:solidFill>
            <a:srgbClr val="FFFFFF"/>
          </a:solidFill>
          <a:ln>
            <a:noFill/>
          </a:ln>
        </p:spPr>
        <p:txBody>
          <a:bodyPr rtlCol="0" anchor="ctr"/>
          <a:lstStyle/>
          <a:p/>
        </p:txBody>
      </p:sp>
      <p:pic>
        <p:nvPicPr>
          <p:cNvPr id="16" name="Picture 15" descr="icoon-tijd.png"/>
          <p:cNvPicPr>
            <a:picLocks noChangeAspect="1"/>
          </p:cNvPicPr>
          <p:nvPr/>
        </p:nvPicPr>
        <p:blipFill>
          <a:blip r:embed="rId4"/>
          <a:stretch>
            <a:fillRect/>
          </a:stretch>
        </p:blipFill>
        <p:spPr>
          <a:xfrm>
            <a:off x="963000" y="5391000"/>
            <a:ext cx="198000" cy="198000"/>
          </a:xfrm>
          <a:prstGeom prst="rect">
            <a:avLst/>
          </a:prstGeom>
        </p:spPr>
      </p:pic>
      <p:sp>
        <p:nvSpPr>
          <p:cNvPr id="17" name="TextBox 16"/>
          <p:cNvSpPr txBox="1"/>
          <p:nvPr/>
        </p:nvSpPr>
        <p:spPr>
          <a:xfrm>
            <a:off x="1476000" y="5112000"/>
            <a:ext cx="1620000" cy="756000"/>
          </a:xfrm>
          <a:prstGeom prst="rect">
            <a:avLst/>
          </a:prstGeom>
          <a:noFill/>
        </p:spPr>
        <p:txBody>
          <a:bodyPr wrap="square" lIns="0" rIns="0" tIns="0" bIns="0" anchor="ctr">
            <a:spAutoFit/>
          </a:bodyPr>
          <a:lstStyle/>
          <a:p>
            <a:pPr algn="l">
              <a:lnSpc>
                <a:spcPct val="115000"/>
              </a:lnSpc>
            </a:pPr>
            <a:r>
              <a:rPr sz="2400" b="1">
                <a:solidFill>
                  <a:srgbClr val="5B6474"/>
                </a:solidFill>
                <a:latin typeface="Inter"/>
              </a:rPr>
              <a:t>?</a:t>
            </a:r>
            <a:r>
              <a:rPr sz="2400" b="1">
                <a:solidFill>
                  <a:srgbClr val="000326"/>
                </a:solidFill>
                <a:latin typeface="Inter"/>
              </a:rPr>
              <a:t> uur</a:t>
            </a:r>
          </a:p>
        </p:txBody>
      </p:sp>
      <p:sp>
        <p:nvSpPr>
          <p:cNvPr id="18" name="TextBox 17"/>
          <p:cNvSpPr txBox="1"/>
          <p:nvPr/>
        </p:nvSpPr>
        <p:spPr>
          <a:xfrm>
            <a:off x="3240000" y="5112000"/>
            <a:ext cx="3456000" cy="756000"/>
          </a:xfrm>
          <a:prstGeom prst="rect">
            <a:avLst/>
          </a:prstGeom>
          <a:noFill/>
        </p:spPr>
        <p:txBody>
          <a:bodyPr wrap="square" lIns="0" rIns="0" tIns="0" bIns="0" anchor="ctr">
            <a:spAutoFit/>
          </a:bodyPr>
          <a:lstStyle/>
          <a:p>
            <a:pPr algn="l">
              <a:lnSpc>
                <a:spcPct val="115000"/>
              </a:lnSpc>
            </a:pPr>
            <a:r>
              <a:rPr sz="950" b="1">
                <a:solidFill>
                  <a:srgbClr val="1D2433"/>
                </a:solidFill>
                <a:latin typeface="Inter"/>
              </a:rPr>
              <a:t>minder uren feedback schrijven per jaar</a:t>
            </a:r>
          </a:p>
          <a:p>
            <a:pPr algn="l">
              <a:lnSpc>
                <a:spcPct val="115000"/>
              </a:lnSpc>
              <a:spcBef>
                <a:spcPts val="100"/>
              </a:spcBef>
            </a:pPr>
            <a:r>
              <a:rPr sz="950" b="0">
                <a:solidFill>
                  <a:srgbClr val="5B6474"/>
                </a:solidFill>
                <a:latin typeface="Inter"/>
              </a:rPr>
              <a:t>Over ongeveer 1.100 opdrachten. Leestijd niet meegerekend.</a:t>
            </a:r>
          </a:p>
        </p:txBody>
      </p:sp>
      <p:sp>
        <p:nvSpPr>
          <p:cNvPr id="19" name="Rounded Rectangle 18"/>
          <p:cNvSpPr/>
          <p:nvPr/>
        </p:nvSpPr>
        <p:spPr>
          <a:xfrm>
            <a:off x="648000" y="5976000"/>
            <a:ext cx="6264000" cy="756000"/>
          </a:xfrm>
          <a:prstGeom prst="roundRect">
            <a:avLst>
              <a:gd name="adj" fmla="val 19047"/>
            </a:avLst>
          </a:prstGeom>
          <a:solidFill>
            <a:srgbClr val="EAF3FB"/>
          </a:solidFill>
          <a:ln>
            <a:noFill/>
          </a:ln>
        </p:spPr>
        <p:txBody>
          <a:bodyPr rtlCol="0" anchor="ctr"/>
          <a:lstStyle/>
          <a:p/>
        </p:txBody>
      </p:sp>
      <p:sp>
        <p:nvSpPr>
          <p:cNvPr id="20" name="Rounded Rectangle 19"/>
          <p:cNvSpPr/>
          <p:nvPr/>
        </p:nvSpPr>
        <p:spPr>
          <a:xfrm>
            <a:off x="864000" y="6156000"/>
            <a:ext cx="396000" cy="396000"/>
          </a:xfrm>
          <a:prstGeom prst="roundRect">
            <a:avLst>
              <a:gd name="adj" fmla="val 50000"/>
            </a:avLst>
          </a:prstGeom>
          <a:solidFill>
            <a:srgbClr val="FFFFFF"/>
          </a:solidFill>
          <a:ln>
            <a:noFill/>
          </a:ln>
        </p:spPr>
        <p:txBody>
          <a:bodyPr rtlCol="0" anchor="ctr"/>
          <a:lstStyle/>
          <a:p/>
        </p:txBody>
      </p:sp>
      <p:pic>
        <p:nvPicPr>
          <p:cNvPr id="21" name="Picture 20" descr="icoon-mensen.png"/>
          <p:cNvPicPr>
            <a:picLocks noChangeAspect="1"/>
          </p:cNvPicPr>
          <p:nvPr/>
        </p:nvPicPr>
        <p:blipFill>
          <a:blip r:embed="rId5"/>
          <a:stretch>
            <a:fillRect/>
          </a:stretch>
        </p:blipFill>
        <p:spPr>
          <a:xfrm>
            <a:off x="963000" y="6269520"/>
            <a:ext cx="198000" cy="168960"/>
          </a:xfrm>
          <a:prstGeom prst="rect">
            <a:avLst/>
          </a:prstGeom>
        </p:spPr>
      </p:pic>
      <p:sp>
        <p:nvSpPr>
          <p:cNvPr id="22" name="TextBox 21"/>
          <p:cNvSpPr txBox="1"/>
          <p:nvPr/>
        </p:nvSpPr>
        <p:spPr>
          <a:xfrm>
            <a:off x="1476000" y="5976000"/>
            <a:ext cx="1620000" cy="756000"/>
          </a:xfrm>
          <a:prstGeom prst="rect">
            <a:avLst/>
          </a:prstGeom>
          <a:noFill/>
        </p:spPr>
        <p:txBody>
          <a:bodyPr wrap="square" lIns="0" rIns="0" tIns="0" bIns="0" anchor="ctr">
            <a:spAutoFit/>
          </a:bodyPr>
          <a:lstStyle/>
          <a:p>
            <a:pPr algn="l">
              <a:lnSpc>
                <a:spcPct val="115000"/>
              </a:lnSpc>
            </a:pPr>
            <a:r>
              <a:rPr sz="2400" b="1">
                <a:solidFill>
                  <a:srgbClr val="000326"/>
                </a:solidFill>
                <a:latin typeface="Inter"/>
              </a:rPr>
              <a:t>100%</a:t>
            </a:r>
          </a:p>
        </p:txBody>
      </p:sp>
      <p:sp>
        <p:nvSpPr>
          <p:cNvPr id="23" name="TextBox 22"/>
          <p:cNvSpPr txBox="1"/>
          <p:nvPr/>
        </p:nvSpPr>
        <p:spPr>
          <a:xfrm>
            <a:off x="3240000" y="5976000"/>
            <a:ext cx="3456000" cy="756000"/>
          </a:xfrm>
          <a:prstGeom prst="rect">
            <a:avLst/>
          </a:prstGeom>
          <a:noFill/>
        </p:spPr>
        <p:txBody>
          <a:bodyPr wrap="square" lIns="0" rIns="0" tIns="0" bIns="0" anchor="ctr">
            <a:spAutoFit/>
          </a:bodyPr>
          <a:lstStyle/>
          <a:p>
            <a:pPr algn="l">
              <a:lnSpc>
                <a:spcPct val="115000"/>
              </a:lnSpc>
            </a:pPr>
            <a:r>
              <a:rPr sz="950" b="1">
                <a:solidFill>
                  <a:srgbClr val="1D2433"/>
                </a:solidFill>
                <a:latin typeface="Inter"/>
              </a:rPr>
              <a:t>van de studenten krijgt formatieve feedback</a:t>
            </a:r>
          </a:p>
          <a:p>
            <a:pPr algn="l">
              <a:lnSpc>
                <a:spcPct val="115000"/>
              </a:lnSpc>
              <a:spcBef>
                <a:spcPts val="100"/>
              </a:spcBef>
            </a:pPr>
            <a:r>
              <a:rPr sz="950" b="0">
                <a:solidFill>
                  <a:srgbClr val="5B6474"/>
                </a:solidFill>
                <a:latin typeface="Inter"/>
              </a:rPr>
              <a:t>Bij elke module. Nu is dat de helft, in twee modules.</a:t>
            </a:r>
          </a:p>
        </p:txBody>
      </p:sp>
      <p:sp>
        <p:nvSpPr>
          <p:cNvPr id="24" name="Rectangle 23"/>
          <p:cNvSpPr/>
          <p:nvPr/>
        </p:nvSpPr>
        <p:spPr>
          <a:xfrm>
            <a:off x="648000" y="7056000"/>
            <a:ext cx="6264000" cy="792000"/>
          </a:xfrm>
          <a:prstGeom prst="rect">
            <a:avLst/>
          </a:prstGeom>
          <a:solidFill>
            <a:srgbClr val="EAF3FB"/>
          </a:solidFill>
          <a:ln>
            <a:noFill/>
          </a:ln>
        </p:spPr>
        <p:txBody>
          <a:bodyPr rtlCol="0" anchor="ctr"/>
          <a:lstStyle/>
          <a:p/>
        </p:txBody>
      </p:sp>
      <p:sp>
        <p:nvSpPr>
          <p:cNvPr id="25" name="Rectangle 24"/>
          <p:cNvSpPr/>
          <p:nvPr/>
        </p:nvSpPr>
        <p:spPr>
          <a:xfrm>
            <a:off x="648000" y="7056000"/>
            <a:ext cx="43200" cy="792000"/>
          </a:xfrm>
          <a:prstGeom prst="rect">
            <a:avLst/>
          </a:prstGeom>
          <a:solidFill>
            <a:srgbClr val="000326"/>
          </a:solidFill>
          <a:ln>
            <a:noFill/>
          </a:ln>
        </p:spPr>
        <p:txBody>
          <a:bodyPr rtlCol="0" anchor="ctr"/>
          <a:lstStyle/>
          <a:p/>
        </p:txBody>
      </p:sp>
      <p:sp>
        <p:nvSpPr>
          <p:cNvPr id="26" name="TextBox 25"/>
          <p:cNvSpPr txBox="1"/>
          <p:nvPr/>
        </p:nvSpPr>
        <p:spPr>
          <a:xfrm>
            <a:off x="864000" y="7056000"/>
            <a:ext cx="5904000" cy="792000"/>
          </a:xfrm>
          <a:prstGeom prst="rect">
            <a:avLst/>
          </a:prstGeom>
          <a:noFill/>
        </p:spPr>
        <p:txBody>
          <a:bodyPr wrap="square" lIns="0" rIns="0" tIns="0" bIns="0" anchor="ctr">
            <a:spAutoFit/>
          </a:bodyPr>
          <a:lstStyle/>
          <a:p>
            <a:pPr algn="l">
              <a:lnSpc>
                <a:spcPct val="115000"/>
              </a:lnSpc>
            </a:pPr>
            <a:r>
              <a:rPr sz="850" b="1">
                <a:solidFill>
                  <a:srgbClr val="000326"/>
                </a:solidFill>
                <a:latin typeface="Inter"/>
              </a:rPr>
              <a:t>BESLUIT</a:t>
            </a:r>
          </a:p>
          <a:p>
            <a:pPr algn="l">
              <a:lnSpc>
                <a:spcPct val="115000"/>
              </a:lnSpc>
              <a:spcBef>
                <a:spcPts val="200"/>
              </a:spcBef>
            </a:pPr>
            <a:r>
              <a:rPr sz="1000" b="1">
                <a:solidFill>
                  <a:srgbClr val="1D2433"/>
                </a:solidFill>
                <a:latin typeface="Inter"/>
              </a:rPr>
              <a:t>Wij vragen het MT akkoord op invoering van Eduface bij alle geaccrediteerde opleidingen, te beginnen met een proof of value van twee weken.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HUIDIGE SITUATIE</a:t>
            </a:r>
          </a:p>
        </p:txBody>
      </p:sp>
      <p:sp>
        <p:nvSpPr>
          <p:cNvPr id="3" name="TextBox 2"/>
          <p:cNvSpPr txBox="1"/>
          <p:nvPr/>
        </p:nvSpPr>
        <p:spPr>
          <a:xfrm>
            <a:off x="648000" y="864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Docenten zijn minder tijd kwijt aan het formuleren van feedback</a:t>
            </a:r>
          </a:p>
        </p:txBody>
      </p:sp>
      <p:sp>
        <p:nvSpPr>
          <p:cNvPr id="4" name="TextBox 3"/>
          <p:cNvSpPr txBox="1"/>
          <p:nvPr/>
        </p:nvSpPr>
        <p:spPr>
          <a:xfrm>
            <a:off x="648000" y="1584000"/>
            <a:ext cx="5940000" cy="432000"/>
          </a:xfrm>
          <a:prstGeom prst="rect">
            <a:avLst/>
          </a:prstGeom>
          <a:noFill/>
        </p:spPr>
        <p:txBody>
          <a:bodyPr wrap="square" lIns="0" rIns="0" tIns="0" bIns="0" anchor="t">
            <a:spAutoFit/>
          </a:bodyPr>
          <a:lstStyle/>
          <a:p>
            <a:pPr algn="l">
              <a:lnSpc>
                <a:spcPct val="125000"/>
              </a:lnSpc>
            </a:pPr>
            <a:r>
              <a:rPr sz="1050" b="0">
                <a:solidFill>
                  <a:srgbClr val="5B6474"/>
                </a:solidFill>
                <a:latin typeface="Inter"/>
              </a:rPr>
              <a:t>Bij ongeveer 1.100 opdrachten per jaar is dat 460 uur nakijkwerk. Met Eduface doet het platform de eerste beoordeling en controleert de docent die.</a:t>
            </a:r>
          </a:p>
        </p:txBody>
      </p:sp>
      <p:sp>
        <p:nvSpPr>
          <p:cNvPr id="5" name="TextBox 4"/>
          <p:cNvSpPr txBox="1"/>
          <p:nvPr/>
        </p:nvSpPr>
        <p:spPr>
          <a:xfrm>
            <a:off x="648000" y="2232000"/>
            <a:ext cx="2160000" cy="216000"/>
          </a:xfrm>
          <a:prstGeom prst="rect">
            <a:avLst/>
          </a:prstGeom>
          <a:noFill/>
        </p:spPr>
        <p:txBody>
          <a:bodyPr wrap="square" lIns="0" rIns="0" tIns="0" bIns="0" anchor="t">
            <a:spAutoFit/>
          </a:bodyPr>
          <a:lstStyle/>
          <a:p>
            <a:pPr algn="l">
              <a:lnSpc>
                <a:spcPct val="115000"/>
              </a:lnSpc>
            </a:pPr>
            <a:r>
              <a:rPr sz="1100" b="1">
                <a:solidFill>
                  <a:srgbClr val="1D2433"/>
                </a:solidFill>
                <a:latin typeface="Inter"/>
              </a:rPr>
              <a:t>Nu</a:t>
            </a:r>
          </a:p>
        </p:txBody>
      </p:sp>
      <p:sp>
        <p:nvSpPr>
          <p:cNvPr id="6" name="TextBox 5"/>
          <p:cNvSpPr txBox="1"/>
          <p:nvPr/>
        </p:nvSpPr>
        <p:spPr>
          <a:xfrm>
            <a:off x="3312000" y="2232000"/>
            <a:ext cx="3600000" cy="216000"/>
          </a:xfrm>
          <a:prstGeom prst="rect">
            <a:avLst/>
          </a:prstGeom>
          <a:noFill/>
        </p:spPr>
        <p:txBody>
          <a:bodyPr wrap="square" lIns="0" rIns="0" tIns="0" bIns="0" anchor="t">
            <a:spAutoFit/>
          </a:bodyPr>
          <a:lstStyle/>
          <a:p>
            <a:pPr algn="r">
              <a:lnSpc>
                <a:spcPct val="115000"/>
              </a:lnSpc>
            </a:pPr>
            <a:r>
              <a:rPr sz="950" b="1">
                <a:solidFill>
                  <a:srgbClr val="1D2433"/>
                </a:solidFill>
                <a:latin typeface="Inter"/>
              </a:rPr>
              <a:t>Paper, module-opdracht van ~3.000 woorden</a:t>
            </a:r>
          </a:p>
        </p:txBody>
      </p:sp>
      <p:sp>
        <p:nvSpPr>
          <p:cNvPr id="7" name="Rounded Rectangle 6"/>
          <p:cNvSpPr/>
          <p:nvPr/>
        </p:nvSpPr>
        <p:spPr>
          <a:xfrm>
            <a:off x="648000" y="2520000"/>
            <a:ext cx="1404000" cy="1224000"/>
          </a:xfrm>
          <a:prstGeom prst="roundRect">
            <a:avLst>
              <a:gd name="adj" fmla="val 11764"/>
            </a:avLst>
          </a:prstGeom>
          <a:noFill/>
          <a:ln w="15875">
            <a:solidFill>
              <a:srgbClr val="D9DDE4"/>
            </a:solidFill>
            <a:prstDash val="dash"/>
          </a:ln>
        </p:spPr>
        <p:txBody>
          <a:bodyPr rtlCol="0" anchor="ctr"/>
          <a:lstStyle/>
          <a:p/>
        </p:txBody>
      </p:sp>
      <p:sp>
        <p:nvSpPr>
          <p:cNvPr id="8" name="TextBox 7"/>
          <p:cNvSpPr txBox="1"/>
          <p:nvPr/>
        </p:nvSpPr>
        <p:spPr>
          <a:xfrm>
            <a:off x="774000" y="2628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1</a:t>
            </a:r>
          </a:p>
        </p:txBody>
      </p:sp>
      <p:sp>
        <p:nvSpPr>
          <p:cNvPr id="9" name="TextBox 8"/>
          <p:cNvSpPr txBox="1"/>
          <p:nvPr/>
        </p:nvSpPr>
        <p:spPr>
          <a:xfrm>
            <a:off x="774000" y="2808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Student levert in via NEO</a:t>
            </a:r>
          </a:p>
        </p:txBody>
      </p:sp>
      <p:sp>
        <p:nvSpPr>
          <p:cNvPr id="10" name="TextBox 9"/>
          <p:cNvSpPr txBox="1"/>
          <p:nvPr/>
        </p:nvSpPr>
        <p:spPr>
          <a:xfrm>
            <a:off x="774000" y="3492000"/>
            <a:ext cx="1152000" cy="180000"/>
          </a:xfrm>
          <a:prstGeom prst="rect">
            <a:avLst/>
          </a:prstGeom>
          <a:noFill/>
        </p:spPr>
        <p:txBody>
          <a:bodyPr wrap="square" lIns="0" rIns="0" tIns="0" bIns="0" anchor="t">
            <a:spAutoFit/>
          </a:bodyPr>
          <a:lstStyle/>
          <a:p>
            <a:pPr algn="l">
              <a:lnSpc>
                <a:spcPct val="115000"/>
              </a:lnSpc>
            </a:pPr>
            <a:r>
              <a:rPr sz="900" b="0">
                <a:solidFill>
                  <a:srgbClr val="5B6474"/>
                </a:solidFill>
                <a:latin typeface="Inter"/>
              </a:rPr>
              <a:t>automatisch</a:t>
            </a:r>
          </a:p>
        </p:txBody>
      </p:sp>
      <p:sp>
        <p:nvSpPr>
          <p:cNvPr id="11" name="Rounded Rectangle 10"/>
          <p:cNvSpPr/>
          <p:nvPr/>
        </p:nvSpPr>
        <p:spPr>
          <a:xfrm>
            <a:off x="2268000" y="2520000"/>
            <a:ext cx="1404000" cy="1224000"/>
          </a:xfrm>
          <a:prstGeom prst="roundRect">
            <a:avLst>
              <a:gd name="adj" fmla="val 11764"/>
            </a:avLst>
          </a:prstGeom>
          <a:solidFill>
            <a:srgbClr val="EAF3FB"/>
          </a:solidFill>
          <a:ln>
            <a:noFill/>
          </a:ln>
        </p:spPr>
        <p:txBody>
          <a:bodyPr rtlCol="0" anchor="ctr"/>
          <a:lstStyle/>
          <a:p/>
        </p:txBody>
      </p:sp>
      <p:sp>
        <p:nvSpPr>
          <p:cNvPr id="12" name="TextBox 11"/>
          <p:cNvSpPr txBox="1"/>
          <p:nvPr/>
        </p:nvSpPr>
        <p:spPr>
          <a:xfrm>
            <a:off x="2394000" y="2628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2</a:t>
            </a:r>
          </a:p>
        </p:txBody>
      </p:sp>
      <p:sp>
        <p:nvSpPr>
          <p:cNvPr id="13" name="TextBox 12"/>
          <p:cNvSpPr txBox="1"/>
          <p:nvPr/>
        </p:nvSpPr>
        <p:spPr>
          <a:xfrm>
            <a:off x="2394000" y="2808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Docent leest de opdracht</a:t>
            </a:r>
          </a:p>
        </p:txBody>
      </p:sp>
      <p:sp>
        <p:nvSpPr>
          <p:cNvPr id="14" name="TextBox 13"/>
          <p:cNvSpPr txBox="1"/>
          <p:nvPr/>
        </p:nvSpPr>
        <p:spPr>
          <a:xfrm>
            <a:off x="2394000" y="3492000"/>
            <a:ext cx="1152000" cy="180000"/>
          </a:xfrm>
          <a:prstGeom prst="rect">
            <a:avLst/>
          </a:prstGeom>
          <a:noFill/>
        </p:spPr>
        <p:txBody>
          <a:bodyPr wrap="square" lIns="0" rIns="0" tIns="0" bIns="0" anchor="t">
            <a:spAutoFit/>
          </a:bodyPr>
          <a:lstStyle/>
          <a:p>
            <a:pPr algn="l">
              <a:lnSpc>
                <a:spcPct val="115000"/>
              </a:lnSpc>
            </a:pPr>
            <a:r>
              <a:rPr sz="900" b="1">
                <a:solidFill>
                  <a:srgbClr val="5B6474"/>
                </a:solidFill>
                <a:latin typeface="Inter"/>
              </a:rPr>
              <a:t>[?]</a:t>
            </a:r>
            <a:r>
              <a:rPr sz="900" b="1">
                <a:solidFill>
                  <a:srgbClr val="000326"/>
                </a:solidFill>
                <a:latin typeface="Inter"/>
              </a:rPr>
              <a:t> min</a:t>
            </a:r>
          </a:p>
        </p:txBody>
      </p:sp>
      <p:sp>
        <p:nvSpPr>
          <p:cNvPr id="15" name="TextBox 14"/>
          <p:cNvSpPr txBox="1"/>
          <p:nvPr/>
        </p:nvSpPr>
        <p:spPr>
          <a:xfrm>
            <a:off x="2052000" y="2988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16" name="Rounded Rectangle 15"/>
          <p:cNvSpPr/>
          <p:nvPr/>
        </p:nvSpPr>
        <p:spPr>
          <a:xfrm>
            <a:off x="3888000" y="2520000"/>
            <a:ext cx="1404000" cy="1224000"/>
          </a:xfrm>
          <a:prstGeom prst="roundRect">
            <a:avLst>
              <a:gd name="adj" fmla="val 11764"/>
            </a:avLst>
          </a:prstGeom>
          <a:solidFill>
            <a:srgbClr val="EAF3FB"/>
          </a:solidFill>
          <a:ln>
            <a:noFill/>
          </a:ln>
        </p:spPr>
        <p:txBody>
          <a:bodyPr rtlCol="0" anchor="ctr"/>
          <a:lstStyle/>
          <a:p/>
        </p:txBody>
      </p:sp>
      <p:sp>
        <p:nvSpPr>
          <p:cNvPr id="17" name="TextBox 16"/>
          <p:cNvSpPr txBox="1"/>
          <p:nvPr/>
        </p:nvSpPr>
        <p:spPr>
          <a:xfrm>
            <a:off x="4014000" y="2628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3</a:t>
            </a:r>
          </a:p>
        </p:txBody>
      </p:sp>
      <p:sp>
        <p:nvSpPr>
          <p:cNvPr id="18" name="TextBox 17"/>
          <p:cNvSpPr txBox="1"/>
          <p:nvPr/>
        </p:nvSpPr>
        <p:spPr>
          <a:xfrm>
            <a:off x="4014000" y="2808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Docent beoordeelt per criterium en formuleert de feedback</a:t>
            </a:r>
          </a:p>
        </p:txBody>
      </p:sp>
      <p:sp>
        <p:nvSpPr>
          <p:cNvPr id="19" name="TextBox 18"/>
          <p:cNvSpPr txBox="1"/>
          <p:nvPr/>
        </p:nvSpPr>
        <p:spPr>
          <a:xfrm>
            <a:off x="4014000" y="3492000"/>
            <a:ext cx="1152000" cy="180000"/>
          </a:xfrm>
          <a:prstGeom prst="rect">
            <a:avLst/>
          </a:prstGeom>
          <a:noFill/>
        </p:spPr>
        <p:txBody>
          <a:bodyPr wrap="square" lIns="0" rIns="0" tIns="0" bIns="0" anchor="t">
            <a:spAutoFit/>
          </a:bodyPr>
          <a:lstStyle/>
          <a:p>
            <a:pPr algn="l">
              <a:lnSpc>
                <a:spcPct val="115000"/>
              </a:lnSpc>
            </a:pPr>
            <a:r>
              <a:rPr sz="900" b="1">
                <a:solidFill>
                  <a:srgbClr val="5B6474"/>
                </a:solidFill>
                <a:latin typeface="Inter"/>
              </a:rPr>
              <a:t>[?]</a:t>
            </a:r>
            <a:r>
              <a:rPr sz="900" b="1">
                <a:solidFill>
                  <a:srgbClr val="000326"/>
                </a:solidFill>
                <a:latin typeface="Inter"/>
              </a:rPr>
              <a:t> min</a:t>
            </a:r>
          </a:p>
        </p:txBody>
      </p:sp>
      <p:sp>
        <p:nvSpPr>
          <p:cNvPr id="20" name="TextBox 19"/>
          <p:cNvSpPr txBox="1"/>
          <p:nvPr/>
        </p:nvSpPr>
        <p:spPr>
          <a:xfrm>
            <a:off x="3672000" y="2988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21" name="Rounded Rectangle 20"/>
          <p:cNvSpPr/>
          <p:nvPr/>
        </p:nvSpPr>
        <p:spPr>
          <a:xfrm>
            <a:off x="5508000" y="2520000"/>
            <a:ext cx="1404000" cy="1224000"/>
          </a:xfrm>
          <a:prstGeom prst="roundRect">
            <a:avLst>
              <a:gd name="adj" fmla="val 11764"/>
            </a:avLst>
          </a:prstGeom>
          <a:solidFill>
            <a:srgbClr val="EAF3FB"/>
          </a:solidFill>
          <a:ln>
            <a:noFill/>
          </a:ln>
        </p:spPr>
        <p:txBody>
          <a:bodyPr rtlCol="0" anchor="ctr"/>
          <a:lstStyle/>
          <a:p/>
        </p:txBody>
      </p:sp>
      <p:sp>
        <p:nvSpPr>
          <p:cNvPr id="22" name="TextBox 21"/>
          <p:cNvSpPr txBox="1"/>
          <p:nvPr/>
        </p:nvSpPr>
        <p:spPr>
          <a:xfrm>
            <a:off x="5634000" y="2628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4</a:t>
            </a:r>
          </a:p>
        </p:txBody>
      </p:sp>
      <p:sp>
        <p:nvSpPr>
          <p:cNvPr id="23" name="TextBox 22"/>
          <p:cNvSpPr txBox="1"/>
          <p:nvPr/>
        </p:nvSpPr>
        <p:spPr>
          <a:xfrm>
            <a:off x="5634000" y="2808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Docent vult de rubric in, cijfer gaat via NEO naar Progress</a:t>
            </a:r>
          </a:p>
        </p:txBody>
      </p:sp>
      <p:sp>
        <p:nvSpPr>
          <p:cNvPr id="24" name="TextBox 23"/>
          <p:cNvSpPr txBox="1"/>
          <p:nvPr/>
        </p:nvSpPr>
        <p:spPr>
          <a:xfrm>
            <a:off x="5634000" y="3492000"/>
            <a:ext cx="1152000" cy="180000"/>
          </a:xfrm>
          <a:prstGeom prst="rect">
            <a:avLst/>
          </a:prstGeom>
          <a:noFill/>
        </p:spPr>
        <p:txBody>
          <a:bodyPr wrap="square" lIns="0" rIns="0" tIns="0" bIns="0" anchor="t">
            <a:spAutoFit/>
          </a:bodyPr>
          <a:lstStyle/>
          <a:p>
            <a:pPr algn="l">
              <a:lnSpc>
                <a:spcPct val="115000"/>
              </a:lnSpc>
            </a:pPr>
            <a:r>
              <a:rPr sz="900" b="1">
                <a:solidFill>
                  <a:srgbClr val="5B6474"/>
                </a:solidFill>
                <a:latin typeface="Inter"/>
              </a:rPr>
              <a:t>[?]</a:t>
            </a:r>
            <a:r>
              <a:rPr sz="900" b="1">
                <a:solidFill>
                  <a:srgbClr val="000326"/>
                </a:solidFill>
                <a:latin typeface="Inter"/>
              </a:rPr>
              <a:t> min</a:t>
            </a:r>
          </a:p>
        </p:txBody>
      </p:sp>
      <p:sp>
        <p:nvSpPr>
          <p:cNvPr id="25" name="TextBox 24"/>
          <p:cNvSpPr txBox="1"/>
          <p:nvPr/>
        </p:nvSpPr>
        <p:spPr>
          <a:xfrm>
            <a:off x="5292000" y="2988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26" name="TextBox 25"/>
          <p:cNvSpPr txBox="1"/>
          <p:nvPr/>
        </p:nvSpPr>
        <p:spPr>
          <a:xfrm>
            <a:off x="648000" y="3960000"/>
            <a:ext cx="2160000" cy="216000"/>
          </a:xfrm>
          <a:prstGeom prst="rect">
            <a:avLst/>
          </a:prstGeom>
          <a:noFill/>
        </p:spPr>
        <p:txBody>
          <a:bodyPr wrap="square" lIns="0" rIns="0" tIns="0" bIns="0" anchor="t">
            <a:spAutoFit/>
          </a:bodyPr>
          <a:lstStyle/>
          <a:p>
            <a:pPr algn="l">
              <a:lnSpc>
                <a:spcPct val="115000"/>
              </a:lnSpc>
            </a:pPr>
            <a:r>
              <a:rPr sz="1100" b="1">
                <a:solidFill>
                  <a:srgbClr val="1D2433"/>
                </a:solidFill>
                <a:latin typeface="Inter"/>
              </a:rPr>
              <a:t>Met Eduface</a:t>
            </a:r>
          </a:p>
        </p:txBody>
      </p:sp>
      <p:sp>
        <p:nvSpPr>
          <p:cNvPr id="27" name="Rounded Rectangle 26"/>
          <p:cNvSpPr/>
          <p:nvPr/>
        </p:nvSpPr>
        <p:spPr>
          <a:xfrm>
            <a:off x="648000" y="4248000"/>
            <a:ext cx="1404000" cy="1224000"/>
          </a:xfrm>
          <a:prstGeom prst="roundRect">
            <a:avLst>
              <a:gd name="adj" fmla="val 11764"/>
            </a:avLst>
          </a:prstGeom>
          <a:noFill/>
          <a:ln w="15875">
            <a:solidFill>
              <a:srgbClr val="D9DDE4"/>
            </a:solidFill>
            <a:prstDash val="dash"/>
          </a:ln>
        </p:spPr>
        <p:txBody>
          <a:bodyPr rtlCol="0" anchor="ctr"/>
          <a:lstStyle/>
          <a:p/>
        </p:txBody>
      </p:sp>
      <p:sp>
        <p:nvSpPr>
          <p:cNvPr id="28" name="TextBox 27"/>
          <p:cNvSpPr txBox="1"/>
          <p:nvPr/>
        </p:nvSpPr>
        <p:spPr>
          <a:xfrm>
            <a:off x="774000" y="4356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1</a:t>
            </a:r>
          </a:p>
        </p:txBody>
      </p:sp>
      <p:sp>
        <p:nvSpPr>
          <p:cNvPr id="29" name="TextBox 28"/>
          <p:cNvSpPr txBox="1"/>
          <p:nvPr/>
        </p:nvSpPr>
        <p:spPr>
          <a:xfrm>
            <a:off x="774000" y="4536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Student levert in via NEO</a:t>
            </a:r>
          </a:p>
        </p:txBody>
      </p:sp>
      <p:sp>
        <p:nvSpPr>
          <p:cNvPr id="30" name="TextBox 29"/>
          <p:cNvSpPr txBox="1"/>
          <p:nvPr/>
        </p:nvSpPr>
        <p:spPr>
          <a:xfrm>
            <a:off x="774000" y="5220000"/>
            <a:ext cx="1152000" cy="180000"/>
          </a:xfrm>
          <a:prstGeom prst="rect">
            <a:avLst/>
          </a:prstGeom>
          <a:noFill/>
        </p:spPr>
        <p:txBody>
          <a:bodyPr wrap="square" lIns="0" rIns="0" tIns="0" bIns="0" anchor="t">
            <a:spAutoFit/>
          </a:bodyPr>
          <a:lstStyle/>
          <a:p>
            <a:pPr algn="l">
              <a:lnSpc>
                <a:spcPct val="115000"/>
              </a:lnSpc>
            </a:pPr>
            <a:r>
              <a:rPr sz="900" b="0">
                <a:solidFill>
                  <a:srgbClr val="5B6474"/>
                </a:solidFill>
                <a:latin typeface="Inter"/>
              </a:rPr>
              <a:t>automatisch</a:t>
            </a:r>
          </a:p>
        </p:txBody>
      </p:sp>
      <p:sp>
        <p:nvSpPr>
          <p:cNvPr id="31" name="Rounded Rectangle 30"/>
          <p:cNvSpPr/>
          <p:nvPr/>
        </p:nvSpPr>
        <p:spPr>
          <a:xfrm>
            <a:off x="2268000" y="4248000"/>
            <a:ext cx="1404000" cy="1224000"/>
          </a:xfrm>
          <a:prstGeom prst="roundRect">
            <a:avLst>
              <a:gd name="adj" fmla="val 11764"/>
            </a:avLst>
          </a:prstGeom>
          <a:solidFill>
            <a:srgbClr val="EAF3FB"/>
          </a:solidFill>
          <a:ln>
            <a:noFill/>
          </a:ln>
        </p:spPr>
        <p:txBody>
          <a:bodyPr rtlCol="0" anchor="ctr"/>
          <a:lstStyle/>
          <a:p/>
        </p:txBody>
      </p:sp>
      <p:sp>
        <p:nvSpPr>
          <p:cNvPr id="32" name="TextBox 31"/>
          <p:cNvSpPr txBox="1"/>
          <p:nvPr/>
        </p:nvSpPr>
        <p:spPr>
          <a:xfrm>
            <a:off x="2394000" y="4356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2</a:t>
            </a:r>
          </a:p>
        </p:txBody>
      </p:sp>
      <p:sp>
        <p:nvSpPr>
          <p:cNvPr id="33" name="TextBox 32"/>
          <p:cNvSpPr txBox="1"/>
          <p:nvPr/>
        </p:nvSpPr>
        <p:spPr>
          <a:xfrm>
            <a:off x="2394000" y="4536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Docent leest de opdracht</a:t>
            </a:r>
          </a:p>
        </p:txBody>
      </p:sp>
      <p:sp>
        <p:nvSpPr>
          <p:cNvPr id="34" name="TextBox 33"/>
          <p:cNvSpPr txBox="1"/>
          <p:nvPr/>
        </p:nvSpPr>
        <p:spPr>
          <a:xfrm>
            <a:off x="2394000" y="5220000"/>
            <a:ext cx="1152000" cy="180000"/>
          </a:xfrm>
          <a:prstGeom prst="rect">
            <a:avLst/>
          </a:prstGeom>
          <a:noFill/>
        </p:spPr>
        <p:txBody>
          <a:bodyPr wrap="square" lIns="0" rIns="0" tIns="0" bIns="0" anchor="t">
            <a:spAutoFit/>
          </a:bodyPr>
          <a:lstStyle/>
          <a:p>
            <a:pPr algn="l">
              <a:lnSpc>
                <a:spcPct val="115000"/>
              </a:lnSpc>
            </a:pPr>
            <a:r>
              <a:rPr sz="900" b="1">
                <a:solidFill>
                  <a:srgbClr val="5B6474"/>
                </a:solidFill>
                <a:latin typeface="Inter"/>
              </a:rPr>
              <a:t>[?]</a:t>
            </a:r>
            <a:r>
              <a:rPr sz="900" b="1">
                <a:solidFill>
                  <a:srgbClr val="000326"/>
                </a:solidFill>
                <a:latin typeface="Inter"/>
              </a:rPr>
              <a:t> min, gelijk aan nu</a:t>
            </a:r>
          </a:p>
        </p:txBody>
      </p:sp>
      <p:sp>
        <p:nvSpPr>
          <p:cNvPr id="35" name="TextBox 34"/>
          <p:cNvSpPr txBox="1"/>
          <p:nvPr/>
        </p:nvSpPr>
        <p:spPr>
          <a:xfrm>
            <a:off x="2052000" y="4716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36" name="Rounded Rectangle 35"/>
          <p:cNvSpPr/>
          <p:nvPr/>
        </p:nvSpPr>
        <p:spPr>
          <a:xfrm>
            <a:off x="3888000" y="4248000"/>
            <a:ext cx="1404000" cy="1224000"/>
          </a:xfrm>
          <a:prstGeom prst="roundRect">
            <a:avLst>
              <a:gd name="adj" fmla="val 11764"/>
            </a:avLst>
          </a:prstGeom>
          <a:solidFill>
            <a:srgbClr val="EAF3FB"/>
          </a:solidFill>
          <a:ln>
            <a:noFill/>
          </a:ln>
        </p:spPr>
        <p:txBody>
          <a:bodyPr rtlCol="0" anchor="ctr"/>
          <a:lstStyle/>
          <a:p/>
        </p:txBody>
      </p:sp>
      <p:sp>
        <p:nvSpPr>
          <p:cNvPr id="37" name="TextBox 36"/>
          <p:cNvSpPr txBox="1"/>
          <p:nvPr/>
        </p:nvSpPr>
        <p:spPr>
          <a:xfrm>
            <a:off x="4014000" y="4356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3</a:t>
            </a:r>
          </a:p>
        </p:txBody>
      </p:sp>
      <p:sp>
        <p:nvSpPr>
          <p:cNvPr id="38" name="TextBox 37"/>
          <p:cNvSpPr txBox="1"/>
          <p:nvPr/>
        </p:nvSpPr>
        <p:spPr>
          <a:xfrm>
            <a:off x="4014000" y="4536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Docent controleert het voorstel van Eduface en past de feedback aan</a:t>
            </a:r>
          </a:p>
        </p:txBody>
      </p:sp>
      <p:sp>
        <p:nvSpPr>
          <p:cNvPr id="39" name="TextBox 38"/>
          <p:cNvSpPr txBox="1"/>
          <p:nvPr/>
        </p:nvSpPr>
        <p:spPr>
          <a:xfrm>
            <a:off x="4014000" y="5220000"/>
            <a:ext cx="1152000" cy="180000"/>
          </a:xfrm>
          <a:prstGeom prst="rect">
            <a:avLst/>
          </a:prstGeom>
          <a:noFill/>
        </p:spPr>
        <p:txBody>
          <a:bodyPr wrap="square" lIns="0" rIns="0" tIns="0" bIns="0" anchor="t">
            <a:spAutoFit/>
          </a:bodyPr>
          <a:lstStyle/>
          <a:p>
            <a:pPr algn="l">
              <a:lnSpc>
                <a:spcPct val="115000"/>
              </a:lnSpc>
            </a:pPr>
            <a:r>
              <a:rPr sz="900" b="1">
                <a:solidFill>
                  <a:srgbClr val="5B6474"/>
                </a:solidFill>
                <a:latin typeface="Inter"/>
              </a:rPr>
              <a:t>[?]</a:t>
            </a:r>
            <a:r>
              <a:rPr sz="900" b="1">
                <a:solidFill>
                  <a:srgbClr val="000326"/>
                </a:solidFill>
                <a:latin typeface="Inter"/>
              </a:rPr>
              <a:t> min</a:t>
            </a:r>
          </a:p>
        </p:txBody>
      </p:sp>
      <p:sp>
        <p:nvSpPr>
          <p:cNvPr id="40" name="TextBox 39"/>
          <p:cNvSpPr txBox="1"/>
          <p:nvPr/>
        </p:nvSpPr>
        <p:spPr>
          <a:xfrm>
            <a:off x="3672000" y="4716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41" name="Rounded Rectangle 40"/>
          <p:cNvSpPr/>
          <p:nvPr/>
        </p:nvSpPr>
        <p:spPr>
          <a:xfrm>
            <a:off x="5508000" y="4248000"/>
            <a:ext cx="1404000" cy="1224000"/>
          </a:xfrm>
          <a:prstGeom prst="roundRect">
            <a:avLst>
              <a:gd name="adj" fmla="val 11764"/>
            </a:avLst>
          </a:prstGeom>
          <a:noFill/>
          <a:ln w="15875">
            <a:solidFill>
              <a:srgbClr val="D9DDE4"/>
            </a:solidFill>
            <a:prstDash val="dash"/>
          </a:ln>
        </p:spPr>
        <p:txBody>
          <a:bodyPr rtlCol="0" anchor="ctr"/>
          <a:lstStyle/>
          <a:p/>
        </p:txBody>
      </p:sp>
      <p:sp>
        <p:nvSpPr>
          <p:cNvPr id="42" name="TextBox 41"/>
          <p:cNvSpPr txBox="1"/>
          <p:nvPr/>
        </p:nvSpPr>
        <p:spPr>
          <a:xfrm>
            <a:off x="5634000" y="4356000"/>
            <a:ext cx="1152000" cy="180000"/>
          </a:xfrm>
          <a:prstGeom prst="rect">
            <a:avLst/>
          </a:prstGeom>
          <a:noFill/>
        </p:spPr>
        <p:txBody>
          <a:bodyPr wrap="square" lIns="0" rIns="0" tIns="0" bIns="0" anchor="t">
            <a:spAutoFit/>
          </a:bodyPr>
          <a:lstStyle/>
          <a:p>
            <a:pPr algn="l">
              <a:lnSpc>
                <a:spcPct val="115000"/>
              </a:lnSpc>
            </a:pPr>
            <a:r>
              <a:rPr sz="850" b="1">
                <a:solidFill>
                  <a:srgbClr val="5B6474"/>
                </a:solidFill>
                <a:latin typeface="Inter"/>
              </a:rPr>
              <a:t>4</a:t>
            </a:r>
          </a:p>
        </p:txBody>
      </p:sp>
      <p:sp>
        <p:nvSpPr>
          <p:cNvPr id="43" name="TextBox 42"/>
          <p:cNvSpPr txBox="1"/>
          <p:nvPr/>
        </p:nvSpPr>
        <p:spPr>
          <a:xfrm>
            <a:off x="5634000" y="4536000"/>
            <a:ext cx="1152000" cy="648000"/>
          </a:xfrm>
          <a:prstGeom prst="rect">
            <a:avLst/>
          </a:prstGeom>
          <a:noFill/>
        </p:spPr>
        <p:txBody>
          <a:bodyPr wrap="square" lIns="0" rIns="0" tIns="0" bIns="0" anchor="t">
            <a:spAutoFit/>
          </a:bodyPr>
          <a:lstStyle/>
          <a:p>
            <a:pPr algn="l">
              <a:lnSpc>
                <a:spcPct val="110000"/>
              </a:lnSpc>
            </a:pPr>
            <a:r>
              <a:rPr sz="950" b="1">
                <a:solidFill>
                  <a:srgbClr val="1D2433"/>
                </a:solidFill>
                <a:latin typeface="Inter"/>
              </a:rPr>
              <a:t>Cijfer gaat terug naar NEO en naar Progress</a:t>
            </a:r>
          </a:p>
        </p:txBody>
      </p:sp>
      <p:sp>
        <p:nvSpPr>
          <p:cNvPr id="44" name="TextBox 43"/>
          <p:cNvSpPr txBox="1"/>
          <p:nvPr/>
        </p:nvSpPr>
        <p:spPr>
          <a:xfrm>
            <a:off x="5634000" y="5220000"/>
            <a:ext cx="1152000" cy="180000"/>
          </a:xfrm>
          <a:prstGeom prst="rect">
            <a:avLst/>
          </a:prstGeom>
          <a:noFill/>
        </p:spPr>
        <p:txBody>
          <a:bodyPr wrap="square" lIns="0" rIns="0" tIns="0" bIns="0" anchor="t">
            <a:spAutoFit/>
          </a:bodyPr>
          <a:lstStyle/>
          <a:p>
            <a:pPr algn="l">
              <a:lnSpc>
                <a:spcPct val="115000"/>
              </a:lnSpc>
            </a:pPr>
            <a:r>
              <a:rPr sz="900" b="0">
                <a:solidFill>
                  <a:srgbClr val="5B6474"/>
                </a:solidFill>
                <a:latin typeface="Inter"/>
              </a:rPr>
              <a:t>automatisch</a:t>
            </a:r>
          </a:p>
        </p:txBody>
      </p:sp>
      <p:sp>
        <p:nvSpPr>
          <p:cNvPr id="45" name="TextBox 44"/>
          <p:cNvSpPr txBox="1"/>
          <p:nvPr/>
        </p:nvSpPr>
        <p:spPr>
          <a:xfrm>
            <a:off x="5292000" y="4716000"/>
            <a:ext cx="216000" cy="288000"/>
          </a:xfrm>
          <a:prstGeom prst="rect">
            <a:avLst/>
          </a:prstGeom>
          <a:noFill/>
        </p:spPr>
        <p:txBody>
          <a:bodyPr wrap="square" lIns="0" rIns="0" tIns="0" bIns="0" anchor="t">
            <a:spAutoFit/>
          </a:bodyPr>
          <a:lstStyle/>
          <a:p>
            <a:pPr algn="ctr">
              <a:lnSpc>
                <a:spcPct val="115000"/>
              </a:lnSpc>
            </a:pPr>
            <a:r>
              <a:rPr sz="1600" b="0">
                <a:solidFill>
                  <a:srgbClr val="5B6474"/>
                </a:solidFill>
                <a:latin typeface="Inter"/>
              </a:rPr>
              <a:t>›</a:t>
            </a:r>
          </a:p>
        </p:txBody>
      </p:sp>
      <p:sp>
        <p:nvSpPr>
          <p:cNvPr id="46" name="Rounded Rectangle 45"/>
          <p:cNvSpPr/>
          <p:nvPr/>
        </p:nvSpPr>
        <p:spPr>
          <a:xfrm>
            <a:off x="648000" y="5688000"/>
            <a:ext cx="144000" cy="108000"/>
          </a:xfrm>
          <a:prstGeom prst="roundRect">
            <a:avLst>
              <a:gd name="adj" fmla="val 26666"/>
            </a:avLst>
          </a:prstGeom>
          <a:solidFill>
            <a:srgbClr val="EAF3FB"/>
          </a:solidFill>
          <a:ln>
            <a:noFill/>
          </a:ln>
        </p:spPr>
        <p:txBody>
          <a:bodyPr rtlCol="0" anchor="ctr"/>
          <a:lstStyle/>
          <a:p/>
        </p:txBody>
      </p:sp>
      <p:sp>
        <p:nvSpPr>
          <p:cNvPr id="47" name="TextBox 46"/>
          <p:cNvSpPr txBox="1"/>
          <p:nvPr/>
        </p:nvSpPr>
        <p:spPr>
          <a:xfrm>
            <a:off x="864000" y="5652000"/>
            <a:ext cx="1440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Werk van de docent</a:t>
            </a:r>
          </a:p>
        </p:txBody>
      </p:sp>
      <p:sp>
        <p:nvSpPr>
          <p:cNvPr id="48" name="Rounded Rectangle 47"/>
          <p:cNvSpPr/>
          <p:nvPr/>
        </p:nvSpPr>
        <p:spPr>
          <a:xfrm>
            <a:off x="2232000" y="5688000"/>
            <a:ext cx="144000" cy="108000"/>
          </a:xfrm>
          <a:prstGeom prst="roundRect">
            <a:avLst>
              <a:gd name="adj" fmla="val 26666"/>
            </a:avLst>
          </a:prstGeom>
          <a:noFill/>
          <a:ln w="9525">
            <a:solidFill>
              <a:srgbClr val="D9DDE4"/>
            </a:solidFill>
            <a:prstDash val="dash"/>
          </a:ln>
        </p:spPr>
        <p:txBody>
          <a:bodyPr rtlCol="0" anchor="ctr"/>
          <a:lstStyle/>
          <a:p/>
        </p:txBody>
      </p:sp>
      <p:sp>
        <p:nvSpPr>
          <p:cNvPr id="49" name="TextBox 48"/>
          <p:cNvSpPr txBox="1"/>
          <p:nvPr/>
        </p:nvSpPr>
        <p:spPr>
          <a:xfrm>
            <a:off x="2448000" y="5652000"/>
            <a:ext cx="1440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Gaat automatisch</a:t>
            </a:r>
          </a:p>
        </p:txBody>
      </p:sp>
      <p:sp>
        <p:nvSpPr>
          <p:cNvPr id="50" name="TextBox 49"/>
          <p:cNvSpPr txBox="1"/>
          <p:nvPr/>
        </p:nvSpPr>
        <p:spPr>
          <a:xfrm>
            <a:off x="648000" y="5940000"/>
            <a:ext cx="6264000" cy="36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Lezen wordt niet sneller. De winst zit in het formuleren van feedback. Alle minuten zijn geklokt door onze eigen docenten; de proof of value meet dezelfde stappen opnieuw.</a:t>
            </a:r>
          </a:p>
        </p:txBody>
      </p:sp>
      <p:sp>
        <p:nvSpPr>
          <p:cNvPr id="51" name="TextBox 50"/>
          <p:cNvSpPr txBox="1"/>
          <p:nvPr/>
        </p:nvSpPr>
        <p:spPr>
          <a:xfrm>
            <a:off x="648000" y="6624000"/>
            <a:ext cx="3600000" cy="216000"/>
          </a:xfrm>
          <a:prstGeom prst="rect">
            <a:avLst/>
          </a:prstGeom>
          <a:noFill/>
        </p:spPr>
        <p:txBody>
          <a:bodyPr wrap="square" lIns="0" rIns="0" tIns="0" bIns="0" anchor="t">
            <a:spAutoFit/>
          </a:bodyPr>
          <a:lstStyle/>
          <a:p>
            <a:pPr algn="l">
              <a:lnSpc>
                <a:spcPct val="115000"/>
              </a:lnSpc>
            </a:pPr>
            <a:r>
              <a:rPr sz="1100" b="1">
                <a:solidFill>
                  <a:srgbClr val="1D2433"/>
                </a:solidFill>
                <a:latin typeface="Inter"/>
              </a:rPr>
              <a:t>Wat kost niets doen</a:t>
            </a:r>
          </a:p>
        </p:txBody>
      </p:sp>
      <p:sp>
        <p:nvSpPr>
          <p:cNvPr id="52" name="Rounded Rectangle 51"/>
          <p:cNvSpPr/>
          <p:nvPr/>
        </p:nvSpPr>
        <p:spPr>
          <a:xfrm>
            <a:off x="648000" y="6912000"/>
            <a:ext cx="6264000" cy="936000"/>
          </a:xfrm>
          <a:prstGeom prst="roundRect">
            <a:avLst>
              <a:gd name="adj" fmla="val 15384"/>
            </a:avLst>
          </a:prstGeom>
          <a:solidFill>
            <a:srgbClr val="EAF3FB"/>
          </a:solidFill>
          <a:ln>
            <a:noFill/>
          </a:ln>
        </p:spPr>
        <p:txBody>
          <a:bodyPr rtlCol="0" anchor="ctr"/>
          <a:lstStyle/>
          <a:p/>
        </p:txBody>
      </p:sp>
      <p:sp>
        <p:nvSpPr>
          <p:cNvPr id="53" name="TextBox 52"/>
          <p:cNvSpPr txBox="1"/>
          <p:nvPr/>
        </p:nvSpPr>
        <p:spPr>
          <a:xfrm>
            <a:off x="864000" y="7056000"/>
            <a:ext cx="5832000" cy="720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  </a:t>
            </a:r>
            <a:r>
              <a:rPr sz="1000" b="0">
                <a:solidFill>
                  <a:srgbClr val="1D2433"/>
                </a:solidFill>
                <a:latin typeface="Inter"/>
              </a:rPr>
              <a:t>Het nakijkwerk groeit van 520 naar 710 uur per jaar, door de Pabo, de theses vanaf jaar 2 en de groei van de MET.</a:t>
            </a:r>
          </a:p>
          <a:p>
            <a:pPr algn="l">
              <a:lnSpc>
                <a:spcPct val="115000"/>
              </a:lnSpc>
              <a:spcBef>
                <a:spcPts val="300"/>
              </a:spcBef>
            </a:pPr>
            <a:r>
              <a:rPr sz="1000" b="0">
                <a:solidFill>
                  <a:srgbClr val="1D2433"/>
                </a:solidFill>
                <a:latin typeface="Inter"/>
              </a:rPr>
              <a:t>•  </a:t>
            </a:r>
            <a:r>
              <a:rPr sz="1000" b="0">
                <a:solidFill>
                  <a:srgbClr val="1D2433"/>
                </a:solidFill>
                <a:latin typeface="Inter"/>
              </a:rPr>
              <a:t>Elke extra nakijker vraagt een BKE-traject en herbeoordeling, of een externe nakijker tegen een extern tarief.</a:t>
            </a:r>
          </a:p>
        </p:txBody>
      </p:sp>
      <p:sp>
        <p:nvSpPr>
          <p:cNvPr id="54" name="TextBox 53"/>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55" name="TextBox 54"/>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KOERSPLAN</a:t>
            </a:r>
          </a:p>
        </p:txBody>
      </p:sp>
      <p:sp>
        <p:nvSpPr>
          <p:cNvPr id="3" name="TextBox 2"/>
          <p:cNvSpPr txBox="1"/>
          <p:nvPr/>
        </p:nvSpPr>
        <p:spPr>
          <a:xfrm>
            <a:off x="648000" y="864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Efficiency</a:t>
            </a:r>
          </a:p>
        </p:txBody>
      </p:sp>
      <p:graphicFrame>
        <p:nvGraphicFramePr>
          <p:cNvPr id="4" name="Table 3"/>
          <p:cNvGraphicFramePr>
            <a:graphicFrameLocks noGrp="1"/>
          </p:cNvGraphicFramePr>
          <p:nvPr/>
        </p:nvGraphicFramePr>
        <p:xfrm>
          <a:off x="648000" y="1296000"/>
          <a:ext cx="6264000" cy="576000"/>
        </p:xfrm>
        <a:graphic>
          <a:graphicData uri="http://schemas.openxmlformats.org/drawingml/2006/table">
            <a:tbl>
              <a:tblPr firstRow="0" bandRow="0">
                <a:tableStyleId>{5C22544A-7EE6-4342-B048-85BDC9FD1C3A}</a:tableStyleId>
              </a:tblPr>
              <a:tblGrid>
                <a:gridCol w="2232000"/>
                <a:gridCol w="4032000"/>
              </a:tblGrid>
              <a:tr h="288000">
                <a:tc>
                  <a:txBody>
                    <a:bodyPr wrap="square"/>
                    <a:lstStyle/>
                    <a:p>
                      <a:pPr algn="l"/>
                      <a:r>
                        <a:rPr sz="850" b="1">
                          <a:solidFill>
                            <a:srgbClr val="FFFFFF"/>
                          </a:solidFill>
                          <a:latin typeface="Inter"/>
                        </a:rPr>
                        <a:t>Doel uit ons koersplan</a:t>
                      </a:r>
                    </a:p>
                  </a:txBody>
                  <a:tcPr marL="108000" marR="108000" marT="72000" marB="72000">
                    <a:lnL w="0">
                      <a:noFill/>
                    </a:lnL>
                    <a:lnR w="0">
                      <a:noFill/>
                    </a:lnR>
                    <a:lnT w="0">
                      <a:noFill/>
                    </a:lnT>
                    <a:lnB w="0">
                      <a:noFill/>
                    </a:lnB>
                    <a:solidFill>
                      <a:srgbClr val="000326"/>
                    </a:solidFill>
                  </a:tcPr>
                </a:tc>
                <a:tc>
                  <a:txBody>
                    <a:bodyPr wrap="square"/>
                    <a:lstStyle/>
                    <a:p>
                      <a:pPr algn="l"/>
                      <a:r>
                        <a:rPr sz="850" b="1">
                          <a:solidFill>
                            <a:srgbClr val="FFFFFF"/>
                          </a:solidFill>
                          <a:latin typeface="Inter"/>
                        </a:rPr>
                        <a:t>Bijdrage van Eduface</a:t>
                      </a:r>
                    </a:p>
                  </a:txBody>
                  <a:tcPr marL="108000" marR="108000" marT="72000" marB="72000">
                    <a:lnL w="0">
                      <a:noFill/>
                    </a:lnL>
                    <a:lnR w="0">
                      <a:noFill/>
                    </a:lnR>
                    <a:lnT w="0">
                      <a:noFill/>
                    </a:lnT>
                    <a:lnB w="0">
                      <a:noFill/>
                    </a:lnB>
                    <a:solidFill>
                      <a:srgbClr val="000326"/>
                    </a:solidFill>
                  </a:tcPr>
                </a:tc>
              </a:tr>
              <a:tr h="288000">
                <a:tc>
                  <a:txBody>
                    <a:bodyPr wrap="square"/>
                    <a:lstStyle/>
                    <a:p>
                      <a:pPr algn="l"/>
                      <a:r>
                        <a:rPr sz="950" b="1">
                          <a:solidFill>
                            <a:srgbClr val="1D2433"/>
                          </a:solidFill>
                          <a:latin typeface="Inter"/>
                        </a:rPr>
                        <a:t>Efficiency: "</a:t>
                      </a:r>
                      <a:r>
                        <a:rPr sz="950" b="1">
                          <a:solidFill>
                            <a:srgbClr val="5B6474"/>
                          </a:solidFill>
                          <a:latin typeface="Inter"/>
                        </a:rPr>
                        <a:t>?</a:t>
                      </a:r>
                      <a:r>
                        <a:rPr sz="950" b="1">
                          <a:solidFill>
                            <a:srgbClr val="1D2433"/>
                          </a:solidFill>
                          <a:latin typeface="Inter"/>
                        </a:rPr>
                        <a:t>"</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l"/>
                      <a:r>
                        <a:rPr sz="950" b="0">
                          <a:solidFill>
                            <a:srgbClr val="1D2433"/>
                          </a:solidFill>
                          <a:latin typeface="Inter"/>
                        </a:rPr>
                        <a:t>Minder nakijkwerk per opdracht, en groei opvangen zonder evenredig meer nakijkers.</a:t>
                      </a:r>
                    </a:p>
                  </a:txBody>
                  <a:tcPr marL="108000" marR="108000" marT="72000" marB="72000">
                    <a:lnL w="0">
                      <a:noFill/>
                    </a:lnL>
                    <a:lnR w="0">
                      <a:noFill/>
                    </a:lnR>
                    <a:lnT w="0">
                      <a:noFill/>
                    </a:lnT>
                    <a:lnB w="9525">
                      <a:solidFill>
                        <a:srgbClr val="D9DDE4"/>
                      </a:solidFill>
                    </a:lnB>
                    <a:solidFill>
                      <a:srgbClr val="FFFFFF"/>
                    </a:solidFill>
                  </a:tcPr>
                </a:tc>
              </a:tr>
            </a:tbl>
          </a:graphicData>
        </a:graphic>
      </p:graphicFrame>
      <p:sp>
        <p:nvSpPr>
          <p:cNvPr id="5" name="TextBox 4"/>
          <p:cNvSpPr txBox="1"/>
          <p:nvPr/>
        </p:nvSpPr>
        <p:spPr>
          <a:xfrm>
            <a:off x="648000" y="2052000"/>
            <a:ext cx="6264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Na een jaar evalueren we de bijdrage binnen het koerspunt efficiency.</a:t>
            </a:r>
          </a:p>
        </p:txBody>
      </p:sp>
      <p:sp>
        <p:nvSpPr>
          <p:cNvPr id="6" name="TextBox 5"/>
          <p:cNvSpPr txBox="1"/>
          <p:nvPr/>
        </p:nvSpPr>
        <p:spPr>
          <a:xfrm>
            <a:off x="648000" y="2664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IMPACT</a:t>
            </a:r>
          </a:p>
        </p:txBody>
      </p:sp>
      <p:sp>
        <p:nvSpPr>
          <p:cNvPr id="7" name="Rounded Rectangle 6"/>
          <p:cNvSpPr/>
          <p:nvPr/>
        </p:nvSpPr>
        <p:spPr>
          <a:xfrm>
            <a:off x="648000" y="2916000"/>
            <a:ext cx="1968000" cy="2376000"/>
          </a:xfrm>
          <a:prstGeom prst="roundRect">
            <a:avLst>
              <a:gd name="adj" fmla="val 7317"/>
            </a:avLst>
          </a:prstGeom>
          <a:solidFill>
            <a:srgbClr val="EAF3FB"/>
          </a:solidFill>
          <a:ln>
            <a:noFill/>
          </a:ln>
        </p:spPr>
        <p:txBody>
          <a:bodyPr rtlCol="0" anchor="ctr"/>
          <a:lstStyle/>
          <a:p/>
        </p:txBody>
      </p:sp>
      <p:sp>
        <p:nvSpPr>
          <p:cNvPr id="8" name="Rounded Rectangle 7"/>
          <p:cNvSpPr/>
          <p:nvPr/>
        </p:nvSpPr>
        <p:spPr>
          <a:xfrm>
            <a:off x="828000" y="3096000"/>
            <a:ext cx="396000" cy="396000"/>
          </a:xfrm>
          <a:prstGeom prst="roundRect">
            <a:avLst>
              <a:gd name="adj" fmla="val 50000"/>
            </a:avLst>
          </a:prstGeom>
          <a:solidFill>
            <a:srgbClr val="FFFFFF"/>
          </a:solidFill>
          <a:ln>
            <a:noFill/>
          </a:ln>
        </p:spPr>
        <p:txBody>
          <a:bodyPr rtlCol="0" anchor="ctr"/>
          <a:lstStyle/>
          <a:p/>
        </p:txBody>
      </p:sp>
      <p:pic>
        <p:nvPicPr>
          <p:cNvPr id="9" name="Picture 8" descr="icoon-geld.png"/>
          <p:cNvPicPr>
            <a:picLocks noChangeAspect="1"/>
          </p:cNvPicPr>
          <p:nvPr/>
        </p:nvPicPr>
        <p:blipFill>
          <a:blip r:embed="rId2"/>
          <a:stretch>
            <a:fillRect/>
          </a:stretch>
        </p:blipFill>
        <p:spPr>
          <a:xfrm>
            <a:off x="933285" y="3195000"/>
            <a:ext cx="185428" cy="198000"/>
          </a:xfrm>
          <a:prstGeom prst="rect">
            <a:avLst/>
          </a:prstGeom>
        </p:spPr>
      </p:pic>
      <p:sp>
        <p:nvSpPr>
          <p:cNvPr id="10" name="TextBox 9"/>
          <p:cNvSpPr txBox="1"/>
          <p:nvPr/>
        </p:nvSpPr>
        <p:spPr>
          <a:xfrm>
            <a:off x="828000" y="3636000"/>
            <a:ext cx="1608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GELD</a:t>
            </a:r>
          </a:p>
        </p:txBody>
      </p:sp>
      <p:sp>
        <p:nvSpPr>
          <p:cNvPr id="11" name="TextBox 10"/>
          <p:cNvSpPr txBox="1"/>
          <p:nvPr/>
        </p:nvSpPr>
        <p:spPr>
          <a:xfrm>
            <a:off x="828000" y="3852000"/>
            <a:ext cx="1608000" cy="396000"/>
          </a:xfrm>
          <a:prstGeom prst="rect">
            <a:avLst/>
          </a:prstGeom>
          <a:noFill/>
        </p:spPr>
        <p:txBody>
          <a:bodyPr wrap="square" lIns="0" rIns="0" tIns="0" bIns="0" anchor="t">
            <a:spAutoFit/>
          </a:bodyPr>
          <a:lstStyle/>
          <a:p>
            <a:pPr algn="l">
              <a:lnSpc>
                <a:spcPct val="115000"/>
              </a:lnSpc>
            </a:pPr>
            <a:r>
              <a:rPr sz="2200" b="1">
                <a:solidFill>
                  <a:srgbClr val="000326"/>
                </a:solidFill>
                <a:latin typeface="Inter"/>
              </a:rPr>
              <a:t>€ </a:t>
            </a:r>
            <a:r>
              <a:rPr sz="2200" b="1">
                <a:solidFill>
                  <a:srgbClr val="5B6474"/>
                </a:solidFill>
                <a:latin typeface="Inter"/>
              </a:rPr>
              <a:t>?</a:t>
            </a:r>
          </a:p>
        </p:txBody>
      </p:sp>
      <p:sp>
        <p:nvSpPr>
          <p:cNvPr id="12" name="TextBox 11"/>
          <p:cNvSpPr txBox="1"/>
          <p:nvPr/>
        </p:nvSpPr>
        <p:spPr>
          <a:xfrm>
            <a:off x="828000" y="4320000"/>
            <a:ext cx="1608000" cy="504000"/>
          </a:xfrm>
          <a:prstGeom prst="rect">
            <a:avLst/>
          </a:prstGeom>
          <a:noFill/>
        </p:spPr>
        <p:txBody>
          <a:bodyPr wrap="square" lIns="0" rIns="0" tIns="0" bIns="0" anchor="t">
            <a:spAutoFit/>
          </a:bodyPr>
          <a:lstStyle/>
          <a:p>
            <a:pPr algn="l">
              <a:lnSpc>
                <a:spcPct val="115000"/>
              </a:lnSpc>
            </a:pPr>
            <a:r>
              <a:rPr sz="950" b="0">
                <a:solidFill>
                  <a:srgbClr val="1D2433"/>
                </a:solidFill>
                <a:latin typeface="Inter"/>
              </a:rPr>
              <a:t>Terugverdienpunt per uur.</a:t>
            </a:r>
          </a:p>
        </p:txBody>
      </p:sp>
      <p:sp>
        <p:nvSpPr>
          <p:cNvPr id="13" name="TextBox 12"/>
          <p:cNvSpPr txBox="1"/>
          <p:nvPr/>
        </p:nvSpPr>
        <p:spPr>
          <a:xfrm>
            <a:off x="828000" y="4752000"/>
            <a:ext cx="1608000" cy="504000"/>
          </a:xfrm>
          <a:prstGeom prst="rect">
            <a:avLst/>
          </a:prstGeom>
          <a:noFill/>
        </p:spPr>
        <p:txBody>
          <a:bodyPr wrap="square" lIns="0" rIns="0" tIns="0" bIns="0" anchor="t">
            <a:spAutoFit/>
          </a:bodyPr>
          <a:lstStyle/>
          <a:p>
            <a:pPr algn="l">
              <a:lnSpc>
                <a:spcPct val="115000"/>
              </a:lnSpc>
            </a:pPr>
            <a:r>
              <a:rPr sz="900" b="0">
                <a:solidFill>
                  <a:srgbClr val="5B6474"/>
                </a:solidFill>
                <a:latin typeface="Inter"/>
              </a:rPr>
              <a:t>Elke externe beoordeling die we niet hoeven in te kopen, komt hierbovenop: </a:t>
            </a:r>
            <a:r>
              <a:rPr sz="900" b="1">
                <a:solidFill>
                  <a:srgbClr val="5B6474"/>
                </a:solidFill>
                <a:latin typeface="Inter"/>
              </a:rPr>
              <a:t>[?]</a:t>
            </a:r>
          </a:p>
        </p:txBody>
      </p:sp>
      <p:sp>
        <p:nvSpPr>
          <p:cNvPr id="14" name="Rounded Rectangle 13"/>
          <p:cNvSpPr/>
          <p:nvPr/>
        </p:nvSpPr>
        <p:spPr>
          <a:xfrm>
            <a:off x="2795999" y="2916000"/>
            <a:ext cx="1968000" cy="2376000"/>
          </a:xfrm>
          <a:prstGeom prst="roundRect">
            <a:avLst>
              <a:gd name="adj" fmla="val 7317"/>
            </a:avLst>
          </a:prstGeom>
          <a:solidFill>
            <a:srgbClr val="EAF3FB"/>
          </a:solidFill>
          <a:ln>
            <a:noFill/>
          </a:ln>
        </p:spPr>
        <p:txBody>
          <a:bodyPr rtlCol="0" anchor="ctr"/>
          <a:lstStyle/>
          <a:p/>
        </p:txBody>
      </p:sp>
      <p:sp>
        <p:nvSpPr>
          <p:cNvPr id="15" name="Rounded Rectangle 14"/>
          <p:cNvSpPr/>
          <p:nvPr/>
        </p:nvSpPr>
        <p:spPr>
          <a:xfrm>
            <a:off x="2975999" y="3096000"/>
            <a:ext cx="396000" cy="396000"/>
          </a:xfrm>
          <a:prstGeom prst="roundRect">
            <a:avLst>
              <a:gd name="adj" fmla="val 50000"/>
            </a:avLst>
          </a:prstGeom>
          <a:solidFill>
            <a:srgbClr val="FFFFFF"/>
          </a:solidFill>
          <a:ln>
            <a:noFill/>
          </a:ln>
        </p:spPr>
        <p:txBody>
          <a:bodyPr rtlCol="0" anchor="ctr"/>
          <a:lstStyle/>
          <a:p/>
        </p:txBody>
      </p:sp>
      <p:pic>
        <p:nvPicPr>
          <p:cNvPr id="16" name="Picture 15" descr="icoon-tijd.png"/>
          <p:cNvPicPr>
            <a:picLocks noChangeAspect="1"/>
          </p:cNvPicPr>
          <p:nvPr/>
        </p:nvPicPr>
        <p:blipFill>
          <a:blip r:embed="rId3"/>
          <a:stretch>
            <a:fillRect/>
          </a:stretch>
        </p:blipFill>
        <p:spPr>
          <a:xfrm>
            <a:off x="3074999" y="3195000"/>
            <a:ext cx="198000" cy="198000"/>
          </a:xfrm>
          <a:prstGeom prst="rect">
            <a:avLst/>
          </a:prstGeom>
        </p:spPr>
      </p:pic>
      <p:sp>
        <p:nvSpPr>
          <p:cNvPr id="17" name="TextBox 16"/>
          <p:cNvSpPr txBox="1"/>
          <p:nvPr/>
        </p:nvSpPr>
        <p:spPr>
          <a:xfrm>
            <a:off x="2975999" y="3636000"/>
            <a:ext cx="1608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TIJD</a:t>
            </a:r>
          </a:p>
        </p:txBody>
      </p:sp>
      <p:sp>
        <p:nvSpPr>
          <p:cNvPr id="18" name="TextBox 17"/>
          <p:cNvSpPr txBox="1"/>
          <p:nvPr/>
        </p:nvSpPr>
        <p:spPr>
          <a:xfrm>
            <a:off x="2975999" y="3852000"/>
            <a:ext cx="1608000" cy="396000"/>
          </a:xfrm>
          <a:prstGeom prst="rect">
            <a:avLst/>
          </a:prstGeom>
          <a:noFill/>
        </p:spPr>
        <p:txBody>
          <a:bodyPr wrap="square" lIns="0" rIns="0" tIns="0" bIns="0" anchor="t">
            <a:spAutoFit/>
          </a:bodyPr>
          <a:lstStyle/>
          <a:p>
            <a:pPr algn="l">
              <a:lnSpc>
                <a:spcPct val="115000"/>
              </a:lnSpc>
            </a:pPr>
            <a:r>
              <a:rPr sz="2200" b="1">
                <a:solidFill>
                  <a:srgbClr val="5B6474"/>
                </a:solidFill>
                <a:latin typeface="Inter"/>
              </a:rPr>
              <a:t>?</a:t>
            </a:r>
            <a:r>
              <a:rPr sz="2200" b="1">
                <a:solidFill>
                  <a:srgbClr val="000326"/>
                </a:solidFill>
                <a:latin typeface="Inter"/>
              </a:rPr>
              <a:t> uur</a:t>
            </a:r>
          </a:p>
        </p:txBody>
      </p:sp>
      <p:sp>
        <p:nvSpPr>
          <p:cNvPr id="19" name="TextBox 18"/>
          <p:cNvSpPr txBox="1"/>
          <p:nvPr/>
        </p:nvSpPr>
        <p:spPr>
          <a:xfrm>
            <a:off x="2975999" y="4320000"/>
            <a:ext cx="1608000" cy="504000"/>
          </a:xfrm>
          <a:prstGeom prst="rect">
            <a:avLst/>
          </a:prstGeom>
          <a:noFill/>
        </p:spPr>
        <p:txBody>
          <a:bodyPr wrap="square" lIns="0" rIns="0" tIns="0" bIns="0" anchor="t">
            <a:spAutoFit/>
          </a:bodyPr>
          <a:lstStyle/>
          <a:p>
            <a:pPr algn="l">
              <a:lnSpc>
                <a:spcPct val="115000"/>
              </a:lnSpc>
            </a:pPr>
            <a:r>
              <a:rPr sz="950" b="0">
                <a:solidFill>
                  <a:srgbClr val="1D2433"/>
                </a:solidFill>
                <a:latin typeface="Inter"/>
              </a:rPr>
              <a:t>Minder uren feedback schrijven per jaar.</a:t>
            </a:r>
          </a:p>
        </p:txBody>
      </p:sp>
      <p:sp>
        <p:nvSpPr>
          <p:cNvPr id="20" name="TextBox 19"/>
          <p:cNvSpPr txBox="1"/>
          <p:nvPr/>
        </p:nvSpPr>
        <p:spPr>
          <a:xfrm>
            <a:off x="2975999" y="4752000"/>
            <a:ext cx="1608000" cy="504000"/>
          </a:xfrm>
          <a:prstGeom prst="rect">
            <a:avLst/>
          </a:prstGeom>
          <a:noFill/>
        </p:spPr>
        <p:txBody>
          <a:bodyPr wrap="square" lIns="0" rIns="0" tIns="0" bIns="0" anchor="t">
            <a:spAutoFit/>
          </a:bodyPr>
          <a:lstStyle/>
          <a:p>
            <a:pPr algn="l">
              <a:lnSpc>
                <a:spcPct val="115000"/>
              </a:lnSpc>
            </a:pPr>
            <a:r>
              <a:rPr sz="900" b="0">
                <a:solidFill>
                  <a:srgbClr val="5B6474"/>
                </a:solidFill>
                <a:latin typeface="Inter"/>
              </a:rPr>
              <a:t>Leestijd niet meegerekend.</a:t>
            </a:r>
          </a:p>
        </p:txBody>
      </p:sp>
      <p:sp>
        <p:nvSpPr>
          <p:cNvPr id="21" name="Rounded Rectangle 20"/>
          <p:cNvSpPr/>
          <p:nvPr/>
        </p:nvSpPr>
        <p:spPr>
          <a:xfrm>
            <a:off x="4943999" y="2916000"/>
            <a:ext cx="1968000" cy="2376000"/>
          </a:xfrm>
          <a:prstGeom prst="roundRect">
            <a:avLst>
              <a:gd name="adj" fmla="val 7317"/>
            </a:avLst>
          </a:prstGeom>
          <a:solidFill>
            <a:srgbClr val="EAF3FB"/>
          </a:solidFill>
          <a:ln>
            <a:noFill/>
          </a:ln>
        </p:spPr>
        <p:txBody>
          <a:bodyPr rtlCol="0" anchor="ctr"/>
          <a:lstStyle/>
          <a:p/>
        </p:txBody>
      </p:sp>
      <p:sp>
        <p:nvSpPr>
          <p:cNvPr id="22" name="Rounded Rectangle 21"/>
          <p:cNvSpPr/>
          <p:nvPr/>
        </p:nvSpPr>
        <p:spPr>
          <a:xfrm>
            <a:off x="5123999" y="3096000"/>
            <a:ext cx="396000" cy="396000"/>
          </a:xfrm>
          <a:prstGeom prst="roundRect">
            <a:avLst>
              <a:gd name="adj" fmla="val 50000"/>
            </a:avLst>
          </a:prstGeom>
          <a:solidFill>
            <a:srgbClr val="FFFFFF"/>
          </a:solidFill>
          <a:ln>
            <a:noFill/>
          </a:ln>
        </p:spPr>
        <p:txBody>
          <a:bodyPr rtlCol="0" anchor="ctr"/>
          <a:lstStyle/>
          <a:p/>
        </p:txBody>
      </p:sp>
      <p:pic>
        <p:nvPicPr>
          <p:cNvPr id="23" name="Picture 22" descr="icoon-mensen.png"/>
          <p:cNvPicPr>
            <a:picLocks noChangeAspect="1"/>
          </p:cNvPicPr>
          <p:nvPr/>
        </p:nvPicPr>
        <p:blipFill>
          <a:blip r:embed="rId4"/>
          <a:stretch>
            <a:fillRect/>
          </a:stretch>
        </p:blipFill>
        <p:spPr>
          <a:xfrm>
            <a:off x="5222999" y="3209520"/>
            <a:ext cx="198000" cy="168960"/>
          </a:xfrm>
          <a:prstGeom prst="rect">
            <a:avLst/>
          </a:prstGeom>
        </p:spPr>
      </p:pic>
      <p:sp>
        <p:nvSpPr>
          <p:cNvPr id="24" name="TextBox 23"/>
          <p:cNvSpPr txBox="1"/>
          <p:nvPr/>
        </p:nvSpPr>
        <p:spPr>
          <a:xfrm>
            <a:off x="5123999" y="3636000"/>
            <a:ext cx="1608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MENSEN</a:t>
            </a:r>
          </a:p>
        </p:txBody>
      </p:sp>
      <p:sp>
        <p:nvSpPr>
          <p:cNvPr id="25" name="TextBox 24"/>
          <p:cNvSpPr txBox="1"/>
          <p:nvPr/>
        </p:nvSpPr>
        <p:spPr>
          <a:xfrm>
            <a:off x="5123999" y="3852000"/>
            <a:ext cx="1608000" cy="396000"/>
          </a:xfrm>
          <a:prstGeom prst="rect">
            <a:avLst/>
          </a:prstGeom>
          <a:noFill/>
        </p:spPr>
        <p:txBody>
          <a:bodyPr wrap="square" lIns="0" rIns="0" tIns="0" bIns="0" anchor="t">
            <a:spAutoFit/>
          </a:bodyPr>
          <a:lstStyle/>
          <a:p>
            <a:pPr algn="l">
              <a:lnSpc>
                <a:spcPct val="115000"/>
              </a:lnSpc>
            </a:pPr>
            <a:r>
              <a:rPr sz="2200" b="1">
                <a:solidFill>
                  <a:srgbClr val="000326"/>
                </a:solidFill>
                <a:latin typeface="Inter"/>
              </a:rPr>
              <a:t>100%</a:t>
            </a:r>
          </a:p>
        </p:txBody>
      </p:sp>
      <p:sp>
        <p:nvSpPr>
          <p:cNvPr id="26" name="TextBox 25"/>
          <p:cNvSpPr txBox="1"/>
          <p:nvPr/>
        </p:nvSpPr>
        <p:spPr>
          <a:xfrm>
            <a:off x="5123999" y="4320000"/>
            <a:ext cx="1608000" cy="504000"/>
          </a:xfrm>
          <a:prstGeom prst="rect">
            <a:avLst/>
          </a:prstGeom>
          <a:noFill/>
        </p:spPr>
        <p:txBody>
          <a:bodyPr wrap="square" lIns="0" rIns="0" tIns="0" bIns="0" anchor="t">
            <a:spAutoFit/>
          </a:bodyPr>
          <a:lstStyle/>
          <a:p>
            <a:pPr algn="l">
              <a:lnSpc>
                <a:spcPct val="115000"/>
              </a:lnSpc>
            </a:pPr>
            <a:r>
              <a:rPr sz="950" b="0">
                <a:solidFill>
                  <a:srgbClr val="1D2433"/>
                </a:solidFill>
                <a:latin typeface="Inter"/>
              </a:rPr>
              <a:t>Van de studenten krijgt formatieve feedback bij elke module. Nu is dat de helft, in twee modules.</a:t>
            </a:r>
          </a:p>
        </p:txBody>
      </p:sp>
      <p:sp>
        <p:nvSpPr>
          <p:cNvPr id="27" name="TextBox 26"/>
          <p:cNvSpPr txBox="1"/>
          <p:nvPr/>
        </p:nvSpPr>
        <p:spPr>
          <a:xfrm>
            <a:off x="648000" y="5400000"/>
            <a:ext cx="6264000" cy="36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Aannames: 1.098 opdrachten, 120 formatieve rondes en 10 theses per jaar. Overleg bij de thesis en het inwerken van nakijkers blijven gelijk. Tijden worden bevestigd in de proof of value.</a:t>
            </a:r>
          </a:p>
        </p:txBody>
      </p:sp>
      <p:sp>
        <p:nvSpPr>
          <p:cNvPr id="28" name="TextBox 27"/>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29" name="TextBox 28"/>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ACCREDITATIE</a:t>
            </a:r>
          </a:p>
        </p:txBody>
      </p:sp>
      <p:sp>
        <p:nvSpPr>
          <p:cNvPr id="3" name="TextBox 2"/>
          <p:cNvSpPr txBox="1"/>
          <p:nvPr/>
        </p:nvSpPr>
        <p:spPr>
          <a:xfrm>
            <a:off x="648000" y="864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Elke beoordeling blijft navolgbaar, de docent blijft eindverantwoordelijk</a:t>
            </a:r>
          </a:p>
        </p:txBody>
      </p:sp>
      <p:graphicFrame>
        <p:nvGraphicFramePr>
          <p:cNvPr id="4" name="Table 3"/>
          <p:cNvGraphicFramePr>
            <a:graphicFrameLocks noGrp="1"/>
          </p:cNvGraphicFramePr>
          <p:nvPr/>
        </p:nvGraphicFramePr>
        <p:xfrm>
          <a:off x="648000" y="1656000"/>
          <a:ext cx="6264000" cy="1728000"/>
        </p:xfrm>
        <a:graphic>
          <a:graphicData uri="http://schemas.openxmlformats.org/drawingml/2006/table">
            <a:tbl>
              <a:tblPr firstRow="0" bandRow="0">
                <a:tableStyleId>{5C22544A-7EE6-4342-B048-85BDC9FD1C3A}</a:tableStyleId>
              </a:tblPr>
              <a:tblGrid>
                <a:gridCol w="2088000"/>
                <a:gridCol w="4176000"/>
              </a:tblGrid>
              <a:tr h="432000">
                <a:tc>
                  <a:txBody>
                    <a:bodyPr wrap="square"/>
                    <a:lstStyle/>
                    <a:p>
                      <a:pPr algn="l"/>
                      <a:r>
                        <a:rPr sz="850" b="1">
                          <a:solidFill>
                            <a:srgbClr val="FFFFFF"/>
                          </a:solidFill>
                          <a:latin typeface="Inter"/>
                        </a:rPr>
                        <a:t>Eis</a:t>
                      </a:r>
                    </a:p>
                  </a:txBody>
                  <a:tcPr marL="108000" marR="108000" marT="72000" marB="72000">
                    <a:lnL w="0">
                      <a:noFill/>
                    </a:lnL>
                    <a:lnR w="0">
                      <a:noFill/>
                    </a:lnR>
                    <a:lnT w="0">
                      <a:noFill/>
                    </a:lnT>
                    <a:lnB w="0">
                      <a:noFill/>
                    </a:lnB>
                    <a:solidFill>
                      <a:srgbClr val="000326"/>
                    </a:solidFill>
                  </a:tcPr>
                </a:tc>
                <a:tc>
                  <a:txBody>
                    <a:bodyPr wrap="square"/>
                    <a:lstStyle/>
                    <a:p>
                      <a:pPr algn="l"/>
                      <a:r>
                        <a:rPr sz="850" b="1">
                          <a:solidFill>
                            <a:srgbClr val="FFFFFF"/>
                          </a:solidFill>
                          <a:latin typeface="Inter"/>
                        </a:rPr>
                        <a:t>Hoe geborgd met Eduface</a:t>
                      </a:r>
                    </a:p>
                  </a:txBody>
                  <a:tcPr marL="108000" marR="108000" marT="72000" marB="72000">
                    <a:lnL w="0">
                      <a:noFill/>
                    </a:lnL>
                    <a:lnR w="0">
                      <a:noFill/>
                    </a:lnR>
                    <a:lnT w="0">
                      <a:noFill/>
                    </a:lnT>
                    <a:lnB w="0">
                      <a:noFill/>
                    </a:lnB>
                    <a:solidFill>
                      <a:srgbClr val="000326"/>
                    </a:solidFill>
                  </a:tcPr>
                </a:tc>
              </a:tr>
              <a:tr h="432000">
                <a:tc>
                  <a:txBody>
                    <a:bodyPr wrap="square"/>
                    <a:lstStyle/>
                    <a:p>
                      <a:pPr algn="l"/>
                      <a:r>
                        <a:rPr sz="950" b="1">
                          <a:solidFill>
                            <a:srgbClr val="1D2433"/>
                          </a:solidFill>
                          <a:latin typeface="Inter"/>
                        </a:rPr>
                        <a:t>Beoordeling is navolgbaar</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l"/>
                      <a:r>
                        <a:rPr sz="950" b="0">
                          <a:solidFill>
                            <a:srgbClr val="1D2433"/>
                          </a:solidFill>
                          <a:latin typeface="Inter"/>
                        </a:rPr>
                        <a:t>Elk cijfer heeft een onderbouwing per rubriccriterium. Een audit trail die voldoet aan de AI Act legt elke summatieve beoordeling vast.</a:t>
                      </a:r>
                    </a:p>
                  </a:txBody>
                  <a:tcPr marL="108000" marR="108000" marT="72000" marB="72000">
                    <a:lnL w="0">
                      <a:noFill/>
                    </a:lnL>
                    <a:lnR w="0">
                      <a:noFill/>
                    </a:lnR>
                    <a:lnT w="0">
                      <a:noFill/>
                    </a:lnT>
                    <a:lnB w="9525">
                      <a:solidFill>
                        <a:srgbClr val="D9DDE4"/>
                      </a:solidFill>
                    </a:lnB>
                    <a:solidFill>
                      <a:srgbClr val="FFFFFF"/>
                    </a:solidFill>
                  </a:tcPr>
                </a:tc>
              </a:tr>
              <a:tr h="432000">
                <a:tc>
                  <a:txBody>
                    <a:bodyPr wrap="square"/>
                    <a:lstStyle/>
                    <a:p>
                      <a:pPr algn="l"/>
                      <a:r>
                        <a:rPr sz="950" b="1">
                          <a:solidFill>
                            <a:srgbClr val="1D2433"/>
                          </a:solidFill>
                          <a:latin typeface="Inter"/>
                        </a:rPr>
                        <a:t>Beoordelaars oordelen consistent</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l"/>
                      <a:r>
                        <a:rPr sz="950" b="0">
                          <a:solidFill>
                            <a:srgbClr val="1D2433"/>
                          </a:solidFill>
                          <a:latin typeface="Inter"/>
                        </a:rPr>
                        <a:t>Een overzicht toont welke beoordelaar afwijkt van het team. De kalibratie twee keer per jaar blijft.</a:t>
                      </a:r>
                    </a:p>
                  </a:txBody>
                  <a:tcPr marL="108000" marR="108000" marT="72000" marB="72000">
                    <a:lnL w="0">
                      <a:noFill/>
                    </a:lnL>
                    <a:lnR w="0">
                      <a:noFill/>
                    </a:lnR>
                    <a:lnT w="0">
                      <a:noFill/>
                    </a:lnT>
                    <a:lnB w="9525">
                      <a:solidFill>
                        <a:srgbClr val="D9DDE4"/>
                      </a:solidFill>
                    </a:lnB>
                    <a:solidFill>
                      <a:srgbClr val="FFFFFF"/>
                    </a:solidFill>
                  </a:tcPr>
                </a:tc>
              </a:tr>
              <a:tr h="432000">
                <a:tc>
                  <a:txBody>
                    <a:bodyPr wrap="square"/>
                    <a:lstStyle/>
                    <a:p>
                      <a:pPr algn="l"/>
                      <a:r>
                        <a:rPr sz="950" b="1">
                          <a:solidFill>
                            <a:srgbClr val="1D2433"/>
                          </a:solidFill>
                          <a:latin typeface="Inter"/>
                        </a:rPr>
                        <a:t>De examencommissie borgt de kwaliteit</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l"/>
                      <a:r>
                        <a:rPr sz="950" b="0">
                          <a:solidFill>
                            <a:srgbClr val="1D2433"/>
                          </a:solidFill>
                          <a:latin typeface="Inter"/>
                        </a:rPr>
                        <a:t>De steekproef blijft. Per beoordeling is de onderbouwing direct in te zien.</a:t>
                      </a:r>
                    </a:p>
                  </a:txBody>
                  <a:tcPr marL="108000" marR="108000" marT="72000" marB="72000">
                    <a:lnL w="0">
                      <a:noFill/>
                    </a:lnL>
                    <a:lnR w="0">
                      <a:noFill/>
                    </a:lnR>
                    <a:lnT w="0">
                      <a:noFill/>
                    </a:lnT>
                    <a:lnB w="9525">
                      <a:solidFill>
                        <a:srgbClr val="D9DDE4"/>
                      </a:solidFill>
                    </a:lnB>
                    <a:solidFill>
                      <a:srgbClr val="FFFFFF"/>
                    </a:solidFill>
                  </a:tcPr>
                </a:tc>
              </a:tr>
            </a:tbl>
          </a:graphicData>
        </a:graphic>
      </p:graphicFrame>
      <p:sp>
        <p:nvSpPr>
          <p:cNvPr id="5" name="TextBox 4"/>
          <p:cNvSpPr txBox="1"/>
          <p:nvPr/>
        </p:nvSpPr>
        <p:spPr>
          <a:xfrm>
            <a:off x="648000" y="3528000"/>
            <a:ext cx="6264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Bij nieuwe accreditaties is consistent beoordelen een aandachtspunt. De Pabo zit nu in accreditatie.</a:t>
            </a:r>
          </a:p>
        </p:txBody>
      </p:sp>
      <p:sp>
        <p:nvSpPr>
          <p:cNvPr id="6" name="TextBox 5"/>
          <p:cNvSpPr txBox="1"/>
          <p:nvPr/>
        </p:nvSpPr>
        <p:spPr>
          <a:xfrm>
            <a:off x="648000" y="4176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TOEKOMSTBESTENDIG ONDERWIJS</a:t>
            </a:r>
          </a:p>
        </p:txBody>
      </p:sp>
      <p:sp>
        <p:nvSpPr>
          <p:cNvPr id="7" name="TextBox 6"/>
          <p:cNvSpPr txBox="1"/>
          <p:nvPr/>
        </p:nvSpPr>
        <p:spPr>
          <a:xfrm>
            <a:off x="648000" y="4392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Docenten leren werken met AI, studenten leren AI goed gebruiken</a:t>
            </a:r>
          </a:p>
        </p:txBody>
      </p:sp>
      <p:sp>
        <p:nvSpPr>
          <p:cNvPr id="8" name="Rounded Rectangle 7"/>
          <p:cNvSpPr/>
          <p:nvPr/>
        </p:nvSpPr>
        <p:spPr>
          <a:xfrm>
            <a:off x="648000" y="5220000"/>
            <a:ext cx="3042000" cy="2592000"/>
          </a:xfrm>
          <a:prstGeom prst="roundRect">
            <a:avLst>
              <a:gd name="adj" fmla="val 5555"/>
            </a:avLst>
          </a:prstGeom>
          <a:solidFill>
            <a:srgbClr val="EAF3FB"/>
          </a:solidFill>
          <a:ln>
            <a:noFill/>
          </a:ln>
        </p:spPr>
        <p:txBody>
          <a:bodyPr rtlCol="0" anchor="ctr"/>
          <a:lstStyle/>
          <a:p/>
        </p:txBody>
      </p:sp>
      <p:sp>
        <p:nvSpPr>
          <p:cNvPr id="9" name="Rounded Rectangle 8"/>
          <p:cNvSpPr/>
          <p:nvPr/>
        </p:nvSpPr>
        <p:spPr>
          <a:xfrm>
            <a:off x="828000" y="5400000"/>
            <a:ext cx="396000" cy="396000"/>
          </a:xfrm>
          <a:prstGeom prst="roundRect">
            <a:avLst>
              <a:gd name="adj" fmla="val 50000"/>
            </a:avLst>
          </a:prstGeom>
          <a:solidFill>
            <a:srgbClr val="FFFFFF"/>
          </a:solidFill>
          <a:ln>
            <a:noFill/>
          </a:ln>
        </p:spPr>
        <p:txBody>
          <a:bodyPr rtlCol="0" anchor="ctr"/>
          <a:lstStyle/>
          <a:p/>
        </p:txBody>
      </p:sp>
      <p:pic>
        <p:nvPicPr>
          <p:cNvPr id="10" name="Picture 9" descr="icoon-docent.png"/>
          <p:cNvPicPr>
            <a:picLocks noChangeAspect="1"/>
          </p:cNvPicPr>
          <p:nvPr/>
        </p:nvPicPr>
        <p:blipFill>
          <a:blip r:embed="rId2"/>
          <a:stretch>
            <a:fillRect/>
          </a:stretch>
        </p:blipFill>
        <p:spPr>
          <a:xfrm>
            <a:off x="927000" y="5509025"/>
            <a:ext cx="198000" cy="177949"/>
          </a:xfrm>
          <a:prstGeom prst="rect">
            <a:avLst/>
          </a:prstGeom>
        </p:spPr>
      </p:pic>
      <p:sp>
        <p:nvSpPr>
          <p:cNvPr id="11" name="TextBox 10"/>
          <p:cNvSpPr txBox="1"/>
          <p:nvPr/>
        </p:nvSpPr>
        <p:spPr>
          <a:xfrm>
            <a:off x="828000" y="5940000"/>
            <a:ext cx="2682000" cy="396000"/>
          </a:xfrm>
          <a:prstGeom prst="rect">
            <a:avLst/>
          </a:prstGeom>
          <a:noFill/>
        </p:spPr>
        <p:txBody>
          <a:bodyPr wrap="square" lIns="0" rIns="0" tIns="0" bIns="0" anchor="t">
            <a:spAutoFit/>
          </a:bodyPr>
          <a:lstStyle/>
          <a:p>
            <a:pPr algn="l">
              <a:lnSpc>
                <a:spcPct val="105000"/>
              </a:lnSpc>
            </a:pPr>
            <a:r>
              <a:rPr sz="1050" b="1">
                <a:solidFill>
                  <a:srgbClr val="1D2433"/>
                </a:solidFill>
                <a:latin typeface="Inter"/>
              </a:rPr>
              <a:t>AI-geletterdheid in het dagelijkse werk</a:t>
            </a:r>
          </a:p>
        </p:txBody>
      </p:sp>
      <p:sp>
        <p:nvSpPr>
          <p:cNvPr id="12" name="TextBox 11"/>
          <p:cNvSpPr txBox="1"/>
          <p:nvPr/>
        </p:nvSpPr>
        <p:spPr>
          <a:xfrm>
            <a:off x="828000" y="6408000"/>
            <a:ext cx="2682000" cy="1296000"/>
          </a:xfrm>
          <a:prstGeom prst="rect">
            <a:avLst/>
          </a:prstGeom>
          <a:noFill/>
        </p:spPr>
        <p:txBody>
          <a:bodyPr wrap="square" lIns="0" rIns="0" tIns="0" bIns="0" anchor="t">
            <a:spAutoFit/>
          </a:bodyPr>
          <a:lstStyle/>
          <a:p>
            <a:pPr algn="l">
              <a:lnSpc>
                <a:spcPct val="125000"/>
              </a:lnSpc>
            </a:pPr>
            <a:r>
              <a:rPr sz="950" b="0">
                <a:solidFill>
                  <a:srgbClr val="1D2433"/>
                </a:solidFill>
                <a:latin typeface="Inter"/>
              </a:rPr>
              <a:t>Docenten werken bij elke beoordeling met AI. Ze zien hoe een voorstel tot stand komt, sturen het bij en houden het laatste woord. Zo leren ze wat AI wel en niet kan.</a:t>
            </a:r>
          </a:p>
        </p:txBody>
      </p:sp>
      <p:sp>
        <p:nvSpPr>
          <p:cNvPr id="13" name="Rounded Rectangle 12"/>
          <p:cNvSpPr/>
          <p:nvPr/>
        </p:nvSpPr>
        <p:spPr>
          <a:xfrm>
            <a:off x="3870000" y="5220000"/>
            <a:ext cx="3042000" cy="2592000"/>
          </a:xfrm>
          <a:prstGeom prst="roundRect">
            <a:avLst>
              <a:gd name="adj" fmla="val 5555"/>
            </a:avLst>
          </a:prstGeom>
          <a:solidFill>
            <a:srgbClr val="EAF3FB"/>
          </a:solidFill>
          <a:ln>
            <a:noFill/>
          </a:ln>
        </p:spPr>
        <p:txBody>
          <a:bodyPr rtlCol="0" anchor="ctr"/>
          <a:lstStyle/>
          <a:p/>
        </p:txBody>
      </p:sp>
      <p:sp>
        <p:nvSpPr>
          <p:cNvPr id="14" name="Rounded Rectangle 13"/>
          <p:cNvSpPr/>
          <p:nvPr/>
        </p:nvSpPr>
        <p:spPr>
          <a:xfrm>
            <a:off x="4050000" y="5400000"/>
            <a:ext cx="396000" cy="396000"/>
          </a:xfrm>
          <a:prstGeom prst="roundRect">
            <a:avLst>
              <a:gd name="adj" fmla="val 50000"/>
            </a:avLst>
          </a:prstGeom>
          <a:solidFill>
            <a:srgbClr val="FFFFFF"/>
          </a:solidFill>
          <a:ln>
            <a:noFill/>
          </a:ln>
        </p:spPr>
        <p:txBody>
          <a:bodyPr rtlCol="0" anchor="ctr"/>
          <a:lstStyle/>
          <a:p/>
        </p:txBody>
      </p:sp>
      <p:pic>
        <p:nvPicPr>
          <p:cNvPr id="15" name="Picture 14" descr="icoon-student.png"/>
          <p:cNvPicPr>
            <a:picLocks noChangeAspect="1"/>
          </p:cNvPicPr>
          <p:nvPr/>
        </p:nvPicPr>
        <p:blipFill>
          <a:blip r:embed="rId3"/>
          <a:stretch>
            <a:fillRect/>
          </a:stretch>
        </p:blipFill>
        <p:spPr>
          <a:xfrm>
            <a:off x="4149000" y="5525676"/>
            <a:ext cx="198000" cy="144646"/>
          </a:xfrm>
          <a:prstGeom prst="rect">
            <a:avLst/>
          </a:prstGeom>
        </p:spPr>
      </p:pic>
      <p:sp>
        <p:nvSpPr>
          <p:cNvPr id="16" name="TextBox 15"/>
          <p:cNvSpPr txBox="1"/>
          <p:nvPr/>
        </p:nvSpPr>
        <p:spPr>
          <a:xfrm>
            <a:off x="4050000" y="5940000"/>
            <a:ext cx="2682000" cy="396000"/>
          </a:xfrm>
          <a:prstGeom prst="rect">
            <a:avLst/>
          </a:prstGeom>
          <a:noFill/>
        </p:spPr>
        <p:txBody>
          <a:bodyPr wrap="square" lIns="0" rIns="0" tIns="0" bIns="0" anchor="t">
            <a:spAutoFit/>
          </a:bodyPr>
          <a:lstStyle/>
          <a:p>
            <a:pPr algn="l">
              <a:lnSpc>
                <a:spcPct val="105000"/>
              </a:lnSpc>
            </a:pPr>
            <a:r>
              <a:rPr sz="1050" b="1">
                <a:solidFill>
                  <a:srgbClr val="1D2433"/>
                </a:solidFill>
                <a:latin typeface="Inter"/>
              </a:rPr>
              <a:t>Werken met AI, en toch het leerresultaat halen</a:t>
            </a:r>
          </a:p>
        </p:txBody>
      </p:sp>
      <p:sp>
        <p:nvSpPr>
          <p:cNvPr id="17" name="TextBox 16"/>
          <p:cNvSpPr txBox="1"/>
          <p:nvPr/>
        </p:nvSpPr>
        <p:spPr>
          <a:xfrm>
            <a:off x="4050000" y="6408000"/>
            <a:ext cx="2682000" cy="1296000"/>
          </a:xfrm>
          <a:prstGeom prst="rect">
            <a:avLst/>
          </a:prstGeom>
          <a:noFill/>
        </p:spPr>
        <p:txBody>
          <a:bodyPr wrap="square" lIns="0" rIns="0" tIns="0" bIns="0" anchor="t">
            <a:spAutoFit/>
          </a:bodyPr>
          <a:lstStyle/>
          <a:p>
            <a:pPr algn="l">
              <a:lnSpc>
                <a:spcPct val="125000"/>
              </a:lnSpc>
            </a:pPr>
            <a:r>
              <a:rPr sz="950" b="0">
                <a:solidFill>
                  <a:srgbClr val="1D2433"/>
                </a:solidFill>
                <a:latin typeface="Inter"/>
              </a:rPr>
              <a:t>Studenten mogen AI gebruiken bij het schrijven. Elke opdracht wordt inhoudelijk en kritisch beoordeeld op de leerdoelen. Aannames zonder onderbouwing en wollige alinea's, waar AI om bekend staat, komen daardoor niet ongemerkt door.</a:t>
            </a:r>
          </a:p>
        </p:txBody>
      </p:sp>
      <p:sp>
        <p:nvSpPr>
          <p:cNvPr id="18" name="TextBox 17"/>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19" name="TextBox 18"/>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ERVARING</a:t>
            </a:r>
          </a:p>
        </p:txBody>
      </p:sp>
      <p:sp>
        <p:nvSpPr>
          <p:cNvPr id="3" name="TextBox 2"/>
          <p:cNvSpPr txBox="1"/>
          <p:nvPr/>
        </p:nvSpPr>
        <p:spPr>
          <a:xfrm>
            <a:off x="648000" y="864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Eduface draait al bij vier hogescholen en universiteiten in Nederland</a:t>
            </a:r>
          </a:p>
        </p:txBody>
      </p:sp>
      <p:sp>
        <p:nvSpPr>
          <p:cNvPr id="4" name="TextBox 3"/>
          <p:cNvSpPr txBox="1"/>
          <p:nvPr/>
        </p:nvSpPr>
        <p:spPr>
          <a:xfrm>
            <a:off x="648000" y="1584000"/>
            <a:ext cx="6264000" cy="216000"/>
          </a:xfrm>
          <a:prstGeom prst="rect">
            <a:avLst/>
          </a:prstGeom>
          <a:noFill/>
        </p:spPr>
        <p:txBody>
          <a:bodyPr wrap="square" lIns="0" rIns="0" tIns="0" bIns="0" anchor="t">
            <a:spAutoFit/>
          </a:bodyPr>
          <a:lstStyle/>
          <a:p>
            <a:pPr algn="l">
              <a:lnSpc>
                <a:spcPct val="115000"/>
              </a:lnSpc>
            </a:pPr>
            <a:r>
              <a:rPr sz="1050" b="0">
                <a:solidFill>
                  <a:srgbClr val="5B6474"/>
                </a:solidFill>
                <a:latin typeface="Inter"/>
              </a:rPr>
              <a:t>Wij zijn niet de eerste. Het model is ontwikkeld met hulp van de Radboud Universiteit.</a:t>
            </a:r>
          </a:p>
        </p:txBody>
      </p:sp>
      <p:sp>
        <p:nvSpPr>
          <p:cNvPr id="5" name="Rectangle 4"/>
          <p:cNvSpPr/>
          <p:nvPr/>
        </p:nvSpPr>
        <p:spPr>
          <a:xfrm>
            <a:off x="648000" y="1944000"/>
            <a:ext cx="6264000" cy="10800"/>
          </a:xfrm>
          <a:prstGeom prst="rect">
            <a:avLst/>
          </a:prstGeom>
          <a:solidFill>
            <a:srgbClr val="D9DDE4"/>
          </a:solidFill>
          <a:ln>
            <a:noFill/>
          </a:ln>
        </p:spPr>
        <p:txBody>
          <a:bodyPr rtlCol="0" anchor="ctr"/>
          <a:lstStyle/>
          <a:p/>
        </p:txBody>
      </p:sp>
      <p:pic>
        <p:nvPicPr>
          <p:cNvPr id="6" name="Picture 5" descr="logo-hr.png"/>
          <p:cNvPicPr>
            <a:picLocks noChangeAspect="1"/>
          </p:cNvPicPr>
          <p:nvPr/>
        </p:nvPicPr>
        <p:blipFill>
          <a:blip r:embed="rId2"/>
          <a:stretch>
            <a:fillRect/>
          </a:stretch>
        </p:blipFill>
        <p:spPr>
          <a:xfrm>
            <a:off x="800883" y="2070000"/>
            <a:ext cx="1260233" cy="324000"/>
          </a:xfrm>
          <a:prstGeom prst="rect">
            <a:avLst/>
          </a:prstGeom>
        </p:spPr>
      </p:pic>
      <p:pic>
        <p:nvPicPr>
          <p:cNvPr id="7" name="Picture 6" descr="logo-hhs.png"/>
          <p:cNvPicPr>
            <a:picLocks noChangeAspect="1"/>
          </p:cNvPicPr>
          <p:nvPr/>
        </p:nvPicPr>
        <p:blipFill>
          <a:blip r:embed="rId3"/>
          <a:stretch>
            <a:fillRect/>
          </a:stretch>
        </p:blipFill>
        <p:spPr>
          <a:xfrm>
            <a:off x="2458125" y="2115000"/>
            <a:ext cx="1077750" cy="234000"/>
          </a:xfrm>
          <a:prstGeom prst="rect">
            <a:avLst/>
          </a:prstGeom>
        </p:spPr>
      </p:pic>
      <p:pic>
        <p:nvPicPr>
          <p:cNvPr id="8" name="Picture 7" descr="logo-tilburg.png"/>
          <p:cNvPicPr>
            <a:picLocks noChangeAspect="1"/>
          </p:cNvPicPr>
          <p:nvPr/>
        </p:nvPicPr>
        <p:blipFill>
          <a:blip r:embed="rId4"/>
          <a:stretch>
            <a:fillRect/>
          </a:stretch>
        </p:blipFill>
        <p:spPr>
          <a:xfrm>
            <a:off x="3998405" y="2088000"/>
            <a:ext cx="1129188" cy="288000"/>
          </a:xfrm>
          <a:prstGeom prst="rect">
            <a:avLst/>
          </a:prstGeom>
        </p:spPr>
      </p:pic>
      <p:pic>
        <p:nvPicPr>
          <p:cNvPr id="9" name="Picture 8" descr="logo-radboud.png"/>
          <p:cNvPicPr>
            <a:picLocks noChangeAspect="1"/>
          </p:cNvPicPr>
          <p:nvPr/>
        </p:nvPicPr>
        <p:blipFill>
          <a:blip r:embed="rId5"/>
          <a:stretch>
            <a:fillRect/>
          </a:stretch>
        </p:blipFill>
        <p:spPr>
          <a:xfrm>
            <a:off x="5420920" y="2070000"/>
            <a:ext cx="1416158" cy="324000"/>
          </a:xfrm>
          <a:prstGeom prst="rect">
            <a:avLst/>
          </a:prstGeom>
        </p:spPr>
      </p:pic>
      <p:sp>
        <p:nvSpPr>
          <p:cNvPr id="10" name="TextBox 9"/>
          <p:cNvSpPr txBox="1"/>
          <p:nvPr/>
        </p:nvSpPr>
        <p:spPr>
          <a:xfrm>
            <a:off x="648000" y="2448000"/>
            <a:ext cx="1566000" cy="180000"/>
          </a:xfrm>
          <a:prstGeom prst="rect">
            <a:avLst/>
          </a:prstGeom>
          <a:noFill/>
        </p:spPr>
        <p:txBody>
          <a:bodyPr wrap="square" lIns="0" rIns="0" tIns="0" bIns="0" anchor="t">
            <a:spAutoFit/>
          </a:bodyPr>
          <a:lstStyle/>
          <a:p>
            <a:pPr algn="ctr">
              <a:lnSpc>
                <a:spcPct val="115000"/>
              </a:lnSpc>
            </a:pPr>
            <a:r>
              <a:rPr sz="800" b="0">
                <a:solidFill>
                  <a:srgbClr val="5B6474"/>
                </a:solidFill>
                <a:latin typeface="Inter"/>
              </a:rPr>
              <a:t>lerarenopleiding</a:t>
            </a:r>
          </a:p>
        </p:txBody>
      </p:sp>
      <p:sp>
        <p:nvSpPr>
          <p:cNvPr id="11" name="Rectangle 10"/>
          <p:cNvSpPr/>
          <p:nvPr/>
        </p:nvSpPr>
        <p:spPr>
          <a:xfrm>
            <a:off x="648000" y="2736000"/>
            <a:ext cx="6264000" cy="10800"/>
          </a:xfrm>
          <a:prstGeom prst="rect">
            <a:avLst/>
          </a:prstGeom>
          <a:solidFill>
            <a:srgbClr val="D9DDE4"/>
          </a:solidFill>
          <a:ln>
            <a:noFill/>
          </a:ln>
        </p:spPr>
        <p:txBody>
          <a:bodyPr rtlCol="0" anchor="ctr"/>
          <a:lstStyle/>
          <a:p/>
        </p:txBody>
      </p:sp>
      <p:sp>
        <p:nvSpPr>
          <p:cNvPr id="12" name="TextBox 11"/>
          <p:cNvSpPr txBox="1"/>
          <p:nvPr/>
        </p:nvSpPr>
        <p:spPr>
          <a:xfrm>
            <a:off x="648000" y="3240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INBEGREPEN IN DE LICENTIE</a:t>
            </a:r>
          </a:p>
        </p:txBody>
      </p:sp>
      <p:sp>
        <p:nvSpPr>
          <p:cNvPr id="13" name="Rounded Rectangle 12"/>
          <p:cNvSpPr/>
          <p:nvPr/>
        </p:nvSpPr>
        <p:spPr>
          <a:xfrm>
            <a:off x="648000" y="3492000"/>
            <a:ext cx="3042000" cy="1872000"/>
          </a:xfrm>
          <a:prstGeom prst="roundRect">
            <a:avLst>
              <a:gd name="adj" fmla="val 7692"/>
            </a:avLst>
          </a:prstGeom>
          <a:solidFill>
            <a:srgbClr val="EAF3FB"/>
          </a:solidFill>
          <a:ln>
            <a:noFill/>
          </a:ln>
        </p:spPr>
        <p:txBody>
          <a:bodyPr rtlCol="0" anchor="ctr"/>
          <a:lstStyle/>
          <a:p/>
        </p:txBody>
      </p:sp>
      <p:sp>
        <p:nvSpPr>
          <p:cNvPr id="14" name="Rounded Rectangle 13"/>
          <p:cNvSpPr/>
          <p:nvPr/>
        </p:nvSpPr>
        <p:spPr>
          <a:xfrm>
            <a:off x="828000" y="3672000"/>
            <a:ext cx="396000" cy="396000"/>
          </a:xfrm>
          <a:prstGeom prst="roundRect">
            <a:avLst>
              <a:gd name="adj" fmla="val 50000"/>
            </a:avLst>
          </a:prstGeom>
          <a:solidFill>
            <a:srgbClr val="FFFFFF"/>
          </a:solidFill>
          <a:ln>
            <a:noFill/>
          </a:ln>
        </p:spPr>
        <p:txBody>
          <a:bodyPr rtlCol="0" anchor="ctr"/>
          <a:lstStyle/>
          <a:p/>
        </p:txBody>
      </p:sp>
      <p:pic>
        <p:nvPicPr>
          <p:cNvPr id="15" name="Picture 14" descr="icoon-koppeling.png"/>
          <p:cNvPicPr>
            <a:picLocks noChangeAspect="1"/>
          </p:cNvPicPr>
          <p:nvPr/>
        </p:nvPicPr>
        <p:blipFill>
          <a:blip r:embed="rId6"/>
          <a:stretch>
            <a:fillRect/>
          </a:stretch>
        </p:blipFill>
        <p:spPr>
          <a:xfrm>
            <a:off x="927000" y="3771000"/>
            <a:ext cx="198000" cy="198000"/>
          </a:xfrm>
          <a:prstGeom prst="rect">
            <a:avLst/>
          </a:prstGeom>
        </p:spPr>
      </p:pic>
      <p:sp>
        <p:nvSpPr>
          <p:cNvPr id="16" name="TextBox 15"/>
          <p:cNvSpPr txBox="1"/>
          <p:nvPr/>
        </p:nvSpPr>
        <p:spPr>
          <a:xfrm>
            <a:off x="828000" y="4212000"/>
            <a:ext cx="2682000" cy="216000"/>
          </a:xfrm>
          <a:prstGeom prst="rect">
            <a:avLst/>
          </a:prstGeom>
          <a:noFill/>
        </p:spPr>
        <p:txBody>
          <a:bodyPr wrap="square" lIns="0" rIns="0" tIns="0" bIns="0" anchor="t">
            <a:spAutoFit/>
          </a:bodyPr>
          <a:lstStyle/>
          <a:p>
            <a:pPr algn="l">
              <a:lnSpc>
                <a:spcPct val="115000"/>
              </a:lnSpc>
            </a:pPr>
            <a:r>
              <a:rPr sz="1050" b="1">
                <a:solidFill>
                  <a:srgbClr val="1D2433"/>
                </a:solidFill>
                <a:latin typeface="Inter"/>
              </a:rPr>
              <a:t>LMS-integratie</a:t>
            </a:r>
          </a:p>
        </p:txBody>
      </p:sp>
      <p:sp>
        <p:nvSpPr>
          <p:cNvPr id="17" name="TextBox 16"/>
          <p:cNvSpPr txBox="1"/>
          <p:nvPr/>
        </p:nvSpPr>
        <p:spPr>
          <a:xfrm>
            <a:off x="828000" y="4464000"/>
            <a:ext cx="2682000" cy="864000"/>
          </a:xfrm>
          <a:prstGeom prst="rect">
            <a:avLst/>
          </a:prstGeom>
          <a:noFill/>
        </p:spPr>
        <p:txBody>
          <a:bodyPr wrap="square" lIns="0" rIns="0" tIns="0" bIns="0" anchor="t">
            <a:spAutoFit/>
          </a:bodyPr>
          <a:lstStyle/>
          <a:p>
            <a:pPr algn="l">
              <a:lnSpc>
                <a:spcPct val="125000"/>
              </a:lnSpc>
            </a:pPr>
            <a:r>
              <a:rPr sz="950" b="0">
                <a:solidFill>
                  <a:srgbClr val="1D2433"/>
                </a:solidFill>
                <a:latin typeface="Inter"/>
              </a:rPr>
              <a:t>Eduface werkt binnen NEO. Studenten leveren in zoals nu, cijfer en feedback gaan terug naar NEO en daarna naar Progress.</a:t>
            </a:r>
          </a:p>
        </p:txBody>
      </p:sp>
      <p:sp>
        <p:nvSpPr>
          <p:cNvPr id="18" name="Rounded Rectangle 17"/>
          <p:cNvSpPr/>
          <p:nvPr/>
        </p:nvSpPr>
        <p:spPr>
          <a:xfrm>
            <a:off x="3870000" y="3492000"/>
            <a:ext cx="3042000" cy="1872000"/>
          </a:xfrm>
          <a:prstGeom prst="roundRect">
            <a:avLst>
              <a:gd name="adj" fmla="val 7692"/>
            </a:avLst>
          </a:prstGeom>
          <a:solidFill>
            <a:srgbClr val="EAF3FB"/>
          </a:solidFill>
          <a:ln>
            <a:noFill/>
          </a:ln>
        </p:spPr>
        <p:txBody>
          <a:bodyPr rtlCol="0" anchor="ctr"/>
          <a:lstStyle/>
          <a:p/>
        </p:txBody>
      </p:sp>
      <p:sp>
        <p:nvSpPr>
          <p:cNvPr id="19" name="Rounded Rectangle 18"/>
          <p:cNvSpPr/>
          <p:nvPr/>
        </p:nvSpPr>
        <p:spPr>
          <a:xfrm>
            <a:off x="4050000" y="3672000"/>
            <a:ext cx="396000" cy="396000"/>
          </a:xfrm>
          <a:prstGeom prst="roundRect">
            <a:avLst>
              <a:gd name="adj" fmla="val 50000"/>
            </a:avLst>
          </a:prstGeom>
          <a:solidFill>
            <a:srgbClr val="FFFFFF"/>
          </a:solidFill>
          <a:ln>
            <a:noFill/>
          </a:ln>
        </p:spPr>
        <p:txBody>
          <a:bodyPr rtlCol="0" anchor="ctr"/>
          <a:lstStyle/>
          <a:p/>
        </p:txBody>
      </p:sp>
      <p:pic>
        <p:nvPicPr>
          <p:cNvPr id="20" name="Picture 19" descr="icoon-training.png"/>
          <p:cNvPicPr>
            <a:picLocks noChangeAspect="1"/>
          </p:cNvPicPr>
          <p:nvPr/>
        </p:nvPicPr>
        <p:blipFill>
          <a:blip r:embed="rId7"/>
          <a:stretch>
            <a:fillRect/>
          </a:stretch>
        </p:blipFill>
        <p:spPr>
          <a:xfrm>
            <a:off x="4151712" y="3771000"/>
            <a:ext cx="192575" cy="198000"/>
          </a:xfrm>
          <a:prstGeom prst="rect">
            <a:avLst/>
          </a:prstGeom>
        </p:spPr>
      </p:pic>
      <p:sp>
        <p:nvSpPr>
          <p:cNvPr id="21" name="TextBox 20"/>
          <p:cNvSpPr txBox="1"/>
          <p:nvPr/>
        </p:nvSpPr>
        <p:spPr>
          <a:xfrm>
            <a:off x="4050000" y="4212000"/>
            <a:ext cx="2682000" cy="216000"/>
          </a:xfrm>
          <a:prstGeom prst="rect">
            <a:avLst/>
          </a:prstGeom>
          <a:noFill/>
        </p:spPr>
        <p:txBody>
          <a:bodyPr wrap="square" lIns="0" rIns="0" tIns="0" bIns="0" anchor="t">
            <a:spAutoFit/>
          </a:bodyPr>
          <a:lstStyle/>
          <a:p>
            <a:pPr algn="l">
              <a:lnSpc>
                <a:spcPct val="115000"/>
              </a:lnSpc>
            </a:pPr>
            <a:r>
              <a:rPr sz="1050" b="1">
                <a:solidFill>
                  <a:srgbClr val="1D2433"/>
                </a:solidFill>
                <a:latin typeface="Inter"/>
              </a:rPr>
              <a:t>Training</a:t>
            </a:r>
          </a:p>
        </p:txBody>
      </p:sp>
      <p:sp>
        <p:nvSpPr>
          <p:cNvPr id="22" name="TextBox 21"/>
          <p:cNvSpPr txBox="1"/>
          <p:nvPr/>
        </p:nvSpPr>
        <p:spPr>
          <a:xfrm>
            <a:off x="4050000" y="4464000"/>
            <a:ext cx="2682000" cy="864000"/>
          </a:xfrm>
          <a:prstGeom prst="rect">
            <a:avLst/>
          </a:prstGeom>
          <a:noFill/>
        </p:spPr>
        <p:txBody>
          <a:bodyPr wrap="square" lIns="0" rIns="0" tIns="0" bIns="0" anchor="t">
            <a:spAutoFit/>
          </a:bodyPr>
          <a:lstStyle/>
          <a:p>
            <a:pPr algn="l">
              <a:lnSpc>
                <a:spcPct val="125000"/>
              </a:lnSpc>
            </a:pPr>
            <a:r>
              <a:rPr sz="950" b="0">
                <a:solidFill>
                  <a:srgbClr val="1D2433"/>
                </a:solidFill>
                <a:latin typeface="Inter"/>
              </a:rPr>
              <a:t>Elke nakijker krijgt een training in het werken met Eduface naast NEO. Per opdracht leggen we de opdracht, de rubric en de feedbackinstructies samen vast.</a:t>
            </a:r>
          </a:p>
        </p:txBody>
      </p:sp>
      <p:sp>
        <p:nvSpPr>
          <p:cNvPr id="23" name="TextBox 22"/>
          <p:cNvSpPr txBox="1"/>
          <p:nvPr/>
        </p:nvSpPr>
        <p:spPr>
          <a:xfrm>
            <a:off x="648000" y="5472000"/>
            <a:ext cx="6264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Inbegrepen in de prijs, geen losse kosten.</a:t>
            </a:r>
          </a:p>
        </p:txBody>
      </p:sp>
      <p:sp>
        <p:nvSpPr>
          <p:cNvPr id="24" name="TextBox 23"/>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25" name="TextBox 24"/>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PRIVACY</a:t>
            </a:r>
          </a:p>
        </p:txBody>
      </p:sp>
      <p:pic>
        <p:nvPicPr>
          <p:cNvPr id="3" name="Picture 2" descr="icoon-check.png"/>
          <p:cNvPicPr>
            <a:picLocks noChangeAspect="1"/>
          </p:cNvPicPr>
          <p:nvPr/>
        </p:nvPicPr>
        <p:blipFill>
          <a:blip r:embed="rId2"/>
          <a:stretch>
            <a:fillRect/>
          </a:stretch>
        </p:blipFill>
        <p:spPr>
          <a:xfrm>
            <a:off x="657000" y="999208"/>
            <a:ext cx="126000" cy="96782"/>
          </a:xfrm>
          <a:prstGeom prst="rect">
            <a:avLst/>
          </a:prstGeom>
        </p:spPr>
      </p:pic>
      <p:sp>
        <p:nvSpPr>
          <p:cNvPr id="4" name="TextBox 3"/>
          <p:cNvSpPr txBox="1"/>
          <p:nvPr/>
        </p:nvSpPr>
        <p:spPr>
          <a:xfrm>
            <a:off x="936000" y="954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Academica blijft eigenaar van al het studentenwerk en alle data.</a:t>
            </a:r>
          </a:p>
        </p:txBody>
      </p:sp>
      <p:sp>
        <p:nvSpPr>
          <p:cNvPr id="5" name="Rectangle 4"/>
          <p:cNvSpPr/>
          <p:nvPr/>
        </p:nvSpPr>
        <p:spPr>
          <a:xfrm>
            <a:off x="648000" y="1188000"/>
            <a:ext cx="6264000" cy="10800"/>
          </a:xfrm>
          <a:prstGeom prst="rect">
            <a:avLst/>
          </a:prstGeom>
          <a:solidFill>
            <a:srgbClr val="D9DDE4"/>
          </a:solidFill>
          <a:ln>
            <a:noFill/>
          </a:ln>
        </p:spPr>
        <p:txBody>
          <a:bodyPr rtlCol="0" anchor="ctr"/>
          <a:lstStyle/>
          <a:p/>
        </p:txBody>
      </p:sp>
      <p:pic>
        <p:nvPicPr>
          <p:cNvPr id="6" name="Picture 5" descr="icoon-check.png"/>
          <p:cNvPicPr>
            <a:picLocks noChangeAspect="1"/>
          </p:cNvPicPr>
          <p:nvPr/>
        </p:nvPicPr>
        <p:blipFill>
          <a:blip r:embed="rId2"/>
          <a:stretch>
            <a:fillRect/>
          </a:stretch>
        </p:blipFill>
        <p:spPr>
          <a:xfrm>
            <a:off x="657000" y="1287208"/>
            <a:ext cx="126000" cy="96782"/>
          </a:xfrm>
          <a:prstGeom prst="rect">
            <a:avLst/>
          </a:prstGeom>
        </p:spPr>
      </p:pic>
      <p:sp>
        <p:nvSpPr>
          <p:cNvPr id="7" name="TextBox 6"/>
          <p:cNvSpPr txBox="1"/>
          <p:nvPr/>
        </p:nvSpPr>
        <p:spPr>
          <a:xfrm>
            <a:off x="936000" y="1242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Studentenwerk wordt niet gebruikt om AI-modellen te trainen.</a:t>
            </a:r>
          </a:p>
        </p:txBody>
      </p:sp>
      <p:sp>
        <p:nvSpPr>
          <p:cNvPr id="8" name="Rectangle 7"/>
          <p:cNvSpPr/>
          <p:nvPr/>
        </p:nvSpPr>
        <p:spPr>
          <a:xfrm>
            <a:off x="648000" y="1476000"/>
            <a:ext cx="6264000" cy="10800"/>
          </a:xfrm>
          <a:prstGeom prst="rect">
            <a:avLst/>
          </a:prstGeom>
          <a:solidFill>
            <a:srgbClr val="D9DDE4"/>
          </a:solidFill>
          <a:ln>
            <a:noFill/>
          </a:ln>
        </p:spPr>
        <p:txBody>
          <a:bodyPr rtlCol="0" anchor="ctr"/>
          <a:lstStyle/>
          <a:p/>
        </p:txBody>
      </p:sp>
      <p:pic>
        <p:nvPicPr>
          <p:cNvPr id="9" name="Picture 8" descr="icoon-check.png"/>
          <p:cNvPicPr>
            <a:picLocks noChangeAspect="1"/>
          </p:cNvPicPr>
          <p:nvPr/>
        </p:nvPicPr>
        <p:blipFill>
          <a:blip r:embed="rId2"/>
          <a:stretch>
            <a:fillRect/>
          </a:stretch>
        </p:blipFill>
        <p:spPr>
          <a:xfrm>
            <a:off x="657000" y="1575208"/>
            <a:ext cx="126000" cy="96782"/>
          </a:xfrm>
          <a:prstGeom prst="rect">
            <a:avLst/>
          </a:prstGeom>
        </p:spPr>
      </p:pic>
      <p:sp>
        <p:nvSpPr>
          <p:cNvPr id="10" name="TextBox 9"/>
          <p:cNvSpPr txBox="1"/>
          <p:nvPr/>
        </p:nvSpPr>
        <p:spPr>
          <a:xfrm>
            <a:off x="936000" y="1530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Studentdata gaat niet naar externe AI-aanbieders.</a:t>
            </a:r>
          </a:p>
        </p:txBody>
      </p:sp>
      <p:sp>
        <p:nvSpPr>
          <p:cNvPr id="11" name="Rectangle 10"/>
          <p:cNvSpPr/>
          <p:nvPr/>
        </p:nvSpPr>
        <p:spPr>
          <a:xfrm>
            <a:off x="648000" y="1764000"/>
            <a:ext cx="6264000" cy="10800"/>
          </a:xfrm>
          <a:prstGeom prst="rect">
            <a:avLst/>
          </a:prstGeom>
          <a:solidFill>
            <a:srgbClr val="D9DDE4"/>
          </a:solidFill>
          <a:ln>
            <a:noFill/>
          </a:ln>
        </p:spPr>
        <p:txBody>
          <a:bodyPr rtlCol="0" anchor="ctr"/>
          <a:lstStyle/>
          <a:p/>
        </p:txBody>
      </p:sp>
      <p:pic>
        <p:nvPicPr>
          <p:cNvPr id="12" name="Picture 11" descr="icoon-check.png"/>
          <p:cNvPicPr>
            <a:picLocks noChangeAspect="1"/>
          </p:cNvPicPr>
          <p:nvPr/>
        </p:nvPicPr>
        <p:blipFill>
          <a:blip r:embed="rId2"/>
          <a:stretch>
            <a:fillRect/>
          </a:stretch>
        </p:blipFill>
        <p:spPr>
          <a:xfrm>
            <a:off x="657000" y="1863208"/>
            <a:ext cx="126000" cy="96782"/>
          </a:xfrm>
          <a:prstGeom prst="rect">
            <a:avLst/>
          </a:prstGeom>
        </p:spPr>
      </p:pic>
      <p:sp>
        <p:nvSpPr>
          <p:cNvPr id="13" name="TextBox 12"/>
          <p:cNvSpPr txBox="1"/>
          <p:nvPr/>
        </p:nvSpPr>
        <p:spPr>
          <a:xfrm>
            <a:off x="936000" y="1818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Verwerking alleen voor het afgesproken onderwijsdoel.</a:t>
            </a:r>
          </a:p>
        </p:txBody>
      </p:sp>
      <p:sp>
        <p:nvSpPr>
          <p:cNvPr id="14" name="Rectangle 13"/>
          <p:cNvSpPr/>
          <p:nvPr/>
        </p:nvSpPr>
        <p:spPr>
          <a:xfrm>
            <a:off x="648000" y="2052000"/>
            <a:ext cx="6264000" cy="10800"/>
          </a:xfrm>
          <a:prstGeom prst="rect">
            <a:avLst/>
          </a:prstGeom>
          <a:solidFill>
            <a:srgbClr val="D9DDE4"/>
          </a:solidFill>
          <a:ln>
            <a:noFill/>
          </a:ln>
        </p:spPr>
        <p:txBody>
          <a:bodyPr rtlCol="0" anchor="ctr"/>
          <a:lstStyle/>
          <a:p/>
        </p:txBody>
      </p:sp>
      <p:pic>
        <p:nvPicPr>
          <p:cNvPr id="15" name="Picture 14" descr="icoon-check.png"/>
          <p:cNvPicPr>
            <a:picLocks noChangeAspect="1"/>
          </p:cNvPicPr>
          <p:nvPr/>
        </p:nvPicPr>
        <p:blipFill>
          <a:blip r:embed="rId2"/>
          <a:stretch>
            <a:fillRect/>
          </a:stretch>
        </p:blipFill>
        <p:spPr>
          <a:xfrm>
            <a:off x="657000" y="2151208"/>
            <a:ext cx="126000" cy="96782"/>
          </a:xfrm>
          <a:prstGeom prst="rect">
            <a:avLst/>
          </a:prstGeom>
        </p:spPr>
      </p:pic>
      <p:sp>
        <p:nvSpPr>
          <p:cNvPr id="16" name="TextBox 15"/>
          <p:cNvSpPr txBox="1"/>
          <p:nvPr/>
        </p:nvSpPr>
        <p:spPr>
          <a:xfrm>
            <a:off x="936000" y="2106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Versleuteld tijdens transport, bewaartermijn volgens afspraak.</a:t>
            </a:r>
          </a:p>
        </p:txBody>
      </p:sp>
      <p:sp>
        <p:nvSpPr>
          <p:cNvPr id="17" name="Rectangle 16"/>
          <p:cNvSpPr/>
          <p:nvPr/>
        </p:nvSpPr>
        <p:spPr>
          <a:xfrm>
            <a:off x="648000" y="2340000"/>
            <a:ext cx="6264000" cy="10800"/>
          </a:xfrm>
          <a:prstGeom prst="rect">
            <a:avLst/>
          </a:prstGeom>
          <a:solidFill>
            <a:srgbClr val="D9DDE4"/>
          </a:solidFill>
          <a:ln>
            <a:noFill/>
          </a:ln>
        </p:spPr>
        <p:txBody>
          <a:bodyPr rtlCol="0" anchor="ctr"/>
          <a:lstStyle/>
          <a:p/>
        </p:txBody>
      </p:sp>
      <p:pic>
        <p:nvPicPr>
          <p:cNvPr id="18" name="Picture 17" descr="icoon-check.png"/>
          <p:cNvPicPr>
            <a:picLocks noChangeAspect="1"/>
          </p:cNvPicPr>
          <p:nvPr/>
        </p:nvPicPr>
        <p:blipFill>
          <a:blip r:embed="rId2"/>
          <a:stretch>
            <a:fillRect/>
          </a:stretch>
        </p:blipFill>
        <p:spPr>
          <a:xfrm>
            <a:off x="657000" y="2439208"/>
            <a:ext cx="126000" cy="96782"/>
          </a:xfrm>
          <a:prstGeom prst="rect">
            <a:avLst/>
          </a:prstGeom>
        </p:spPr>
      </p:pic>
      <p:sp>
        <p:nvSpPr>
          <p:cNvPr id="19" name="TextBox 18"/>
          <p:cNvSpPr txBox="1"/>
          <p:nvPr/>
        </p:nvSpPr>
        <p:spPr>
          <a:xfrm>
            <a:off x="936000" y="2394000"/>
            <a:ext cx="5976000" cy="216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De docent ziet en keurt alles goed voordat de student het ziet.</a:t>
            </a:r>
          </a:p>
        </p:txBody>
      </p:sp>
      <p:sp>
        <p:nvSpPr>
          <p:cNvPr id="20" name="Rectangle 19"/>
          <p:cNvSpPr/>
          <p:nvPr/>
        </p:nvSpPr>
        <p:spPr>
          <a:xfrm>
            <a:off x="648000" y="2628000"/>
            <a:ext cx="6264000" cy="10800"/>
          </a:xfrm>
          <a:prstGeom prst="rect">
            <a:avLst/>
          </a:prstGeom>
          <a:solidFill>
            <a:srgbClr val="D9DDE4"/>
          </a:solidFill>
          <a:ln>
            <a:noFill/>
          </a:ln>
        </p:spPr>
        <p:txBody>
          <a:bodyPr rtlCol="0" anchor="ctr"/>
          <a:lstStyle/>
          <a:p/>
        </p:txBody>
      </p:sp>
      <p:pic>
        <p:nvPicPr>
          <p:cNvPr id="21" name="Picture 20" descr="icoon-check.png"/>
          <p:cNvPicPr>
            <a:picLocks noChangeAspect="1"/>
          </p:cNvPicPr>
          <p:nvPr/>
        </p:nvPicPr>
        <p:blipFill>
          <a:blip r:embed="rId2"/>
          <a:stretch>
            <a:fillRect/>
          </a:stretch>
        </p:blipFill>
        <p:spPr>
          <a:xfrm>
            <a:off x="657000" y="2727208"/>
            <a:ext cx="126000" cy="96782"/>
          </a:xfrm>
          <a:prstGeom prst="rect">
            <a:avLst/>
          </a:prstGeom>
        </p:spPr>
      </p:pic>
      <p:sp>
        <p:nvSpPr>
          <p:cNvPr id="22" name="TextBox 21"/>
          <p:cNvSpPr txBox="1"/>
          <p:nvPr/>
        </p:nvSpPr>
        <p:spPr>
          <a:xfrm>
            <a:off x="936000" y="2682000"/>
            <a:ext cx="5976000" cy="360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Verwerkersovereenkomst afgesloten (bijlage: "Verwerkersovereenkomst Eduface", versie voor onbekostigde instellingen).</a:t>
            </a:r>
          </a:p>
        </p:txBody>
      </p:sp>
      <p:sp>
        <p:nvSpPr>
          <p:cNvPr id="23" name="TextBox 22"/>
          <p:cNvSpPr txBox="1"/>
          <p:nvPr/>
        </p:nvSpPr>
        <p:spPr>
          <a:xfrm>
            <a:off x="648000" y="3168000"/>
            <a:ext cx="6264000" cy="18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De verwerkersovereenkomst ligt ter beoordeling bij onze AVG-functionaris.</a:t>
            </a:r>
          </a:p>
        </p:txBody>
      </p:sp>
      <p:sp>
        <p:nvSpPr>
          <p:cNvPr id="24" name="TextBox 23"/>
          <p:cNvSpPr txBox="1"/>
          <p:nvPr/>
        </p:nvSpPr>
        <p:spPr>
          <a:xfrm>
            <a:off x="648000" y="4032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LICENTIEMODEL</a:t>
            </a:r>
          </a:p>
        </p:txBody>
      </p:sp>
      <p:sp>
        <p:nvSpPr>
          <p:cNvPr id="25" name="Rounded Rectangle 24"/>
          <p:cNvSpPr/>
          <p:nvPr/>
        </p:nvSpPr>
        <p:spPr>
          <a:xfrm>
            <a:off x="648000" y="4284000"/>
            <a:ext cx="6264000" cy="936000"/>
          </a:xfrm>
          <a:prstGeom prst="roundRect">
            <a:avLst>
              <a:gd name="adj" fmla="val 15384"/>
            </a:avLst>
          </a:prstGeom>
          <a:solidFill>
            <a:srgbClr val="EAF3FB"/>
          </a:solidFill>
          <a:ln>
            <a:noFill/>
          </a:ln>
        </p:spPr>
        <p:txBody>
          <a:bodyPr rtlCol="0" anchor="ctr"/>
          <a:lstStyle/>
          <a:p/>
        </p:txBody>
      </p:sp>
      <p:sp>
        <p:nvSpPr>
          <p:cNvPr id="26" name="TextBox 25"/>
          <p:cNvSpPr txBox="1"/>
          <p:nvPr/>
        </p:nvSpPr>
        <p:spPr>
          <a:xfrm>
            <a:off x="828000" y="4284000"/>
            <a:ext cx="1224000" cy="936000"/>
          </a:xfrm>
          <a:prstGeom prst="rect">
            <a:avLst/>
          </a:prstGeom>
          <a:noFill/>
        </p:spPr>
        <p:txBody>
          <a:bodyPr wrap="square" lIns="0" rIns="0" tIns="0" bIns="0" anchor="ctr">
            <a:spAutoFit/>
          </a:bodyPr>
          <a:lstStyle/>
          <a:p>
            <a:pPr algn="ctr">
              <a:lnSpc>
                <a:spcPct val="115000"/>
              </a:lnSpc>
            </a:pPr>
            <a:r>
              <a:rPr sz="1800" b="1">
                <a:solidFill>
                  <a:srgbClr val="000326"/>
                </a:solidFill>
                <a:latin typeface="Inter"/>
              </a:rPr>
              <a:t>400</a:t>
            </a:r>
          </a:p>
          <a:p>
            <a:pPr algn="ctr">
              <a:lnSpc>
                <a:spcPct val="115000"/>
              </a:lnSpc>
              <a:spcBef>
                <a:spcPts val="100"/>
              </a:spcBef>
            </a:pPr>
            <a:r>
              <a:rPr sz="850" b="0">
                <a:solidFill>
                  <a:srgbClr val="5B6474"/>
                </a:solidFill>
                <a:latin typeface="Inter"/>
              </a:rPr>
              <a:t>studenten (minimum)</a:t>
            </a:r>
          </a:p>
        </p:txBody>
      </p:sp>
      <p:sp>
        <p:nvSpPr>
          <p:cNvPr id="27" name="TextBox 26"/>
          <p:cNvSpPr txBox="1"/>
          <p:nvPr/>
        </p:nvSpPr>
        <p:spPr>
          <a:xfrm>
            <a:off x="2052000" y="4284000"/>
            <a:ext cx="288000" cy="936000"/>
          </a:xfrm>
          <a:prstGeom prst="rect">
            <a:avLst/>
          </a:prstGeom>
          <a:noFill/>
        </p:spPr>
        <p:txBody>
          <a:bodyPr wrap="square" lIns="0" rIns="0" tIns="0" bIns="0" anchor="ctr">
            <a:spAutoFit/>
          </a:bodyPr>
          <a:lstStyle/>
          <a:p>
            <a:pPr algn="ctr">
              <a:lnSpc>
                <a:spcPct val="115000"/>
              </a:lnSpc>
            </a:pPr>
            <a:r>
              <a:rPr sz="1400" b="0">
                <a:solidFill>
                  <a:srgbClr val="5B6474"/>
                </a:solidFill>
                <a:latin typeface="Inter"/>
              </a:rPr>
              <a:t>×</a:t>
            </a:r>
          </a:p>
        </p:txBody>
      </p:sp>
      <p:sp>
        <p:nvSpPr>
          <p:cNvPr id="28" name="TextBox 27"/>
          <p:cNvSpPr txBox="1"/>
          <p:nvPr/>
        </p:nvSpPr>
        <p:spPr>
          <a:xfrm>
            <a:off x="2340000" y="4284000"/>
            <a:ext cx="1440000" cy="936000"/>
          </a:xfrm>
          <a:prstGeom prst="rect">
            <a:avLst/>
          </a:prstGeom>
          <a:noFill/>
        </p:spPr>
        <p:txBody>
          <a:bodyPr wrap="square" lIns="0" rIns="0" tIns="0" bIns="0" anchor="ctr">
            <a:spAutoFit/>
          </a:bodyPr>
          <a:lstStyle/>
          <a:p>
            <a:pPr algn="ctr">
              <a:lnSpc>
                <a:spcPct val="115000"/>
              </a:lnSpc>
            </a:pPr>
            <a:r>
              <a:rPr sz="1800" b="1">
                <a:solidFill>
                  <a:srgbClr val="000326"/>
                </a:solidFill>
                <a:latin typeface="Inter"/>
              </a:rPr>
              <a:t>€ 3,75</a:t>
            </a:r>
          </a:p>
          <a:p>
            <a:pPr algn="ctr">
              <a:lnSpc>
                <a:spcPct val="115000"/>
              </a:lnSpc>
              <a:spcBef>
                <a:spcPts val="100"/>
              </a:spcBef>
            </a:pPr>
            <a:r>
              <a:rPr sz="850" b="0">
                <a:solidFill>
                  <a:srgbClr val="5B6474"/>
                </a:solidFill>
                <a:latin typeface="Inter"/>
              </a:rPr>
              <a:t>per student per maand</a:t>
            </a:r>
          </a:p>
        </p:txBody>
      </p:sp>
      <p:sp>
        <p:nvSpPr>
          <p:cNvPr id="29" name="TextBox 28"/>
          <p:cNvSpPr txBox="1"/>
          <p:nvPr/>
        </p:nvSpPr>
        <p:spPr>
          <a:xfrm>
            <a:off x="3780000" y="4284000"/>
            <a:ext cx="288000" cy="936000"/>
          </a:xfrm>
          <a:prstGeom prst="rect">
            <a:avLst/>
          </a:prstGeom>
          <a:noFill/>
        </p:spPr>
        <p:txBody>
          <a:bodyPr wrap="square" lIns="0" rIns="0" tIns="0" bIns="0" anchor="ctr">
            <a:spAutoFit/>
          </a:bodyPr>
          <a:lstStyle/>
          <a:p>
            <a:pPr algn="ctr">
              <a:lnSpc>
                <a:spcPct val="115000"/>
              </a:lnSpc>
            </a:pPr>
            <a:r>
              <a:rPr sz="1400" b="0">
                <a:solidFill>
                  <a:srgbClr val="5B6474"/>
                </a:solidFill>
                <a:latin typeface="Inter"/>
              </a:rPr>
              <a:t>×</a:t>
            </a:r>
          </a:p>
        </p:txBody>
      </p:sp>
      <p:sp>
        <p:nvSpPr>
          <p:cNvPr id="30" name="TextBox 29"/>
          <p:cNvSpPr txBox="1"/>
          <p:nvPr/>
        </p:nvSpPr>
        <p:spPr>
          <a:xfrm>
            <a:off x="4068000" y="4284000"/>
            <a:ext cx="936000" cy="936000"/>
          </a:xfrm>
          <a:prstGeom prst="rect">
            <a:avLst/>
          </a:prstGeom>
          <a:noFill/>
        </p:spPr>
        <p:txBody>
          <a:bodyPr wrap="square" lIns="0" rIns="0" tIns="0" bIns="0" anchor="ctr">
            <a:spAutoFit/>
          </a:bodyPr>
          <a:lstStyle/>
          <a:p>
            <a:pPr algn="ctr">
              <a:lnSpc>
                <a:spcPct val="115000"/>
              </a:lnSpc>
            </a:pPr>
            <a:r>
              <a:rPr sz="1800" b="1">
                <a:solidFill>
                  <a:srgbClr val="000326"/>
                </a:solidFill>
                <a:latin typeface="Inter"/>
              </a:rPr>
              <a:t>12</a:t>
            </a:r>
          </a:p>
          <a:p>
            <a:pPr algn="ctr">
              <a:lnSpc>
                <a:spcPct val="115000"/>
              </a:lnSpc>
              <a:spcBef>
                <a:spcPts val="100"/>
              </a:spcBef>
            </a:pPr>
            <a:r>
              <a:rPr sz="850" b="0">
                <a:solidFill>
                  <a:srgbClr val="5B6474"/>
                </a:solidFill>
                <a:latin typeface="Inter"/>
              </a:rPr>
              <a:t>maanden</a:t>
            </a:r>
          </a:p>
        </p:txBody>
      </p:sp>
      <p:sp>
        <p:nvSpPr>
          <p:cNvPr id="31" name="TextBox 30"/>
          <p:cNvSpPr txBox="1"/>
          <p:nvPr/>
        </p:nvSpPr>
        <p:spPr>
          <a:xfrm>
            <a:off x="5004000" y="4284000"/>
            <a:ext cx="288000" cy="936000"/>
          </a:xfrm>
          <a:prstGeom prst="rect">
            <a:avLst/>
          </a:prstGeom>
          <a:noFill/>
        </p:spPr>
        <p:txBody>
          <a:bodyPr wrap="square" lIns="0" rIns="0" tIns="0" bIns="0" anchor="ctr">
            <a:spAutoFit/>
          </a:bodyPr>
          <a:lstStyle/>
          <a:p>
            <a:pPr algn="ctr">
              <a:lnSpc>
                <a:spcPct val="115000"/>
              </a:lnSpc>
            </a:pPr>
            <a:r>
              <a:rPr sz="1400" b="0">
                <a:solidFill>
                  <a:srgbClr val="5B6474"/>
                </a:solidFill>
                <a:latin typeface="Inter"/>
              </a:rPr>
              <a:t>=</a:t>
            </a:r>
          </a:p>
        </p:txBody>
      </p:sp>
      <p:sp>
        <p:nvSpPr>
          <p:cNvPr id="32" name="Rounded Rectangle 31"/>
          <p:cNvSpPr/>
          <p:nvPr/>
        </p:nvSpPr>
        <p:spPr>
          <a:xfrm>
            <a:off x="5292000" y="4392000"/>
            <a:ext cx="1440000" cy="720000"/>
          </a:xfrm>
          <a:prstGeom prst="roundRect">
            <a:avLst>
              <a:gd name="adj" fmla="val 20000"/>
            </a:avLst>
          </a:prstGeom>
          <a:solidFill>
            <a:srgbClr val="FFFFFF"/>
          </a:solidFill>
          <a:ln>
            <a:noFill/>
          </a:ln>
        </p:spPr>
        <p:txBody>
          <a:bodyPr rtlCol="0" anchor="ctr"/>
          <a:lstStyle/>
          <a:p/>
        </p:txBody>
      </p:sp>
      <p:sp>
        <p:nvSpPr>
          <p:cNvPr id="33" name="TextBox 32"/>
          <p:cNvSpPr txBox="1"/>
          <p:nvPr/>
        </p:nvSpPr>
        <p:spPr>
          <a:xfrm>
            <a:off x="5292000" y="4284000"/>
            <a:ext cx="1440000" cy="936000"/>
          </a:xfrm>
          <a:prstGeom prst="rect">
            <a:avLst/>
          </a:prstGeom>
          <a:noFill/>
        </p:spPr>
        <p:txBody>
          <a:bodyPr wrap="square" lIns="0" rIns="0" tIns="0" bIns="0" anchor="ctr">
            <a:spAutoFit/>
          </a:bodyPr>
          <a:lstStyle/>
          <a:p>
            <a:pPr algn="ctr">
              <a:lnSpc>
                <a:spcPct val="115000"/>
              </a:lnSpc>
            </a:pPr>
            <a:r>
              <a:rPr sz="1800" b="1">
                <a:solidFill>
                  <a:srgbClr val="000326"/>
                </a:solidFill>
                <a:latin typeface="Inter"/>
              </a:rPr>
              <a:t>€ 18.000</a:t>
            </a:r>
          </a:p>
          <a:p>
            <a:pPr algn="ctr">
              <a:lnSpc>
                <a:spcPct val="115000"/>
              </a:lnSpc>
              <a:spcBef>
                <a:spcPts val="100"/>
              </a:spcBef>
            </a:pPr>
            <a:r>
              <a:rPr sz="850" b="0">
                <a:solidFill>
                  <a:srgbClr val="5B6474"/>
                </a:solidFill>
                <a:latin typeface="Inter"/>
              </a:rPr>
              <a:t>per jaar</a:t>
            </a:r>
          </a:p>
        </p:txBody>
      </p:sp>
      <p:sp>
        <p:nvSpPr>
          <p:cNvPr id="34" name="TextBox 33"/>
          <p:cNvSpPr txBox="1"/>
          <p:nvPr/>
        </p:nvSpPr>
        <p:spPr>
          <a:xfrm>
            <a:off x="648000" y="5400000"/>
            <a:ext cx="5940000" cy="360000"/>
          </a:xfrm>
          <a:prstGeom prst="rect">
            <a:avLst/>
          </a:prstGeom>
          <a:noFill/>
        </p:spPr>
        <p:txBody>
          <a:bodyPr wrap="square" lIns="0" rIns="0" tIns="0" bIns="0" anchor="t">
            <a:spAutoFit/>
          </a:bodyPr>
          <a:lstStyle/>
          <a:p>
            <a:pPr algn="l">
              <a:lnSpc>
                <a:spcPct val="125000"/>
              </a:lnSpc>
            </a:pPr>
            <a:r>
              <a:rPr sz="1000" b="0">
                <a:solidFill>
                  <a:srgbClr val="1D2433"/>
                </a:solidFill>
                <a:latin typeface="Inter"/>
              </a:rPr>
              <a:t>Dit is de vaste licentieprijs, ook tijdens de proof of value. De koppeling met NEO, de inrichting per opdracht en de training zitten in de prijs.</a:t>
            </a:r>
          </a:p>
        </p:txBody>
      </p:sp>
      <p:sp>
        <p:nvSpPr>
          <p:cNvPr id="35" name="TextBox 34"/>
          <p:cNvSpPr txBox="1"/>
          <p:nvPr/>
        </p:nvSpPr>
        <p:spPr>
          <a:xfrm>
            <a:off x="648000" y="5832000"/>
            <a:ext cx="6264000" cy="720000"/>
          </a:xfrm>
          <a:prstGeom prst="rect">
            <a:avLst/>
          </a:prstGeom>
          <a:noFill/>
        </p:spPr>
        <p:txBody>
          <a:bodyPr wrap="square" lIns="0" rIns="0" tIns="0" bIns="0" anchor="t">
            <a:spAutoFit/>
          </a:bodyPr>
          <a:lstStyle/>
          <a:p>
            <a:pPr algn="l">
              <a:lnSpc>
                <a:spcPct val="115000"/>
              </a:lnSpc>
            </a:pPr>
            <a:r>
              <a:rPr sz="1000" b="0">
                <a:solidFill>
                  <a:srgbClr val="1D2433"/>
                </a:solidFill>
                <a:latin typeface="Inter"/>
              </a:rPr>
              <a:t>•  </a:t>
            </a:r>
            <a:r>
              <a:rPr sz="1000" b="0">
                <a:solidFill>
                  <a:srgbClr val="1D2433"/>
                </a:solidFill>
                <a:latin typeface="Inter"/>
              </a:rPr>
              <a:t>Wij starten met ongeveer 350 actieve studenten. Tot 400 studenten blijft de prijs gelijk.</a:t>
            </a:r>
          </a:p>
          <a:p>
            <a:pPr algn="l">
              <a:lnSpc>
                <a:spcPct val="115000"/>
              </a:lnSpc>
              <a:spcBef>
                <a:spcPts val="300"/>
              </a:spcBef>
            </a:pPr>
            <a:r>
              <a:rPr sz="1000" b="0">
                <a:solidFill>
                  <a:srgbClr val="1D2433"/>
                </a:solidFill>
                <a:latin typeface="Inter"/>
              </a:rPr>
              <a:t>•  </a:t>
            </a:r>
            <a:r>
              <a:rPr sz="1000" b="0">
                <a:solidFill>
                  <a:srgbClr val="1D2433"/>
                </a:solidFill>
                <a:latin typeface="Inter"/>
              </a:rPr>
              <a:t>Boven de 400 studenten: </a:t>
            </a:r>
            <a:r>
              <a:rPr sz="1000" b="1">
                <a:solidFill>
                  <a:srgbClr val="5B6474"/>
                </a:solidFill>
                <a:latin typeface="Inter"/>
              </a:rPr>
              <a:t>[?]</a:t>
            </a:r>
          </a:p>
          <a:p>
            <a:pPr algn="l">
              <a:lnSpc>
                <a:spcPct val="115000"/>
              </a:lnSpc>
              <a:spcBef>
                <a:spcPts val="300"/>
              </a:spcBef>
            </a:pPr>
            <a:r>
              <a:rPr sz="1000" b="0">
                <a:solidFill>
                  <a:srgbClr val="1D2433"/>
                </a:solidFill>
                <a:latin typeface="Inter"/>
              </a:rPr>
              <a:t>•  </a:t>
            </a:r>
            <a:r>
              <a:rPr sz="1000" b="0">
                <a:solidFill>
                  <a:srgbClr val="1D2433"/>
                </a:solidFill>
                <a:latin typeface="Inter"/>
              </a:rPr>
              <a:t>Looptijd: 1 jaar, met de mogelijkheid om na 90 dagen op te zeggen.</a:t>
            </a:r>
          </a:p>
        </p:txBody>
      </p:sp>
      <p:sp>
        <p:nvSpPr>
          <p:cNvPr id="36" name="TextBox 35"/>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37" name="TextBox 36"/>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ROI</a:t>
            </a:r>
          </a:p>
        </p:txBody>
      </p:sp>
      <p:sp>
        <p:nvSpPr>
          <p:cNvPr id="3" name="TextBox 2"/>
          <p:cNvSpPr txBox="1"/>
          <p:nvPr/>
        </p:nvSpPr>
        <p:spPr>
          <a:xfrm>
            <a:off x="648000" y="864000"/>
            <a:ext cx="6264000" cy="216000"/>
          </a:xfrm>
          <a:prstGeom prst="rect">
            <a:avLst/>
          </a:prstGeom>
          <a:noFill/>
        </p:spPr>
        <p:txBody>
          <a:bodyPr wrap="square" lIns="0" rIns="0" tIns="0" bIns="0" anchor="t">
            <a:spAutoFit/>
          </a:bodyPr>
          <a:lstStyle/>
          <a:p>
            <a:pPr algn="l">
              <a:lnSpc>
                <a:spcPct val="115000"/>
              </a:lnSpc>
            </a:pPr>
            <a:r>
              <a:rPr sz="1100" b="1">
                <a:solidFill>
                  <a:srgbClr val="1D2433"/>
                </a:solidFill>
                <a:latin typeface="Inter"/>
              </a:rPr>
              <a:t>De prijs is opgebouwd uit drie onderdelen</a:t>
            </a:r>
          </a:p>
        </p:txBody>
      </p:sp>
      <p:sp>
        <p:nvSpPr>
          <p:cNvPr id="4" name="Rounded Rectangle 3"/>
          <p:cNvSpPr/>
          <p:nvPr/>
        </p:nvSpPr>
        <p:spPr>
          <a:xfrm>
            <a:off x="648000" y="1152000"/>
            <a:ext cx="1968000" cy="504000"/>
          </a:xfrm>
          <a:prstGeom prst="roundRect">
            <a:avLst>
              <a:gd name="adj" fmla="val 28571"/>
            </a:avLst>
          </a:prstGeom>
          <a:solidFill>
            <a:srgbClr val="EAF3FB"/>
          </a:solidFill>
          <a:ln>
            <a:noFill/>
          </a:ln>
        </p:spPr>
        <p:txBody>
          <a:bodyPr rtlCol="0" anchor="ctr"/>
          <a:lstStyle/>
          <a:p/>
        </p:txBody>
      </p:sp>
      <p:sp>
        <p:nvSpPr>
          <p:cNvPr id="5" name="Rounded Rectangle 4"/>
          <p:cNvSpPr/>
          <p:nvPr/>
        </p:nvSpPr>
        <p:spPr>
          <a:xfrm>
            <a:off x="774000" y="1206000"/>
            <a:ext cx="396000" cy="396000"/>
          </a:xfrm>
          <a:prstGeom prst="roundRect">
            <a:avLst>
              <a:gd name="adj" fmla="val 50000"/>
            </a:avLst>
          </a:prstGeom>
          <a:solidFill>
            <a:srgbClr val="FFFFFF"/>
          </a:solidFill>
          <a:ln>
            <a:noFill/>
          </a:ln>
        </p:spPr>
        <p:txBody>
          <a:bodyPr rtlCol="0" anchor="ctr"/>
          <a:lstStyle/>
          <a:p/>
        </p:txBody>
      </p:sp>
      <p:pic>
        <p:nvPicPr>
          <p:cNvPr id="6" name="Picture 5" descr="icoon-ai.png"/>
          <p:cNvPicPr>
            <a:picLocks noChangeAspect="1"/>
          </p:cNvPicPr>
          <p:nvPr/>
        </p:nvPicPr>
        <p:blipFill>
          <a:blip r:embed="rId2"/>
          <a:stretch>
            <a:fillRect/>
          </a:stretch>
        </p:blipFill>
        <p:spPr>
          <a:xfrm>
            <a:off x="873000" y="1305000"/>
            <a:ext cx="198000" cy="198000"/>
          </a:xfrm>
          <a:prstGeom prst="rect">
            <a:avLst/>
          </a:prstGeom>
        </p:spPr>
      </p:pic>
      <p:sp>
        <p:nvSpPr>
          <p:cNvPr id="7" name="TextBox 6"/>
          <p:cNvSpPr txBox="1"/>
          <p:nvPr/>
        </p:nvSpPr>
        <p:spPr>
          <a:xfrm>
            <a:off x="1260000" y="1152000"/>
            <a:ext cx="1248000" cy="504000"/>
          </a:xfrm>
          <a:prstGeom prst="rect">
            <a:avLst/>
          </a:prstGeom>
          <a:noFill/>
        </p:spPr>
        <p:txBody>
          <a:bodyPr wrap="square" lIns="0" rIns="0" tIns="0" bIns="0" anchor="ctr">
            <a:spAutoFit/>
          </a:bodyPr>
          <a:lstStyle/>
          <a:p>
            <a:pPr algn="l">
              <a:lnSpc>
                <a:spcPct val="115000"/>
              </a:lnSpc>
            </a:pPr>
            <a:r>
              <a:rPr sz="1000" b="1">
                <a:solidFill>
                  <a:srgbClr val="1D2433"/>
                </a:solidFill>
                <a:latin typeface="Inter"/>
              </a:rPr>
              <a:t>AI-capaciteit</a:t>
            </a:r>
          </a:p>
        </p:txBody>
      </p:sp>
      <p:sp>
        <p:nvSpPr>
          <p:cNvPr id="8" name="Rounded Rectangle 7"/>
          <p:cNvSpPr/>
          <p:nvPr/>
        </p:nvSpPr>
        <p:spPr>
          <a:xfrm>
            <a:off x="2795999" y="1152000"/>
            <a:ext cx="1968000" cy="504000"/>
          </a:xfrm>
          <a:prstGeom prst="roundRect">
            <a:avLst>
              <a:gd name="adj" fmla="val 28571"/>
            </a:avLst>
          </a:prstGeom>
          <a:solidFill>
            <a:srgbClr val="EAF3FB"/>
          </a:solidFill>
          <a:ln>
            <a:noFill/>
          </a:ln>
        </p:spPr>
        <p:txBody>
          <a:bodyPr rtlCol="0" anchor="ctr"/>
          <a:lstStyle/>
          <a:p/>
        </p:txBody>
      </p:sp>
      <p:sp>
        <p:nvSpPr>
          <p:cNvPr id="9" name="Rounded Rectangle 8"/>
          <p:cNvSpPr/>
          <p:nvPr/>
        </p:nvSpPr>
        <p:spPr>
          <a:xfrm>
            <a:off x="2921999" y="1206000"/>
            <a:ext cx="396000" cy="396000"/>
          </a:xfrm>
          <a:prstGeom prst="roundRect">
            <a:avLst>
              <a:gd name="adj" fmla="val 50000"/>
            </a:avLst>
          </a:prstGeom>
          <a:solidFill>
            <a:srgbClr val="FFFFFF"/>
          </a:solidFill>
          <a:ln>
            <a:noFill/>
          </a:ln>
        </p:spPr>
        <p:txBody>
          <a:bodyPr rtlCol="0" anchor="ctr"/>
          <a:lstStyle/>
          <a:p/>
        </p:txBody>
      </p:sp>
      <p:pic>
        <p:nvPicPr>
          <p:cNvPr id="10" name="Picture 9" descr="icoon-tool.png"/>
          <p:cNvPicPr>
            <a:picLocks noChangeAspect="1"/>
          </p:cNvPicPr>
          <p:nvPr/>
        </p:nvPicPr>
        <p:blipFill>
          <a:blip r:embed="rId3"/>
          <a:stretch>
            <a:fillRect/>
          </a:stretch>
        </p:blipFill>
        <p:spPr>
          <a:xfrm>
            <a:off x="3020999" y="1320037"/>
            <a:ext cx="198000" cy="167924"/>
          </a:xfrm>
          <a:prstGeom prst="rect">
            <a:avLst/>
          </a:prstGeom>
        </p:spPr>
      </p:pic>
      <p:sp>
        <p:nvSpPr>
          <p:cNvPr id="11" name="TextBox 10"/>
          <p:cNvSpPr txBox="1"/>
          <p:nvPr/>
        </p:nvSpPr>
        <p:spPr>
          <a:xfrm>
            <a:off x="3407999" y="1152000"/>
            <a:ext cx="1248000" cy="504000"/>
          </a:xfrm>
          <a:prstGeom prst="rect">
            <a:avLst/>
          </a:prstGeom>
          <a:noFill/>
        </p:spPr>
        <p:txBody>
          <a:bodyPr wrap="square" lIns="0" rIns="0" tIns="0" bIns="0" anchor="ctr">
            <a:spAutoFit/>
          </a:bodyPr>
          <a:lstStyle/>
          <a:p>
            <a:pPr algn="l">
              <a:lnSpc>
                <a:spcPct val="115000"/>
              </a:lnSpc>
            </a:pPr>
            <a:r>
              <a:rPr sz="1000" b="1">
                <a:solidFill>
                  <a:srgbClr val="1D2433"/>
                </a:solidFill>
                <a:latin typeface="Inter"/>
              </a:rPr>
              <a:t>Toolfee</a:t>
            </a:r>
          </a:p>
        </p:txBody>
      </p:sp>
      <p:sp>
        <p:nvSpPr>
          <p:cNvPr id="12" name="Rounded Rectangle 11"/>
          <p:cNvSpPr/>
          <p:nvPr/>
        </p:nvSpPr>
        <p:spPr>
          <a:xfrm>
            <a:off x="4943999" y="1152000"/>
            <a:ext cx="1968000" cy="504000"/>
          </a:xfrm>
          <a:prstGeom prst="roundRect">
            <a:avLst>
              <a:gd name="adj" fmla="val 28571"/>
            </a:avLst>
          </a:prstGeom>
          <a:solidFill>
            <a:srgbClr val="EAF3FB"/>
          </a:solidFill>
          <a:ln>
            <a:noFill/>
          </a:ln>
        </p:spPr>
        <p:txBody>
          <a:bodyPr rtlCol="0" anchor="ctr"/>
          <a:lstStyle/>
          <a:p/>
        </p:txBody>
      </p:sp>
      <p:sp>
        <p:nvSpPr>
          <p:cNvPr id="13" name="Rounded Rectangle 12"/>
          <p:cNvSpPr/>
          <p:nvPr/>
        </p:nvSpPr>
        <p:spPr>
          <a:xfrm>
            <a:off x="5069999" y="1206000"/>
            <a:ext cx="396000" cy="396000"/>
          </a:xfrm>
          <a:prstGeom prst="roundRect">
            <a:avLst>
              <a:gd name="adj" fmla="val 50000"/>
            </a:avLst>
          </a:prstGeom>
          <a:solidFill>
            <a:srgbClr val="FFFFFF"/>
          </a:solidFill>
          <a:ln>
            <a:noFill/>
          </a:ln>
        </p:spPr>
        <p:txBody>
          <a:bodyPr rtlCol="0" anchor="ctr"/>
          <a:lstStyle/>
          <a:p/>
        </p:txBody>
      </p:sp>
      <p:pic>
        <p:nvPicPr>
          <p:cNvPr id="14" name="Picture 13" descr="icoon-training.png"/>
          <p:cNvPicPr>
            <a:picLocks noChangeAspect="1"/>
          </p:cNvPicPr>
          <p:nvPr/>
        </p:nvPicPr>
        <p:blipFill>
          <a:blip r:embed="rId4"/>
          <a:stretch>
            <a:fillRect/>
          </a:stretch>
        </p:blipFill>
        <p:spPr>
          <a:xfrm>
            <a:off x="5171712" y="1305000"/>
            <a:ext cx="192575" cy="198000"/>
          </a:xfrm>
          <a:prstGeom prst="rect">
            <a:avLst/>
          </a:prstGeom>
        </p:spPr>
      </p:pic>
      <p:sp>
        <p:nvSpPr>
          <p:cNvPr id="15" name="TextBox 14"/>
          <p:cNvSpPr txBox="1"/>
          <p:nvPr/>
        </p:nvSpPr>
        <p:spPr>
          <a:xfrm>
            <a:off x="5555999" y="1152000"/>
            <a:ext cx="1248000" cy="504000"/>
          </a:xfrm>
          <a:prstGeom prst="rect">
            <a:avLst/>
          </a:prstGeom>
          <a:noFill/>
        </p:spPr>
        <p:txBody>
          <a:bodyPr wrap="square" lIns="0" rIns="0" tIns="0" bIns="0" anchor="ctr">
            <a:spAutoFit/>
          </a:bodyPr>
          <a:lstStyle/>
          <a:p>
            <a:pPr algn="l">
              <a:lnSpc>
                <a:spcPct val="115000"/>
              </a:lnSpc>
            </a:pPr>
            <a:r>
              <a:rPr sz="1000" b="1">
                <a:solidFill>
                  <a:srgbClr val="1D2433"/>
                </a:solidFill>
                <a:latin typeface="Inter"/>
              </a:rPr>
              <a:t>Training</a:t>
            </a:r>
          </a:p>
        </p:txBody>
      </p:sp>
      <p:graphicFrame>
        <p:nvGraphicFramePr>
          <p:cNvPr id="16" name="Table 15"/>
          <p:cNvGraphicFramePr>
            <a:graphicFrameLocks noGrp="1"/>
          </p:cNvGraphicFramePr>
          <p:nvPr/>
        </p:nvGraphicFramePr>
        <p:xfrm>
          <a:off x="648000" y="1944000"/>
          <a:ext cx="6264000" cy="1620000"/>
        </p:xfrm>
        <a:graphic>
          <a:graphicData uri="http://schemas.openxmlformats.org/drawingml/2006/table">
            <a:tbl>
              <a:tblPr firstRow="0" bandRow="0">
                <a:tableStyleId>{5C22544A-7EE6-4342-B048-85BDC9FD1C3A}</a:tableStyleId>
              </a:tblPr>
              <a:tblGrid>
                <a:gridCol w="1440000"/>
                <a:gridCol w="792000"/>
                <a:gridCol w="1008000"/>
                <a:gridCol w="1152000"/>
                <a:gridCol w="1872000"/>
              </a:tblGrid>
              <a:tr h="324000">
                <a:tc>
                  <a:txBody>
                    <a:bodyPr wrap="square"/>
                    <a:lstStyle/>
                    <a:p>
                      <a:pPr algn="l"/>
                      <a:r>
                        <a:rPr sz="850" b="1">
                          <a:solidFill>
                            <a:srgbClr val="FFFFFF"/>
                          </a:solidFill>
                          <a:latin typeface="Inter"/>
                        </a:rPr>
                        <a:t>Opdrachttype</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Aantal per jaar</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Feedbacktijd nu</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Controletijd met Eduface</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Besparing per jaar</a:t>
                      </a:r>
                    </a:p>
                  </a:txBody>
                  <a:tcPr marL="108000" marR="108000" marT="72000" marB="72000">
                    <a:lnL w="0">
                      <a:noFill/>
                    </a:lnL>
                    <a:lnR w="0">
                      <a:noFill/>
                    </a:lnR>
                    <a:lnT w="0">
                      <a:noFill/>
                    </a:lnT>
                    <a:lnB w="0">
                      <a:noFill/>
                    </a:lnB>
                    <a:solidFill>
                      <a:srgbClr val="000326"/>
                    </a:solidFill>
                  </a:tcPr>
                </a:tc>
              </a:tr>
              <a:tr h="324000">
                <a:tc>
                  <a:txBody>
                    <a:bodyPr wrap="square"/>
                    <a:lstStyle/>
                    <a:p>
                      <a:pPr algn="l"/>
                      <a:r>
                        <a:rPr sz="950" b="0">
                          <a:solidFill>
                            <a:srgbClr val="1D2433"/>
                          </a:solidFill>
                          <a:latin typeface="Inter"/>
                        </a:rPr>
                        <a:t>Kort (KC)</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350</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uur</a:t>
                      </a:r>
                    </a:p>
                  </a:txBody>
                  <a:tcPr marL="108000" marR="108000" marT="72000" marB="72000">
                    <a:lnL w="0">
                      <a:noFill/>
                    </a:lnL>
                    <a:lnR w="0">
                      <a:noFill/>
                    </a:lnR>
                    <a:lnT w="0">
                      <a:noFill/>
                    </a:lnT>
                    <a:lnB w="9525">
                      <a:solidFill>
                        <a:srgbClr val="D9DDE4"/>
                      </a:solidFill>
                    </a:lnB>
                    <a:solidFill>
                      <a:srgbClr val="FFFFFF"/>
                    </a:solidFill>
                  </a:tcPr>
                </a:tc>
              </a:tr>
              <a:tr h="324000">
                <a:tc>
                  <a:txBody>
                    <a:bodyPr wrap="square"/>
                    <a:lstStyle/>
                    <a:p>
                      <a:pPr algn="l"/>
                      <a:r>
                        <a:rPr sz="950" b="0">
                          <a:solidFill>
                            <a:srgbClr val="1D2433"/>
                          </a:solidFill>
                          <a:latin typeface="Inter"/>
                        </a:rPr>
                        <a:t>Paper (module-opdracht)</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748</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uur</a:t>
                      </a:r>
                    </a:p>
                  </a:txBody>
                  <a:tcPr marL="108000" marR="108000" marT="72000" marB="72000">
                    <a:lnL w="0">
                      <a:noFill/>
                    </a:lnL>
                    <a:lnR w="0">
                      <a:noFill/>
                    </a:lnR>
                    <a:lnT w="0">
                      <a:noFill/>
                    </a:lnT>
                    <a:lnB w="9525">
                      <a:solidFill>
                        <a:srgbClr val="D9DDE4"/>
                      </a:solidFill>
                    </a:lnB>
                    <a:solidFill>
                      <a:srgbClr val="FFFFFF"/>
                    </a:solidFill>
                  </a:tcPr>
                </a:tc>
              </a:tr>
              <a:tr h="324000">
                <a:tc>
                  <a:txBody>
                    <a:bodyPr wrap="square"/>
                    <a:lstStyle/>
                    <a:p>
                      <a:pPr algn="l"/>
                      <a:r>
                        <a:rPr sz="950" b="0">
                          <a:solidFill>
                            <a:srgbClr val="1D2433"/>
                          </a:solidFill>
                          <a:latin typeface="Inter"/>
                        </a:rPr>
                        <a:t>Thesis (twee examinatoren)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10 × 2</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min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1">
                          <a:solidFill>
                            <a:srgbClr val="5B6474"/>
                          </a:solidFill>
                          <a:latin typeface="Inter"/>
                        </a:rPr>
                        <a:t>[?]</a:t>
                      </a:r>
                      <a:r>
                        <a:rPr sz="950" b="0">
                          <a:solidFill>
                            <a:srgbClr val="1D2433"/>
                          </a:solidFill>
                          <a:latin typeface="Inter"/>
                        </a:rPr>
                        <a:t> uur</a:t>
                      </a:r>
                    </a:p>
                  </a:txBody>
                  <a:tcPr marL="108000" marR="108000" marT="72000" marB="72000">
                    <a:lnL w="0">
                      <a:noFill/>
                    </a:lnL>
                    <a:lnR w="0">
                      <a:noFill/>
                    </a:lnR>
                    <a:lnT w="0">
                      <a:noFill/>
                    </a:lnT>
                    <a:lnB w="9525">
                      <a:solidFill>
                        <a:srgbClr val="D9DDE4"/>
                      </a:solidFill>
                    </a:lnB>
                    <a:solidFill>
                      <a:srgbClr val="FFFFFF"/>
                    </a:solidFill>
                  </a:tcPr>
                </a:tc>
              </a:tr>
              <a:tr h="324000">
                <a:tc>
                  <a:txBody>
                    <a:bodyPr wrap="square"/>
                    <a:lstStyle/>
                    <a:p>
                      <a:pPr algn="l"/>
                      <a:r>
                        <a:rPr sz="950" b="1">
                          <a:solidFill>
                            <a:srgbClr val="1D2433"/>
                          </a:solidFill>
                          <a:latin typeface="Inter"/>
                        </a:rPr>
                        <a:t>Totaal</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1D2433"/>
                          </a:solidFill>
                          <a:latin typeface="Inter"/>
                        </a:rPr>
                        <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1D2433"/>
                          </a:solidFill>
                          <a:latin typeface="Inter"/>
                        </a:rPr>
                        <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1D2433"/>
                          </a:solidFill>
                          <a:latin typeface="Inter"/>
                        </a:rPr>
                        <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5B6474"/>
                          </a:solidFill>
                          <a:latin typeface="Inter"/>
                        </a:rPr>
                        <a:t>[?]</a:t>
                      </a:r>
                      <a:r>
                        <a:rPr sz="950" b="1">
                          <a:solidFill>
                            <a:srgbClr val="1D2433"/>
                          </a:solidFill>
                          <a:latin typeface="Inter"/>
                        </a:rPr>
                        <a:t> uur × normbedrag = € </a:t>
                      </a:r>
                      <a:r>
                        <a:rPr sz="950" b="1">
                          <a:solidFill>
                            <a:srgbClr val="5B6474"/>
                          </a:solidFill>
                          <a:latin typeface="Inter"/>
                        </a:rPr>
                        <a:t>[?]</a:t>
                      </a:r>
                    </a:p>
                  </a:txBody>
                  <a:tcPr marL="108000" marR="108000" marT="72000" marB="72000">
                    <a:lnL w="0">
                      <a:noFill/>
                    </a:lnL>
                    <a:lnR w="0">
                      <a:noFill/>
                    </a:lnR>
                    <a:lnT w="0">
                      <a:noFill/>
                    </a:lnT>
                    <a:lnB w="0">
                      <a:noFill/>
                    </a:lnB>
                    <a:solidFill>
                      <a:srgbClr val="EAF3FB"/>
                    </a:solidFill>
                  </a:tcPr>
                </a:tc>
              </a:tr>
            </a:tbl>
          </a:graphicData>
        </a:graphic>
      </p:graphicFrame>
      <p:sp>
        <p:nvSpPr>
          <p:cNvPr id="17" name="TextBox 16"/>
          <p:cNvSpPr txBox="1"/>
          <p:nvPr/>
        </p:nvSpPr>
        <p:spPr>
          <a:xfrm>
            <a:off x="648000" y="4068000"/>
            <a:ext cx="6264000" cy="36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Leestijd niet meegerekend. Besparing = (feedbacktijd nu − controletijd met Eduface) × aantal × uurtarief. Voorzichtig scenario; het verwachte scenario volgt na de proof of value.</a:t>
            </a:r>
          </a:p>
        </p:txBody>
      </p:sp>
      <p:graphicFrame>
        <p:nvGraphicFramePr>
          <p:cNvPr id="18" name="Table 17"/>
          <p:cNvGraphicFramePr>
            <a:graphicFrameLocks noGrp="1"/>
          </p:cNvGraphicFramePr>
          <p:nvPr/>
        </p:nvGraphicFramePr>
        <p:xfrm>
          <a:off x="648000" y="4680000"/>
          <a:ext cx="6264000" cy="1152000"/>
        </p:xfrm>
        <a:graphic>
          <a:graphicData uri="http://schemas.openxmlformats.org/drawingml/2006/table">
            <a:tbl>
              <a:tblPr firstRow="0" bandRow="0">
                <a:tableStyleId>{5C22544A-7EE6-4342-B048-85BDC9FD1C3A}</a:tableStyleId>
              </a:tblPr>
              <a:tblGrid>
                <a:gridCol w="2664000"/>
                <a:gridCol w="1800000"/>
                <a:gridCol w="1800000"/>
              </a:tblGrid>
              <a:tr h="288000">
                <a:tc>
                  <a:txBody>
                    <a:bodyPr wrap="square"/>
                    <a:lstStyle/>
                    <a:p>
                      <a:pPr algn="l"/>
                      <a:r>
                        <a:rPr sz="850" b="1">
                          <a:solidFill>
                            <a:srgbClr val="FFFFFF"/>
                          </a:solidFill>
                          <a:latin typeface="Inter"/>
                        </a:rPr>
                        <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Jaar 1</a:t>
                      </a:r>
                    </a:p>
                  </a:txBody>
                  <a:tcPr marL="108000" marR="108000" marT="72000" marB="72000">
                    <a:lnL w="0">
                      <a:noFill/>
                    </a:lnL>
                    <a:lnR w="0">
                      <a:noFill/>
                    </a:lnR>
                    <a:lnT w="0">
                      <a:noFill/>
                    </a:lnT>
                    <a:lnB w="0">
                      <a:noFill/>
                    </a:lnB>
                    <a:solidFill>
                      <a:srgbClr val="000326"/>
                    </a:solidFill>
                  </a:tcPr>
                </a:tc>
                <a:tc>
                  <a:txBody>
                    <a:bodyPr wrap="square"/>
                    <a:lstStyle/>
                    <a:p>
                      <a:pPr algn="r"/>
                      <a:r>
                        <a:rPr sz="850" b="1">
                          <a:solidFill>
                            <a:srgbClr val="FFFFFF"/>
                          </a:solidFill>
                          <a:latin typeface="Inter"/>
                        </a:rPr>
                        <a:t>Jaar 2</a:t>
                      </a:r>
                    </a:p>
                  </a:txBody>
                  <a:tcPr marL="108000" marR="108000" marT="72000" marB="72000">
                    <a:lnL w="0">
                      <a:noFill/>
                    </a:lnL>
                    <a:lnR w="0">
                      <a:noFill/>
                    </a:lnR>
                    <a:lnT w="0">
                      <a:noFill/>
                    </a:lnT>
                    <a:lnB w="0">
                      <a:noFill/>
                    </a:lnB>
                    <a:solidFill>
                      <a:srgbClr val="000326"/>
                    </a:solidFill>
                  </a:tcPr>
                </a:tc>
              </a:tr>
              <a:tr h="288000">
                <a:tc>
                  <a:txBody>
                    <a:bodyPr wrap="square"/>
                    <a:lstStyle/>
                    <a:p>
                      <a:pPr algn="l"/>
                      <a:r>
                        <a:rPr sz="950" b="0">
                          <a:solidFill>
                            <a:srgbClr val="1D2433"/>
                          </a:solidFill>
                          <a:latin typeface="Inter"/>
                        </a:rPr>
                        <a:t>Licentie</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€ 18.000</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€ 18.000 (</a:t>
                      </a:r>
                      <a:r>
                        <a:rPr sz="950" b="1">
                          <a:solidFill>
                            <a:srgbClr val="5B6474"/>
                          </a:solidFill>
                          <a:latin typeface="Inter"/>
                        </a:rPr>
                        <a:t>[?]</a:t>
                      </a:r>
                      <a:r>
                        <a:rPr sz="950" b="0">
                          <a:solidFill>
                            <a:srgbClr val="1D2433"/>
                          </a:solidFill>
                          <a:latin typeface="Inter"/>
                        </a:rPr>
                        <a:t>)</a:t>
                      </a:r>
                    </a:p>
                  </a:txBody>
                  <a:tcPr marL="108000" marR="108000" marT="72000" marB="72000">
                    <a:lnL w="0">
                      <a:noFill/>
                    </a:lnL>
                    <a:lnR w="0">
                      <a:noFill/>
                    </a:lnR>
                    <a:lnT w="0">
                      <a:noFill/>
                    </a:lnT>
                    <a:lnB w="9525">
                      <a:solidFill>
                        <a:srgbClr val="D9DDE4"/>
                      </a:solidFill>
                    </a:lnB>
                    <a:solidFill>
                      <a:srgbClr val="FFFFFF"/>
                    </a:solidFill>
                  </a:tcPr>
                </a:tc>
              </a:tr>
              <a:tr h="288000">
                <a:tc>
                  <a:txBody>
                    <a:bodyPr wrap="square"/>
                    <a:lstStyle/>
                    <a:p>
                      <a:pPr algn="l"/>
                      <a:r>
                        <a:rPr sz="950" b="0">
                          <a:solidFill>
                            <a:srgbClr val="1D2433"/>
                          </a:solidFill>
                          <a:latin typeface="Inter"/>
                        </a:rPr>
                        <a:t>Baten (tabel hierboven)</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 </a:t>
                      </a:r>
                      <a:r>
                        <a:rPr sz="950" b="1">
                          <a:solidFill>
                            <a:srgbClr val="5B6474"/>
                          </a:solidFill>
                          <a:latin typeface="Inter"/>
                        </a:rPr>
                        <a:t>[?]</a:t>
                      </a:r>
                    </a:p>
                  </a:txBody>
                  <a:tcPr marL="108000" marR="108000" marT="72000" marB="72000">
                    <a:lnL w="0">
                      <a:noFill/>
                    </a:lnL>
                    <a:lnR w="0">
                      <a:noFill/>
                    </a:lnR>
                    <a:lnT w="0">
                      <a:noFill/>
                    </a:lnT>
                    <a:lnB w="9525">
                      <a:solidFill>
                        <a:srgbClr val="D9DDE4"/>
                      </a:solidFill>
                    </a:lnB>
                    <a:solidFill>
                      <a:srgbClr val="FFFFFF"/>
                    </a:solidFill>
                  </a:tcPr>
                </a:tc>
                <a:tc>
                  <a:txBody>
                    <a:bodyPr wrap="square"/>
                    <a:lstStyle/>
                    <a:p>
                      <a:pPr algn="r"/>
                      <a:r>
                        <a:rPr sz="950" b="0">
                          <a:solidFill>
                            <a:srgbClr val="1D2433"/>
                          </a:solidFill>
                          <a:latin typeface="Inter"/>
                        </a:rPr>
                        <a:t>€ </a:t>
                      </a:r>
                      <a:r>
                        <a:rPr sz="950" b="1">
                          <a:solidFill>
                            <a:srgbClr val="5B6474"/>
                          </a:solidFill>
                          <a:latin typeface="Inter"/>
                        </a:rPr>
                        <a:t>[?]</a:t>
                      </a:r>
                    </a:p>
                  </a:txBody>
                  <a:tcPr marL="108000" marR="108000" marT="72000" marB="72000">
                    <a:lnL w="0">
                      <a:noFill/>
                    </a:lnL>
                    <a:lnR w="0">
                      <a:noFill/>
                    </a:lnR>
                    <a:lnT w="0">
                      <a:noFill/>
                    </a:lnT>
                    <a:lnB w="9525">
                      <a:solidFill>
                        <a:srgbClr val="D9DDE4"/>
                      </a:solidFill>
                    </a:lnB>
                    <a:solidFill>
                      <a:srgbClr val="FFFFFF"/>
                    </a:solidFill>
                  </a:tcPr>
                </a:tc>
              </a:tr>
              <a:tr h="288000">
                <a:tc>
                  <a:txBody>
                    <a:bodyPr wrap="square"/>
                    <a:lstStyle/>
                    <a:p>
                      <a:pPr algn="l"/>
                      <a:r>
                        <a:rPr sz="950" b="1">
                          <a:solidFill>
                            <a:srgbClr val="1D2433"/>
                          </a:solidFill>
                          <a:latin typeface="Inter"/>
                        </a:rPr>
                        <a:t>ROI</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5B6474"/>
                          </a:solidFill>
                          <a:latin typeface="Inter"/>
                        </a:rPr>
                        <a:t>[?]</a:t>
                      </a:r>
                    </a:p>
                  </a:txBody>
                  <a:tcPr marL="108000" marR="108000" marT="72000" marB="72000">
                    <a:lnL w="0">
                      <a:noFill/>
                    </a:lnL>
                    <a:lnR w="0">
                      <a:noFill/>
                    </a:lnR>
                    <a:lnT w="0">
                      <a:noFill/>
                    </a:lnT>
                    <a:lnB w="0">
                      <a:noFill/>
                    </a:lnB>
                    <a:solidFill>
                      <a:srgbClr val="EAF3FB"/>
                    </a:solidFill>
                  </a:tcPr>
                </a:tc>
                <a:tc>
                  <a:txBody>
                    <a:bodyPr wrap="square"/>
                    <a:lstStyle/>
                    <a:p>
                      <a:pPr algn="r"/>
                      <a:r>
                        <a:rPr sz="950" b="1">
                          <a:solidFill>
                            <a:srgbClr val="5B6474"/>
                          </a:solidFill>
                          <a:latin typeface="Inter"/>
                        </a:rPr>
                        <a:t>[?]</a:t>
                      </a:r>
                    </a:p>
                  </a:txBody>
                  <a:tcPr marL="108000" marR="108000" marT="72000" marB="72000">
                    <a:lnL w="0">
                      <a:noFill/>
                    </a:lnL>
                    <a:lnR w="0">
                      <a:noFill/>
                    </a:lnR>
                    <a:lnT w="0">
                      <a:noFill/>
                    </a:lnT>
                    <a:lnB w="0">
                      <a:noFill/>
                    </a:lnB>
                    <a:solidFill>
                      <a:srgbClr val="EAF3FB"/>
                    </a:solidFill>
                  </a:tcPr>
                </a:tc>
              </a:tr>
            </a:tbl>
          </a:graphicData>
        </a:graphic>
      </p:graphicFrame>
      <p:sp>
        <p:nvSpPr>
          <p:cNvPr id="19" name="TextBox 18"/>
          <p:cNvSpPr txBox="1"/>
          <p:nvPr/>
        </p:nvSpPr>
        <p:spPr>
          <a:xfrm>
            <a:off x="648000" y="6048000"/>
            <a:ext cx="6264000" cy="360000"/>
          </a:xfrm>
          <a:prstGeom prst="rect">
            <a:avLst/>
          </a:prstGeom>
          <a:noFill/>
        </p:spPr>
        <p:txBody>
          <a:bodyPr wrap="square" lIns="0" rIns="0" tIns="0" bIns="0" anchor="t">
            <a:spAutoFit/>
          </a:bodyPr>
          <a:lstStyle/>
          <a:p>
            <a:pPr algn="l">
              <a:lnSpc>
                <a:spcPct val="115000"/>
              </a:lnSpc>
            </a:pPr>
            <a:r>
              <a:rPr sz="850" b="0">
                <a:solidFill>
                  <a:srgbClr val="5B6474"/>
                </a:solidFill>
                <a:latin typeface="Inter"/>
              </a:rPr>
              <a:t>Aannames: geklokte tijden van onze docenten, te bevestigen in de proof of value. In jaar 2 tellen de Pabo, de theses vanaf jaar 2 en de groei van de MET mee. De prijs in jaar 2 hangt af van het aantal studenten boven de 400.</a:t>
            </a:r>
          </a:p>
        </p:txBody>
      </p:sp>
      <p:sp>
        <p:nvSpPr>
          <p:cNvPr id="20" name="Rectangle 19"/>
          <p:cNvSpPr/>
          <p:nvPr/>
        </p:nvSpPr>
        <p:spPr>
          <a:xfrm>
            <a:off x="648000" y="6624000"/>
            <a:ext cx="6264000" cy="576000"/>
          </a:xfrm>
          <a:prstGeom prst="rect">
            <a:avLst/>
          </a:prstGeom>
          <a:solidFill>
            <a:srgbClr val="EAF3FB"/>
          </a:solidFill>
          <a:ln>
            <a:noFill/>
          </a:ln>
        </p:spPr>
        <p:txBody>
          <a:bodyPr rtlCol="0" anchor="ctr"/>
          <a:lstStyle/>
          <a:p/>
        </p:txBody>
      </p:sp>
      <p:sp>
        <p:nvSpPr>
          <p:cNvPr id="21" name="Rectangle 20"/>
          <p:cNvSpPr/>
          <p:nvPr/>
        </p:nvSpPr>
        <p:spPr>
          <a:xfrm>
            <a:off x="648000" y="6624000"/>
            <a:ext cx="43200" cy="576000"/>
          </a:xfrm>
          <a:prstGeom prst="rect">
            <a:avLst/>
          </a:prstGeom>
          <a:solidFill>
            <a:srgbClr val="000326"/>
          </a:solidFill>
          <a:ln>
            <a:noFill/>
          </a:ln>
        </p:spPr>
        <p:txBody>
          <a:bodyPr rtlCol="0" anchor="ctr"/>
          <a:lstStyle/>
          <a:p/>
        </p:txBody>
      </p:sp>
      <p:sp>
        <p:nvSpPr>
          <p:cNvPr id="22" name="TextBox 21"/>
          <p:cNvSpPr txBox="1"/>
          <p:nvPr/>
        </p:nvSpPr>
        <p:spPr>
          <a:xfrm>
            <a:off x="864000" y="6624000"/>
            <a:ext cx="5904000" cy="576000"/>
          </a:xfrm>
          <a:prstGeom prst="rect">
            <a:avLst/>
          </a:prstGeom>
          <a:noFill/>
        </p:spPr>
        <p:txBody>
          <a:bodyPr wrap="square" lIns="0" rIns="0" tIns="0" bIns="0" anchor="ctr">
            <a:spAutoFit/>
          </a:bodyPr>
          <a:lstStyle/>
          <a:p>
            <a:pPr algn="l">
              <a:lnSpc>
                <a:spcPct val="115000"/>
              </a:lnSpc>
            </a:pPr>
            <a:r>
              <a:rPr sz="1000" b="1">
                <a:solidFill>
                  <a:srgbClr val="1D2433"/>
                </a:solidFill>
                <a:latin typeface="Inter"/>
              </a:rPr>
              <a:t>Ons risico is beperkt. </a:t>
            </a:r>
            <a:r>
              <a:rPr sz="1000" b="0">
                <a:solidFill>
                  <a:srgbClr val="1D2433"/>
                </a:solidFill>
                <a:latin typeface="Inter"/>
              </a:rPr>
              <a:t>Opzeggen kan na 90 dagen. Het maximale bedrag dat we inzetten om te zien of het werkt, is € 4.500.</a:t>
            </a:r>
          </a:p>
        </p:txBody>
      </p:sp>
      <p:sp>
        <p:nvSpPr>
          <p:cNvPr id="23" name="TextBox 22"/>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24" name="TextBox 23"/>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648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MOGELIJKE RISICO'S</a:t>
            </a:r>
          </a:p>
        </p:txBody>
      </p:sp>
      <p:sp>
        <p:nvSpPr>
          <p:cNvPr id="3" name="Rounded Rectangle 2"/>
          <p:cNvSpPr/>
          <p:nvPr/>
        </p:nvSpPr>
        <p:spPr>
          <a:xfrm>
            <a:off x="648000" y="900000"/>
            <a:ext cx="6264000" cy="504000"/>
          </a:xfrm>
          <a:prstGeom prst="roundRect">
            <a:avLst>
              <a:gd name="adj" fmla="val 28571"/>
            </a:avLst>
          </a:prstGeom>
          <a:noFill/>
          <a:ln w="15875">
            <a:solidFill>
              <a:srgbClr val="D9DDE4"/>
            </a:solidFill>
            <a:prstDash val="dash"/>
          </a:ln>
        </p:spPr>
        <p:txBody>
          <a:bodyPr rtlCol="0" anchor="ctr"/>
          <a:lstStyle/>
          <a:p/>
        </p:txBody>
      </p:sp>
      <p:sp>
        <p:nvSpPr>
          <p:cNvPr id="4" name="TextBox 3"/>
          <p:cNvSpPr txBox="1"/>
          <p:nvPr/>
        </p:nvSpPr>
        <p:spPr>
          <a:xfrm>
            <a:off x="864000" y="900000"/>
            <a:ext cx="5832000" cy="504000"/>
          </a:xfrm>
          <a:prstGeom prst="rect">
            <a:avLst/>
          </a:prstGeom>
          <a:noFill/>
        </p:spPr>
        <p:txBody>
          <a:bodyPr wrap="square" lIns="0" rIns="0" tIns="0" bIns="0" anchor="ctr">
            <a:spAutoFit/>
          </a:bodyPr>
          <a:lstStyle/>
          <a:p>
            <a:pPr algn="l">
              <a:lnSpc>
                <a:spcPct val="115000"/>
              </a:lnSpc>
            </a:pPr>
            <a:r>
              <a:rPr sz="1000" b="0">
                <a:solidFill>
                  <a:srgbClr val="5B6474"/>
                </a:solidFill>
                <a:latin typeface="Inter"/>
              </a:rPr>
              <a:t>Dit onderdeel vullen we samen in.</a:t>
            </a:r>
          </a:p>
        </p:txBody>
      </p:sp>
      <p:sp>
        <p:nvSpPr>
          <p:cNvPr id="5" name="TextBox 4"/>
          <p:cNvSpPr txBox="1"/>
          <p:nvPr/>
        </p:nvSpPr>
        <p:spPr>
          <a:xfrm>
            <a:off x="648000" y="1872000"/>
            <a:ext cx="6264000" cy="180000"/>
          </a:xfrm>
          <a:prstGeom prst="rect">
            <a:avLst/>
          </a:prstGeom>
          <a:noFill/>
        </p:spPr>
        <p:txBody>
          <a:bodyPr wrap="square" lIns="0" rIns="0" tIns="0" bIns="0" anchor="t">
            <a:spAutoFit/>
          </a:bodyPr>
          <a:lstStyle/>
          <a:p>
            <a:pPr algn="l">
              <a:lnSpc>
                <a:spcPct val="115000"/>
              </a:lnSpc>
            </a:pPr>
            <a:r>
              <a:rPr sz="850" b="1">
                <a:solidFill>
                  <a:srgbClr val="000326"/>
                </a:solidFill>
                <a:latin typeface="Inter"/>
              </a:rPr>
              <a:t>SCOPE</a:t>
            </a:r>
          </a:p>
        </p:txBody>
      </p:sp>
      <p:sp>
        <p:nvSpPr>
          <p:cNvPr id="6" name="TextBox 5"/>
          <p:cNvSpPr txBox="1"/>
          <p:nvPr/>
        </p:nvSpPr>
        <p:spPr>
          <a:xfrm>
            <a:off x="648000" y="2088000"/>
            <a:ext cx="5400000" cy="648000"/>
          </a:xfrm>
          <a:prstGeom prst="rect">
            <a:avLst/>
          </a:prstGeom>
          <a:noFill/>
        </p:spPr>
        <p:txBody>
          <a:bodyPr wrap="square" lIns="0" rIns="0" tIns="0" bIns="0" anchor="t">
            <a:spAutoFit/>
          </a:bodyPr>
          <a:lstStyle/>
          <a:p>
            <a:pPr algn="l">
              <a:lnSpc>
                <a:spcPct val="105000"/>
              </a:lnSpc>
            </a:pPr>
            <a:r>
              <a:rPr sz="2000" b="1">
                <a:solidFill>
                  <a:srgbClr val="1D2433"/>
                </a:solidFill>
                <a:latin typeface="Inter"/>
              </a:rPr>
              <a:t>We starten klein, en rollen uit na een geslaagde proof of value</a:t>
            </a:r>
          </a:p>
        </p:txBody>
      </p:sp>
      <p:sp>
        <p:nvSpPr>
          <p:cNvPr id="7" name="Rounded Rectangle 6"/>
          <p:cNvSpPr/>
          <p:nvPr/>
        </p:nvSpPr>
        <p:spPr>
          <a:xfrm>
            <a:off x="648000" y="2952000"/>
            <a:ext cx="2736000" cy="2304000"/>
          </a:xfrm>
          <a:prstGeom prst="roundRect">
            <a:avLst>
              <a:gd name="adj" fmla="val 6250"/>
            </a:avLst>
          </a:prstGeom>
          <a:solidFill>
            <a:srgbClr val="EAF3FB"/>
          </a:solidFill>
          <a:ln>
            <a:noFill/>
          </a:ln>
        </p:spPr>
        <p:txBody>
          <a:bodyPr rtlCol="0" anchor="ctr"/>
          <a:lstStyle/>
          <a:p/>
        </p:txBody>
      </p:sp>
      <p:sp>
        <p:nvSpPr>
          <p:cNvPr id="8" name="TextBox 7"/>
          <p:cNvSpPr txBox="1"/>
          <p:nvPr/>
        </p:nvSpPr>
        <p:spPr>
          <a:xfrm>
            <a:off x="828000" y="3096000"/>
            <a:ext cx="2376000" cy="216000"/>
          </a:xfrm>
          <a:prstGeom prst="rect">
            <a:avLst/>
          </a:prstGeom>
          <a:noFill/>
        </p:spPr>
        <p:txBody>
          <a:bodyPr wrap="square" lIns="0" rIns="0" tIns="0" bIns="0" anchor="t">
            <a:spAutoFit/>
          </a:bodyPr>
          <a:lstStyle/>
          <a:p>
            <a:pPr algn="l">
              <a:lnSpc>
                <a:spcPct val="115000"/>
              </a:lnSpc>
            </a:pPr>
            <a:r>
              <a:rPr sz="1050" b="1">
                <a:solidFill>
                  <a:srgbClr val="1D2433"/>
                </a:solidFill>
                <a:latin typeface="Inter"/>
              </a:rPr>
              <a:t>Proof of value (2 weken)</a:t>
            </a:r>
          </a:p>
        </p:txBody>
      </p:sp>
      <p:sp>
        <p:nvSpPr>
          <p:cNvPr id="9" name="TextBox 8"/>
          <p:cNvSpPr txBox="1"/>
          <p:nvPr/>
        </p:nvSpPr>
        <p:spPr>
          <a:xfrm>
            <a:off x="828000" y="3384000"/>
            <a:ext cx="2376000" cy="1800000"/>
          </a:xfrm>
          <a:prstGeom prst="rect">
            <a:avLst/>
          </a:prstGeom>
          <a:noFill/>
        </p:spPr>
        <p:txBody>
          <a:bodyPr wrap="square" lIns="0" rIns="0" tIns="0" bIns="0" anchor="t">
            <a:spAutoFit/>
          </a:bodyPr>
          <a:lstStyle/>
          <a:p>
            <a:pPr algn="l">
              <a:lnSpc>
                <a:spcPct val="115000"/>
              </a:lnSpc>
            </a:pPr>
            <a:r>
              <a:rPr sz="950" b="0">
                <a:solidFill>
                  <a:srgbClr val="1D2433"/>
                </a:solidFill>
                <a:latin typeface="Inter"/>
              </a:rPr>
              <a:t>•  </a:t>
            </a:r>
            <a:r>
              <a:rPr sz="950" b="0">
                <a:solidFill>
                  <a:srgbClr val="1D2433"/>
                </a:solidFill>
                <a:latin typeface="Inter"/>
              </a:rPr>
              <a:t>Opleiding: </a:t>
            </a:r>
            <a:r>
              <a:rPr sz="950" b="1">
                <a:solidFill>
                  <a:srgbClr val="5B6474"/>
                </a:solidFill>
                <a:latin typeface="Inter"/>
              </a:rPr>
              <a:t>[?]</a:t>
            </a:r>
          </a:p>
          <a:p>
            <a:pPr algn="l">
              <a:lnSpc>
                <a:spcPct val="115000"/>
              </a:lnSpc>
              <a:spcBef>
                <a:spcPts val="300"/>
              </a:spcBef>
            </a:pPr>
            <a:r>
              <a:rPr sz="950" b="0">
                <a:solidFill>
                  <a:srgbClr val="1D2433"/>
                </a:solidFill>
                <a:latin typeface="Inter"/>
              </a:rPr>
              <a:t>•  </a:t>
            </a:r>
            <a:r>
              <a:rPr sz="950" b="0">
                <a:solidFill>
                  <a:srgbClr val="1D2433"/>
                </a:solidFill>
                <a:latin typeface="Inter"/>
              </a:rPr>
              <a:t>Echte opdrachten met onze eigen rubrics (aantal: </a:t>
            </a:r>
            <a:r>
              <a:rPr sz="950" b="1">
                <a:solidFill>
                  <a:srgbClr val="5B6474"/>
                </a:solidFill>
                <a:latin typeface="Inter"/>
              </a:rPr>
              <a:t>[?]</a:t>
            </a:r>
            <a:r>
              <a:rPr sz="950" b="0">
                <a:solidFill>
                  <a:srgbClr val="1D2433"/>
                </a:solidFill>
                <a:latin typeface="Inter"/>
              </a:rPr>
              <a:t>)</a:t>
            </a:r>
          </a:p>
          <a:p>
            <a:pPr algn="l">
              <a:lnSpc>
                <a:spcPct val="115000"/>
              </a:lnSpc>
              <a:spcBef>
                <a:spcPts val="300"/>
              </a:spcBef>
            </a:pPr>
            <a:r>
              <a:rPr sz="950" b="0">
                <a:solidFill>
                  <a:srgbClr val="1D2433"/>
                </a:solidFill>
                <a:latin typeface="Inter"/>
              </a:rPr>
              <a:t>•  </a:t>
            </a:r>
            <a:r>
              <a:rPr sz="950" b="0">
                <a:solidFill>
                  <a:srgbClr val="1D2433"/>
                </a:solidFill>
                <a:latin typeface="Inter"/>
              </a:rPr>
              <a:t>We meten dezelfde stappen als in deze business case: lezen, feedback formuleren, cijfer invoeren.</a:t>
            </a:r>
          </a:p>
          <a:p>
            <a:pPr algn="l">
              <a:lnSpc>
                <a:spcPct val="115000"/>
              </a:lnSpc>
              <a:spcBef>
                <a:spcPts val="300"/>
              </a:spcBef>
            </a:pPr>
            <a:r>
              <a:rPr sz="950" b="0">
                <a:solidFill>
                  <a:srgbClr val="1D2433"/>
                </a:solidFill>
                <a:latin typeface="Inter"/>
              </a:rPr>
              <a:t>•  </a:t>
            </a:r>
            <a:r>
              <a:rPr sz="950" b="0">
                <a:solidFill>
                  <a:srgbClr val="1D2433"/>
                </a:solidFill>
                <a:latin typeface="Inter"/>
              </a:rPr>
              <a:t>Plus kwaliteit: aandeel studenten met feedback per criterium, doorlooptijd, consistentie tussen beoordelaars.</a:t>
            </a:r>
          </a:p>
        </p:txBody>
      </p:sp>
      <p:pic>
        <p:nvPicPr>
          <p:cNvPr id="10" name="Picture 9" descr="icoon-pijl.png"/>
          <p:cNvPicPr>
            <a:picLocks noChangeAspect="1"/>
          </p:cNvPicPr>
          <p:nvPr/>
        </p:nvPicPr>
        <p:blipFill>
          <a:blip r:embed="rId2"/>
          <a:stretch>
            <a:fillRect/>
          </a:stretch>
        </p:blipFill>
        <p:spPr>
          <a:xfrm>
            <a:off x="3681000" y="4004470"/>
            <a:ext cx="198000" cy="163058"/>
          </a:xfrm>
          <a:prstGeom prst="rect">
            <a:avLst/>
          </a:prstGeom>
        </p:spPr>
      </p:pic>
      <p:sp>
        <p:nvSpPr>
          <p:cNvPr id="11" name="Rounded Rectangle 10"/>
          <p:cNvSpPr/>
          <p:nvPr/>
        </p:nvSpPr>
        <p:spPr>
          <a:xfrm>
            <a:off x="4176000" y="2952000"/>
            <a:ext cx="2736000" cy="2304000"/>
          </a:xfrm>
          <a:prstGeom prst="roundRect">
            <a:avLst>
              <a:gd name="adj" fmla="val 6250"/>
            </a:avLst>
          </a:prstGeom>
          <a:solidFill>
            <a:srgbClr val="FFFFFF"/>
          </a:solidFill>
          <a:ln w="15875">
            <a:solidFill>
              <a:srgbClr val="CFE4F6"/>
            </a:solidFill>
          </a:ln>
        </p:spPr>
        <p:txBody>
          <a:bodyPr rtlCol="0" anchor="ctr"/>
          <a:lstStyle/>
          <a:p/>
        </p:txBody>
      </p:sp>
      <p:sp>
        <p:nvSpPr>
          <p:cNvPr id="12" name="TextBox 11"/>
          <p:cNvSpPr txBox="1"/>
          <p:nvPr/>
        </p:nvSpPr>
        <p:spPr>
          <a:xfrm>
            <a:off x="4356000" y="3096000"/>
            <a:ext cx="2376000" cy="216000"/>
          </a:xfrm>
          <a:prstGeom prst="rect">
            <a:avLst/>
          </a:prstGeom>
          <a:noFill/>
        </p:spPr>
        <p:txBody>
          <a:bodyPr wrap="square" lIns="0" rIns="0" tIns="0" bIns="0" anchor="t">
            <a:spAutoFit/>
          </a:bodyPr>
          <a:lstStyle/>
          <a:p>
            <a:pPr algn="l">
              <a:lnSpc>
                <a:spcPct val="115000"/>
              </a:lnSpc>
            </a:pPr>
            <a:r>
              <a:rPr sz="1050" b="1">
                <a:solidFill>
                  <a:srgbClr val="1D2433"/>
                </a:solidFill>
                <a:latin typeface="Inter"/>
              </a:rPr>
              <a:t>Uitrol</a:t>
            </a:r>
          </a:p>
        </p:txBody>
      </p:sp>
      <p:sp>
        <p:nvSpPr>
          <p:cNvPr id="13" name="TextBox 12"/>
          <p:cNvSpPr txBox="1"/>
          <p:nvPr/>
        </p:nvSpPr>
        <p:spPr>
          <a:xfrm>
            <a:off x="4356000" y="3384000"/>
            <a:ext cx="2376000" cy="1800000"/>
          </a:xfrm>
          <a:prstGeom prst="rect">
            <a:avLst/>
          </a:prstGeom>
          <a:noFill/>
        </p:spPr>
        <p:txBody>
          <a:bodyPr wrap="square" lIns="0" rIns="0" tIns="0" bIns="0" anchor="t">
            <a:spAutoFit/>
          </a:bodyPr>
          <a:lstStyle/>
          <a:p>
            <a:pPr algn="l">
              <a:lnSpc>
                <a:spcPct val="115000"/>
              </a:lnSpc>
            </a:pPr>
            <a:r>
              <a:rPr sz="950" b="0">
                <a:solidFill>
                  <a:srgbClr val="1D2433"/>
                </a:solidFill>
                <a:latin typeface="Inter"/>
              </a:rPr>
              <a:t>•  </a:t>
            </a:r>
            <a:r>
              <a:rPr sz="950" b="0">
                <a:solidFill>
                  <a:srgbClr val="1D2433"/>
                </a:solidFill>
                <a:latin typeface="Inter"/>
              </a:rPr>
              <a:t>Alle geaccrediteerde opleidingen: SO, MILE, AD-DEP, PMKC, PHKC, MET en MBA</a:t>
            </a:r>
          </a:p>
          <a:p>
            <a:pPr algn="l">
              <a:lnSpc>
                <a:spcPct val="115000"/>
              </a:lnSpc>
              <a:spcBef>
                <a:spcPts val="300"/>
              </a:spcBef>
            </a:pPr>
            <a:r>
              <a:rPr sz="950" b="0">
                <a:solidFill>
                  <a:srgbClr val="1D2433"/>
                </a:solidFill>
                <a:latin typeface="Inter"/>
              </a:rPr>
              <a:t>•  </a:t>
            </a:r>
            <a:r>
              <a:rPr sz="950" b="0">
                <a:solidFill>
                  <a:srgbClr val="1D2433"/>
                </a:solidFill>
                <a:latin typeface="Inter"/>
              </a:rPr>
              <a:t>Later de Pabo, na de accreditatie</a:t>
            </a:r>
          </a:p>
          <a:p>
            <a:pPr algn="l">
              <a:lnSpc>
                <a:spcPct val="115000"/>
              </a:lnSpc>
              <a:spcBef>
                <a:spcPts val="300"/>
              </a:spcBef>
            </a:pPr>
            <a:r>
              <a:rPr sz="950" b="0">
                <a:solidFill>
                  <a:srgbClr val="1D2433"/>
                </a:solidFill>
                <a:latin typeface="Inter"/>
              </a:rPr>
              <a:t>•  </a:t>
            </a:r>
            <a:r>
              <a:rPr sz="950" b="0">
                <a:solidFill>
                  <a:srgbClr val="1D2433"/>
                </a:solidFill>
                <a:latin typeface="Inter"/>
              </a:rPr>
              <a:t>Formatieve feedback bij elke module</a:t>
            </a:r>
          </a:p>
        </p:txBody>
      </p:sp>
      <p:sp>
        <p:nvSpPr>
          <p:cNvPr id="14" name="Rectangle 13"/>
          <p:cNvSpPr/>
          <p:nvPr/>
        </p:nvSpPr>
        <p:spPr>
          <a:xfrm>
            <a:off x="648000" y="5436000"/>
            <a:ext cx="6264000" cy="540000"/>
          </a:xfrm>
          <a:prstGeom prst="rect">
            <a:avLst/>
          </a:prstGeom>
          <a:solidFill>
            <a:srgbClr val="EAF3FB"/>
          </a:solidFill>
          <a:ln>
            <a:noFill/>
          </a:ln>
        </p:spPr>
        <p:txBody>
          <a:bodyPr rtlCol="0" anchor="ctr"/>
          <a:lstStyle/>
          <a:p/>
        </p:txBody>
      </p:sp>
      <p:sp>
        <p:nvSpPr>
          <p:cNvPr id="15" name="Rectangle 14"/>
          <p:cNvSpPr/>
          <p:nvPr/>
        </p:nvSpPr>
        <p:spPr>
          <a:xfrm>
            <a:off x="648000" y="5436000"/>
            <a:ext cx="43200" cy="540000"/>
          </a:xfrm>
          <a:prstGeom prst="rect">
            <a:avLst/>
          </a:prstGeom>
          <a:solidFill>
            <a:srgbClr val="000326"/>
          </a:solidFill>
          <a:ln>
            <a:noFill/>
          </a:ln>
        </p:spPr>
        <p:txBody>
          <a:bodyPr rtlCol="0" anchor="ctr"/>
          <a:lstStyle/>
          <a:p/>
        </p:txBody>
      </p:sp>
      <p:sp>
        <p:nvSpPr>
          <p:cNvPr id="16" name="TextBox 15"/>
          <p:cNvSpPr txBox="1"/>
          <p:nvPr/>
        </p:nvSpPr>
        <p:spPr>
          <a:xfrm>
            <a:off x="864000" y="5436000"/>
            <a:ext cx="5904000" cy="540000"/>
          </a:xfrm>
          <a:prstGeom prst="rect">
            <a:avLst/>
          </a:prstGeom>
          <a:noFill/>
        </p:spPr>
        <p:txBody>
          <a:bodyPr wrap="square" lIns="0" rIns="0" tIns="0" bIns="0" anchor="ctr">
            <a:spAutoFit/>
          </a:bodyPr>
          <a:lstStyle/>
          <a:p>
            <a:pPr algn="l">
              <a:lnSpc>
                <a:spcPct val="115000"/>
              </a:lnSpc>
            </a:pPr>
            <a:r>
              <a:rPr sz="950" b="1">
                <a:solidFill>
                  <a:srgbClr val="1D2433"/>
                </a:solidFill>
                <a:latin typeface="Inter"/>
              </a:rPr>
              <a:t>Door als: </a:t>
            </a:r>
            <a:r>
              <a:rPr sz="950" b="0">
                <a:solidFill>
                  <a:srgbClr val="1D2433"/>
                </a:solidFill>
                <a:latin typeface="Inter"/>
              </a:rPr>
              <a:t>de koppeling met NEO werkt, inclusief de cijferterugkoppeling, en de beoordeling van ons praktijkgerichte werk voldoet aan de vooraf vastgelegde criteria.</a:t>
            </a:r>
          </a:p>
        </p:txBody>
      </p:sp>
      <p:sp>
        <p:nvSpPr>
          <p:cNvPr id="17" name="TextBox 16"/>
          <p:cNvSpPr txBox="1"/>
          <p:nvPr/>
        </p:nvSpPr>
        <p:spPr>
          <a:xfrm>
            <a:off x="648000" y="10224000"/>
            <a:ext cx="5040000" cy="180000"/>
          </a:xfrm>
          <a:prstGeom prst="rect">
            <a:avLst/>
          </a:prstGeom>
          <a:noFill/>
        </p:spPr>
        <p:txBody>
          <a:bodyPr wrap="square" lIns="0" rIns="0" tIns="0" bIns="0" anchor="t">
            <a:spAutoFit/>
          </a:bodyPr>
          <a:lstStyle/>
          <a:p>
            <a:pPr algn="l">
              <a:lnSpc>
                <a:spcPct val="115000"/>
              </a:lnSpc>
            </a:pPr>
            <a:r>
              <a:rPr sz="800" b="0">
                <a:solidFill>
                  <a:srgbClr val="5B6474"/>
                </a:solidFill>
                <a:latin typeface="Inter"/>
              </a:rPr>
              <a:t>Business case Eduface · Academica University of Applied Sciences · concept</a:t>
            </a:r>
          </a:p>
        </p:txBody>
      </p:sp>
      <p:sp>
        <p:nvSpPr>
          <p:cNvPr id="18" name="TextBox 17"/>
          <p:cNvSpPr txBox="1"/>
          <p:nvPr/>
        </p:nvSpPr>
        <p:spPr>
          <a:xfrm>
            <a:off x="6552000" y="10224000"/>
            <a:ext cx="360000" cy="180000"/>
          </a:xfrm>
          <a:prstGeom prst="rect">
            <a:avLst/>
          </a:prstGeom>
          <a:noFill/>
        </p:spPr>
        <p:txBody>
          <a:bodyPr wrap="square" lIns="0" rIns="0" tIns="0" bIns="0" anchor="t">
            <a:spAutoFit/>
          </a:bodyPr>
          <a:lstStyle/>
          <a:p>
            <a:pPr algn="r">
              <a:lnSpc>
                <a:spcPct val="115000"/>
              </a:lnSpc>
            </a:pPr>
            <a:r>
              <a:rPr sz="800" b="1">
                <a:solidFill>
                  <a:srgbClr val="5B6474"/>
                </a:solidFill>
                <a:latin typeface="Inter"/>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