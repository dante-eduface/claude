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133600"/>
            <a:ext cx="10668000" cy="1844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Scaling Consistent,</a:t>
            </a:r>
          </a:p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Timely Feedback at UTI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87800"/>
            <a:ext cx="10668000" cy="447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9EABB1"/>
                </a:solidFill>
                <a:latin typeface="Inter"/>
              </a:rPr>
              <a:t>Eduface for Universal Technical Institute</a:t>
            </a:r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842000"/>
            <a:ext cx="934528" cy="254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68500" y="5829300"/>
            <a:ext cx="6350" cy="2794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33600" y="5702300"/>
            <a:ext cx="952046" cy="5334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t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5791200"/>
            <a:ext cx="774246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58800"/>
            <a:ext cx="10668000" cy="627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478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17907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22606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26352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25781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Current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30480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34226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3655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Risks Ahead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38354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210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41529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The Proposed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46228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49974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49403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5000" y="18478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2200" y="17907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Required Capabilities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85000" y="22606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5000" y="26352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2200" y="25781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Demo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85000" y="30480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5000" y="34226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2200" y="33655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Proven Results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85000" y="38354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5000" y="4210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2200" y="41529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Our Solution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85000" y="46228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85000" y="49974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2200" y="49403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Next Steps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324600"/>
            <a:ext cx="937957" cy="2540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ut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58800"/>
            <a:ext cx="10668000" cy="1158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Assessment Today Is Rigid,</a:t>
            </a:r>
          </a:p>
          <a:p>
            <a:pPr algn="l">
              <a:lnSpc>
                <a:spcPct val="104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Costly and Invisible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463800"/>
            <a:ext cx="762000" cy="762000"/>
          </a:xfrm>
          <a:prstGeom prst="roundRect">
            <a:avLst>
              <a:gd name="adj" fmla="val 16666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-exact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2667000"/>
            <a:ext cx="355600" cy="355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3530600"/>
            <a:ext cx="3352800" cy="736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Exact-Match</a:t>
            </a:r>
          </a:p>
          <a:p>
            <a:pPr algn="l">
              <a:lnSpc>
                <a:spcPct val="108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Grading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43400"/>
            <a:ext cx="3175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2C4A57"/>
                </a:solidFill>
                <a:latin typeface="Inter"/>
              </a:rPr>
              <a:t>Blackboard can only auto-grade answers with an exact match.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600" y="2463800"/>
            <a:ext cx="762000" cy="762000"/>
          </a:xfrm>
          <a:prstGeom prst="roundRect">
            <a:avLst>
              <a:gd name="adj" fmla="val 16666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trend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800" y="2667000"/>
            <a:ext cx="35560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19600" y="3530600"/>
            <a:ext cx="3352800" cy="736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Grading Time</a:t>
            </a:r>
          </a:p>
          <a:p>
            <a:pPr algn="l">
              <a:lnSpc>
                <a:spcPct val="108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Doesn't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600" y="4343400"/>
            <a:ext cx="3175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2C4A57"/>
                </a:solidFill>
                <a:latin typeface="Inter"/>
              </a:rPr>
              <a:t>New locations and programs scale instructors proportionally, and squeeze profitability.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463800"/>
            <a:ext cx="762000" cy="762000"/>
          </a:xfrm>
          <a:prstGeom prst="roundRect">
            <a:avLst>
              <a:gd name="adj" fmla="val 16666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onzichtbaar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400" y="2667000"/>
            <a:ext cx="355600" cy="355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77200" y="3530600"/>
            <a:ext cx="3352800" cy="736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Feedback Is</a:t>
            </a:r>
          </a:p>
          <a:p>
            <a:pPr algn="l">
              <a:lnSpc>
                <a:spcPct val="108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a Black 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00" y="4343400"/>
            <a:ext cx="3175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2C4A57"/>
                </a:solidFill>
                <a:latin typeface="Inter"/>
              </a:rPr>
              <a:t>It isn't visible, so it can't be measured or influenced as a driver of retention.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324600"/>
            <a:ext cx="937957" cy="254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ti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58800"/>
            <a:ext cx="10668000" cy="106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Grading Consumes Evenings,</a:t>
            </a:r>
          </a:p>
          <a:p>
            <a:pPr algn="l">
              <a:lnSpc>
                <a:spcPct val="104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and the Feedback Cannot Be Measured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235200"/>
            <a:ext cx="762000" cy="762000"/>
          </a:xfrm>
          <a:prstGeom prst="roundRect">
            <a:avLst>
              <a:gd name="adj" fmla="val 16666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-klok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2438400"/>
            <a:ext cx="355600" cy="355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3378200"/>
            <a:ext cx="4445000" cy="9639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600" b="1">
                <a:solidFill>
                  <a:srgbClr val="002333"/>
                </a:solidFill>
                <a:latin typeface="League Spartan"/>
              </a:rPr>
              <a:t>2 – 4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0" y="3790950"/>
            <a:ext cx="1219200" cy="363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5B7480"/>
                </a:solidFill>
                <a:latin typeface="League Spartan"/>
              </a:rPr>
              <a:t>per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81500"/>
            <a:ext cx="4191000" cy="81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2C4A57"/>
                </a:solidFill>
                <a:latin typeface="Inter"/>
              </a:rPr>
              <a:t>Spent grading, per instructor, often in the evening. One of the leading drivers of instructor attrition.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2235200"/>
            <a:ext cx="762000" cy="762000"/>
          </a:xfrm>
          <a:prstGeom prst="roundRect">
            <a:avLst>
              <a:gd name="adj" fmla="val 16666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onzichtbaar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200" y="2438400"/>
            <a:ext cx="355600" cy="355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0" y="3657600"/>
            <a:ext cx="2540000" cy="363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A Black 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4381500"/>
            <a:ext cx="2540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2C4A57"/>
                </a:solidFill>
                <a:latin typeface="Inter"/>
              </a:rPr>
              <a:t>Verbal feedback isn't visible, so it can't be measured or influenced as a retention driver.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63000" y="2235200"/>
            <a:ext cx="762000" cy="762000"/>
          </a:xfrm>
          <a:prstGeom prst="roundRect">
            <a:avLst>
              <a:gd name="adj" fmla="val 16666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mensen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2438400"/>
            <a:ext cx="355600" cy="355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63000" y="3657600"/>
            <a:ext cx="2667000" cy="72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No Time</a:t>
            </a:r>
          </a:p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for Tutoring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0" y="4381500"/>
            <a:ext cx="2667000" cy="121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2C4A57"/>
                </a:solidFill>
                <a:latin typeface="Inter"/>
              </a:rPr>
              <a:t>Instructors are too caught up in grading to provide the tutoring and remedial support students increasingly need.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324600"/>
            <a:ext cx="937957" cy="254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ti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58800"/>
            <a:ext cx="10668000" cy="106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FFFFFF"/>
                </a:solidFill>
                <a:latin typeface="League Spartan"/>
              </a:rPr>
              <a:t>UTI Needs More Instructors</a:t>
            </a:r>
          </a:p>
          <a:p>
            <a:pPr algn="l">
              <a:lnSpc>
                <a:spcPct val="104000"/>
              </a:lnSpc>
            </a:pPr>
            <a:r>
              <a:rPr sz="3800" b="1">
                <a:solidFill>
                  <a:srgbClr val="FFFFFF"/>
                </a:solidFill>
                <a:latin typeface="League Spartan"/>
              </a:rPr>
              <a:t>Than the Market Can Supply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260600"/>
            <a:ext cx="762000" cy="762000"/>
          </a:xfrm>
          <a:prstGeom prst="roundRect">
            <a:avLst>
              <a:gd name="adj" fmla="val 16666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-mensen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2463800"/>
            <a:ext cx="355600" cy="355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3327400"/>
            <a:ext cx="5029200" cy="72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Instructor Hiring</a:t>
            </a:r>
          </a:p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Is Getting Harder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216400"/>
            <a:ext cx="50292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9EABB1"/>
                </a:solidFill>
                <a:latin typeface="Inter"/>
              </a:rPr>
              <a:t>The same skilled-trades shortage driving UTI's enrollment also limits the supply of qualified instructors.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60600"/>
            <a:ext cx="762000" cy="762000"/>
          </a:xfrm>
          <a:prstGeom prst="roundRect">
            <a:avLst>
              <a:gd name="adj" fmla="val 16666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instelling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2463800"/>
            <a:ext cx="35560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3327400"/>
            <a:ext cx="5029200" cy="72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Growth Plans</a:t>
            </a:r>
          </a:p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Widen the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65600"/>
            <a:ext cx="45720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eague Spartan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5800" y="4356100"/>
            <a:ext cx="4394200" cy="325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EABB1"/>
                </a:solidFill>
                <a:latin typeface="Inter"/>
              </a:rPr>
              <a:t>new campuses per 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324600"/>
            <a:ext cx="934528" cy="254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33600" y="6184900"/>
            <a:ext cx="952046" cy="5334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ti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0" y="6375400"/>
            <a:ext cx="50800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9EABB1"/>
                </a:solidFill>
                <a:latin typeface="Inter"/>
              </a:rPr>
              <a:t>North Star strategy target.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EABB1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58800"/>
            <a:ext cx="10668000" cy="1158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Feedback Lands on Every Submission,</a:t>
            </a:r>
          </a:p>
          <a:p>
            <a:pPr algn="l">
              <a:lnSpc>
                <a:spcPct val="104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at the Same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879600"/>
            <a:ext cx="711200" cy="711200"/>
          </a:xfrm>
          <a:prstGeom prst="roundRect">
            <a:avLst>
              <a:gd name="adj" fmla="val 17857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-bericht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2057400"/>
            <a:ext cx="355600" cy="355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844800"/>
            <a:ext cx="51816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Feedback, Delivered</a:t>
            </a:r>
          </a:p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on the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708400"/>
            <a:ext cx="4927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Automated feedback goes straight to the student, tied to their submission.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400" y="1879600"/>
            <a:ext cx="711200" cy="711200"/>
          </a:xfrm>
          <a:prstGeom prst="roundRect">
            <a:avLst>
              <a:gd name="adj" fmla="val 17857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weegschaal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200" y="2057400"/>
            <a:ext cx="35560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48400" y="2844800"/>
            <a:ext cx="51816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Consistent,</a:t>
            </a:r>
          </a:p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Accurate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708400"/>
            <a:ext cx="4927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The same quality of feedback, regardless of which instructor grades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4673600"/>
            <a:ext cx="10668000" cy="1041400"/>
          </a:xfrm>
          <a:prstGeom prst="roundRect">
            <a:avLst>
              <a:gd name="adj" fmla="val 12195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9200" y="4737100"/>
            <a:ext cx="2921000" cy="922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002333"/>
                </a:solidFill>
                <a:latin typeface="League Spartan"/>
              </a:rPr>
              <a:t>48.5%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0200" y="5168900"/>
            <a:ext cx="6832600" cy="447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002333"/>
                </a:solidFill>
                <a:latin typeface="Inter"/>
              </a:rPr>
              <a:t>of grading time saved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324600"/>
            <a:ext cx="937957" cy="254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uti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58800"/>
            <a:ext cx="10668000" cy="106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Capacity Grows Without Hiring to Match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6002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905000"/>
            <a:ext cx="838200" cy="838200"/>
          </a:xfrm>
          <a:prstGeom prst="roundRect">
            <a:avLst>
              <a:gd name="adj" fmla="val 15151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ontkoppeld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2120900"/>
            <a:ext cx="406400" cy="40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3035300"/>
            <a:ext cx="3352800" cy="949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Grading Capacity,</a:t>
            </a:r>
          </a:p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Decoupled from Headcount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127500"/>
            <a:ext cx="3149600" cy="65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Output no longer rises and falls with instructor headcount.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9600" y="1905000"/>
            <a:ext cx="838200" cy="838200"/>
          </a:xfrm>
          <a:prstGeom prst="roundRect">
            <a:avLst>
              <a:gd name="adj" fmla="val 15151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klok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00" y="2120900"/>
            <a:ext cx="406400" cy="40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19600" y="3035300"/>
            <a:ext cx="3352800" cy="949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More Time to Teach,</a:t>
            </a:r>
          </a:p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Less Evening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0" y="4127500"/>
            <a:ext cx="3149600" cy="65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Supports instructor retention. Instructor overtime is one of the largest variable cost items for education directors, so reduced grading time directly protects budget.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1905000"/>
            <a:ext cx="838200" cy="838200"/>
          </a:xfrm>
          <a:prstGeom prst="roundRect">
            <a:avLst>
              <a:gd name="adj" fmla="val 15151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trend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100" y="2120900"/>
            <a:ext cx="406400" cy="406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7200" y="3035300"/>
            <a:ext cx="3352800" cy="949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Scales Without</a:t>
            </a:r>
          </a:p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Proportional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7200" y="4127500"/>
            <a:ext cx="3149600" cy="65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New campuses and programs, without headcount growing 1:1. Higher course completion rates increase revenue.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324600"/>
            <a:ext cx="937957" cy="254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ti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0" y="6375400"/>
            <a:ext cx="50800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Aligned with North Star Phase II's efficiency and optimization pillar.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58800"/>
            <a:ext cx="10668000" cy="67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Getting There Takes Four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33500"/>
            <a:ext cx="6413500" cy="65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Drawn from our conversations with UTI, and from what we've seen work (and not work) for other customers solving the same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768600"/>
            <a:ext cx="10668000" cy="635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3098800"/>
            <a:ext cx="838200" cy="838200"/>
          </a:xfrm>
          <a:prstGeom prst="roundRect">
            <a:avLst>
              <a:gd name="adj" fmla="val 15151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doel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3314700"/>
            <a:ext cx="406400" cy="40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4178300"/>
            <a:ext cx="24384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32300"/>
            <a:ext cx="24384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Accuracy &amp;</a:t>
            </a:r>
          </a:p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Consistency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200" y="3098800"/>
            <a:ext cx="838200" cy="838200"/>
          </a:xfrm>
          <a:prstGeom prst="roundRect">
            <a:avLst>
              <a:gd name="adj" fmla="val 15151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sleutel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100" y="3314700"/>
            <a:ext cx="406400" cy="406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05200" y="4178300"/>
            <a:ext cx="24384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5200" y="4432300"/>
            <a:ext cx="24384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Technical</a:t>
            </a:r>
          </a:p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Domain Fit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0" y="3098800"/>
            <a:ext cx="838200" cy="838200"/>
          </a:xfrm>
          <a:prstGeom prst="roundRect">
            <a:avLst>
              <a:gd name="adj" fmla="val 15151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instelling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300" y="3314700"/>
            <a:ext cx="406400" cy="406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48400" y="4178300"/>
            <a:ext cx="24384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4432300"/>
            <a:ext cx="24384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Institution-</a:t>
            </a:r>
          </a:p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Wide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1600" y="3098800"/>
            <a:ext cx="838200" cy="838200"/>
          </a:xfrm>
          <a:prstGeom prst="roundRect">
            <a:avLst>
              <a:gd name="adj" fmla="val 15151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schuifjes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7500" y="3314700"/>
            <a:ext cx="406400" cy="406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91600" y="4178300"/>
            <a:ext cx="24384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4432300"/>
            <a:ext cx="24384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Self-</a:t>
            </a:r>
          </a:p>
          <a:p>
            <a:pPr algn="l">
              <a:lnSpc>
                <a:spcPct val="116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Configuring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54356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The next four slides walk through each capability.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6324600"/>
            <a:ext cx="937957" cy="2540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ti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3208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doel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732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74800" y="13589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E075"/>
                </a:solidFill>
                <a:latin typeface="League Spartan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4800" y="15875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League Spartan"/>
              </a:rPr>
              <a:t>Accuracy &amp; Consistency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3114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sleutel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6380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74800" y="23495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ABB1"/>
                </a:solidFill>
                <a:latin typeface="League Sparta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4800" y="25781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Technical Domain 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33020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instelling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5440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74800" y="33401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ABB1"/>
                </a:solidFill>
                <a:latin typeface="League Spartan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4800" y="35687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Institution-Wide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42926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schuifjes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4500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74800" y="43307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ABB1"/>
                </a:solidFill>
                <a:latin typeface="League Spartan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4800" y="45593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Self-Configuring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5000" y="1320800"/>
            <a:ext cx="6350" cy="37973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3000" y="1231900"/>
            <a:ext cx="6477000" cy="2682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Trained for</a:t>
            </a:r>
          </a:p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accuracy and</a:t>
            </a:r>
          </a:p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0" y="3937000"/>
            <a:ext cx="5461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9EABB1"/>
                </a:solidFill>
                <a:latin typeface="Inter"/>
              </a:rPr>
              <a:t>The model is trained specifically to grade and give feedback with accuracy and consistency at the core.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6324600"/>
            <a:ext cx="934528" cy="254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33600" y="6184900"/>
            <a:ext cx="952046" cy="5334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ti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EABB1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3208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doel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732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74800" y="13589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ABB1"/>
                </a:solidFill>
                <a:latin typeface="League Spartan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4800" y="15875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Accuracy &amp; Consistency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3114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sleutel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6380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74800" y="23495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E075"/>
                </a:solidFill>
                <a:latin typeface="League Sparta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4800" y="25781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League Spartan"/>
              </a:rPr>
              <a:t>Technical Domain 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33020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instelling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5440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74800" y="33401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ABB1"/>
                </a:solidFill>
                <a:latin typeface="League Spartan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4800" y="35687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Institution-Wide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42926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schuifjes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4500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74800" y="43307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ABB1"/>
                </a:solidFill>
                <a:latin typeface="League Spartan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4800" y="45593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Self-Configuring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5000" y="1320800"/>
            <a:ext cx="6350" cy="37973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3000" y="1231900"/>
            <a:ext cx="647700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Built for</a:t>
            </a:r>
          </a:p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technical fields</a:t>
            </a:r>
          </a:p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and domain</a:t>
            </a:r>
          </a:p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0" y="4749800"/>
            <a:ext cx="5461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9EABB1"/>
                </a:solidFill>
                <a:latin typeface="Inter"/>
              </a:rPr>
              <a:t>Purpose-built for technical, vocational subject matter, not a generic writing tool.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6324600"/>
            <a:ext cx="934528" cy="254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33600" y="6184900"/>
            <a:ext cx="952046" cy="5334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ti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EABB1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3208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doel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732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74800" y="13589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ABB1"/>
                </a:solidFill>
                <a:latin typeface="League Spartan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4800" y="15875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Accuracy &amp; Consistency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3114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sleutel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6380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74800" y="23495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ABB1"/>
                </a:solidFill>
                <a:latin typeface="League Sparta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4800" y="25781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Technical Domain 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33020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instelling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5440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74800" y="33401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E075"/>
                </a:solidFill>
                <a:latin typeface="League Spartan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4800" y="35687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League Spartan"/>
              </a:rPr>
              <a:t>Institution-Wide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42926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schuifjes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4500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74800" y="43307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ABB1"/>
                </a:solidFill>
                <a:latin typeface="League Spartan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4800" y="45593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Self-Configuring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5000" y="1320800"/>
            <a:ext cx="6350" cy="37973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3000" y="1231900"/>
            <a:ext cx="6477000" cy="2682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Institution-wide,</a:t>
            </a:r>
          </a:p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not course-</a:t>
            </a:r>
          </a:p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by-course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0" y="3937000"/>
            <a:ext cx="5461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9EABB1"/>
                </a:solidFill>
                <a:latin typeface="Inter"/>
              </a:rPr>
              <a:t>Works at the institutional level, so it scales across every program and campus.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6324600"/>
            <a:ext cx="934528" cy="254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33600" y="6184900"/>
            <a:ext cx="952046" cy="5334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ti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EABB1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3208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doel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732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74800" y="13589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ABB1"/>
                </a:solidFill>
                <a:latin typeface="League Spartan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4800" y="15875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Accuracy &amp; Consistency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3114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sleutel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6380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74800" y="23495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ABB1"/>
                </a:solidFill>
                <a:latin typeface="League Sparta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4800" y="25781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Technical Domain 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33020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instelling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5440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74800" y="33401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ABB1"/>
                </a:solidFill>
                <a:latin typeface="League Spartan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4800" y="35687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Institution-Wide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42926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schuifjes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4500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74800" y="4330700"/>
            <a:ext cx="2489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E075"/>
                </a:solidFill>
                <a:latin typeface="League Spartan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4800" y="4559300"/>
            <a:ext cx="24892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League Spartan"/>
              </a:rPr>
              <a:t>Self-Configuring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5000" y="1320800"/>
            <a:ext cx="6350" cy="37973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3000" y="1231900"/>
            <a:ext cx="647700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Self-configuring</a:t>
            </a:r>
          </a:p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for new</a:t>
            </a:r>
          </a:p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programs</a:t>
            </a:r>
          </a:p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and campuses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0" y="4749800"/>
            <a:ext cx="5461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9EABB1"/>
                </a:solidFill>
                <a:latin typeface="Inter"/>
              </a:rPr>
              <a:t>Minimal manual setup, essential at UTI's pace of expansion.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6324600"/>
            <a:ext cx="934528" cy="254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33600" y="6184900"/>
            <a:ext cx="952046" cy="5334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ti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0" y="6375400"/>
            <a:ext cx="50800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9EABB1"/>
                </a:solidFill>
                <a:latin typeface="Inter"/>
              </a:rPr>
              <a:t>Blackboard and Canvas integration is a precondition.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EABB1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175000"/>
            <a:ext cx="10668000" cy="117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324600"/>
            <a:ext cx="934528" cy="254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33600" y="6184900"/>
            <a:ext cx="952046" cy="5334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t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EABB1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58800"/>
            <a:ext cx="10668000" cy="106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Marking Time Drops 6–10x at Bath Spa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955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0">
                <a:solidFill>
                  <a:srgbClr val="2C4A57"/>
                </a:solidFill>
                <a:latin typeface="Inter"/>
              </a:rPr>
              <a:t>Traditional marking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556000" y="1943100"/>
            <a:ext cx="6096000" cy="55880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04000" y="1943100"/>
            <a:ext cx="3048000" cy="5588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0" y="20701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15–30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9083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With Eduface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6000" y="2755900"/>
            <a:ext cx="6096000" cy="55880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60800" y="2755900"/>
            <a:ext cx="711200" cy="558800"/>
          </a:xfrm>
          <a:prstGeom prst="rect">
            <a:avLst/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06000" y="28829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1.5–5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56000" y="1943100"/>
            <a:ext cx="6350" cy="1371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2000" y="34163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41630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6000" y="3416300"/>
            <a:ext cx="609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minutes per submission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4191000"/>
            <a:ext cx="10668000" cy="1447800"/>
          </a:xfrm>
          <a:prstGeom prst="roundRect">
            <a:avLst>
              <a:gd name="adj" fmla="val 8771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5212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-doel-green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673600"/>
            <a:ext cx="3048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76400" y="4483100"/>
            <a:ext cx="24384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~94%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6400" y="4902200"/>
            <a:ext cx="2438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AI grading accuracy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7200" y="4445000"/>
            <a:ext cx="6350" cy="9398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45212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bestand-greend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4673600"/>
            <a:ext cx="304800" cy="304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34000" y="4483100"/>
            <a:ext cx="24384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2,300+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4902200"/>
            <a:ext cx="2438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feedback items across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435 submissions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4800" y="4445000"/>
            <a:ext cx="6350" cy="9398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0" y="45212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con-klok-green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4673600"/>
            <a:ext cx="304800" cy="304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91600" y="4483100"/>
            <a:ext cx="24384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15–20 hrs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1600" y="4902200"/>
            <a:ext cx="2438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saved per 60-student cohort,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every cycle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324600"/>
            <a:ext cx="937957" cy="2540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uti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15000" y="6375400"/>
            <a:ext cx="50800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Source: Bath Spa University · Eduface pilot data.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58800"/>
            <a:ext cx="10668000" cy="627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Institution-wide feedback, priced per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70000"/>
            <a:ext cx="10668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Delivered by Eduface, mapped to what UTI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1905000"/>
            <a:ext cx="10668000" cy="2260600"/>
          </a:xfrm>
          <a:prstGeom prst="roundRect">
            <a:avLst>
              <a:gd name="adj" fmla="val 6741"/>
            </a:avLst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9200" y="2362200"/>
            <a:ext cx="19050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000" b="1">
                <a:solidFill>
                  <a:srgbClr val="FFFFFF"/>
                </a:solidFill>
                <a:latin typeface="League Spartan"/>
              </a:rPr>
              <a:t>$3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7800" y="2540000"/>
            <a:ext cx="26670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per student,</a:t>
            </a:r>
          </a:p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per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429000"/>
            <a:ext cx="330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EABB1"/>
                </a:solidFill>
                <a:latin typeface="Inter"/>
              </a:rPr>
              <a:t>billed annually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2159000"/>
            <a:ext cx="6350" cy="17526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1400" y="25527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check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2641600"/>
            <a:ext cx="177800" cy="177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54800" y="2590800"/>
            <a:ext cx="4318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Inter"/>
              </a:rPr>
              <a:t>Discount for multi-year commitment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1400" y="31623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check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325120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54800" y="3200400"/>
            <a:ext cx="4318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Inter"/>
              </a:rPr>
              <a:t>Scales with growing students &amp; instructors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46736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4826000"/>
            <a:ext cx="3810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What that covers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5207000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doel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5321300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46200" y="53340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Accuracy &amp; Consistency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05200" y="5207000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sleutel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0" y="5321300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089400" y="53340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Technical Domain Fit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8400" y="5207000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instelling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700" y="5321300"/>
            <a:ext cx="22860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32600" y="53340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Institution-Wide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1600" y="5207000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con-schuifjes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5900" y="5321300"/>
            <a:ext cx="228600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75800" y="53340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Self-Configuring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6324600"/>
            <a:ext cx="937957" cy="2540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uti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58800"/>
            <a:ext cx="10668000" cy="627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FFFFFF"/>
                </a:solidFill>
                <a:latin typeface="League Spartan"/>
              </a:rPr>
              <a:t>Proposed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19250" y="2540000"/>
            <a:ext cx="12700" cy="25400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0000" y="2184400"/>
            <a:ext cx="711200" cy="711200"/>
          </a:xfrm>
          <a:prstGeom prst="roundRect">
            <a:avLst>
              <a:gd name="adj" fmla="val 19642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vlag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362200"/>
            <a:ext cx="355600" cy="355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400300"/>
            <a:ext cx="4064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5200" y="2095500"/>
            <a:ext cx="2794000" cy="72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Pilot the</a:t>
            </a:r>
          </a:p>
          <a:p>
            <a:pPr algn="l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Start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2120900"/>
            <a:ext cx="6096000" cy="65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9EABB1"/>
                </a:solidFill>
                <a:latin typeface="Inter"/>
              </a:rPr>
              <a:t>Launch with a self-scaling license. On-site instructor training support from the Eduface team at pilot start. Target launch December 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70000" y="3454400"/>
            <a:ext cx="711200" cy="711200"/>
          </a:xfrm>
          <a:prstGeom prst="roundRect">
            <a:avLst>
              <a:gd name="adj" fmla="val 19642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route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632200"/>
            <a:ext cx="355600" cy="355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3670300"/>
            <a:ext cx="4064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5200" y="3365500"/>
            <a:ext cx="2794000" cy="72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Programmatic</a:t>
            </a:r>
          </a:p>
          <a:p>
            <a:pPr algn="l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0" y="3390900"/>
            <a:ext cx="6096000" cy="65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9EABB1"/>
                </a:solidFill>
                <a:latin typeface="Inter"/>
              </a:rPr>
              <a:t>Roll out to additional program(s) following pilot success.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70000" y="4724400"/>
            <a:ext cx="711200" cy="711200"/>
          </a:xfrm>
          <a:prstGeom prst="roundRect">
            <a:avLst>
              <a:gd name="adj" fmla="val 19642"/>
            </a:avLst>
          </a:prstGeom>
          <a:solidFill>
            <a:srgbClr val="0A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kalender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4902200"/>
            <a:ext cx="355600" cy="355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2000" y="4940300"/>
            <a:ext cx="4064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EABB1"/>
                </a:solidFill>
                <a:latin typeface="League Spartan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5200" y="4635500"/>
            <a:ext cx="2794000" cy="72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Full Institutional</a:t>
            </a:r>
          </a:p>
          <a:p>
            <a:pPr algn="l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0" y="4660900"/>
            <a:ext cx="6096000" cy="65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9EABB1"/>
                </a:solidFill>
                <a:latin typeface="Inter"/>
              </a:rPr>
              <a:t>Roll out institution-wide from next academic year.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324600"/>
            <a:ext cx="934528" cy="2540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33600" y="6184900"/>
            <a:ext cx="952046" cy="5334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uti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15000" y="6375400"/>
            <a:ext cx="508000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9EABB1"/>
                </a:solidFill>
                <a:latin typeface="Inter"/>
              </a:rPr>
              <a:t>Concept, for discussion.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EABB1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