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15.png"/><Relationship Id="rId6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133600"/>
            <a:ext cx="10668000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Scaling Consistent,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Timely Feedback at UTI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87800"/>
            <a:ext cx="106680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Eduface for Universal Technical Institute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42000"/>
            <a:ext cx="1066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82800" y="58293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6800" y="58928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Risks Ahead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Proposed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Required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2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Proven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Our Solution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Next Steps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Assessment Today Is Rigid,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Costly and Invisible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exac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667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Exact-Match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Blackboard can only auto-grade answers with an exact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67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Time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New locations and programs scale instructors proportionally, and squeeze profitability.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nzichtbaar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26670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72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 Is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It isn't visible, so it can't be measured or influenced as a driver of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Grading Consumes Evenings,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and the Feedback Cannot Be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klok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38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78200"/>
            <a:ext cx="5029200" cy="963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2–4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7800" y="3790950"/>
            <a:ext cx="18034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B7480"/>
                </a:solidFill>
                <a:latin typeface="League Spartan"/>
              </a:rPr>
              <a:t>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800600"/>
            <a:ext cx="50292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Spent grading, per instructor, often in the evening. One of the leading drivers of instructor attrition.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onzichtbaa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38400"/>
            <a:ext cx="355600" cy="35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657600"/>
            <a:ext cx="50292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800600"/>
            <a:ext cx="50292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Verbal feedback isn't visible, so it can't be measured or influenced as a retention driver.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UTI Needs More Instructors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Than the Market Can Supply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638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Instructor Hiring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Is Getting Harder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164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same skilled-trades shortage driving UTI's enrollment also limits the supply of qualified instructors.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instelling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63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Growth Plans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Widen 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65600"/>
            <a:ext cx="12700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12–16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4356100"/>
            <a:ext cx="35814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campuses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26000"/>
            <a:ext cx="12700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50–70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5016500"/>
            <a:ext cx="35814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programs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North Star Phase II, by FY2029.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Feedback Lands on Every Submission,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at the Same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berich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2057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Feedback, Delivered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on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Automated feedback goes straight to the student, tied to their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weegschaa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20574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4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Consistent,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Accurate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The same quality of feedback, regardless of which instructor grades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673600"/>
            <a:ext cx="10668000" cy="1041400"/>
          </a:xfrm>
          <a:prstGeom prst="roundRect">
            <a:avLst>
              <a:gd name="adj" fmla="val 12195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737100"/>
            <a:ext cx="2921000" cy="922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48.5%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0200" y="5168900"/>
            <a:ext cx="68326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2333"/>
                </a:solidFill>
                <a:latin typeface="Inter"/>
              </a:rPr>
              <a:t>of grading time saved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Capacity Grows Without Hiring to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1600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ontkoppel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6162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Capacity,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Decoupled from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Output no longer rises and falls with instructor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klok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26162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196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More Time to Teach,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Less Evening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Supports instructor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tren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00" y="2616200"/>
            <a:ext cx="406400" cy="406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72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Scales Without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Proportional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72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New campuses and programs, without headcount growing 1:1.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Aligned with North Star Phase II's efficiency and optimization pillar.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Getting There Takes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33500"/>
            <a:ext cx="64135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Drawn from our conversations with UTI, and from what we've seen work (and not work) for other customers solving the same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68600"/>
            <a:ext cx="10668000" cy="63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3314700"/>
            <a:ext cx="406400" cy="40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Accuracy &amp;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100" y="33147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Technical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Domain 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3314700"/>
            <a:ext cx="406400" cy="406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484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Institution-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16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331470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16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Self-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Configuring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435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The next four slides walk through each capability.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Built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technical fields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domain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Purpose-built for technical, vocational subject matter, not a generic writing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Institution-wide,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not course-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by-course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Works at the institutional level, so it scales across every program and campus.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Self-configuring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for new programs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campuses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876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Minimal manual setup, essential at UTI's pace of expansion.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Blackboard integration is a precondition.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31000" y="1943100"/>
            <a:ext cx="3175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0" y="20701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73500" y="2755900"/>
            <a:ext cx="740833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0" y="28829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Institution-wide feedback for $3 per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4460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Delivered by Eduface, mapped to what UTI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9050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1">
                <a:solidFill>
                  <a:srgbClr val="002333"/>
                </a:solidFill>
                <a:latin typeface="League Spartan"/>
              </a:rPr>
              <a:t>$3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1844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per student,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per 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2258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billed annually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7000" y="2095500"/>
            <a:ext cx="50800" cy="3556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31000" y="2120900"/>
            <a:ext cx="4699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Discount for multi-year commitment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77000" y="2781300"/>
            <a:ext cx="50800" cy="3556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1000" y="2806700"/>
            <a:ext cx="4699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Scales with growing students &amp; instructors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9624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064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What that covers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2000" y="43942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4508500"/>
            <a:ext cx="228600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46200" y="4508500"/>
            <a:ext cx="1854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Accuracy &amp; Consistency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5200" y="43942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4508500"/>
            <a:ext cx="228600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89400" y="4508500"/>
            <a:ext cx="1854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Technical Domain 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400" y="43942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450850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32600" y="4508500"/>
            <a:ext cx="1854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Institution-Wide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1600" y="43942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5900" y="4508500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75800" y="4508500"/>
            <a:ext cx="1854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Self-Configuring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2692400"/>
            <a:ext cx="8229600" cy="127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01800" y="2413000"/>
            <a:ext cx="558800" cy="558800"/>
          </a:xfrm>
          <a:prstGeom prst="roundRect">
            <a:avLst>
              <a:gd name="adj" fmla="val 20454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500" y="25527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930400"/>
            <a:ext cx="24384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251200"/>
            <a:ext cx="24384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Confirm Priority</a:t>
            </a:r>
          </a:p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and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089400"/>
            <a:ext cx="24384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Gauge with the Executive Board whether this is a priority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5000" y="2413000"/>
            <a:ext cx="558800" cy="558800"/>
          </a:xfrm>
          <a:prstGeom prst="roundRect">
            <a:avLst>
              <a:gd name="adj" fmla="val 20454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globe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4700" y="2552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1930400"/>
            <a:ext cx="24384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3251200"/>
            <a:ext cx="24384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Validate in the U.S.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4089400"/>
            <a:ext cx="24384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On-site with instructors, students, and leadership.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88200" y="2413000"/>
            <a:ext cx="558800" cy="558800"/>
          </a:xfrm>
          <a:prstGeom prst="roundRect">
            <a:avLst>
              <a:gd name="adj" fmla="val 20454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vla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900" y="2552700"/>
            <a:ext cx="279400" cy="279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48400" y="1930400"/>
            <a:ext cx="24384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251200"/>
            <a:ext cx="24384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Pilot the Start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4089400"/>
            <a:ext cx="24384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Launch with a self-scaling license.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31400" y="2413000"/>
            <a:ext cx="558800" cy="558800"/>
          </a:xfrm>
          <a:prstGeom prst="roundRect">
            <a:avLst>
              <a:gd name="adj" fmla="val 20454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kalender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1100" y="2552700"/>
            <a:ext cx="279400" cy="279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91600" y="1930400"/>
            <a:ext cx="24384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3251200"/>
            <a:ext cx="24384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Full Institutional</a:t>
            </a:r>
          </a:p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1600" y="4089400"/>
            <a:ext cx="24384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Roll out institution-wide from next academic year.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Concept, for discussion.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