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3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3.png"/><Relationship Id="rId8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133600"/>
            <a:ext cx="10668000" cy="1844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Scaling Consistent,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Timely Feedback at UTI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87800"/>
            <a:ext cx="106680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EABB1"/>
                </a:solidFill>
                <a:latin typeface="Inter"/>
              </a:rPr>
              <a:t>Eduface for Universal Technical Institute</a:t>
            </a: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42000"/>
            <a:ext cx="934528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968500" y="58293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33600" y="57023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t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5791200"/>
            <a:ext cx="774246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Risks Ahead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Proposed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6228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9974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403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Benefits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Required Capabilities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2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Proven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Our Solution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2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Next Steps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t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Assessment Today Is Rigid,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Costly and Invisible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exac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6670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Exact-Match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Blackboard can only auto-grade answers with an exact 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rend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670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Time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Doesn't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New locations and programs scale instructors proportionally, and squeeze profitability.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nzichtbaar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400" y="2667000"/>
            <a:ext cx="3556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72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 Is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It isn't visible, so it can't be measured or influenced as a driver of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Grading Consumes Evenings,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and the Feedback Cannot Be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klok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38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78200"/>
            <a:ext cx="4445000" cy="963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2 – 4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3790950"/>
            <a:ext cx="12192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B7480"/>
                </a:solidFill>
                <a:latin typeface="League Spartan"/>
              </a:rPr>
              <a:t>per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381500"/>
            <a:ext cx="41910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Spent grading, per instructor, often in the evening. One of the leading drivers of instructor attrition.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onzichtbaa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200" y="2438400"/>
            <a:ext cx="355600" cy="35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3657600"/>
            <a:ext cx="25400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381500"/>
            <a:ext cx="254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Verbal feedback isn't visible, so it can't be measured or influenced as a retention driver.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63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mens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2438400"/>
            <a:ext cx="355600" cy="355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63000" y="3657600"/>
            <a:ext cx="26670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No Time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for Tutoring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4381500"/>
            <a:ext cx="266700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Instructors are too caught up in grading to provide the tutoring and remedial support students increasingly need.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UTI Needs More Instructors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Than the Market Can Supply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ensen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638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Instructor Hiring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Is Getting Harder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2164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same skilled-trades shortage driving UTI's enrollment also limits the supply of qualified instructors.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instelling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638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Growth Plans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Widen 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65600"/>
            <a:ext cx="4572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5800" y="4356100"/>
            <a:ext cx="43942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campuses per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ti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North Star strategy target.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Feedback Lands on Every Submission,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at the Same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berich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2057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Feedback, Delivered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on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Automated feedback goes straight to the student, tied to their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weegschaa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20574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4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Consistent,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Accurate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The same quality of feedback, regardless of which instructor grades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4673600"/>
            <a:ext cx="10668000" cy="1041400"/>
          </a:xfrm>
          <a:prstGeom prst="roundRect">
            <a:avLst>
              <a:gd name="adj" fmla="val 12195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737100"/>
            <a:ext cx="2921000" cy="922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48.5%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0200" y="5168900"/>
            <a:ext cx="68326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2333"/>
                </a:solidFill>
                <a:latin typeface="Inter"/>
              </a:rPr>
              <a:t>of grading time saved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ti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Capacity Grows Without Hiring to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1600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ontkoppeld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12090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Capacity,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Decoupled from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Output no longer rises and falls with instructor headcount.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klok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21209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196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More Time to Teach,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Less Evening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Supports instructor retention. Instructor overtime is one of the largest variable cost items for education directors, so reduced grading time directly protects budget.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tren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00" y="2120900"/>
            <a:ext cx="406400" cy="406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772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Scales Without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Proportional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72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New campuses and programs, without headcount growing 1:1. Higher course completion rates increase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Aligned with North Star Phase II's efficiency and optimization pillar.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75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Getting There Takes Four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33500"/>
            <a:ext cx="64135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Drawn from our conversations with UTI, and from what we've seen work (and not work) for other customers solving the same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768600"/>
            <a:ext cx="10668000" cy="63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3314700"/>
            <a:ext cx="406400" cy="40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Accuracy &amp;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2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100" y="3314700"/>
            <a:ext cx="406400" cy="40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Technical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Domain Fit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300" y="3314700"/>
            <a:ext cx="406400" cy="406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484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Institution-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16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331470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16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6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Self-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Configuring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435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The next four slides walk through each capability.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Trained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accuracy and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model is trained specifically to grade and give feedback with accuracy and consistency at the 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Built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technical fields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domain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Purpose-built for technical, vocational subject matter, not a generic writing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Institution-wide,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not course-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by-course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Works at the institutional level, so it scales across every program and campus.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Self-configuring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for new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programs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campuses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Minimal manual setup, essential at UTI's pace of expansion.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Blackboard and Canvas integration is a precondition.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Marking Time Drops 6–10x at Bath Spa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Traditional 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0" y="1943100"/>
            <a:ext cx="6096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04000" y="1943100"/>
            <a:ext cx="3048000" cy="558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0" y="2070100"/>
            <a:ext cx="1524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15–30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083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With Eduface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6000" y="2755900"/>
            <a:ext cx="6096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60800" y="2755900"/>
            <a:ext cx="711200" cy="5588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6000" y="2882900"/>
            <a:ext cx="1524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1.5–5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56000" y="1943100"/>
            <a:ext cx="6350" cy="1371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2000" y="34163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3416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1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minutes per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191000"/>
            <a:ext cx="10668000" cy="1447800"/>
          </a:xfrm>
          <a:prstGeom prst="roundRect">
            <a:avLst>
              <a:gd name="adj" fmla="val 877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doel-green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73600"/>
            <a:ext cx="304800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64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~94%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AI grading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2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bestand-green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673600"/>
            <a:ext cx="304800" cy="304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2,300+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feedback items across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435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klok-green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4673600"/>
            <a:ext cx="304800" cy="304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6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15–20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16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saved per 60-student cohort,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every cycle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Source: Bath Spa University · Eduface pilot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Institution-wide feedback, priced per student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270000"/>
            <a:ext cx="1066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Delivered by Eduface, mapped to what UTI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10668000" cy="2260600"/>
          </a:xfrm>
          <a:prstGeom prst="roundRect">
            <a:avLst>
              <a:gd name="adj" fmla="val 6741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200" y="2362200"/>
            <a:ext cx="19050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1">
                <a:solidFill>
                  <a:srgbClr val="FFFFFF"/>
                </a:solidFill>
                <a:latin typeface="League Spartan"/>
              </a:rPr>
              <a:t>$3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7800" y="2540000"/>
            <a:ext cx="2667000" cy="71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student,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429000"/>
            <a:ext cx="330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billed annually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2159000"/>
            <a:ext cx="6350" cy="17526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1400" y="25527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641600"/>
            <a:ext cx="177800" cy="177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4800" y="25908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Discount for multi-year commitment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31623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325120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54800" y="32004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Scales with growing students &amp; instructors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6736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8260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What that covers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do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5321300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462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Accuracy &amp; Consistency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52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sleutel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5321300"/>
            <a:ext cx="228600" cy="228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894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Technical Domain 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4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-instelling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5321300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326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Institution-Wide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16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schuifjes-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5900" y="5321300"/>
            <a:ext cx="228600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758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Self-Configuring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ti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Proposed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6850" y="2070100"/>
            <a:ext cx="12700" cy="32512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19200" y="18161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mense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31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9558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17653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Confirm Priority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and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0" y="17653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Gauge with the Executive Board whether this is a priority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9200" y="26289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globe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200" y="2755900"/>
            <a:ext cx="254000" cy="25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27686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25781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Validate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 the U.S.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0" y="25781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On-site with instructors, students, and leadership. Legal and IT validation, approximately one month or more.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19200" y="34417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vla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3568700"/>
            <a:ext cx="254000" cy="25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2000" y="35814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33909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Pilot the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Start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0" y="33909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Launch with a self-scaling license. On-site instructor training support from the Eduface team at pilot start. Target launch December 2026.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19200" y="42545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route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6200" y="4381500"/>
            <a:ext cx="2540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2000" y="43942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1200" y="42037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Programmatic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Expansion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0" y="42037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to additional programs following pilot success.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19200" y="50673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kalender-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200" y="519430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2000" y="52070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81200" y="50165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Full Institutional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0" y="50165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institution-wide from next academic year.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uti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Concept, for discussion.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