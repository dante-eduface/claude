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Relationship Id="rId8" Type="http://schemas.openxmlformats.org/officeDocument/2006/relationships/image" Target="../media/image9.png"/><Relationship Id="rId9" Type="http://schemas.openxmlformats.org/officeDocument/2006/relationships/image" Target="../media/image10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Relationship Id="rId4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5" Type="http://schemas.openxmlformats.org/officeDocument/2006/relationships/image" Target="../media/image22.png"/><Relationship Id="rId6" Type="http://schemas.openxmlformats.org/officeDocument/2006/relationships/image" Target="../media/image23.png"/><Relationship Id="rId7" Type="http://schemas.openxmlformats.org/officeDocument/2006/relationships/image" Target="../media/image24.png"/><Relationship Id="rId8" Type="http://schemas.openxmlformats.org/officeDocument/2006/relationships/image" Target="../media/image1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238500" y="2921000"/>
            <a:ext cx="5715000" cy="1397000"/>
          </a:xfrm>
          <a:prstGeom prst="roundRect">
            <a:avLst>
              <a:gd name="adj" fmla="val 1272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nav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9500" y="3448050"/>
            <a:ext cx="1270000" cy="3429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207000" y="3200400"/>
            <a:ext cx="6350" cy="838200"/>
          </a:xfrm>
          <a:prstGeom prst="rect">
            <a:avLst/>
          </a:prstGeom>
          <a:solidFill>
            <a:srgbClr val="CD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35600" y="3352800"/>
            <a:ext cx="3263900" cy="533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002333"/>
                </a:solidFill>
                <a:latin typeface="League Spartan"/>
              </a:rPr>
              <a:t>Rijksuniversiteit</a:t>
            </a:r>
          </a:p>
          <a:p>
            <a:pPr algn="l">
              <a:lnSpc>
                <a:spcPct val="115000"/>
              </a:lnSpc>
            </a:pPr>
            <a:r>
              <a:rPr sz="1500" b="1">
                <a:solidFill>
                  <a:srgbClr val="002333"/>
                </a:solidFill>
                <a:latin typeface="League Spartan"/>
              </a:rPr>
              <a:t>Groningen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673600"/>
            <a:ext cx="12192000" cy="317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0">
                <a:solidFill>
                  <a:srgbClr val="8FA9B4"/>
                </a:solidFill>
                <a:latin typeface="Inter"/>
              </a:rPr>
              <a:t>AI-nakijken van open vragen  ·  21 september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4978400"/>
            <a:ext cx="121920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5B7480"/>
                </a:solidFill>
                <a:latin typeface="Inter"/>
              </a:rPr>
              <a:t>Dante Torbed en Jeroen van Gessel, Eduface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waarschuwing-datale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558800"/>
            <a:ext cx="10668000" cy="76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4800" b="1">
                <a:solidFill>
                  <a:srgbClr val="002333"/>
                </a:solidFill>
                <a:latin typeface="League Spartan"/>
              </a:rPr>
              <a:t>Het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1473200"/>
            <a:ext cx="12192000" cy="317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700" b="0">
                <a:solidFill>
                  <a:srgbClr val="5B7480"/>
                </a:solidFill>
                <a:latin typeface="Inter"/>
              </a:rPr>
              <a:t>Per vakgebied apart getraind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62000" y="2095500"/>
            <a:ext cx="1397000" cy="1333500"/>
          </a:xfrm>
          <a:prstGeom prst="roundRect">
            <a:avLst>
              <a:gd name="adj" fmla="val 8571"/>
            </a:avLst>
          </a:prstGeom>
          <a:solidFill>
            <a:srgbClr val="F3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111250" y="2247900"/>
            <a:ext cx="698500" cy="698500"/>
          </a:xfrm>
          <a:prstGeom prst="roundRect">
            <a:avLst>
              <a:gd name="adj" fmla="val 24300"/>
            </a:avLst>
          </a:prstGeom>
          <a:solidFill>
            <a:srgbClr val="F3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con-weegschaal-nav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5875" y="2422525"/>
            <a:ext cx="349250" cy="3492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63600" y="3048000"/>
            <a:ext cx="1193800" cy="317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50" b="1">
                <a:solidFill>
                  <a:srgbClr val="002333"/>
                </a:solidFill>
                <a:latin typeface="Inter"/>
              </a:rPr>
              <a:t>Recht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616200" y="2095500"/>
            <a:ext cx="1397000" cy="1333500"/>
          </a:xfrm>
          <a:prstGeom prst="roundRect">
            <a:avLst>
              <a:gd name="adj" fmla="val 8571"/>
            </a:avLst>
          </a:prstGeom>
          <a:solidFill>
            <a:srgbClr val="F3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965450" y="2247900"/>
            <a:ext cx="698500" cy="698500"/>
          </a:xfrm>
          <a:prstGeom prst="roundRect">
            <a:avLst>
              <a:gd name="adj" fmla="val 24300"/>
            </a:avLst>
          </a:prstGeom>
          <a:solidFill>
            <a:srgbClr val="F3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con-trend-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40075" y="2422525"/>
            <a:ext cx="349250" cy="3492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717800" y="3048000"/>
            <a:ext cx="1193800" cy="317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50" b="1">
                <a:solidFill>
                  <a:srgbClr val="002333"/>
                </a:solidFill>
                <a:latin typeface="Inter"/>
              </a:rPr>
              <a:t>Economie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70400" y="2095500"/>
            <a:ext cx="1397000" cy="1333500"/>
          </a:xfrm>
          <a:prstGeom prst="roundRect">
            <a:avLst>
              <a:gd name="adj" fmla="val 8571"/>
            </a:avLst>
          </a:prstGeom>
          <a:solidFill>
            <a:srgbClr val="F3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819650" y="2247900"/>
            <a:ext cx="698500" cy="698500"/>
          </a:xfrm>
          <a:prstGeom prst="roundRect">
            <a:avLst>
              <a:gd name="adj" fmla="val 24300"/>
            </a:avLst>
          </a:prstGeom>
          <a:solidFill>
            <a:srgbClr val="F3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icon-groep-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94275" y="2422525"/>
            <a:ext cx="349250" cy="34925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572000" y="3048000"/>
            <a:ext cx="1193800" cy="317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50" b="1">
                <a:solidFill>
                  <a:srgbClr val="002333"/>
                </a:solidFill>
                <a:latin typeface="Inter"/>
              </a:rPr>
              <a:t>Sociale</a:t>
            </a:r>
          </a:p>
          <a:p>
            <a:pPr algn="ctr">
              <a:lnSpc>
                <a:spcPct val="115000"/>
              </a:lnSpc>
            </a:pPr>
            <a:r>
              <a:rPr sz="1350" b="1">
                <a:solidFill>
                  <a:srgbClr val="002333"/>
                </a:solidFill>
                <a:latin typeface="Inter"/>
              </a:rPr>
              <a:t>wetenschappen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24600" y="2095500"/>
            <a:ext cx="1397000" cy="1333500"/>
          </a:xfrm>
          <a:prstGeom prst="roundRect">
            <a:avLst>
              <a:gd name="adj" fmla="val 8571"/>
            </a:avLst>
          </a:prstGeom>
          <a:solidFill>
            <a:srgbClr val="F3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673850" y="2247900"/>
            <a:ext cx="698500" cy="698500"/>
          </a:xfrm>
          <a:prstGeom prst="roundRect">
            <a:avLst>
              <a:gd name="adj" fmla="val 24300"/>
            </a:avLst>
          </a:prstGeom>
          <a:solidFill>
            <a:srgbClr val="F3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con-kolf-nav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48475" y="2422525"/>
            <a:ext cx="349250" cy="34925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426200" y="3048000"/>
            <a:ext cx="1193800" cy="317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50" b="1">
                <a:solidFill>
                  <a:srgbClr val="002333"/>
                </a:solidFill>
                <a:latin typeface="Inter"/>
              </a:rPr>
              <a:t>Techniek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78800" y="2095500"/>
            <a:ext cx="1397000" cy="1333500"/>
          </a:xfrm>
          <a:prstGeom prst="roundRect">
            <a:avLst>
              <a:gd name="adj" fmla="val 8571"/>
            </a:avLst>
          </a:prstGeom>
          <a:solidFill>
            <a:srgbClr val="F3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528050" y="2247900"/>
            <a:ext cx="698500" cy="698500"/>
          </a:xfrm>
          <a:prstGeom prst="roundRect">
            <a:avLst>
              <a:gd name="adj" fmla="val 24300"/>
            </a:avLst>
          </a:prstGeom>
          <a:solidFill>
            <a:srgbClr val="F3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icon-boek-nav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02675" y="2422525"/>
            <a:ext cx="349250" cy="34925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8280400" y="3048000"/>
            <a:ext cx="1193800" cy="317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50" b="1">
                <a:solidFill>
                  <a:srgbClr val="002333"/>
                </a:solidFill>
                <a:latin typeface="Inter"/>
              </a:rPr>
              <a:t>Geestes-</a:t>
            </a:r>
          </a:p>
          <a:p>
            <a:pPr algn="ctr">
              <a:lnSpc>
                <a:spcPct val="115000"/>
              </a:lnSpc>
            </a:pPr>
            <a:r>
              <a:rPr sz="1350" b="1">
                <a:solidFill>
                  <a:srgbClr val="002333"/>
                </a:solidFill>
                <a:latin typeface="Inter"/>
              </a:rPr>
              <a:t>wetenschappen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033000" y="2095500"/>
            <a:ext cx="1397000" cy="1333500"/>
          </a:xfrm>
          <a:prstGeom prst="roundRect">
            <a:avLst>
              <a:gd name="adj" fmla="val 8571"/>
            </a:avLst>
          </a:prstGeom>
          <a:solidFill>
            <a:srgbClr val="F3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0382250" y="2247900"/>
            <a:ext cx="698500" cy="698500"/>
          </a:xfrm>
          <a:prstGeom prst="roundRect">
            <a:avLst>
              <a:gd name="adj" fmla="val 24300"/>
            </a:avLst>
          </a:prstGeom>
          <a:solidFill>
            <a:srgbClr val="F3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con-zorg-nav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556875" y="2422525"/>
            <a:ext cx="349250" cy="34925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10134600" y="3048000"/>
            <a:ext cx="1193800" cy="317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50" b="1">
                <a:solidFill>
                  <a:srgbClr val="002333"/>
                </a:solidFill>
                <a:latin typeface="Inter"/>
              </a:rPr>
              <a:t>Gezondheid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62000" y="3810000"/>
            <a:ext cx="10668000" cy="1206500"/>
          </a:xfrm>
          <a:prstGeom prst="roundRect">
            <a:avLst>
              <a:gd name="adj" fmla="val 9473"/>
            </a:avLst>
          </a:prstGeom>
          <a:solidFill>
            <a:srgbClr val="002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16000" y="3975100"/>
            <a:ext cx="2540000" cy="215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0E075"/>
                </a:solidFill>
                <a:latin typeface="Inter"/>
              </a:rPr>
              <a:t>FUNDAMENT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16000" y="4267200"/>
            <a:ext cx="4953000" cy="495300"/>
          </a:xfrm>
          <a:prstGeom prst="roundRect">
            <a:avLst>
              <a:gd name="adj" fmla="val 20512"/>
            </a:avLst>
          </a:prstGeom>
          <a:solidFill>
            <a:srgbClr val="00E0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16000" y="4419600"/>
            <a:ext cx="49530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>
                <a:solidFill>
                  <a:srgbClr val="002333"/>
                </a:solidFill>
                <a:latin typeface="Inter"/>
              </a:rPr>
              <a:t>250.000+ datapunten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23000" y="4267200"/>
            <a:ext cx="4953000" cy="495300"/>
          </a:xfrm>
          <a:prstGeom prst="roundRect">
            <a:avLst>
              <a:gd name="adj" fmla="val 20512"/>
            </a:avLst>
          </a:prstGeom>
          <a:solidFill>
            <a:srgbClr val="00E0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23000" y="4419600"/>
            <a:ext cx="49530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>
                <a:solidFill>
                  <a:srgbClr val="002333"/>
                </a:solidFill>
                <a:latin typeface="Inter"/>
              </a:rPr>
              <a:t>Didactiek en onderwijskunde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0" y="5245100"/>
            <a:ext cx="12192000" cy="215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5B7480"/>
                </a:solidFill>
                <a:latin typeface="Inter"/>
              </a:rPr>
              <a:t>Gebouwd met</a:t>
            </a:r>
          </a:p>
        </p:txBody>
      </p:sp>
      <p:pic>
        <p:nvPicPr>
          <p:cNvPr id="35" name="Picture 34" descr="leiden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064000" y="5473700"/>
            <a:ext cx="1397000" cy="444500"/>
          </a:xfrm>
          <a:prstGeom prst="rect">
            <a:avLst/>
          </a:prstGeom>
        </p:spPr>
      </p:pic>
      <p:pic>
        <p:nvPicPr>
          <p:cNvPr id="36" name="Picture 35" descr="radbou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31000" y="5473700"/>
            <a:ext cx="1397000" cy="444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558800"/>
            <a:ext cx="10668000" cy="76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4800" b="1">
                <a:solidFill>
                  <a:srgbClr val="002333"/>
                </a:solidFill>
                <a:latin typeface="League Spartan"/>
              </a:rPr>
              <a:t>Feedback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917700" y="2667000"/>
            <a:ext cx="939800" cy="939800"/>
          </a:xfrm>
          <a:prstGeom prst="roundRect">
            <a:avLst>
              <a:gd name="adj" fmla="val 24300"/>
            </a:avLst>
          </a:prstGeom>
          <a:solidFill>
            <a:srgbClr val="E2FB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con-filepen-gre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2650" y="2901950"/>
            <a:ext cx="469900" cy="4699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62000" y="3810000"/>
            <a:ext cx="3251200" cy="571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700" b="1">
                <a:solidFill>
                  <a:srgbClr val="002333"/>
                </a:solidFill>
                <a:latin typeface="League Spartan"/>
              </a:rPr>
              <a:t>Open vragen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26100" y="2667000"/>
            <a:ext cx="939800" cy="939800"/>
          </a:xfrm>
          <a:prstGeom prst="roundRect">
            <a:avLst>
              <a:gd name="adj" fmla="val 24300"/>
            </a:avLst>
          </a:prstGeom>
          <a:solidFill>
            <a:srgbClr val="E2FB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con-lagen-g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1050" y="2901950"/>
            <a:ext cx="469900" cy="4699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470400" y="3810000"/>
            <a:ext cx="3251200" cy="571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700" b="1">
                <a:solidFill>
                  <a:srgbClr val="002333"/>
                </a:solidFill>
                <a:latin typeface="League Spartan"/>
              </a:rPr>
              <a:t>Formatief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334500" y="2667000"/>
            <a:ext cx="939800" cy="939800"/>
          </a:xfrm>
          <a:prstGeom prst="roundRect">
            <a:avLst>
              <a:gd name="adj" fmla="val 24300"/>
            </a:avLst>
          </a:prstGeom>
          <a:solidFill>
            <a:srgbClr val="E2FB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con-usercheck-gre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69450" y="2901950"/>
            <a:ext cx="469900" cy="4699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178800" y="3810000"/>
            <a:ext cx="3251200" cy="571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700" b="1">
                <a:solidFill>
                  <a:srgbClr val="002333"/>
                </a:solidFill>
                <a:latin typeface="League Spartan"/>
              </a:rPr>
              <a:t>Human in the loop +</a:t>
            </a:r>
          </a:p>
          <a:p>
            <a:pPr algn="ctr">
              <a:lnSpc>
                <a:spcPct val="125000"/>
              </a:lnSpc>
            </a:pPr>
            <a:r>
              <a:rPr sz="1700" b="1">
                <a:solidFill>
                  <a:srgbClr val="002333"/>
                </a:solidFill>
                <a:latin typeface="League Spartan"/>
              </a:rPr>
              <a:t>consistentie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000" y="4826000"/>
            <a:ext cx="1905000" cy="215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B7480"/>
                </a:solidFill>
                <a:latin typeface="Inter"/>
              </a:rPr>
              <a:t>Werkt in</a:t>
            </a:r>
          </a:p>
        </p:txBody>
      </p:sp>
      <p:pic>
        <p:nvPicPr>
          <p:cNvPr id="13" name="Picture 12" descr="brightspac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5054600"/>
            <a:ext cx="1778000" cy="381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762000" y="5511800"/>
            <a:ext cx="10668000" cy="6350"/>
          </a:xfrm>
          <a:prstGeom prst="rect">
            <a:avLst/>
          </a:prstGeom>
          <a:solidFill>
            <a:srgbClr val="E7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logo_nav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10650" y="5759450"/>
            <a:ext cx="1079500" cy="29210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10344150" y="5740400"/>
            <a:ext cx="6350" cy="330200"/>
          </a:xfrm>
          <a:prstGeom prst="rect">
            <a:avLst/>
          </a:prstGeom>
          <a:solidFill>
            <a:srgbClr val="CD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477500" y="5734050"/>
            <a:ext cx="1714500" cy="317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5B7480"/>
                </a:solidFill>
                <a:latin typeface="Inter"/>
              </a:rPr>
              <a:t>Rijksuniversiteit Groningen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95000" y="6375400"/>
            <a:ext cx="635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50" b="0">
                <a:solidFill>
                  <a:srgbClr val="CDD9DE"/>
                </a:solidFill>
                <a:latin typeface="Inter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558800"/>
            <a:ext cx="10668000" cy="76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4800" b="1">
                <a:solidFill>
                  <a:srgbClr val="002333"/>
                </a:solidFill>
                <a:latin typeface="League Spartan"/>
              </a:rPr>
              <a:t>Consistentie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62000" y="1651000"/>
            <a:ext cx="10668000" cy="3556000"/>
          </a:xfrm>
          <a:prstGeom prst="roundRect">
            <a:avLst>
              <a:gd name="adj" fmla="val 3928"/>
            </a:avLst>
          </a:prstGeom>
          <a:solidFill>
            <a:srgbClr val="F3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16000" y="1879600"/>
            <a:ext cx="57150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002333"/>
                </a:solidFill>
                <a:latin typeface="Inter"/>
              </a:rPr>
              <a:t>Modelnauwkeurigheid per beoordelaar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6000" y="2159000"/>
            <a:ext cx="5715000" cy="215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B7480"/>
                </a:solidFill>
                <a:latin typeface="Inter"/>
              </a:rPr>
              <a:t>Hoe dicht elke beoordelaar bij het voorstel bleef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6000" y="2565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002333"/>
                </a:solidFill>
                <a:latin typeface="Inter"/>
              </a:rPr>
              <a:t>Beoordelaar 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94000" y="2603500"/>
            <a:ext cx="4953000" cy="165100"/>
          </a:xfrm>
          <a:prstGeom prst="roundRect">
            <a:avLst>
              <a:gd name="adj" fmla="val 50000"/>
            </a:avLst>
          </a:prstGeom>
          <a:solidFill>
            <a:srgbClr val="E7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794000" y="2603500"/>
            <a:ext cx="4853940" cy="165100"/>
          </a:xfrm>
          <a:prstGeom prst="roundRect">
            <a:avLst>
              <a:gd name="adj" fmla="val 50000"/>
            </a:avLst>
          </a:prstGeom>
          <a:solidFill>
            <a:srgbClr val="007B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74000" y="2565400"/>
            <a:ext cx="6350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02333"/>
                </a:solidFill>
                <a:latin typeface="Inter"/>
              </a:rPr>
              <a:t>98%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36000" y="2578100"/>
            <a:ext cx="1206500" cy="215900"/>
          </a:xfrm>
          <a:prstGeom prst="roundRect">
            <a:avLst>
              <a:gd name="adj" fmla="val 50000"/>
            </a:avLst>
          </a:prstGeom>
          <a:solidFill>
            <a:srgbClr val="E2FB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36000" y="2616200"/>
            <a:ext cx="1206500" cy="165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>
                <a:solidFill>
                  <a:srgbClr val="007B54"/>
                </a:solidFill>
                <a:latin typeface="Inter"/>
              </a:rPr>
              <a:t>Excellent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16000" y="29845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002333"/>
                </a:solidFill>
                <a:latin typeface="Inter"/>
              </a:rPr>
              <a:t>Beoordelaar B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94000" y="3022600"/>
            <a:ext cx="4953000" cy="165100"/>
          </a:xfrm>
          <a:prstGeom prst="roundRect">
            <a:avLst>
              <a:gd name="adj" fmla="val 50000"/>
            </a:avLst>
          </a:prstGeom>
          <a:solidFill>
            <a:srgbClr val="E7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794000" y="3022600"/>
            <a:ext cx="4655820" cy="165100"/>
          </a:xfrm>
          <a:prstGeom prst="roundRect">
            <a:avLst>
              <a:gd name="adj" fmla="val 50000"/>
            </a:avLst>
          </a:prstGeom>
          <a:solidFill>
            <a:srgbClr val="007B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74000" y="2984500"/>
            <a:ext cx="6350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02333"/>
                </a:solidFill>
                <a:latin typeface="Inter"/>
              </a:rPr>
              <a:t>94%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36000" y="2997200"/>
            <a:ext cx="1206500" cy="215900"/>
          </a:xfrm>
          <a:prstGeom prst="roundRect">
            <a:avLst>
              <a:gd name="adj" fmla="val 50000"/>
            </a:avLst>
          </a:prstGeom>
          <a:solidFill>
            <a:srgbClr val="E2FB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36000" y="3035300"/>
            <a:ext cx="1206500" cy="165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>
                <a:solidFill>
                  <a:srgbClr val="007B54"/>
                </a:solidFill>
                <a:latin typeface="Inter"/>
              </a:rPr>
              <a:t>Excellent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16000" y="34036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002333"/>
                </a:solidFill>
                <a:latin typeface="Inter"/>
              </a:rPr>
              <a:t>Beoordelaar C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794000" y="3441700"/>
            <a:ext cx="4953000" cy="165100"/>
          </a:xfrm>
          <a:prstGeom prst="roundRect">
            <a:avLst>
              <a:gd name="adj" fmla="val 50000"/>
            </a:avLst>
          </a:prstGeom>
          <a:solidFill>
            <a:srgbClr val="E7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2794000" y="3441700"/>
            <a:ext cx="4309110" cy="165100"/>
          </a:xfrm>
          <a:prstGeom prst="roundRect">
            <a:avLst>
              <a:gd name="adj" fmla="val 50000"/>
            </a:avLst>
          </a:prstGeom>
          <a:solidFill>
            <a:srgbClr val="E07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74000" y="3403600"/>
            <a:ext cx="6350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02333"/>
                </a:solidFill>
                <a:latin typeface="Inter"/>
              </a:rPr>
              <a:t>87%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636000" y="3416300"/>
            <a:ext cx="1206500" cy="215900"/>
          </a:xfrm>
          <a:prstGeom prst="roundRect">
            <a:avLst>
              <a:gd name="adj" fmla="val 50000"/>
            </a:avLst>
          </a:prstGeom>
          <a:solidFill>
            <a:srgbClr val="FDF0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36000" y="3454400"/>
            <a:ext cx="1206500" cy="165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>
                <a:solidFill>
                  <a:srgbClr val="E07B00"/>
                </a:solidFill>
                <a:latin typeface="Inter"/>
              </a:rPr>
              <a:t>Wisselend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16000" y="3822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002333"/>
                </a:solidFill>
                <a:latin typeface="Inter"/>
              </a:rPr>
              <a:t>Beoordelaar 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794000" y="3860800"/>
            <a:ext cx="4953000" cy="165100"/>
          </a:xfrm>
          <a:prstGeom prst="roundRect">
            <a:avLst>
              <a:gd name="adj" fmla="val 50000"/>
            </a:avLst>
          </a:prstGeom>
          <a:solidFill>
            <a:srgbClr val="E7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2794000" y="3860800"/>
            <a:ext cx="3912870" cy="165100"/>
          </a:xfrm>
          <a:prstGeom prst="roundRect">
            <a:avLst>
              <a:gd name="adj" fmla="val 50000"/>
            </a:avLst>
          </a:prstGeom>
          <a:solidFill>
            <a:srgbClr val="E07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874000" y="3822700"/>
            <a:ext cx="6350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02333"/>
                </a:solidFill>
                <a:latin typeface="Inter"/>
              </a:rPr>
              <a:t>79%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636000" y="3835400"/>
            <a:ext cx="1206500" cy="215900"/>
          </a:xfrm>
          <a:prstGeom prst="roundRect">
            <a:avLst>
              <a:gd name="adj" fmla="val 50000"/>
            </a:avLst>
          </a:prstGeom>
          <a:solidFill>
            <a:srgbClr val="FDF0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636000" y="3873500"/>
            <a:ext cx="1206500" cy="165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>
                <a:solidFill>
                  <a:srgbClr val="E07B00"/>
                </a:solidFill>
                <a:latin typeface="Inter"/>
              </a:rPr>
              <a:t>Wisselend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16000" y="424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002333"/>
                </a:solidFill>
                <a:latin typeface="Inter"/>
              </a:rPr>
              <a:t>Beoordelaar 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794000" y="4279900"/>
            <a:ext cx="4953000" cy="165100"/>
          </a:xfrm>
          <a:prstGeom prst="roundRect">
            <a:avLst>
              <a:gd name="adj" fmla="val 50000"/>
            </a:avLst>
          </a:prstGeom>
          <a:solidFill>
            <a:srgbClr val="E7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2794000" y="4279900"/>
            <a:ext cx="3516630" cy="165100"/>
          </a:xfrm>
          <a:prstGeom prst="roundRect">
            <a:avLst>
              <a:gd name="adj" fmla="val 50000"/>
            </a:avLst>
          </a:prstGeom>
          <a:solidFill>
            <a:srgbClr val="E07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874000" y="4241800"/>
            <a:ext cx="6350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02333"/>
                </a:solidFill>
                <a:latin typeface="Inter"/>
              </a:rPr>
              <a:t>71%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636000" y="4254500"/>
            <a:ext cx="1206500" cy="215900"/>
          </a:xfrm>
          <a:prstGeom prst="roundRect">
            <a:avLst>
              <a:gd name="adj" fmla="val 50000"/>
            </a:avLst>
          </a:prstGeom>
          <a:solidFill>
            <a:srgbClr val="FDF0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636000" y="4292600"/>
            <a:ext cx="1206500" cy="165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>
                <a:solidFill>
                  <a:srgbClr val="E07B00"/>
                </a:solidFill>
                <a:latin typeface="Inter"/>
              </a:rPr>
              <a:t>Wijkt af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16000" y="46609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002333"/>
                </a:solidFill>
                <a:latin typeface="Inter"/>
              </a:rPr>
              <a:t>Beoordelaar F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794000" y="4699000"/>
            <a:ext cx="4953000" cy="165100"/>
          </a:xfrm>
          <a:prstGeom prst="roundRect">
            <a:avLst>
              <a:gd name="adj" fmla="val 50000"/>
            </a:avLst>
          </a:prstGeom>
          <a:solidFill>
            <a:srgbClr val="E7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2794000" y="4699000"/>
            <a:ext cx="3268980" cy="165100"/>
          </a:xfrm>
          <a:prstGeom prst="roundRect">
            <a:avLst>
              <a:gd name="adj" fmla="val 50000"/>
            </a:avLst>
          </a:prstGeom>
          <a:solidFill>
            <a:srgbClr val="E07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874000" y="4660900"/>
            <a:ext cx="6350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02333"/>
                </a:solidFill>
                <a:latin typeface="Inter"/>
              </a:rPr>
              <a:t>66%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636000" y="4673600"/>
            <a:ext cx="1206500" cy="215900"/>
          </a:xfrm>
          <a:prstGeom prst="roundRect">
            <a:avLst>
              <a:gd name="adj" fmla="val 50000"/>
            </a:avLst>
          </a:prstGeom>
          <a:solidFill>
            <a:srgbClr val="FDF0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636000" y="4711700"/>
            <a:ext cx="1206500" cy="165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>
                <a:solidFill>
                  <a:srgbClr val="E07B00"/>
                </a:solidFill>
                <a:latin typeface="Inter"/>
              </a:rPr>
              <a:t>Wijkt af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62000" y="5410200"/>
            <a:ext cx="10668000" cy="20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5B7480"/>
                </a:solidFill>
                <a:latin typeface="Inter"/>
              </a:rPr>
              <a:t>Voorbeeld met fictieve data, ter illustratie van wat een consistentie-dashboard laat zien — geen RUG- of gemeten Eduface-cijfers.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558800"/>
            <a:ext cx="10668000" cy="76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4800" b="1">
                <a:solidFill>
                  <a:srgbClr val="002333"/>
                </a:solidFill>
                <a:latin typeface="League Spartan"/>
              </a:rPr>
              <a:t>Vacaturestop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626100" y="1905000"/>
            <a:ext cx="939800" cy="939800"/>
          </a:xfrm>
          <a:prstGeom prst="roundRect">
            <a:avLst>
              <a:gd name="adj" fmla="val 24300"/>
            </a:avLst>
          </a:prstGeom>
          <a:solidFill>
            <a:srgbClr val="FDF0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con-klok-amb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1050" y="2139950"/>
            <a:ext cx="469900" cy="4699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0" y="3175000"/>
            <a:ext cx="12192000" cy="1079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5500" b="1">
                <a:solidFill>
                  <a:srgbClr val="E07B00"/>
                </a:solidFill>
                <a:latin typeface="League Spartan"/>
              </a:rPr>
              <a:t>9 maart</a:t>
            </a:r>
          </a:p>
          <a:p>
            <a:pPr algn="ctr">
              <a:lnSpc>
                <a:spcPct val="100000"/>
              </a:lnSpc>
            </a:pPr>
            <a:r>
              <a:rPr sz="5500" b="1">
                <a:solidFill>
                  <a:srgbClr val="E07B00"/>
                </a:solidFill>
                <a:latin typeface="League Spartan"/>
              </a:rPr>
              <a:t>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445000"/>
            <a:ext cx="12192000" cy="317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0">
                <a:solidFill>
                  <a:srgbClr val="002333"/>
                </a:solidFill>
                <a:latin typeface="Inter"/>
              </a:rPr>
              <a:t>Geen nieuwe externe inhuur meer toegestaan, op een paar uitzonderingen na</a:t>
            </a:r>
          </a:p>
        </p:txBody>
      </p:sp>
      <p:sp>
        <p:nvSpPr>
          <p:cNvPr id="7" name="Rectangle 6"/>
          <p:cNvSpPr/>
          <p:nvPr/>
        </p:nvSpPr>
        <p:spPr>
          <a:xfrm>
            <a:off x="762000" y="5511800"/>
            <a:ext cx="10668000" cy="6350"/>
          </a:xfrm>
          <a:prstGeom prst="rect">
            <a:avLst/>
          </a:prstGeom>
          <a:solidFill>
            <a:srgbClr val="E7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2000" y="5715000"/>
            <a:ext cx="8382000" cy="444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5B7480"/>
                </a:solidFill>
                <a:latin typeface="Inter"/>
              </a:rPr>
              <a:t>UKrant / OOG, maart 2026. Uitzonderingen: kritieke functies met CvB-goedkeuring, en procedures die al vóór 9 maart liepen.</a:t>
            </a:r>
          </a:p>
        </p:txBody>
      </p:sp>
      <p:pic>
        <p:nvPicPr>
          <p:cNvPr id="9" name="Picture 8" descr="logo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10650" y="5759450"/>
            <a:ext cx="1079500" cy="2921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10344150" y="5740400"/>
            <a:ext cx="6350" cy="330200"/>
          </a:xfrm>
          <a:prstGeom prst="rect">
            <a:avLst/>
          </a:prstGeom>
          <a:solidFill>
            <a:srgbClr val="CD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477500" y="5734050"/>
            <a:ext cx="1714500" cy="317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5B7480"/>
                </a:solidFill>
                <a:latin typeface="Inter"/>
              </a:rPr>
              <a:t>Rijksuniversiteit Groningen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95000" y="6375400"/>
            <a:ext cx="635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50" b="0">
                <a:solidFill>
                  <a:srgbClr val="CDD9DE"/>
                </a:solidFill>
                <a:latin typeface="Inter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558800"/>
            <a:ext cx="10668000" cy="76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4800" b="1">
                <a:solidFill>
                  <a:srgbClr val="FFFFFF"/>
                </a:solidFill>
                <a:latin typeface="League Spartan"/>
              </a:rPr>
              <a:t>Demo</a:t>
            </a:r>
          </a:p>
        </p:txBody>
      </p:sp>
      <p:sp>
        <p:nvSpPr>
          <p:cNvPr id="3" name="Rectangle 2"/>
          <p:cNvSpPr/>
          <p:nvPr/>
        </p:nvSpPr>
        <p:spPr>
          <a:xfrm>
            <a:off x="762000" y="5511800"/>
            <a:ext cx="106680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47150" y="5759450"/>
            <a:ext cx="1079500" cy="2921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0280650" y="5740400"/>
            <a:ext cx="6350" cy="330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414000" y="5734050"/>
            <a:ext cx="1714500" cy="317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8FA9B4"/>
                </a:solidFill>
                <a:latin typeface="Inter"/>
              </a:rPr>
              <a:t>Rijksuniversiteit Groningen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95000" y="6375400"/>
            <a:ext cx="635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50" b="0">
                <a:solidFill>
                  <a:srgbClr val="FFFFFF"/>
                </a:solidFill>
                <a:latin typeface="Inter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558800"/>
            <a:ext cx="10668000" cy="76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4800" b="1">
                <a:solidFill>
                  <a:srgbClr val="002333"/>
                </a:solidFill>
                <a:latin typeface="League Spartan"/>
              </a:rPr>
              <a:t>Aanzetten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62000" y="1905000"/>
            <a:ext cx="4953000" cy="2921000"/>
          </a:xfrm>
          <a:prstGeom prst="roundRect">
            <a:avLst>
              <a:gd name="adj" fmla="val 4347"/>
            </a:avLst>
          </a:prstGeom>
          <a:solidFill>
            <a:srgbClr val="F3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2000" y="1905000"/>
            <a:ext cx="4953000" cy="444500"/>
          </a:xfrm>
          <a:prstGeom prst="roundRect">
            <a:avLst>
              <a:gd name="adj" fmla="val 28571"/>
            </a:avLst>
          </a:prstGeom>
          <a:solidFill>
            <a:srgbClr val="E7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52500" y="2082800"/>
            <a:ext cx="88900" cy="88900"/>
          </a:xfrm>
          <a:prstGeom prst="ellipse">
            <a:avLst/>
          </a:prstGeom>
          <a:solidFill>
            <a:srgbClr val="E05A4F"/>
          </a:solidFill>
          <a:ln>
            <a:solidFill>
              <a:srgbClr val="E05A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70000" y="2032000"/>
            <a:ext cx="1905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02333"/>
                </a:solidFill>
                <a:latin typeface="League Spartan"/>
              </a:rPr>
              <a:t>D2L Brightspace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52500" y="2540000"/>
            <a:ext cx="4572000" cy="381000"/>
          </a:xfrm>
          <a:prstGeom prst="roundRect">
            <a:avLst>
              <a:gd name="adj" fmla="val 2333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4900" y="2628900"/>
            <a:ext cx="1905000" cy="215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002333"/>
                </a:solidFill>
                <a:latin typeface="Inter"/>
              </a:rPr>
              <a:t>Course slides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45000" y="2616200"/>
            <a:ext cx="889000" cy="228600"/>
          </a:xfrm>
          <a:prstGeom prst="roundRect">
            <a:avLst>
              <a:gd name="adj" fmla="val 50000"/>
            </a:avLst>
          </a:prstGeom>
          <a:solidFill>
            <a:srgbClr val="E2FB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45000" y="2654300"/>
            <a:ext cx="889000" cy="165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>
                <a:solidFill>
                  <a:srgbClr val="007B54"/>
                </a:solidFill>
                <a:latin typeface="Inter"/>
              </a:rPr>
              <a:t>gesynct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52500" y="3060700"/>
            <a:ext cx="4572000" cy="381000"/>
          </a:xfrm>
          <a:prstGeom prst="roundRect">
            <a:avLst>
              <a:gd name="adj" fmla="val 2333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4900" y="3149600"/>
            <a:ext cx="1905000" cy="215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002333"/>
                </a:solidFill>
                <a:latin typeface="Inter"/>
              </a:rPr>
              <a:t>Assessment brief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45000" y="3136900"/>
            <a:ext cx="889000" cy="228600"/>
          </a:xfrm>
          <a:prstGeom prst="roundRect">
            <a:avLst>
              <a:gd name="adj" fmla="val 50000"/>
            </a:avLst>
          </a:prstGeom>
          <a:solidFill>
            <a:srgbClr val="E2FB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45000" y="3175000"/>
            <a:ext cx="889000" cy="165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>
                <a:solidFill>
                  <a:srgbClr val="007B54"/>
                </a:solidFill>
                <a:latin typeface="Inter"/>
              </a:rPr>
              <a:t>gesynct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52500" y="3581400"/>
            <a:ext cx="4572000" cy="381000"/>
          </a:xfrm>
          <a:prstGeom prst="roundRect">
            <a:avLst>
              <a:gd name="adj" fmla="val 2333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4900" y="3670300"/>
            <a:ext cx="1905000" cy="215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002333"/>
                </a:solidFill>
                <a:latin typeface="Inter"/>
              </a:rPr>
              <a:t>Rubric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45000" y="3657600"/>
            <a:ext cx="889000" cy="228600"/>
          </a:xfrm>
          <a:prstGeom prst="roundRect">
            <a:avLst>
              <a:gd name="adj" fmla="val 50000"/>
            </a:avLst>
          </a:prstGeom>
          <a:solidFill>
            <a:srgbClr val="E2FB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45000" y="3695700"/>
            <a:ext cx="889000" cy="165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>
                <a:solidFill>
                  <a:srgbClr val="007B54"/>
                </a:solidFill>
                <a:latin typeface="Inter"/>
              </a:rPr>
              <a:t>gesynct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52500" y="4102100"/>
            <a:ext cx="4572000" cy="381000"/>
          </a:xfrm>
          <a:prstGeom prst="roundRect">
            <a:avLst>
              <a:gd name="adj" fmla="val 2333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04900" y="4191000"/>
            <a:ext cx="1905000" cy="215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002333"/>
                </a:solidFill>
                <a:latin typeface="Inter"/>
              </a:rPr>
              <a:t>Studentenhandboek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45000" y="4178300"/>
            <a:ext cx="889000" cy="228600"/>
          </a:xfrm>
          <a:prstGeom prst="roundRect">
            <a:avLst>
              <a:gd name="adj" fmla="val 50000"/>
            </a:avLst>
          </a:prstGeom>
          <a:solidFill>
            <a:srgbClr val="E2FB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45000" y="4216400"/>
            <a:ext cx="889000" cy="165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>
                <a:solidFill>
                  <a:srgbClr val="007B54"/>
                </a:solidFill>
                <a:latin typeface="Inter"/>
              </a:rPr>
              <a:t>gesynct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69000" y="3048000"/>
            <a:ext cx="889000" cy="635000"/>
          </a:xfrm>
          <a:prstGeom prst="roundRect">
            <a:avLst>
              <a:gd name="adj" fmla="val 20000"/>
            </a:avLst>
          </a:prstGeom>
          <a:solidFill>
            <a:srgbClr val="00E0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69000" y="3251200"/>
            <a:ext cx="8890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>
                <a:solidFill>
                  <a:srgbClr val="002333"/>
                </a:solidFill>
                <a:latin typeface="League Spartan"/>
              </a:rPr>
              <a:t>Sync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112000" y="1905000"/>
            <a:ext cx="4318000" cy="2921000"/>
          </a:xfrm>
          <a:prstGeom prst="roundRect">
            <a:avLst>
              <a:gd name="adj" fmla="val 4347"/>
            </a:avLst>
          </a:prstGeom>
          <a:solidFill>
            <a:srgbClr val="002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66000" y="2095500"/>
            <a:ext cx="25400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FFFFFF"/>
                </a:solidFill>
                <a:latin typeface="League Spartan"/>
              </a:rPr>
              <a:t>Eduface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906000" y="2095500"/>
            <a:ext cx="1270000" cy="279400"/>
          </a:xfrm>
          <a:prstGeom prst="roundRect">
            <a:avLst>
              <a:gd name="adj" fmla="val 50000"/>
            </a:avLst>
          </a:prstGeom>
          <a:solidFill>
            <a:srgbClr val="00E0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906000" y="2159000"/>
            <a:ext cx="1270000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>
                <a:solidFill>
                  <a:srgbClr val="002333"/>
                </a:solidFill>
                <a:latin typeface="Inter"/>
              </a:rPr>
              <a:t>Alle courses klaar</a:t>
            </a:r>
          </a:p>
        </p:txBody>
      </p:sp>
      <p:sp>
        <p:nvSpPr>
          <p:cNvPr id="29" name="Oval 28"/>
          <p:cNvSpPr/>
          <p:nvPr/>
        </p:nvSpPr>
        <p:spPr>
          <a:xfrm>
            <a:off x="7366000" y="2667000"/>
            <a:ext cx="279400" cy="279400"/>
          </a:xfrm>
          <a:prstGeom prst="ellipse">
            <a:avLst/>
          </a:prstGeom>
          <a:solidFill>
            <a:srgbClr val="00E075"/>
          </a:solidFill>
          <a:ln>
            <a:solidFill>
              <a:srgbClr val="00E07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66000" y="2717800"/>
            <a:ext cx="2794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002333"/>
                </a:solidFill>
                <a:latin typeface="League Spartan"/>
              </a:rPr>
              <a:t>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47000" y="2692400"/>
            <a:ext cx="34290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FFFFFF"/>
                </a:solidFill>
                <a:latin typeface="Inter"/>
              </a:rPr>
              <a:t>Leest het vak</a:t>
            </a:r>
          </a:p>
        </p:txBody>
      </p:sp>
      <p:sp>
        <p:nvSpPr>
          <p:cNvPr id="32" name="Oval 31"/>
          <p:cNvSpPr/>
          <p:nvPr/>
        </p:nvSpPr>
        <p:spPr>
          <a:xfrm>
            <a:off x="7366000" y="3238500"/>
            <a:ext cx="279400" cy="279400"/>
          </a:xfrm>
          <a:prstGeom prst="ellipse">
            <a:avLst/>
          </a:prstGeom>
          <a:solidFill>
            <a:srgbClr val="00E075"/>
          </a:solidFill>
          <a:ln>
            <a:solidFill>
              <a:srgbClr val="00E07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366000" y="3289300"/>
            <a:ext cx="2794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002333"/>
                </a:solidFill>
                <a:latin typeface="League Spartan"/>
              </a:rPr>
              <a:t>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47000" y="3263900"/>
            <a:ext cx="34290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FFFFFF"/>
                </a:solidFill>
                <a:latin typeface="Inter"/>
              </a:rPr>
              <a:t>Bouwt de instructies</a:t>
            </a:r>
          </a:p>
        </p:txBody>
      </p:sp>
      <p:sp>
        <p:nvSpPr>
          <p:cNvPr id="35" name="Oval 34"/>
          <p:cNvSpPr/>
          <p:nvPr/>
        </p:nvSpPr>
        <p:spPr>
          <a:xfrm>
            <a:off x="7366000" y="3810000"/>
            <a:ext cx="279400" cy="279400"/>
          </a:xfrm>
          <a:prstGeom prst="ellipse">
            <a:avLst/>
          </a:prstGeom>
          <a:solidFill>
            <a:srgbClr val="00E075"/>
          </a:solidFill>
          <a:ln>
            <a:solidFill>
              <a:srgbClr val="00E07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366000" y="3860800"/>
            <a:ext cx="2794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002333"/>
                </a:solidFill>
                <a:latin typeface="League Spartan"/>
              </a:rPr>
              <a:t>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47000" y="3835400"/>
            <a:ext cx="34290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FFFFFF"/>
                </a:solidFill>
                <a:latin typeface="Inter"/>
              </a:rPr>
              <a:t>Vult aan met domeinkennis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0" y="5080000"/>
            <a:ext cx="12192000" cy="317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>
                <a:solidFill>
                  <a:srgbClr val="002333"/>
                </a:solidFill>
                <a:latin typeface="League Spartan"/>
              </a:rPr>
              <a:t>De docent zet niets op.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62000" y="5511800"/>
            <a:ext cx="10668000" cy="6350"/>
          </a:xfrm>
          <a:prstGeom prst="rect">
            <a:avLst/>
          </a:prstGeom>
          <a:solidFill>
            <a:srgbClr val="E7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icture 39" descr="logo_nav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10650" y="5759450"/>
            <a:ext cx="1079500" cy="292100"/>
          </a:xfrm>
          <a:prstGeom prst="rect">
            <a:avLst/>
          </a:prstGeom>
        </p:spPr>
      </p:pic>
      <p:sp>
        <p:nvSpPr>
          <p:cNvPr id="41" name="Rectangle 40"/>
          <p:cNvSpPr/>
          <p:nvPr/>
        </p:nvSpPr>
        <p:spPr>
          <a:xfrm>
            <a:off x="10344150" y="5740400"/>
            <a:ext cx="6350" cy="330200"/>
          </a:xfrm>
          <a:prstGeom prst="rect">
            <a:avLst/>
          </a:prstGeom>
          <a:solidFill>
            <a:srgbClr val="CD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477500" y="5734050"/>
            <a:ext cx="1714500" cy="317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5B7480"/>
                </a:solidFill>
                <a:latin typeface="Inter"/>
              </a:rPr>
              <a:t>Rijksuniversiteit Groningen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795000" y="6375400"/>
            <a:ext cx="635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50" b="0">
                <a:solidFill>
                  <a:srgbClr val="CDD9DE"/>
                </a:solidFill>
                <a:latin typeface="Inter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558800"/>
            <a:ext cx="10668000" cy="76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4800" b="1">
                <a:solidFill>
                  <a:srgbClr val="002333"/>
                </a:solidFill>
                <a:latin typeface="League Spartan"/>
              </a:rPr>
              <a:t>AI Act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844800" y="2667000"/>
            <a:ext cx="939800" cy="939800"/>
          </a:xfrm>
          <a:prstGeom prst="roundRect">
            <a:avLst>
              <a:gd name="adj" fmla="val 24300"/>
            </a:avLst>
          </a:prstGeom>
          <a:solidFill>
            <a:srgbClr val="F3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con-lamp-nav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9750" y="2901950"/>
            <a:ext cx="469900" cy="4699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62000" y="3810000"/>
            <a:ext cx="5105400" cy="571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700" b="1">
                <a:solidFill>
                  <a:srgbClr val="002333"/>
                </a:solidFill>
                <a:latin typeface="League Spartan"/>
              </a:rPr>
              <a:t>Explainability &amp;</a:t>
            </a:r>
          </a:p>
          <a:p>
            <a:pPr algn="ctr">
              <a:lnSpc>
                <a:spcPct val="125000"/>
              </a:lnSpc>
            </a:pPr>
            <a:r>
              <a:rPr sz="1700" b="1">
                <a:solidFill>
                  <a:srgbClr val="002333"/>
                </a:solidFill>
                <a:latin typeface="League Spartan"/>
              </a:rPr>
              <a:t>Traceability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07400" y="2667000"/>
            <a:ext cx="939800" cy="939800"/>
          </a:xfrm>
          <a:prstGeom prst="roundRect">
            <a:avLst>
              <a:gd name="adj" fmla="val 24300"/>
            </a:avLst>
          </a:prstGeom>
          <a:solidFill>
            <a:srgbClr val="F3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con-aanbieder-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2350" y="2901950"/>
            <a:ext cx="469900" cy="4699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324600" y="3810000"/>
            <a:ext cx="5105400" cy="571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700" b="1">
                <a:solidFill>
                  <a:srgbClr val="002333"/>
                </a:solidFill>
                <a:latin typeface="League Spartan"/>
              </a:rPr>
              <a:t>Human oversight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5511800"/>
            <a:ext cx="10668000" cy="6350"/>
          </a:xfrm>
          <a:prstGeom prst="rect">
            <a:avLst/>
          </a:prstGeom>
          <a:solidFill>
            <a:srgbClr val="E7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5715000"/>
            <a:ext cx="8382000" cy="444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5B7480"/>
                </a:solidFill>
                <a:latin typeface="Inter"/>
              </a:rPr>
              <a:t>EU AI Act: assessment-AI = hoog-risico (Annex III), verplichtingen vanaf 2 aug 2026. RUG's eigen AI-beleid (dec 2023): Rule 6 verwerkersovereenkomst + AVG, Rule 8 human-in-the-loop verplicht — Eduface voldoet 1-op-1.</a:t>
            </a:r>
          </a:p>
        </p:txBody>
      </p:sp>
      <p:pic>
        <p:nvPicPr>
          <p:cNvPr id="11" name="Picture 10" descr="logo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10650" y="5759450"/>
            <a:ext cx="1079500" cy="29210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10344150" y="5740400"/>
            <a:ext cx="6350" cy="330200"/>
          </a:xfrm>
          <a:prstGeom prst="rect">
            <a:avLst/>
          </a:prstGeom>
          <a:solidFill>
            <a:srgbClr val="CD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477500" y="5734050"/>
            <a:ext cx="1714500" cy="317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5B7480"/>
                </a:solidFill>
                <a:latin typeface="Inter"/>
              </a:rPr>
              <a:t>Rijksuniversiteit Groningen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95000" y="6375400"/>
            <a:ext cx="635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50" b="0">
                <a:solidFill>
                  <a:srgbClr val="CDD9DE"/>
                </a:solidFill>
                <a:latin typeface="Inter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558800"/>
            <a:ext cx="10668000" cy="76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4800" b="1">
                <a:solidFill>
                  <a:srgbClr val="002333"/>
                </a:solidFill>
                <a:latin typeface="League Spartan"/>
              </a:rPr>
              <a:t>Vergelijkbare dataset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62000" y="1651000"/>
            <a:ext cx="5461000" cy="2921000"/>
          </a:xfrm>
          <a:prstGeom prst="roundRect">
            <a:avLst>
              <a:gd name="adj" fmla="val 4782"/>
            </a:avLst>
          </a:prstGeom>
          <a:solidFill>
            <a:srgbClr val="FDF0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16000" y="1879600"/>
            <a:ext cx="31750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E07B00"/>
                </a:solidFill>
                <a:latin typeface="League Spartan"/>
              </a:rPr>
              <a:t>Algemeen model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16000" y="2349500"/>
            <a:ext cx="1143000" cy="825500"/>
          </a:xfrm>
          <a:prstGeom prst="roundRect">
            <a:avLst>
              <a:gd name="adj" fmla="val 1076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con-kar-nav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0500" y="2438400"/>
            <a:ext cx="254000" cy="254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16000" y="2794000"/>
            <a:ext cx="11430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>
                <a:solidFill>
                  <a:srgbClr val="5B7480"/>
                </a:solidFill>
                <a:latin typeface="Inter"/>
              </a:rPr>
              <a:t>Boodschappen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40000" y="2349500"/>
            <a:ext cx="1143000" cy="825500"/>
          </a:xfrm>
          <a:prstGeom prst="roundRect">
            <a:avLst>
              <a:gd name="adj" fmla="val 1076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con-pan-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84500" y="2438400"/>
            <a:ext cx="254000" cy="254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540000" y="2794000"/>
            <a:ext cx="11430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>
                <a:solidFill>
                  <a:srgbClr val="5B7480"/>
                </a:solidFill>
                <a:latin typeface="Inter"/>
              </a:rPr>
              <a:t>Recept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064000" y="2349500"/>
            <a:ext cx="1143000" cy="825500"/>
          </a:xfrm>
          <a:prstGeom prst="roundRect">
            <a:avLst>
              <a:gd name="adj" fmla="val 1076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con-vliegtuig-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08500" y="2438400"/>
            <a:ext cx="254000" cy="2540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064000" y="2794000"/>
            <a:ext cx="11430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>
                <a:solidFill>
                  <a:srgbClr val="5B7480"/>
                </a:solidFill>
                <a:latin typeface="Inter"/>
              </a:rPr>
              <a:t>Vakantie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16000" y="3429000"/>
            <a:ext cx="1143000" cy="825500"/>
          </a:xfrm>
          <a:prstGeom prst="roundRect">
            <a:avLst>
              <a:gd name="adj" fmla="val 1076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icon-mail-nav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60500" y="3517900"/>
            <a:ext cx="254000" cy="2540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016000" y="3873500"/>
            <a:ext cx="11430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>
                <a:solidFill>
                  <a:srgbClr val="5B7480"/>
                </a:solidFill>
                <a:latin typeface="Inter"/>
              </a:rPr>
              <a:t>Mail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540000" y="3429000"/>
            <a:ext cx="1143000" cy="825500"/>
          </a:xfrm>
          <a:prstGeom prst="roundRect">
            <a:avLst>
              <a:gd name="adj" fmla="val 1076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con-code-nav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84500" y="3517900"/>
            <a:ext cx="254000" cy="2540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2540000" y="3873500"/>
            <a:ext cx="11430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>
                <a:solidFill>
                  <a:srgbClr val="5B7480"/>
                </a:solidFill>
                <a:latin typeface="Inter"/>
              </a:rPr>
              <a:t>Code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064000" y="3429000"/>
            <a:ext cx="1143000" cy="825500"/>
          </a:xfrm>
          <a:prstGeom prst="roundRect">
            <a:avLst>
              <a:gd name="adj" fmla="val 1076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icon-globe-nav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08500" y="3517900"/>
            <a:ext cx="254000" cy="2540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4064000" y="3873500"/>
            <a:ext cx="11430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>
                <a:solidFill>
                  <a:srgbClr val="5B7480"/>
                </a:solidFill>
                <a:latin typeface="Inter"/>
              </a:rPr>
              <a:t>Vertalen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16000" y="4292600"/>
            <a:ext cx="4445000" cy="215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E07B00"/>
                </a:solidFill>
                <a:latin typeface="Inter"/>
              </a:rPr>
              <a:t>en duizend andere dingen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77000" y="1651000"/>
            <a:ext cx="4953000" cy="2921000"/>
          </a:xfrm>
          <a:prstGeom prst="roundRect">
            <a:avLst>
              <a:gd name="adj" fmla="val 4782"/>
            </a:avLst>
          </a:prstGeom>
          <a:solidFill>
            <a:srgbClr val="E2FB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31000" y="1879600"/>
            <a:ext cx="31750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007B54"/>
                </a:solidFill>
                <a:latin typeface="League Spartan"/>
              </a:rPr>
              <a:t>Ons model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509000" y="2540000"/>
            <a:ext cx="889000" cy="889000"/>
          </a:xfrm>
          <a:prstGeom prst="roundRect">
            <a:avLst>
              <a:gd name="adj" fmla="val 24299"/>
            </a:avLst>
          </a:prstGeom>
          <a:solidFill>
            <a:srgbClr val="E2FB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icon-filepen-green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31250" y="2762250"/>
            <a:ext cx="444500" cy="44450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6731000" y="3556000"/>
            <a:ext cx="4445000" cy="571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500" b="1">
                <a:solidFill>
                  <a:srgbClr val="002333"/>
                </a:solidFill>
                <a:latin typeface="League Spartan"/>
              </a:rPr>
              <a:t>Nakijken van</a:t>
            </a:r>
          </a:p>
          <a:p>
            <a:pPr algn="ctr">
              <a:lnSpc>
                <a:spcPct val="125000"/>
              </a:lnSpc>
            </a:pPr>
            <a:r>
              <a:rPr sz="1500" b="1">
                <a:solidFill>
                  <a:srgbClr val="002333"/>
                </a:solidFill>
                <a:latin typeface="League Spartan"/>
              </a:rPr>
              <a:t>open vragen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62000" y="4953000"/>
            <a:ext cx="38100" cy="508000"/>
          </a:xfrm>
          <a:prstGeom prst="rect">
            <a:avLst/>
          </a:prstGeom>
          <a:solidFill>
            <a:srgbClr val="00E0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52500" y="4953000"/>
            <a:ext cx="10477500" cy="317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002333"/>
                </a:solidFill>
                <a:latin typeface="Inter"/>
              </a:rPr>
              <a:t>"Datasets voor training, validatie en tests zijn relevant, voldoende representatief, en zoveel mogelijk foutenvrij en volledig met het oog op het beoogde doel."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52500" y="5321300"/>
            <a:ext cx="104775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5B7480"/>
                </a:solidFill>
                <a:latin typeface="Inter"/>
              </a:rPr>
              <a:t>EU AI Act, verordening 2024/1689, artikel 10 lid 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558800"/>
            <a:ext cx="10668000" cy="76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4800" b="1">
                <a:solidFill>
                  <a:srgbClr val="002333"/>
                </a:solidFill>
                <a:latin typeface="League Spartan"/>
              </a:rPr>
              <a:t>Zelf bouwen of Eduface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62000" y="1587500"/>
            <a:ext cx="10668000" cy="2095500"/>
          </a:xfrm>
          <a:prstGeom prst="roundRect">
            <a:avLst>
              <a:gd name="adj" fmla="val 6060"/>
            </a:avLst>
          </a:prstGeom>
          <a:solidFill>
            <a:srgbClr val="F3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16000" y="1816100"/>
            <a:ext cx="101600" cy="101600"/>
          </a:xfrm>
          <a:prstGeom prst="ellipse">
            <a:avLst/>
          </a:prstGeom>
          <a:solidFill>
            <a:srgbClr val="00E075"/>
          </a:solidFill>
          <a:ln>
            <a:solidFill>
              <a:srgbClr val="00E07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70000" y="1739900"/>
            <a:ext cx="3175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002333"/>
                </a:solidFill>
                <a:latin typeface="League Spartan"/>
              </a:rPr>
              <a:t>UG Grader is handmatig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1739900"/>
            <a:ext cx="66040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5B7480"/>
                </a:solidFill>
                <a:latin typeface="Inter"/>
              </a:rPr>
              <a:t>Geen AI-feedback. Het nakijken van open vragen blijft volledig bij de docent.</a:t>
            </a:r>
          </a:p>
        </p:txBody>
      </p:sp>
      <p:sp>
        <p:nvSpPr>
          <p:cNvPr id="7" name="Oval 6"/>
          <p:cNvSpPr/>
          <p:nvPr/>
        </p:nvSpPr>
        <p:spPr>
          <a:xfrm>
            <a:off x="1016000" y="2451100"/>
            <a:ext cx="101600" cy="101600"/>
          </a:xfrm>
          <a:prstGeom prst="ellipse">
            <a:avLst/>
          </a:prstGeom>
          <a:solidFill>
            <a:srgbClr val="00E075"/>
          </a:solidFill>
          <a:ln>
            <a:solidFill>
              <a:srgbClr val="00E07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70000" y="2374900"/>
            <a:ext cx="3175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002333"/>
                </a:solidFill>
                <a:latin typeface="League Spartan"/>
              </a:rPr>
              <a:t>Zelf bouwen = nieuw product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374900"/>
            <a:ext cx="66040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5B7480"/>
                </a:solidFill>
                <a:latin typeface="Inter"/>
              </a:rPr>
              <a:t>€350.000–500.000/jaar en 12-18 maanden (schatting), plus de volledige EU AI Act-last — midden in een €45M-bezuiniging.</a:t>
            </a:r>
          </a:p>
        </p:txBody>
      </p:sp>
      <p:sp>
        <p:nvSpPr>
          <p:cNvPr id="10" name="Oval 9"/>
          <p:cNvSpPr/>
          <p:nvPr/>
        </p:nvSpPr>
        <p:spPr>
          <a:xfrm>
            <a:off x="1016000" y="3086100"/>
            <a:ext cx="101600" cy="101600"/>
          </a:xfrm>
          <a:prstGeom prst="ellipse">
            <a:avLst/>
          </a:prstGeom>
          <a:solidFill>
            <a:srgbClr val="00E075"/>
          </a:solidFill>
          <a:ln>
            <a:solidFill>
              <a:srgbClr val="00E07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70000" y="3009900"/>
            <a:ext cx="3175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002333"/>
                </a:solidFill>
                <a:latin typeface="League Spartan"/>
              </a:rPr>
              <a:t>Eduface: bewezen, direct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3009900"/>
            <a:ext cx="66040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5B7480"/>
                </a:solidFill>
                <a:latin typeface="Inter"/>
              </a:rPr>
              <a:t>RUG koopt al extern in waar dat sneller is (FeedbackFruits) — buy is geen taboe.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2000" y="3873500"/>
            <a:ext cx="10668000" cy="1333500"/>
          </a:xfrm>
          <a:prstGeom prst="roundRect">
            <a:avLst>
              <a:gd name="adj" fmla="val 9523"/>
            </a:avLst>
          </a:prstGeom>
          <a:solidFill>
            <a:srgbClr val="FDF0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16000" y="4013200"/>
            <a:ext cx="5715000" cy="20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>
                <a:solidFill>
                  <a:srgbClr val="E07B00"/>
                </a:solidFill>
                <a:latin typeface="Inter"/>
              </a:rPr>
              <a:t>Illustratief voorbeeld — niet een geverifieerde klantcase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16000" y="4241800"/>
            <a:ext cx="5715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02333"/>
                </a:solidFill>
                <a:latin typeface="Inter"/>
              </a:rPr>
              <a:t>"Een instelling bouwde zelf een AI-feedbacktool"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2000" y="4508500"/>
            <a:ext cx="2324100" cy="50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950" b="1">
                <a:solidFill>
                  <a:srgbClr val="002333"/>
                </a:solidFill>
                <a:latin typeface="Inter"/>
              </a:rPr>
              <a:t>Onderhoud slokte alles op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43300" y="4508500"/>
            <a:ext cx="2324100" cy="50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950" b="1">
                <a:solidFill>
                  <a:srgbClr val="002333"/>
                </a:solidFill>
                <a:latin typeface="Inter"/>
              </a:rPr>
              <a:t>De workflow liep vast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24600" y="4508500"/>
            <a:ext cx="2324100" cy="50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950" b="1">
                <a:solidFill>
                  <a:srgbClr val="002333"/>
                </a:solidFill>
                <a:latin typeface="Inter"/>
              </a:rPr>
              <a:t>Geen ruimte voor innovatie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05900" y="4508500"/>
            <a:ext cx="2324100" cy="50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950" b="1">
                <a:solidFill>
                  <a:srgbClr val="002333"/>
                </a:solidFill>
                <a:latin typeface="Inter"/>
              </a:rPr>
              <a:t>Alsnog afhankelijk van Big Tech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62000" y="5511800"/>
            <a:ext cx="10668000" cy="6350"/>
          </a:xfrm>
          <a:prstGeom prst="rect">
            <a:avLst/>
          </a:prstGeom>
          <a:solidFill>
            <a:srgbClr val="E7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logo_nav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10650" y="5759450"/>
            <a:ext cx="1079500" cy="292100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>
          <a:xfrm>
            <a:off x="10344150" y="5740400"/>
            <a:ext cx="6350" cy="330200"/>
          </a:xfrm>
          <a:prstGeom prst="rect">
            <a:avLst/>
          </a:prstGeom>
          <a:solidFill>
            <a:srgbClr val="CD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477500" y="5734050"/>
            <a:ext cx="1714500" cy="317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5B7480"/>
                </a:solidFill>
                <a:latin typeface="Inter"/>
              </a:rPr>
              <a:t>Rijksuniversiteit Groningen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795000" y="6375400"/>
            <a:ext cx="635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50" b="0">
                <a:solidFill>
                  <a:srgbClr val="CDD9DE"/>
                </a:solidFill>
                <a:latin typeface="Inter"/>
              </a:rP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