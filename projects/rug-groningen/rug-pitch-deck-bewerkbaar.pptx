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League Spartan"/>
              </a:rPr>
              <a:t>Edu</a:t>
            </a:r>
            <a:r>
              <a:rPr sz="2000" b="1">
                <a:solidFill>
                  <a:srgbClr val="00E075"/>
                </a:solidFill>
                <a:latin typeface="League Spartan"/>
              </a:rPr>
              <a:t>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05840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FFFFF"/>
                </a:solidFill>
                <a:latin typeface="League Spartan"/>
              </a:rPr>
              <a:t>AI feedback en grading voor de </a:t>
            </a:r>
            <a:r>
              <a:rPr sz="4600" b="1">
                <a:solidFill>
                  <a:srgbClr val="00E075"/>
                </a:solidFill>
                <a:latin typeface="League Spartan"/>
              </a:rPr>
              <a:t>Rijksuniversiteit Groningen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297680"/>
            <a:ext cx="10058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9FC7D3"/>
                </a:solidFill>
                <a:latin typeface="Inter"/>
              </a:rPr>
              <a:t>Verkennende sessie, 30 juni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5394960"/>
            <a:ext cx="10058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7FA6B2"/>
                </a:solidFill>
                <a:latin typeface="Inter"/>
              </a:rPr>
              <a:t>Dante Torbed en Jeroen van Gessel, Eduface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2333"/>
                </a:solidFill>
                <a:latin typeface="League Spartan"/>
              </a:rPr>
              <a:t>Edu</a:t>
            </a:r>
            <a:r>
              <a:rPr sz="2000" b="1">
                <a:solidFill>
                  <a:srgbClr val="067A43"/>
                </a:solidFill>
                <a:latin typeface="League Spartan"/>
              </a:rPr>
              <a:t>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41248"/>
            <a:ext cx="1036289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>
                <a:solidFill>
                  <a:srgbClr val="002333"/>
                </a:solidFill>
                <a:latin typeface="League Spartan"/>
              </a:rPr>
              <a:t>Ons </a:t>
            </a:r>
            <a:r>
              <a:rPr sz="3800" b="1">
                <a:solidFill>
                  <a:srgbClr val="00B85F"/>
                </a:solidFill>
                <a:latin typeface="League Spartan"/>
              </a:rPr>
              <a:t>eigen</a:t>
            </a:r>
            <a:r>
              <a:rPr sz="3800" b="1">
                <a:solidFill>
                  <a:srgbClr val="002333"/>
                </a:solidFill>
                <a:latin typeface="League Spartan"/>
              </a:rPr>
              <a:t> AI-model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80360" y="1783080"/>
            <a:ext cx="777240" cy="777240"/>
          </a:xfrm>
          <a:prstGeom prst="roundRect">
            <a:avLst/>
          </a:prstGeom>
          <a:solidFill>
            <a:srgbClr val="E3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400" b="1">
                <a:solidFill>
                  <a:srgbClr val="067A43"/>
                </a:solidFill>
                <a:latin typeface="League Spartan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94760" y="1783080"/>
            <a:ext cx="54864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002333"/>
                </a:solidFill>
                <a:latin typeface="League Spartan"/>
              </a:rPr>
              <a:t>Digitale </a:t>
            </a:r>
            <a:r>
              <a:rPr sz="3800" b="1">
                <a:solidFill>
                  <a:srgbClr val="00B85F"/>
                </a:solidFill>
                <a:latin typeface="League Spartan"/>
              </a:rPr>
              <a:t>autonomie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154680"/>
            <a:ext cx="352044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34256" y="3154680"/>
            <a:ext cx="352044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28431" y="3154680"/>
            <a:ext cx="352044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657600"/>
            <a:ext cx="3520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strike="sngStrike">
                <a:solidFill>
                  <a:srgbClr val="B3BFC5"/>
                </a:solidFill>
                <a:latin typeface="Inter"/>
              </a:rPr>
              <a:t>GPT   Gemini   Claude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14800"/>
            <a:ext cx="3520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067A43"/>
                </a:solidFill>
                <a:latin typeface="League Spartan"/>
              </a:rPr>
              <a:t>✓ Eduface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440680"/>
            <a:ext cx="3520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002333"/>
                </a:solidFill>
                <a:latin typeface="League Spartan"/>
              </a:rPr>
              <a:t>Eigen model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68696" y="3794760"/>
            <a:ext cx="1051560" cy="274320"/>
          </a:xfrm>
          <a:prstGeom prst="rect">
            <a:avLst/>
          </a:prstGeom>
          <a:solidFill>
            <a:srgbClr val="AE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68696" y="4069080"/>
            <a:ext cx="10515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4E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68696" y="4343400"/>
            <a:ext cx="1051560" cy="274320"/>
          </a:xfrm>
          <a:prstGeom prst="rect">
            <a:avLst/>
          </a:prstGeom>
          <a:solidFill>
            <a:srgbClr val="214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34256" y="5440680"/>
            <a:ext cx="3520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002333"/>
                </a:solidFill>
                <a:latin typeface="League Spartan"/>
              </a:rPr>
              <a:t>Data blijft in Nederland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88552" y="3749039"/>
            <a:ext cx="457200" cy="1234440"/>
          </a:xfrm>
          <a:prstGeom prst="round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902951" y="4416552"/>
            <a:ext cx="457200" cy="566928"/>
          </a:xfrm>
          <a:prstGeom prst="roundRect">
            <a:avLst/>
          </a:prstGeom>
          <a:solidFill>
            <a:srgbClr val="00B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14232" y="5029200"/>
            <a:ext cx="10058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5C6F78"/>
                </a:solidFill>
                <a:latin typeface="Inter"/>
              </a:rPr>
              <a:t>Big Tech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74352" y="5029200"/>
            <a:ext cx="10058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5C6F78"/>
                </a:solidFill>
                <a:latin typeface="Inter"/>
              </a:rPr>
              <a:t>Eduface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28431" y="5440680"/>
            <a:ext cx="3520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002333"/>
                </a:solidFill>
                <a:latin typeface="League Spartan"/>
              </a:rPr>
              <a:t>Klein en efficient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2333"/>
                </a:solidFill>
                <a:latin typeface="League Spartan"/>
              </a:rPr>
              <a:t>Edu</a:t>
            </a:r>
            <a:r>
              <a:rPr sz="2000" b="1">
                <a:solidFill>
                  <a:srgbClr val="067A43"/>
                </a:solidFill>
                <a:latin typeface="League Spartan"/>
              </a:rPr>
              <a:t>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41248"/>
            <a:ext cx="1036289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>
                <a:solidFill>
                  <a:srgbClr val="002333"/>
                </a:solidFill>
                <a:latin typeface="League Spartan"/>
              </a:rPr>
              <a:t>De </a:t>
            </a:r>
            <a:r>
              <a:rPr sz="3800" b="1">
                <a:solidFill>
                  <a:srgbClr val="00B85F"/>
                </a:solidFill>
                <a:latin typeface="League Spartan"/>
              </a:rPr>
              <a:t>tool</a:t>
            </a:r>
            <a:r>
              <a:rPr sz="3800" b="1">
                <a:solidFill>
                  <a:srgbClr val="002333"/>
                </a:solidFill>
                <a:latin typeface="League Spartan"/>
              </a:rPr>
              <a:t> in beeld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5422392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D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291840"/>
            <a:ext cx="542239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5C6F78"/>
                </a:solidFill>
                <a:latin typeface="League Spartan"/>
              </a:rPr>
              <a:t>AI feedback tool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19" y="3886200"/>
            <a:ext cx="432511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5C6F78"/>
                </a:solidFill>
                <a:latin typeface="Inter"/>
              </a:rPr>
              <a:t>Sleep hier de screenshot van de feedback-tool 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28232" y="2194560"/>
            <a:ext cx="5422392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D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2" y="3291840"/>
            <a:ext cx="542239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5C6F78"/>
                </a:solidFill>
                <a:latin typeface="League Spartan"/>
              </a:rPr>
              <a:t>AI Grader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76872" y="3886200"/>
            <a:ext cx="432511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5C6F78"/>
                </a:solidFill>
                <a:latin typeface="Inter"/>
              </a:rPr>
              <a:t>Sleep hier de screenshot van de grader 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2333"/>
                </a:solidFill>
                <a:latin typeface="League Spartan"/>
              </a:rPr>
              <a:t>Edu</a:t>
            </a:r>
            <a:r>
              <a:rPr sz="2000" b="1">
                <a:solidFill>
                  <a:srgbClr val="067A43"/>
                </a:solidFill>
                <a:latin typeface="League Spartan"/>
              </a:rPr>
              <a:t>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41248"/>
            <a:ext cx="1036289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>
                <a:solidFill>
                  <a:srgbClr val="002333"/>
                </a:solidFill>
                <a:latin typeface="League Spartan"/>
              </a:rPr>
              <a:t>Voldoen aan de </a:t>
            </a:r>
            <a:r>
              <a:rPr sz="3800" b="1">
                <a:solidFill>
                  <a:srgbClr val="00B85F"/>
                </a:solidFill>
                <a:latin typeface="League Spartan"/>
              </a:rPr>
              <a:t>EU AI 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10908792" cy="1143000"/>
          </a:xfrm>
          <a:prstGeom prst="roundRect">
            <a:avLst/>
          </a:prstGeom>
          <a:solidFill>
            <a:srgbClr val="00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2029968"/>
            <a:ext cx="2331720" cy="475488"/>
          </a:xfrm>
          <a:prstGeom prst="roundRect">
            <a:avLst/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002333"/>
                </a:solidFill>
                <a:latin typeface="League Spartan"/>
              </a:rPr>
              <a:t>Human in the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1874519"/>
            <a:ext cx="7680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League Spartan"/>
              </a:rPr>
              <a:t>De docent beslist altijd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359152"/>
            <a:ext cx="7772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9FC7D3"/>
                </a:solidFill>
                <a:latin typeface="Inter"/>
              </a:rPr>
              <a:t>De AI doet het voorwerk. De examinator verifieert en blijft eindverantwoordelijk.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154680"/>
            <a:ext cx="352044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025395" y="3566160"/>
            <a:ext cx="749808" cy="749808"/>
          </a:xfrm>
          <a:prstGeom prst="roundRect">
            <a:avLst/>
          </a:prstGeom>
          <a:solidFill>
            <a:srgbClr val="E3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000" b="1">
                <a:solidFill>
                  <a:srgbClr val="067A43"/>
                </a:solidFill>
                <a:latin typeface="League Spartan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80560"/>
            <a:ext cx="3520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002333"/>
                </a:solidFill>
                <a:latin typeface="League Spartan"/>
              </a:rPr>
              <a:t>DPIA uitgevoerd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937760"/>
            <a:ext cx="3063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>
                <a:solidFill>
                  <a:srgbClr val="5C6F78"/>
                </a:solidFill>
                <a:latin typeface="Inter"/>
              </a:rPr>
              <a:t>Data Protection Impact Assessment, vooraf.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4256" y="3154680"/>
            <a:ext cx="352044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719572" y="3566160"/>
            <a:ext cx="749808" cy="749808"/>
          </a:xfrm>
          <a:prstGeom prst="ellipse">
            <a:avLst/>
          </a:prstGeom>
          <a:solidFill>
            <a:srgbClr val="214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League Spartan"/>
              </a:rPr>
              <a:t>EU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4256" y="4480560"/>
            <a:ext cx="3520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002333"/>
                </a:solidFill>
                <a:latin typeface="League Spartan"/>
              </a:rPr>
              <a:t>AVG-conform, EU-gehost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2856" y="4937760"/>
            <a:ext cx="3063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>
                <a:solidFill>
                  <a:srgbClr val="5C6F78"/>
                </a:solidFill>
                <a:latin typeface="Inter"/>
              </a:rPr>
              <a:t>De data blijft binnen de EU.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1" y="3154680"/>
            <a:ext cx="352044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413748" y="3566160"/>
            <a:ext cx="749808" cy="749808"/>
          </a:xfrm>
          <a:prstGeom prst="roundRect">
            <a:avLst/>
          </a:prstGeom>
          <a:solidFill>
            <a:srgbClr val="E3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000" b="1">
                <a:solidFill>
                  <a:srgbClr val="067A43"/>
                </a:solidFill>
                <a:latin typeface="League Spartan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28431" y="4480560"/>
            <a:ext cx="3520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002333"/>
                </a:solidFill>
                <a:latin typeface="League Spartan"/>
              </a:rPr>
              <a:t>Verwerkersovereenkomst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1" y="4937760"/>
            <a:ext cx="3063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>
                <a:solidFill>
                  <a:srgbClr val="5C6F78"/>
                </a:solidFill>
                <a:latin typeface="Inter"/>
              </a:rPr>
              <a:t>Klaar om te tekenen, sluit aan op jullie AI-beleid.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897880"/>
            <a:ext cx="103601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5C6F78"/>
                </a:solidFill>
                <a:latin typeface="Inter"/>
              </a:rPr>
              <a:t>Toetsing met AI valt onder hoog-risico in de EU AI Act, met verplichtingen vanaf augustus 2026.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2333"/>
                </a:solidFill>
                <a:latin typeface="League Spartan"/>
              </a:rPr>
              <a:t>Edu</a:t>
            </a:r>
            <a:r>
              <a:rPr sz="2000" b="1">
                <a:solidFill>
                  <a:srgbClr val="067A43"/>
                </a:solidFill>
                <a:latin typeface="League Spartan"/>
              </a:rPr>
              <a:t>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41248"/>
            <a:ext cx="1036289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>
                <a:solidFill>
                  <a:srgbClr val="002333"/>
                </a:solidFill>
                <a:latin typeface="League Spartan"/>
              </a:rPr>
              <a:t>Bewijs: </a:t>
            </a:r>
            <a:r>
              <a:rPr sz="3800" b="1">
                <a:solidFill>
                  <a:srgbClr val="00B85F"/>
                </a:solidFill>
                <a:latin typeface="League Spartan"/>
              </a:rPr>
              <a:t>Bath Spa University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10908792" cy="1554480"/>
          </a:xfrm>
          <a:prstGeom prst="roundRect">
            <a:avLst/>
          </a:prstGeom>
          <a:solidFill>
            <a:srgbClr val="00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292608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0" b="1">
                <a:solidFill>
                  <a:srgbClr val="00E075"/>
                </a:solidFill>
                <a:latin typeface="League Spartan"/>
              </a:rPr>
              <a:t>94%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965960"/>
            <a:ext cx="6949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League Spartan"/>
              </a:rPr>
              <a:t>De AI dacht hetzelfde als de docent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487168"/>
            <a:ext cx="7040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9FC7D3"/>
                </a:solidFill>
                <a:latin typeface="Inter"/>
              </a:rPr>
              <a:t>In 94% van de gevallen kwam de AI-beoordeling overeen met het oordeel van de docent.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2907792"/>
            <a:ext cx="2011680" cy="384048"/>
          </a:xfrm>
          <a:prstGeom prst="roundRect">
            <a:avLst/>
          </a:prstGeom>
          <a:solidFill>
            <a:srgbClr val="0F3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00E075"/>
                </a:solidFill>
                <a:latin typeface="League Spartan"/>
              </a:rPr>
              <a:t>96% in OBM-vakken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11880"/>
            <a:ext cx="352044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3611880"/>
            <a:ext cx="3246120" cy="82296"/>
          </a:xfrm>
          <a:prstGeom prst="rect">
            <a:avLst/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114800"/>
            <a:ext cx="35204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200" b="1">
                <a:solidFill>
                  <a:srgbClr val="002333"/>
                </a:solidFill>
                <a:latin typeface="League Spartan"/>
              </a:rPr>
              <a:t>435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212080"/>
            <a:ext cx="2971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5C6F78"/>
                </a:solidFill>
                <a:latin typeface="Inter"/>
              </a:rPr>
              <a:t>submissions beoordeeld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4256" y="3611880"/>
            <a:ext cx="352044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71416" y="3611880"/>
            <a:ext cx="3246120" cy="82296"/>
          </a:xfrm>
          <a:prstGeom prst="rect">
            <a:avLst/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34256" y="4114800"/>
            <a:ext cx="35204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200" b="1">
                <a:solidFill>
                  <a:srgbClr val="002333"/>
                </a:solidFill>
                <a:latin typeface="League Spartan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8576" y="5212080"/>
            <a:ext cx="2971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5C6F78"/>
                </a:solidFill>
                <a:latin typeface="Inter"/>
              </a:rPr>
              <a:t>vakken over 3 disciplines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28431" y="3611880"/>
            <a:ext cx="352044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65592" y="3611880"/>
            <a:ext cx="3246120" cy="82296"/>
          </a:xfrm>
          <a:prstGeom prst="rect">
            <a:avLst/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28431" y="4114800"/>
            <a:ext cx="35204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200" b="1">
                <a:solidFill>
                  <a:srgbClr val="002333"/>
                </a:solidFill>
                <a:latin typeface="League Spartan"/>
              </a:rPr>
              <a:t>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5212080"/>
            <a:ext cx="2971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5C6F78"/>
                </a:solidFill>
                <a:latin typeface="Inter"/>
              </a:rPr>
              <a:t>docenten in de pilot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2333"/>
                </a:solidFill>
                <a:latin typeface="League Spartan"/>
              </a:rPr>
              <a:t>Edu</a:t>
            </a:r>
            <a:r>
              <a:rPr sz="2000" b="1">
                <a:solidFill>
                  <a:srgbClr val="067A43"/>
                </a:solidFill>
                <a:latin typeface="League Spartan"/>
              </a:rPr>
              <a:t>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41248"/>
            <a:ext cx="1036289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>
                <a:solidFill>
                  <a:srgbClr val="002333"/>
                </a:solidFill>
                <a:latin typeface="League Spartan"/>
              </a:rPr>
              <a:t>De risico's van </a:t>
            </a:r>
            <a:r>
              <a:rPr sz="3800" b="1">
                <a:solidFill>
                  <a:srgbClr val="00B85F"/>
                </a:solidFill>
                <a:latin typeface="League Spartan"/>
              </a:rPr>
              <a:t>zelf bouwen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10908792" cy="1097280"/>
          </a:xfrm>
          <a:prstGeom prst="roundRect">
            <a:avLst/>
          </a:prstGeom>
          <a:solidFill>
            <a:srgbClr val="00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1965960"/>
            <a:ext cx="2194560" cy="457200"/>
          </a:xfrm>
          <a:prstGeom prst="roundRect">
            <a:avLst/>
          </a:prstGeom>
          <a:solidFill>
            <a:srgbClr val="FF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8A2018"/>
                </a:solidFill>
                <a:latin typeface="League Spartan"/>
              </a:rPr>
              <a:t>Praktijkverhaal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1828800"/>
            <a:ext cx="7772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League Spartan"/>
              </a:rPr>
              <a:t>Een instelling bouwde zelf een AI-feedbacktool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2304288"/>
            <a:ext cx="7772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9FC7D3"/>
                </a:solidFill>
                <a:latin typeface="Inter"/>
              </a:rPr>
              <a:t>Wat er in de praktijk gebeurde: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63240"/>
            <a:ext cx="2679192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604772" y="3474720"/>
            <a:ext cx="749808" cy="749808"/>
          </a:xfrm>
          <a:prstGeom prst="round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000" b="1">
                <a:solidFill>
                  <a:srgbClr val="C0392B"/>
                </a:solidFill>
                <a:latin typeface="League Spartan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240487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>
                <a:solidFill>
                  <a:srgbClr val="002333"/>
                </a:solidFill>
                <a:latin typeface="League Spartan"/>
              </a:rPr>
              <a:t>Onderhoud slokte alles 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892040"/>
            <a:ext cx="222199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5C6F78"/>
                </a:solidFill>
                <a:latin typeface="Inter"/>
              </a:rPr>
              <a:t>De tool moest constant onderhouden worden.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19856" y="3063240"/>
            <a:ext cx="2679192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4548" y="3474720"/>
            <a:ext cx="749808" cy="749808"/>
          </a:xfrm>
          <a:prstGeom prst="round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000" b="1">
                <a:solidFill>
                  <a:srgbClr val="C0392B"/>
                </a:solidFill>
                <a:latin typeface="League Spartan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7016" y="4343400"/>
            <a:ext cx="240487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>
                <a:solidFill>
                  <a:srgbClr val="002333"/>
                </a:solidFill>
                <a:latin typeface="League Spartan"/>
              </a:rPr>
              <a:t>De workflow liep vast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8456" y="4892040"/>
            <a:ext cx="222199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5C6F78"/>
                </a:solidFill>
                <a:latin typeface="Inter"/>
              </a:rPr>
              <a:t>In de praktijk werkte het niet.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3063240"/>
            <a:ext cx="2679192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64324" y="3474720"/>
            <a:ext cx="749808" cy="749808"/>
          </a:xfrm>
          <a:prstGeom prst="round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000" b="1">
                <a:solidFill>
                  <a:srgbClr val="C0392B"/>
                </a:solidFill>
                <a:latin typeface="League Spartan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4343400"/>
            <a:ext cx="240487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>
                <a:solidFill>
                  <a:srgbClr val="002333"/>
                </a:solidFill>
                <a:latin typeface="League Spartan"/>
              </a:rPr>
              <a:t>Geen ruimte voor innovatie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4892040"/>
            <a:ext cx="222199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5C6F78"/>
                </a:solidFill>
                <a:latin typeface="Inter"/>
              </a:rPr>
              <a:t>Het tech-team zat vast in onderhoud.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79408" y="3063240"/>
            <a:ext cx="2679192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944100" y="3474720"/>
            <a:ext cx="749808" cy="749808"/>
          </a:xfrm>
          <a:prstGeom prst="round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000" b="1">
                <a:solidFill>
                  <a:srgbClr val="C0392B"/>
                </a:solidFill>
                <a:latin typeface="League Spartan"/>
              </a:rPr>
              <a:t>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16568" y="4343400"/>
            <a:ext cx="240487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>
                <a:solidFill>
                  <a:srgbClr val="002333"/>
                </a:solidFill>
                <a:latin typeface="League Spartan"/>
              </a:rPr>
              <a:t>Alsnog afhankelijk van Big Tech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08008" y="4892040"/>
            <a:ext cx="222199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5C6F78"/>
                </a:solidFill>
                <a:latin typeface="Inter"/>
              </a:rPr>
              <a:t>Het doel werd niet bereikt.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943600"/>
            <a:ext cx="1036015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0">
                <a:solidFill>
                  <a:srgbClr val="5C6F78"/>
                </a:solidFill>
                <a:latin typeface="Inter"/>
              </a:rPr>
              <a:t>Zelf bouwen is duurder en risicovoller dan het lijkt, zeker met de EU AI Act en een bezuinigingsopgave.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2333"/>
                </a:solidFill>
                <a:latin typeface="League Spartan"/>
              </a:rPr>
              <a:t>Edu</a:t>
            </a:r>
            <a:r>
              <a:rPr sz="2000" b="1">
                <a:solidFill>
                  <a:srgbClr val="067A43"/>
                </a:solidFill>
                <a:latin typeface="League Spartan"/>
              </a:rPr>
              <a:t>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41248"/>
            <a:ext cx="1036289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>
                <a:solidFill>
                  <a:srgbClr val="002333"/>
                </a:solidFill>
                <a:latin typeface="League Spartan"/>
              </a:rPr>
              <a:t>Onze </a:t>
            </a:r>
            <a:r>
              <a:rPr sz="3800" b="1">
                <a:solidFill>
                  <a:srgbClr val="00B85F"/>
                </a:solidFill>
                <a:latin typeface="League Spartan"/>
              </a:rPr>
              <a:t>visie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10908792" cy="4023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D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0879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5C6F78"/>
                </a:solidFill>
                <a:latin typeface="League Spartan"/>
              </a:rPr>
              <a:t>Board-slide komt hier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206240"/>
            <a:ext cx="1090879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5C6F78"/>
                </a:solidFill>
                <a:latin typeface="Inter"/>
              </a:rPr>
              <a:t>Sleep hier de bestaande visie-slide uit de board-meeting 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