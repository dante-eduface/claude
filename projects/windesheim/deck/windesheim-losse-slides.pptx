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.png"/><Relationship Id="rId10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Spreiding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752600"/>
            <a:ext cx="10668000" cy="2984500"/>
          </a:xfrm>
          <a:prstGeom prst="roundRect">
            <a:avLst>
              <a:gd name="adj" fmla="val 5957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17600" y="2032000"/>
            <a:ext cx="5715000" cy="292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Model accuracy per grader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" y="23876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Hoe dicht elke beoordelaar bij het voorstel bleef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28067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75000" y="28321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175000" y="2832100"/>
            <a:ext cx="4729480" cy="1651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78800" y="27940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98%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7940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8384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7B54"/>
                </a:solidFill>
                <a:latin typeface="Inter"/>
              </a:rPr>
              <a:t>Excellent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7600" y="31115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75000" y="31369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175000" y="3136900"/>
            <a:ext cx="4536440" cy="165100"/>
          </a:xfrm>
          <a:prstGeom prst="roundRect">
            <a:avLst>
              <a:gd name="adj" fmla="val 50000"/>
            </a:avLst>
          </a:prstGeom>
          <a:solidFill>
            <a:srgbClr val="007B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78800" y="30988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94%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0988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0" y="31432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007B54"/>
                </a:solidFill>
                <a:latin typeface="Inter"/>
              </a:rPr>
              <a:t>Excellent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600" y="34163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75000" y="34417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175000" y="3441700"/>
            <a:ext cx="419862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8800" y="34036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87%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34036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34480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07B00"/>
                </a:solidFill>
                <a:latin typeface="Inter"/>
              </a:rPr>
              <a:t>Wisselend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600" y="37211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175000" y="37465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175000" y="3746500"/>
            <a:ext cx="381254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78800" y="37084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79%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0" y="37084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0" y="37528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07B00"/>
                </a:solidFill>
                <a:latin typeface="Inter"/>
              </a:rPr>
              <a:t>Wisselend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7600" y="40259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175000" y="40513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175000" y="4051300"/>
            <a:ext cx="342646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78800" y="40132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71%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40132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40576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07B00"/>
                </a:solidFill>
                <a:latin typeface="Inter"/>
              </a:rPr>
              <a:t>Wijkt af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7600" y="43307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Inter"/>
              </a:rPr>
              <a:t>Beoordelaar 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175000" y="4356100"/>
            <a:ext cx="4826000" cy="165100"/>
          </a:xfrm>
          <a:prstGeom prst="roundRect">
            <a:avLst>
              <a:gd name="adj" fmla="val 50000"/>
            </a:avLst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175000" y="4356100"/>
            <a:ext cx="3185160" cy="165100"/>
          </a:xfrm>
          <a:prstGeom prst="roundRect">
            <a:avLst>
              <a:gd name="adj" fmla="val 50000"/>
            </a:avLst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78800" y="4318000"/>
            <a:ext cx="825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002333"/>
                </a:solidFill>
                <a:latin typeface="League Spartan"/>
              </a:rPr>
              <a:t>66%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4318000"/>
            <a:ext cx="1333500" cy="254000"/>
          </a:xfrm>
          <a:prstGeom prst="roundRect">
            <a:avLst>
              <a:gd name="adj" fmla="val 50000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0" y="4362450"/>
            <a:ext cx="13335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E07B00"/>
                </a:solidFill>
                <a:latin typeface="Inter"/>
              </a:rPr>
              <a:t>Wijkt af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000" y="50165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>
                <a:solidFill>
                  <a:srgbClr val="002333"/>
                </a:solidFill>
                <a:latin typeface="League Spartan"/>
              </a:rPr>
              <a:t>32 punten verschil tussen de strengste en de mildste beoordelaar.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2000" y="5715000"/>
            <a:ext cx="8382000" cy="44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Voorbeeld met fictieve data, ter illustratie van wat het dashboard laat zien.</a:t>
            </a:r>
          </a:p>
        </p:txBody>
      </p:sp>
      <p:pic>
        <p:nvPicPr>
          <p:cNvPr id="45" name="Picture 44" descr="logo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windeshe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Eén taak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701800"/>
            <a:ext cx="5105400" cy="2489200"/>
          </a:xfrm>
          <a:prstGeom prst="roundRect">
            <a:avLst>
              <a:gd name="adj" fmla="val 7142"/>
            </a:avLst>
          </a:prstGeom>
          <a:solidFill>
            <a:srgbClr val="FDF0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66800" y="1905000"/>
            <a:ext cx="44958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E07B00"/>
                </a:solidFill>
                <a:latin typeface="League Spartan"/>
              </a:rPr>
              <a:t>Algemeen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6800" y="237490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con-kar-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4650" y="2489200"/>
            <a:ext cx="254000" cy="254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280670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Boodschappen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9850" y="237490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con-pan-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7700" y="2489200"/>
            <a:ext cx="254000" cy="25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609850" y="280670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Recept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52900" y="237490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con-vliegtuig-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750" y="2489200"/>
            <a:ext cx="254000" cy="254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52900" y="280670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Vakantie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66800" y="324485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con-mail-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4650" y="3359150"/>
            <a:ext cx="254000" cy="25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66800" y="367665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Mail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9850" y="324485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con-code-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7700" y="3359150"/>
            <a:ext cx="254000" cy="25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09850" y="367665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Code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52900" y="3244850"/>
            <a:ext cx="1409700" cy="736600"/>
          </a:xfrm>
          <a:prstGeom prst="roundRect">
            <a:avLst>
              <a:gd name="adj" fmla="val 15517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con-globe-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0750" y="3359150"/>
            <a:ext cx="254000" cy="254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152900" y="3676650"/>
            <a:ext cx="14097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B7480"/>
                </a:solidFill>
                <a:latin typeface="Inter"/>
              </a:rPr>
              <a:t>Vertalen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6800" y="4013200"/>
            <a:ext cx="449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E07B00"/>
                </a:solidFill>
                <a:latin typeface="Inter"/>
              </a:rPr>
              <a:t>en duizend andere dingen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600" y="1701800"/>
            <a:ext cx="5105400" cy="2489200"/>
          </a:xfrm>
          <a:prstGeom prst="roundRect">
            <a:avLst>
              <a:gd name="adj" fmla="val 7142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905000"/>
            <a:ext cx="44958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007B54"/>
                </a:solidFill>
                <a:latin typeface="League Spartan"/>
              </a:rPr>
              <a:t>Ons model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05800" y="2425700"/>
            <a:ext cx="1143000" cy="11430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con-filepen-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91550" y="2711450"/>
            <a:ext cx="571500" cy="571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29400" y="3733800"/>
            <a:ext cx="44958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Feedback op schrijfopdrachten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4343400"/>
            <a:ext cx="10668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5B7480"/>
                </a:solidFill>
                <a:latin typeface="Inter"/>
              </a:rPr>
              <a:t>Waar een model op getraind is, bepaalt waar het voor mag worden ingezet.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2000" y="4610100"/>
            <a:ext cx="50800" cy="635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16000" y="4610100"/>
            <a:ext cx="9652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002333"/>
                </a:solidFill>
                <a:latin typeface="Inter"/>
              </a:rPr>
              <a:t>“Datasets voor training, validatie en tests zijn relevant, voldoende representatief (…) met het oog op het beoogde doel.”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6000" y="5156200"/>
            <a:ext cx="9652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5B7480"/>
                </a:solidFill>
                <a:latin typeface="Inter"/>
              </a:rPr>
              <a:t>EU AI Act, verordening 2024/1689, artikel 10 lid 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logo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windesheim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Aanzetten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905000"/>
            <a:ext cx="4445000" cy="2794000"/>
          </a:xfrm>
          <a:prstGeom prst="roundRect">
            <a:avLst>
              <a:gd name="adj" fmla="val 6363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905000"/>
            <a:ext cx="4445000" cy="482600"/>
          </a:xfrm>
          <a:prstGeom prst="roundRect">
            <a:avLst>
              <a:gd name="adj" fmla="val 3684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209800"/>
            <a:ext cx="4445000" cy="17780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5200" y="20828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1100" y="20828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97000" y="20828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ight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044700"/>
            <a:ext cx="1574800" cy="203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39800" y="2565400"/>
            <a:ext cx="4089400" cy="4191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7600" y="2667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Course slides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500" y="2654300"/>
            <a:ext cx="850900" cy="2413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0500" y="2698750"/>
            <a:ext cx="850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086100"/>
            <a:ext cx="4089400" cy="4191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" y="31877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Assessment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500" y="3175000"/>
            <a:ext cx="850900" cy="2413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0500" y="3219450"/>
            <a:ext cx="850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3606800"/>
            <a:ext cx="4089400" cy="4191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7600" y="37084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Rubric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0500" y="3695700"/>
            <a:ext cx="850900" cy="2413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0500" y="3740150"/>
            <a:ext cx="850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9800" y="4127500"/>
            <a:ext cx="4089400" cy="4191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7600" y="42291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Studentenhandboek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00500" y="4216400"/>
            <a:ext cx="850900" cy="2413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0500" y="4260850"/>
            <a:ext cx="850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88000" y="3035300"/>
            <a:ext cx="1016000" cy="558800"/>
          </a:xfrm>
          <a:prstGeom prst="roundRect">
            <a:avLst>
              <a:gd name="adj" fmla="val 25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8000" y="31877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Sync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85000" y="1905000"/>
            <a:ext cx="4445000" cy="2794000"/>
          </a:xfrm>
          <a:prstGeom prst="roundRect">
            <a:avLst>
              <a:gd name="adj" fmla="val 6363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9000" y="21590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League Spartan"/>
              </a:rPr>
              <a:t>Eduface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98000" y="2146300"/>
            <a:ext cx="1778000" cy="3429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8000" y="2222500"/>
            <a:ext cx="1778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League Spartan"/>
              </a:rPr>
              <a:t>Alle courses klaar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39000" y="27940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9000" y="2857500"/>
            <a:ext cx="330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6200" y="2832100"/>
            <a:ext cx="3429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League Spartan"/>
              </a:rPr>
              <a:t>Leest het vak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39000" y="33782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39000" y="3441700"/>
            <a:ext cx="330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6200" y="3416300"/>
            <a:ext cx="3429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League Spartan"/>
              </a:rPr>
              <a:t>Bouwt de instructies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39000" y="39624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39000" y="4025900"/>
            <a:ext cx="330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6200" y="4000500"/>
            <a:ext cx="3429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League Spartan"/>
              </a:rPr>
              <a:t>Vult aan met domeinkennis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50165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02333"/>
                </a:solidFill>
                <a:latin typeface="League Spartan"/>
              </a:rPr>
              <a:t>De docent zet niets op.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windeshe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