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558800"/>
            <a:ext cx="10668000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800" b="1">
                <a:solidFill>
                  <a:srgbClr val="002333"/>
                </a:solidFill>
                <a:latin typeface="League Spartan"/>
              </a:rPr>
              <a:t>Eén taak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62000" y="1701800"/>
            <a:ext cx="5105400" cy="2489200"/>
          </a:xfrm>
          <a:prstGeom prst="roundRect">
            <a:avLst>
              <a:gd name="adj" fmla="val 7142"/>
            </a:avLst>
          </a:prstGeom>
          <a:solidFill>
            <a:srgbClr val="FDF0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66800" y="1905000"/>
            <a:ext cx="4495800" cy="355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E07B00"/>
                </a:solidFill>
                <a:latin typeface="League Spartan"/>
              </a:rPr>
              <a:t>Algemeen model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6800" y="2374900"/>
            <a:ext cx="1409700" cy="736600"/>
          </a:xfrm>
          <a:prstGeom prst="roundRect">
            <a:avLst>
              <a:gd name="adj" fmla="val 1551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con-kar-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4650" y="2489200"/>
            <a:ext cx="254000" cy="254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66800" y="2806700"/>
            <a:ext cx="1409700" cy="215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5B7480"/>
                </a:solidFill>
                <a:latin typeface="Inter"/>
              </a:rPr>
              <a:t>Boodschappen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09850" y="2374900"/>
            <a:ext cx="1409700" cy="736600"/>
          </a:xfrm>
          <a:prstGeom prst="roundRect">
            <a:avLst>
              <a:gd name="adj" fmla="val 1551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con-pan-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7700" y="2489200"/>
            <a:ext cx="254000" cy="254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609850" y="2806700"/>
            <a:ext cx="1409700" cy="215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5B7480"/>
                </a:solidFill>
                <a:latin typeface="Inter"/>
              </a:rPr>
              <a:t>Recept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52900" y="2374900"/>
            <a:ext cx="1409700" cy="736600"/>
          </a:xfrm>
          <a:prstGeom prst="roundRect">
            <a:avLst>
              <a:gd name="adj" fmla="val 1551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con-vliegtuig-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0750" y="2489200"/>
            <a:ext cx="254000" cy="2540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152900" y="2806700"/>
            <a:ext cx="1409700" cy="215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5B7480"/>
                </a:solidFill>
                <a:latin typeface="Inter"/>
              </a:rPr>
              <a:t>Vakantie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66800" y="3244850"/>
            <a:ext cx="1409700" cy="736600"/>
          </a:xfrm>
          <a:prstGeom prst="roundRect">
            <a:avLst>
              <a:gd name="adj" fmla="val 1551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con-mail-nav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44650" y="3359150"/>
            <a:ext cx="254000" cy="2540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066800" y="3676650"/>
            <a:ext cx="1409700" cy="215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5B7480"/>
                </a:solidFill>
                <a:latin typeface="Inter"/>
              </a:rPr>
              <a:t>Mail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609850" y="3244850"/>
            <a:ext cx="1409700" cy="736600"/>
          </a:xfrm>
          <a:prstGeom prst="roundRect">
            <a:avLst>
              <a:gd name="adj" fmla="val 1551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con-code-nav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87700" y="3359150"/>
            <a:ext cx="254000" cy="2540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2609850" y="3676650"/>
            <a:ext cx="1409700" cy="215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5B7480"/>
                </a:solidFill>
                <a:latin typeface="Inter"/>
              </a:rPr>
              <a:t>Code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52900" y="3244850"/>
            <a:ext cx="1409700" cy="736600"/>
          </a:xfrm>
          <a:prstGeom prst="roundRect">
            <a:avLst>
              <a:gd name="adj" fmla="val 1551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con-globe-nav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30750" y="3359150"/>
            <a:ext cx="254000" cy="2540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4152900" y="3676650"/>
            <a:ext cx="1409700" cy="215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5B7480"/>
                </a:solidFill>
                <a:latin typeface="Inter"/>
              </a:rPr>
              <a:t>Vertalen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6800" y="4013200"/>
            <a:ext cx="4495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07B00"/>
                </a:solidFill>
                <a:latin typeface="Inter"/>
              </a:rPr>
              <a:t>en duizend andere dingen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24600" y="1701800"/>
            <a:ext cx="5105400" cy="2489200"/>
          </a:xfrm>
          <a:prstGeom prst="roundRect">
            <a:avLst>
              <a:gd name="adj" fmla="val 7142"/>
            </a:avLst>
          </a:prstGeom>
          <a:solidFill>
            <a:srgbClr val="E2FB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29400" y="1905000"/>
            <a:ext cx="4495800" cy="355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07B54"/>
                </a:solidFill>
                <a:latin typeface="League Spartan"/>
              </a:rPr>
              <a:t>Ons model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305800" y="2425700"/>
            <a:ext cx="1143000" cy="114300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icon-filepen-gree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91550" y="2711450"/>
            <a:ext cx="571500" cy="5715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6629400" y="3733800"/>
            <a:ext cx="44958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900" b="1">
                <a:solidFill>
                  <a:srgbClr val="002333"/>
                </a:solidFill>
                <a:latin typeface="League Spartan"/>
              </a:rPr>
              <a:t>Feedback op schrijfopdrachten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2000" y="4343400"/>
            <a:ext cx="10668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>
                <a:solidFill>
                  <a:srgbClr val="5B7480"/>
                </a:solidFill>
                <a:latin typeface="Inter"/>
              </a:rPr>
              <a:t>Waar een model op getraind is, bepaalt waar het voor mag worden ingezet.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62000" y="4610100"/>
            <a:ext cx="50800" cy="635000"/>
          </a:xfrm>
          <a:prstGeom prst="roundRect">
            <a:avLst>
              <a:gd name="adj" fmla="val 50000"/>
            </a:avLst>
          </a:prstGeom>
          <a:solidFill>
            <a:srgbClr val="00E0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16000" y="4610100"/>
            <a:ext cx="9652000" cy="50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002333"/>
                </a:solidFill>
                <a:latin typeface="Inter"/>
              </a:rPr>
              <a:t>“Datasets voor training, validatie en tests zijn relevant, voldoende representatief (…) met het oog op het beoogde doel.”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6000" y="5156200"/>
            <a:ext cx="9652000" cy="215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5B7480"/>
                </a:solidFill>
                <a:latin typeface="Inter"/>
              </a:rPr>
              <a:t>EU AI Act, verordening 2024/1689, artikel 10 lid 3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62000" y="5511800"/>
            <a:ext cx="10668000" cy="6350"/>
          </a:xfrm>
          <a:prstGeom prst="rect">
            <a:avLst/>
          </a:prstGeom>
          <a:solidFill>
            <a:srgbClr val="E7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logo_navy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10650" y="5759450"/>
            <a:ext cx="1079500" cy="292100"/>
          </a:xfrm>
          <a:prstGeom prst="rect">
            <a:avLst/>
          </a:prstGeom>
        </p:spPr>
      </p:pic>
      <p:sp>
        <p:nvSpPr>
          <p:cNvPr id="35" name="Rectangle 34"/>
          <p:cNvSpPr/>
          <p:nvPr/>
        </p:nvSpPr>
        <p:spPr>
          <a:xfrm>
            <a:off x="10344150" y="5740400"/>
            <a:ext cx="6350" cy="330200"/>
          </a:xfrm>
          <a:prstGeom prst="rect">
            <a:avLst/>
          </a:prstGeom>
          <a:solidFill>
            <a:srgbClr val="CD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windesheim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604500" y="5715000"/>
            <a:ext cx="825500" cy="381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