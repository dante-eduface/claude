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Eigen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17700" y="2413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data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2647950"/>
            <a:ext cx="469900" cy="469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3619500"/>
            <a:ext cx="3251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250.000 opdrachten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6100" y="2413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pen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050" y="2647950"/>
            <a:ext cx="469900" cy="469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70400" y="3619500"/>
            <a:ext cx="3251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Docentfeedback erop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4500" y="2413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boek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9450" y="2647950"/>
            <a:ext cx="469900" cy="469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78800" y="3619500"/>
            <a:ext cx="3251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Domeinkennis per vak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483100"/>
            <a:ext cx="1066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Gebouwd met</a:t>
            </a:r>
          </a:p>
        </p:txBody>
      </p:sp>
      <p:pic>
        <p:nvPicPr>
          <p:cNvPr id="13" name="Picture 12" descr="leid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900" y="4749800"/>
            <a:ext cx="1143000" cy="482600"/>
          </a:xfrm>
          <a:prstGeom prst="rect">
            <a:avLst/>
          </a:prstGeom>
        </p:spPr>
      </p:pic>
      <p:pic>
        <p:nvPicPr>
          <p:cNvPr id="14" name="Picture 13" descr="radb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3900" y="4749800"/>
            <a:ext cx="2114550" cy="4826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71500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Demo en gesprek, 14 september 2026.</a:t>
            </a:r>
          </a:p>
        </p:txBody>
      </p:sp>
      <p:pic>
        <p:nvPicPr>
          <p:cNvPr id="17" name="Picture 16" descr="logo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windeshei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Het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562100"/>
            <a:ext cx="1066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Per vakgebied apart getraind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905000"/>
            <a:ext cx="1651000" cy="1270000"/>
          </a:xfrm>
          <a:prstGeom prst="roundRect">
            <a:avLst>
              <a:gd name="adj" fmla="val 12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-weegschaal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95500"/>
            <a:ext cx="431800" cy="431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2628900"/>
            <a:ext cx="14986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League Spartan"/>
              </a:rPr>
              <a:t>Recht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5400" y="1905000"/>
            <a:ext cx="1651000" cy="1270000"/>
          </a:xfrm>
          <a:prstGeom prst="roundRect">
            <a:avLst>
              <a:gd name="adj" fmla="val 12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-trend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2095500"/>
            <a:ext cx="431800" cy="431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41600" y="2628900"/>
            <a:ext cx="14986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League Spartan"/>
              </a:rPr>
              <a:t>Economie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800" y="1905000"/>
            <a:ext cx="1651000" cy="1270000"/>
          </a:xfrm>
          <a:prstGeom prst="roundRect">
            <a:avLst>
              <a:gd name="adj" fmla="val 12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groep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400" y="2095500"/>
            <a:ext cx="431800" cy="431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45000" y="2628900"/>
            <a:ext cx="14986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League Spartan"/>
              </a:rPr>
              <a:t>Sociale</a:t>
            </a:r>
          </a:p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League Spartan"/>
              </a:rPr>
              <a:t>wetenschappen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5000"/>
            <a:ext cx="1651000" cy="1270000"/>
          </a:xfrm>
          <a:prstGeom prst="roundRect">
            <a:avLst>
              <a:gd name="adj" fmla="val 12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kolf-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800" y="2095500"/>
            <a:ext cx="431800" cy="431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48400" y="2628900"/>
            <a:ext cx="14986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League Spartan"/>
              </a:rPr>
              <a:t>Techniek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5600" y="1905000"/>
            <a:ext cx="1651000" cy="1270000"/>
          </a:xfrm>
          <a:prstGeom prst="roundRect">
            <a:avLst>
              <a:gd name="adj" fmla="val 12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boek-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5200" y="2095500"/>
            <a:ext cx="431800" cy="431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51800" y="2628900"/>
            <a:ext cx="14986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League Spartan"/>
              </a:rPr>
              <a:t>Geestes</a:t>
            </a:r>
          </a:p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League Spartan"/>
              </a:rPr>
              <a:t>wetenschappen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9000" y="1905000"/>
            <a:ext cx="1651000" cy="1270000"/>
          </a:xfrm>
          <a:prstGeom prst="roundRect">
            <a:avLst>
              <a:gd name="adj" fmla="val 12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on-zorg-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8600" y="2095500"/>
            <a:ext cx="431800" cy="431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55200" y="2628900"/>
            <a:ext cx="14986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League Spartan"/>
              </a:rPr>
              <a:t>Gezondheid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3352800"/>
            <a:ext cx="10668000" cy="3048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3429000"/>
            <a:ext cx="10668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B7480"/>
                </a:solidFill>
                <a:latin typeface="Inter"/>
              </a:rPr>
              <a:t>RAG, toegang tot vakliteratuur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3835400"/>
            <a:ext cx="10668000" cy="1371600"/>
          </a:xfrm>
          <a:prstGeom prst="roundRect">
            <a:avLst>
              <a:gd name="adj" fmla="val 12962"/>
            </a:avLst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6000" y="40259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E075"/>
                </a:solidFill>
                <a:latin typeface="Inter"/>
              </a:rPr>
              <a:t>FUNDAMENT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60500" y="4381500"/>
            <a:ext cx="4445000" cy="635000"/>
          </a:xfrm>
          <a:prstGeom prst="roundRect">
            <a:avLst>
              <a:gd name="adj" fmla="val 22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0500" y="4546600"/>
            <a:ext cx="444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250.000 datapunten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6500" y="4381500"/>
            <a:ext cx="4445000" cy="635000"/>
          </a:xfrm>
          <a:prstGeom prst="roundRect">
            <a:avLst>
              <a:gd name="adj" fmla="val 22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6500" y="4546600"/>
            <a:ext cx="444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Didactiek en onderwijskunde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0" y="571500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Getraind met de Universiteit Leiden en de Radboud Universiteit.</a:t>
            </a:r>
          </a:p>
        </p:txBody>
      </p:sp>
      <p:pic>
        <p:nvPicPr>
          <p:cNvPr id="32" name="Picture 31" descr="logo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windeshei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Waarom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794000"/>
            <a:ext cx="10668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002333"/>
                </a:solidFill>
                <a:latin typeface="League Spartan"/>
              </a:rPr>
              <a:t>Eerst het probleem.</a:t>
            </a:r>
          </a:p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002333"/>
                </a:solidFill>
                <a:latin typeface="League Spartan"/>
              </a:rPr>
              <a:t>Dan pas de tool.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indeshe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Voldoet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61000" y="2540000"/>
            <a:ext cx="1270000" cy="1270000"/>
          </a:xfrm>
          <a:prstGeom prst="roundRect">
            <a:avLst>
              <a:gd name="adj" fmla="val 243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check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0" y="2857500"/>
            <a:ext cx="635000" cy="63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41910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02333"/>
                </a:solidFill>
                <a:latin typeface="League Spartan"/>
              </a:rPr>
              <a:t>Alle standaarden, vijf visitatierapporten.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71500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NQA en Hobéon, visitatierapporten Hogeschool Windesheim, 2021-2025. Standaard 3 Toetsing en standaard 4 Gerealiseerde leerresultaten.</a:t>
            </a:r>
          </a:p>
        </p:txBody>
      </p:sp>
      <p:pic>
        <p:nvPicPr>
          <p:cNvPr id="8" name="Picture 7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indeshe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Visitatie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2489200"/>
            <a:ext cx="10668000" cy="2540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905000"/>
            <a:ext cx="23241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B7480"/>
                </a:solidFill>
                <a:latin typeface="League Spartan"/>
              </a:rPr>
              <a:t>januari 2021</a:t>
            </a:r>
          </a:p>
        </p:txBody>
      </p:sp>
      <p:sp>
        <p:nvSpPr>
          <p:cNvPr id="5" name="Oval 4"/>
          <p:cNvSpPr/>
          <p:nvPr/>
        </p:nvSpPr>
        <p:spPr>
          <a:xfrm>
            <a:off x="1847850" y="2425700"/>
            <a:ext cx="152400" cy="152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11350" y="2578100"/>
            <a:ext cx="25400" cy="2921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54150" y="2921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-zorg-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3155950"/>
            <a:ext cx="469900" cy="469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4000500"/>
            <a:ext cx="23241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Kwaliteitsverschil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749800"/>
            <a:ext cx="23241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Gezondheid, deeltijd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3300" y="1905000"/>
            <a:ext cx="23241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B7480"/>
                </a:solidFill>
                <a:latin typeface="League Spartan"/>
              </a:rPr>
              <a:t>november 2021</a:t>
            </a:r>
          </a:p>
        </p:txBody>
      </p:sp>
      <p:sp>
        <p:nvSpPr>
          <p:cNvPr id="12" name="Oval 11"/>
          <p:cNvSpPr/>
          <p:nvPr/>
        </p:nvSpPr>
        <p:spPr>
          <a:xfrm>
            <a:off x="4629150" y="2425700"/>
            <a:ext cx="152400" cy="152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92650" y="2578100"/>
            <a:ext cx="25400" cy="2921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35450" y="2921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schoolbord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00" y="3155950"/>
            <a:ext cx="469900" cy="469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43300" y="4000500"/>
            <a:ext cx="23241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Van rubriek naar cijfer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3300" y="4749800"/>
            <a:ext cx="23241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Lerarenopleiding Nederlands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1905000"/>
            <a:ext cx="23241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B7480"/>
                </a:solidFill>
                <a:latin typeface="League Spartan"/>
              </a:rPr>
              <a:t>april 2024</a:t>
            </a:r>
          </a:p>
        </p:txBody>
      </p:sp>
      <p:sp>
        <p:nvSpPr>
          <p:cNvPr id="19" name="Oval 18"/>
          <p:cNvSpPr/>
          <p:nvPr/>
        </p:nvSpPr>
        <p:spPr>
          <a:xfrm>
            <a:off x="7410450" y="2425700"/>
            <a:ext cx="152400" cy="152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73950" y="2578100"/>
            <a:ext cx="25400" cy="2921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16750" y="2921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-microfoon-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700" y="3155950"/>
            <a:ext cx="469900" cy="469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24600" y="4000500"/>
            <a:ext cx="23241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Wijze en omvang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600" y="4749800"/>
            <a:ext cx="23241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Journalistiek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5900" y="1905000"/>
            <a:ext cx="23241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B7480"/>
                </a:solidFill>
                <a:latin typeface="League Spartan"/>
              </a:rPr>
              <a:t>november 2024</a:t>
            </a:r>
          </a:p>
        </p:txBody>
      </p:sp>
      <p:sp>
        <p:nvSpPr>
          <p:cNvPr id="26" name="Oval 25"/>
          <p:cNvSpPr/>
          <p:nvPr/>
        </p:nvSpPr>
        <p:spPr>
          <a:xfrm>
            <a:off x="10191750" y="2425700"/>
            <a:ext cx="152400" cy="152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55250" y="2578100"/>
            <a:ext cx="25400" cy="2921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98050" y="2921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winkel-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000" y="3155950"/>
            <a:ext cx="469900" cy="4699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05900" y="4000500"/>
            <a:ext cx="23241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Toelichting leeg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05900" y="4749800"/>
            <a:ext cx="23241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Ondernemerschap &amp; Retail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" y="5664200"/>
            <a:ext cx="8382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>
                <a:solidFill>
                  <a:srgbClr val="002333"/>
                </a:solidFill>
                <a:latin typeface="Inter"/>
              </a:rPr>
              <a:t>“De narratieve feedback is niet altijd helemaal passend bij de rubric.”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603250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Visitatierapporten NQA en Hobéon. Citaat: NQA, Ad E-commerce, november 2024, p. 24.</a:t>
            </a:r>
          </a:p>
        </p:txBody>
      </p:sp>
      <p:pic>
        <p:nvPicPr>
          <p:cNvPr id="35" name="Picture 34" descr="logo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windeshei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Eigen leerroute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56000" y="4953000"/>
            <a:ext cx="5080000" cy="1905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10000" y="4705350"/>
            <a:ext cx="1016000" cy="247650"/>
          </a:xfrm>
          <a:prstGeom prst="roundRect">
            <a:avLst>
              <a:gd name="adj" fmla="val 30769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56000" y="4210050"/>
            <a:ext cx="1524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900" b="1">
                <a:solidFill>
                  <a:srgbClr val="002333"/>
                </a:solidFill>
                <a:latin typeface="League Spartan"/>
              </a:rPr>
              <a:t>900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6000" y="5105400"/>
            <a:ext cx="1524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2023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8000" y="4216400"/>
            <a:ext cx="1016000" cy="736600"/>
          </a:xfrm>
          <a:prstGeom prst="roundRect">
            <a:avLst>
              <a:gd name="adj" fmla="val 10344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0" y="3721100"/>
            <a:ext cx="1524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900" b="1">
                <a:solidFill>
                  <a:srgbClr val="002333"/>
                </a:solidFill>
                <a:latin typeface="League Spartan"/>
              </a:rPr>
              <a:t>2.700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0" y="5105400"/>
            <a:ext cx="1524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6000" y="3048000"/>
            <a:ext cx="1016000" cy="1905000"/>
          </a:xfrm>
          <a:prstGeom prst="roundRect">
            <a:avLst>
              <a:gd name="adj" fmla="val 75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2000" y="2552700"/>
            <a:ext cx="1524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900" b="1">
                <a:solidFill>
                  <a:srgbClr val="002333"/>
                </a:solidFill>
                <a:latin typeface="League Spartan"/>
              </a:rPr>
              <a:t>7.000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0" y="5105400"/>
            <a:ext cx="1524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03200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5B7480"/>
                </a:solidFill>
                <a:latin typeface="Inter"/>
              </a:rPr>
              <a:t>studenten in de eigen leerroute, per september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571500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Jaarverantwoording 2025 Hogeschool Windesheim, p. 14 en Jaarverantwoording 2024, p. 20.</a:t>
            </a:r>
          </a:p>
        </p:txBody>
      </p:sp>
      <p:pic>
        <p:nvPicPr>
          <p:cNvPr id="16" name="Picture 15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indeshe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Krimp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44800" y="2413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studenten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0" y="2647950"/>
            <a:ext cx="469900" cy="469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3556000"/>
            <a:ext cx="5105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0" b="1">
                <a:solidFill>
                  <a:srgbClr val="002333"/>
                </a:solidFill>
                <a:latin typeface="League Spartan"/>
              </a:rPr>
              <a:t>-9%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635500"/>
            <a:ext cx="51054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02333"/>
                </a:solidFill>
                <a:latin typeface="League Spartan"/>
              </a:rPr>
              <a:t>Studenten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07400" y="2413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-docenten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350" y="2647950"/>
            <a:ext cx="469900" cy="469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4600" y="3556000"/>
            <a:ext cx="5105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0" b="1">
                <a:solidFill>
                  <a:srgbClr val="E07B00"/>
                </a:solidFill>
                <a:latin typeface="League Spartan"/>
              </a:rPr>
              <a:t>-21%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4635500"/>
            <a:ext cx="51054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02333"/>
                </a:solidFill>
                <a:latin typeface="League Spartan"/>
              </a:rPr>
              <a:t>Docenten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71500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Jaarverantwoording Hogeschool Windesheim, meerjarenraming tot 2028. Onderwijsformatie van 1.302 naar 1.032 fte.</a:t>
            </a:r>
          </a:p>
        </p:txBody>
      </p:sp>
      <p:pic>
        <p:nvPicPr>
          <p:cNvPr id="13" name="Picture 12" descr="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indeshe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League Spartan"/>
              </a:rPr>
              <a:t>Herkenbaar?</a:t>
            </a:r>
          </a:p>
        </p:txBody>
      </p:sp>
      <p:sp>
        <p:nvSpPr>
          <p:cNvPr id="3" name="Oval 2"/>
          <p:cNvSpPr/>
          <p:nvPr/>
        </p:nvSpPr>
        <p:spPr>
          <a:xfrm>
            <a:off x="5143500" y="2921000"/>
            <a:ext cx="1905000" cy="1905000"/>
          </a:xfrm>
          <a:prstGeom prst="ellipse">
            <a:avLst/>
          </a:prstGeom>
          <a:solidFill>
            <a:srgbClr val="00233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69000" y="2286000"/>
            <a:ext cx="254000" cy="254000"/>
          </a:xfrm>
          <a:prstGeom prst="ellipse">
            <a:avLst/>
          </a:prstGeom>
          <a:solidFill>
            <a:srgbClr val="00233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01729" y="2713771"/>
            <a:ext cx="254000" cy="254000"/>
          </a:xfrm>
          <a:prstGeom prst="ellipse">
            <a:avLst/>
          </a:prstGeom>
          <a:solidFill>
            <a:srgbClr val="00233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29500" y="3746500"/>
            <a:ext cx="254000" cy="254000"/>
          </a:xfrm>
          <a:prstGeom prst="ellipse">
            <a:avLst/>
          </a:prstGeom>
          <a:solidFill>
            <a:srgbClr val="00233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01729" y="4779229"/>
            <a:ext cx="254000" cy="254000"/>
          </a:xfrm>
          <a:prstGeom prst="ellipse">
            <a:avLst/>
          </a:prstGeom>
          <a:solidFill>
            <a:srgbClr val="00E075"/>
          </a:solidFill>
          <a:ln w="25400">
            <a:solidFill>
              <a:srgbClr val="00E0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69000" y="5207000"/>
            <a:ext cx="254000" cy="254000"/>
          </a:xfrm>
          <a:prstGeom prst="ellipse">
            <a:avLst/>
          </a:prstGeom>
          <a:solidFill>
            <a:srgbClr val="00233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6271" y="4779229"/>
            <a:ext cx="254000" cy="254000"/>
          </a:xfrm>
          <a:prstGeom prst="ellipse">
            <a:avLst/>
          </a:prstGeom>
          <a:solidFill>
            <a:srgbClr val="00233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08500" y="3746500"/>
            <a:ext cx="254000" cy="254000"/>
          </a:xfrm>
          <a:prstGeom prst="ellipse">
            <a:avLst/>
          </a:prstGeom>
          <a:solidFill>
            <a:srgbClr val="00233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36271" y="2713771"/>
            <a:ext cx="254000" cy="254000"/>
          </a:xfrm>
          <a:prstGeom prst="ellipse">
            <a:avLst/>
          </a:prstGeom>
          <a:solidFill>
            <a:srgbClr val="00233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90000" y="5626100"/>
            <a:ext cx="2540000" cy="558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150" y="5759450"/>
            <a:ext cx="1079500" cy="2921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2806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indeshe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00" y="5715000"/>
            <a:ext cx="825500" cy="381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FFFFFF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Feedback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17700" y="2413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filepen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2647950"/>
            <a:ext cx="469900" cy="469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3619500"/>
            <a:ext cx="32512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Schrijfopdrachten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6100" y="2413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lagen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050" y="2647950"/>
            <a:ext cx="469900" cy="469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70400" y="3619500"/>
            <a:ext cx="32512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Concept voor concept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4500" y="2413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usercheck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9450" y="2647950"/>
            <a:ext cx="469900" cy="469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78800" y="3619500"/>
            <a:ext cx="32512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Human in the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6101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Werkt in</a:t>
            </a:r>
          </a:p>
        </p:txBody>
      </p:sp>
      <p:pic>
        <p:nvPicPr>
          <p:cNvPr id="13" name="Picture 12" descr="brightsp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864100"/>
            <a:ext cx="1574800" cy="406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indeshei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League Spartan"/>
              </a:rP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90000" y="5626100"/>
            <a:ext cx="2540000" cy="558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150" y="5759450"/>
            <a:ext cx="1079500" cy="292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2806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indeshe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00" y="5715000"/>
            <a:ext cx="8255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FFFFFF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Bewijs</a:t>
            </a:r>
          </a:p>
        </p:txBody>
      </p:sp>
      <p:pic>
        <p:nvPicPr>
          <p:cNvPr id="3" name="Picture 2" descr="bath-s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12900"/>
            <a:ext cx="7620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730500"/>
            <a:ext cx="23241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0" b="1">
                <a:solidFill>
                  <a:srgbClr val="002333"/>
                </a:solidFill>
                <a:latin typeface="League Spartan"/>
              </a:rPr>
              <a:t>435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10000"/>
            <a:ext cx="23241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5B7480"/>
                </a:solidFill>
                <a:latin typeface="Inter"/>
              </a:rPr>
              <a:t>inzendingen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43300" y="2730500"/>
            <a:ext cx="23241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0" b="1">
                <a:solidFill>
                  <a:srgbClr val="002333"/>
                </a:solidFill>
                <a:latin typeface="League Spartan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43300" y="3810000"/>
            <a:ext cx="23241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5B7480"/>
                </a:solidFill>
                <a:latin typeface="Inter"/>
              </a:rPr>
              <a:t>nakijkers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2730500"/>
            <a:ext cx="23241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0" b="1">
                <a:solidFill>
                  <a:srgbClr val="002333"/>
                </a:solidFill>
                <a:latin typeface="League Spartan"/>
              </a:rPr>
              <a:t>2-3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3810000"/>
            <a:ext cx="23241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5B7480"/>
                </a:solidFill>
                <a:latin typeface="Inter"/>
              </a:rPr>
              <a:t>minuten per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05900" y="2730500"/>
            <a:ext cx="23241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0" b="1">
                <a:solidFill>
                  <a:srgbClr val="002333"/>
                </a:solidFill>
                <a:latin typeface="League Spartan"/>
              </a:rPr>
              <a:t>94%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05900" y="3810000"/>
            <a:ext cx="23241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5B7480"/>
                </a:solidFill>
                <a:latin typeface="Inter"/>
              </a:rPr>
              <a:t>accuraatheid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571500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Bath Spa University, pilot juni 2026. Accuraatheid is het verschil tussen ons cijfervoorstel en dat van de docent, geen overeenstemmingspercentage. Bij docenten die het model hadden afgestemd 98 procent.</a:t>
            </a:r>
          </a:p>
        </p:txBody>
      </p:sp>
      <p:pic>
        <p:nvPicPr>
          <p:cNvPr id="14" name="Picture 13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indeshe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AI 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17700" y="24765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lamp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2711450"/>
            <a:ext cx="469900" cy="469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3683000"/>
            <a:ext cx="3251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Explainability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6100" y="24765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historie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050" y="2711450"/>
            <a:ext cx="469900" cy="469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70400" y="3683000"/>
            <a:ext cx="3251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Traceability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4500" y="24765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aanbieder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9450" y="2711450"/>
            <a:ext cx="469900" cy="469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78800" y="3683000"/>
            <a:ext cx="3251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Human oversight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571500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EU AI Act, verplichtingen voor hoog-risico toepassingen in het onderwijs.</a:t>
            </a:r>
          </a:p>
        </p:txBody>
      </p:sp>
      <p:pic>
        <p:nvPicPr>
          <p:cNvPr id="14" name="Picture 13" descr="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indeshei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Twee routes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2286000"/>
            <a:ext cx="5105400" cy="1651000"/>
          </a:xfrm>
          <a:prstGeom prst="roundRect">
            <a:avLst>
              <a:gd name="adj" fmla="val 12307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6800" y="2692400"/>
            <a:ext cx="4495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5B7480"/>
                </a:solidFill>
                <a:latin typeface="League Spartan"/>
              </a:rPr>
              <a:t>Een beoordelingsfunctie</a:t>
            </a:r>
          </a:p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5B7480"/>
                </a:solidFill>
                <a:latin typeface="League Spartan"/>
              </a:rPr>
              <a:t>bovenop een algemeen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4600" y="2286000"/>
            <a:ext cx="5105400" cy="1651000"/>
          </a:xfrm>
          <a:prstGeom prst="roundRect">
            <a:avLst>
              <a:gd name="adj" fmla="val 12307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2692400"/>
            <a:ext cx="4495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Een model dat alleen</a:t>
            </a:r>
          </a:p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beoordelen doet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4318000"/>
            <a:ext cx="51054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007B54"/>
                </a:solidFill>
                <a:latin typeface="League Spartan"/>
              </a:rPr>
              <a:t>Data   ·   Omvang   ·   Knoppen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indeshe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Vervolg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17700" y="24765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klok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2711450"/>
            <a:ext cx="469900" cy="469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3683000"/>
            <a:ext cx="3251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Een half uur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6100" y="24765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cijfers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050" y="2711450"/>
            <a:ext cx="469900" cy="469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70400" y="3683000"/>
            <a:ext cx="3251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De getallen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4500" y="24765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pilot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9450" y="2711450"/>
            <a:ext cx="469900" cy="469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78800" y="3683000"/>
            <a:ext cx="3251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Eén opleiding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indeshei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