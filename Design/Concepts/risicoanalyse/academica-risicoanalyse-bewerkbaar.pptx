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850" cy="106965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575965"/>
            <a:ext cx="233505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555A78"/>
                </a:solidFill>
                <a:latin typeface="Inter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900" y="819299"/>
            <a:ext cx="2501622" cy="3524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300"/>
              </a:lnSpc>
            </a:pPr>
            <a:r>
              <a:rPr sz="3000" b="1">
                <a:solidFill>
                  <a:srgbClr val="000326"/>
                </a:solidFill>
                <a:latin typeface="League Spartan"/>
              </a:rPr>
              <a:t>Risicoanalyse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814215"/>
            <a:ext cx="6115050" cy="4266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000326"/>
                </a:solidFill>
                <a:latin typeface="Inter"/>
              </a:rPr>
              <a:t>Welke risico's instellingen benoemen bij het gebruik van Eduface en welke maatregelen ze nemen, op basis van onze samenwerkingen en hun DPIA's.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9882" y="2555528"/>
            <a:ext cx="6120110" cy="1113979"/>
          </a:xfrm>
          <a:prstGeom prst="roundRect">
            <a:avLst>
              <a:gd name="adj" fmla="val 12926"/>
            </a:avLst>
          </a:prstGeom>
          <a:noFill/>
          <a:ln w="9525">
            <a:solidFill>
              <a:srgbClr val="D6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5356" y="2746028"/>
            <a:ext cx="1871960" cy="375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400" b="1">
                <a:solidFill>
                  <a:srgbClr val="000326"/>
                </a:solidFill>
                <a:latin typeface="League Spartan"/>
              </a:rPr>
              <a:t>Persoonsgegevens in opdrachten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5356" y="3225701"/>
            <a:ext cx="251966" cy="57596"/>
          </a:xfrm>
          <a:prstGeom prst="roundRect">
            <a:avLst>
              <a:gd name="adj" fmla="val 50000"/>
            </a:avLst>
          </a:prstGeom>
          <a:solidFill>
            <a:srgbClr val="000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240482" y="3225701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535609" y="3225701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45356" y="3355181"/>
            <a:ext cx="964597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000326"/>
                </a:solidFill>
                <a:latin typeface="Inter"/>
              </a:rPr>
              <a:t>Restrisico laag</a:t>
            </a:r>
          </a:p>
        </p:txBody>
      </p:sp>
      <p:pic>
        <p:nvPicPr>
          <p:cNvPr id="11" name="Picture 10" descr="svg-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66" y="2769989"/>
            <a:ext cx="179933" cy="1799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39108" y="2765227"/>
            <a:ext cx="3475744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Verwerkersovereenkomst over persoonsgegevens.</a:t>
            </a:r>
          </a:p>
        </p:txBody>
      </p:sp>
      <p:pic>
        <p:nvPicPr>
          <p:cNvPr id="13" name="Picture 12" descr="svg-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66" y="3021657"/>
            <a:ext cx="179933" cy="1799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39108" y="3016895"/>
            <a:ext cx="3239881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Alleen betrokken docenten zien de opdrachten.</a:t>
            </a:r>
          </a:p>
        </p:txBody>
      </p:sp>
      <p:pic>
        <p:nvPicPr>
          <p:cNvPr id="15" name="Picture 14" descr="svg-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66" y="3273326"/>
            <a:ext cx="179933" cy="17993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39108" y="3268563"/>
            <a:ext cx="3210711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Inzendingen worden niet onderling vergeleken.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9882" y="3741390"/>
            <a:ext cx="6120110" cy="1113979"/>
          </a:xfrm>
          <a:prstGeom prst="roundRect">
            <a:avLst>
              <a:gd name="adj" fmla="val 12926"/>
            </a:avLst>
          </a:prstGeom>
          <a:noFill/>
          <a:ln w="9525">
            <a:solidFill>
              <a:srgbClr val="D6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45356" y="3931890"/>
            <a:ext cx="1871960" cy="375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400" b="1">
                <a:solidFill>
                  <a:srgbClr val="000326"/>
                </a:solidFill>
                <a:latin typeface="League Spartan"/>
              </a:rPr>
              <a:t>Onjuiste of eenzijdige feedback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5356" y="4411563"/>
            <a:ext cx="251966" cy="57596"/>
          </a:xfrm>
          <a:prstGeom prst="roundRect">
            <a:avLst>
              <a:gd name="adj" fmla="val 50000"/>
            </a:avLst>
          </a:prstGeom>
          <a:solidFill>
            <a:srgbClr val="000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240482" y="4411563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535609" y="4411563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45356" y="4541044"/>
            <a:ext cx="964597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000326"/>
                </a:solidFill>
                <a:latin typeface="Inter"/>
              </a:rPr>
              <a:t>Restrisico laag</a:t>
            </a:r>
          </a:p>
        </p:txBody>
      </p:sp>
      <p:pic>
        <p:nvPicPr>
          <p:cNvPr id="23" name="Picture 22" descr="svg-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66" y="3955852"/>
            <a:ext cx="179933" cy="17993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39108" y="3951089"/>
            <a:ext cx="333906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Docent is eindverantwoordelijk en past alles aan.</a:t>
            </a:r>
          </a:p>
        </p:txBody>
      </p:sp>
      <p:pic>
        <p:nvPicPr>
          <p:cNvPr id="25" name="Picture 24" descr="svg-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66" y="4207520"/>
            <a:ext cx="179933" cy="17993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339108" y="4202757"/>
            <a:ext cx="3483912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Training voor docenten in het werken met Eduface.</a:t>
            </a:r>
          </a:p>
        </p:txBody>
      </p:sp>
      <p:pic>
        <p:nvPicPr>
          <p:cNvPr id="27" name="Picture 26" descr="svg-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66" y="4459188"/>
            <a:ext cx="179933" cy="17993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39108" y="4454426"/>
            <a:ext cx="3154537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Tweede beoordeling of moderatie waar nodig.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9882" y="4927253"/>
            <a:ext cx="6120110" cy="1113979"/>
          </a:xfrm>
          <a:prstGeom prst="roundRect">
            <a:avLst>
              <a:gd name="adj" fmla="val 12926"/>
            </a:avLst>
          </a:prstGeom>
          <a:noFill/>
          <a:ln w="9525">
            <a:solidFill>
              <a:srgbClr val="D6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45356" y="5117753"/>
            <a:ext cx="1871960" cy="375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400" b="1">
                <a:solidFill>
                  <a:srgbClr val="000326"/>
                </a:solidFill>
                <a:latin typeface="League Spartan"/>
              </a:rPr>
              <a:t>Gebruik voor andere doelen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5356" y="5597426"/>
            <a:ext cx="251966" cy="57596"/>
          </a:xfrm>
          <a:prstGeom prst="roundRect">
            <a:avLst>
              <a:gd name="adj" fmla="val 50000"/>
            </a:avLst>
          </a:prstGeom>
          <a:solidFill>
            <a:srgbClr val="000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240482" y="5597426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535609" y="5597426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45356" y="5726906"/>
            <a:ext cx="964597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000326"/>
                </a:solidFill>
                <a:latin typeface="Inter"/>
              </a:rPr>
              <a:t>Restrisico laag</a:t>
            </a:r>
          </a:p>
        </p:txBody>
      </p:sp>
      <p:pic>
        <p:nvPicPr>
          <p:cNvPr id="35" name="Picture 34" descr="svg-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66" y="5141714"/>
            <a:ext cx="179933" cy="17993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39108" y="5136952"/>
            <a:ext cx="3202543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Opdrachten worden niet gebruikt voor training.</a:t>
            </a:r>
          </a:p>
        </p:txBody>
      </p:sp>
      <p:pic>
        <p:nvPicPr>
          <p:cNvPr id="37" name="Picture 36" descr="svg-0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266" y="5393382"/>
            <a:ext cx="179933" cy="17993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339108" y="5388620"/>
            <a:ext cx="24579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Geen verzameling van inzendingen.</a:t>
            </a:r>
          </a:p>
        </p:txBody>
      </p:sp>
      <p:pic>
        <p:nvPicPr>
          <p:cNvPr id="39" name="Picture 38" descr="svg-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66" y="5645051"/>
            <a:ext cx="179933" cy="17993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339108" y="5640288"/>
            <a:ext cx="2689646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Vastgelegd in de licentieovereenkomst.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9882" y="6113115"/>
            <a:ext cx="6120110" cy="1113979"/>
          </a:xfrm>
          <a:prstGeom prst="roundRect">
            <a:avLst>
              <a:gd name="adj" fmla="val 12926"/>
            </a:avLst>
          </a:prstGeom>
          <a:noFill/>
          <a:ln w="9525">
            <a:solidFill>
              <a:srgbClr val="D6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45356" y="6303615"/>
            <a:ext cx="1871960" cy="375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400" b="1">
                <a:solidFill>
                  <a:srgbClr val="000326"/>
                </a:solidFill>
                <a:latin typeface="League Spartan"/>
              </a:rPr>
              <a:t>Verwerking buiten de EU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5356" y="6783288"/>
            <a:ext cx="251966" cy="57596"/>
          </a:xfrm>
          <a:prstGeom prst="roundRect">
            <a:avLst>
              <a:gd name="adj" fmla="val 50000"/>
            </a:avLst>
          </a:prstGeom>
          <a:solidFill>
            <a:srgbClr val="000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1240482" y="6783288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1535609" y="6783288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45356" y="6912769"/>
            <a:ext cx="964597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000326"/>
                </a:solidFill>
                <a:latin typeface="Inter"/>
              </a:rPr>
              <a:t>Restrisico laag</a:t>
            </a:r>
          </a:p>
        </p:txBody>
      </p:sp>
      <p:pic>
        <p:nvPicPr>
          <p:cNvPr id="47" name="Picture 46" descr="svg-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66" y="6327577"/>
            <a:ext cx="179933" cy="17993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339108" y="6322814"/>
            <a:ext cx="2843332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Alle opslag en verwerking binnen de EER.</a:t>
            </a:r>
          </a:p>
        </p:txBody>
      </p:sp>
      <p:pic>
        <p:nvPicPr>
          <p:cNvPr id="49" name="Picture 48" descr="svg-0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266" y="6579245"/>
            <a:ext cx="179933" cy="17993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339108" y="6574482"/>
            <a:ext cx="2899672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Geen doorgifte naar landen buiten de EER.</a:t>
            </a:r>
          </a:p>
        </p:txBody>
      </p:sp>
      <p:pic>
        <p:nvPicPr>
          <p:cNvPr id="51" name="Picture 50" descr="svg-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66" y="6830913"/>
            <a:ext cx="179933" cy="17993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339108" y="6826151"/>
            <a:ext cx="2962346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Vastgelegd in de verwerkersovereenkomst.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9882" y="7298978"/>
            <a:ext cx="6120110" cy="1113979"/>
          </a:xfrm>
          <a:prstGeom prst="roundRect">
            <a:avLst>
              <a:gd name="adj" fmla="val 12926"/>
            </a:avLst>
          </a:prstGeom>
          <a:noFill/>
          <a:ln w="9525">
            <a:solidFill>
              <a:srgbClr val="D6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45356" y="7489478"/>
            <a:ext cx="1871960" cy="375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400" b="1">
                <a:solidFill>
                  <a:srgbClr val="000326"/>
                </a:solidFill>
                <a:latin typeface="League Spartan"/>
              </a:rPr>
              <a:t>Datalek of onvoldoende beveiliging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5356" y="7969151"/>
            <a:ext cx="251966" cy="57596"/>
          </a:xfrm>
          <a:prstGeom prst="roundRect">
            <a:avLst>
              <a:gd name="adj" fmla="val 50000"/>
            </a:avLst>
          </a:prstGeom>
          <a:solidFill>
            <a:srgbClr val="000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240482" y="7969151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1535609" y="7969151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45356" y="8098631"/>
            <a:ext cx="964597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000326"/>
                </a:solidFill>
                <a:latin typeface="Inter"/>
              </a:rPr>
              <a:t>Restrisico laag</a:t>
            </a:r>
          </a:p>
        </p:txBody>
      </p:sp>
      <p:pic>
        <p:nvPicPr>
          <p:cNvPr id="59" name="Picture 58" descr="svg-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66" y="7513439"/>
            <a:ext cx="179933" cy="179933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339108" y="7508677"/>
            <a:ext cx="3273219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Versleuteld opgeslagen en verzonden, in de EU.</a:t>
            </a:r>
          </a:p>
        </p:txBody>
      </p:sp>
      <p:pic>
        <p:nvPicPr>
          <p:cNvPr id="61" name="Picture 60" descr="svg-0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266" y="7765107"/>
            <a:ext cx="179933" cy="17993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339108" y="7760345"/>
            <a:ext cx="2822662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Een datalek wordt binnen 48 uur gemeld.</a:t>
            </a:r>
          </a:p>
        </p:txBody>
      </p:sp>
      <p:pic>
        <p:nvPicPr>
          <p:cNvPr id="63" name="Picture 62" descr="svg-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66" y="8016776"/>
            <a:ext cx="179933" cy="179933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339108" y="8012013"/>
            <a:ext cx="2707981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Beveiligingscheck door eigen IT vooraf.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9882" y="8484840"/>
            <a:ext cx="6120110" cy="1330523"/>
          </a:xfrm>
          <a:prstGeom prst="roundRect">
            <a:avLst>
              <a:gd name="adj" fmla="val 10822"/>
            </a:avLst>
          </a:prstGeom>
          <a:solidFill>
            <a:srgbClr val="F1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35831" y="8665815"/>
            <a:ext cx="1895546" cy="1619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400" b="1">
                <a:solidFill>
                  <a:srgbClr val="000326"/>
                </a:solidFill>
                <a:latin typeface="League Spartan"/>
              </a:rPr>
              <a:t>Nieuwe AI-wetgeving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35831" y="8932069"/>
            <a:ext cx="251966" cy="57596"/>
          </a:xfrm>
          <a:prstGeom prst="roundRect">
            <a:avLst>
              <a:gd name="adj" fmla="val 50000"/>
            </a:avLst>
          </a:prstGeom>
          <a:solidFill>
            <a:srgbClr val="000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1230957" y="8932069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230957" y="8932069"/>
            <a:ext cx="125909" cy="57596"/>
          </a:xfrm>
          <a:prstGeom prst="rect">
            <a:avLst/>
          </a:prstGeom>
          <a:solidFill>
            <a:srgbClr val="000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1526084" y="8932069"/>
            <a:ext cx="251966" cy="57596"/>
          </a:xfrm>
          <a:prstGeom prst="roundRect">
            <a:avLst>
              <a:gd name="adj" fmla="val 50000"/>
            </a:avLst>
          </a:prstGeom>
          <a:solidFill>
            <a:srgbClr val="D6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35831" y="9061549"/>
            <a:ext cx="1614011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000326"/>
                </a:solidFill>
                <a:latin typeface="Inter"/>
              </a:rPr>
              <a:t>Restrisico laag tot middel</a:t>
            </a:r>
          </a:p>
        </p:txBody>
      </p:sp>
      <p:pic>
        <p:nvPicPr>
          <p:cNvPr id="72" name="Picture 71" descr="svg-0-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3741" y="8689777"/>
            <a:ext cx="179933" cy="179933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3329583" y="8685014"/>
            <a:ext cx="3475077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AI Act: hoog risico, verplichtingen vanaf eind 2027.</a:t>
            </a:r>
          </a:p>
        </p:txBody>
      </p:sp>
      <p:pic>
        <p:nvPicPr>
          <p:cNvPr id="74" name="Picture 73" descr="svg-0-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3741" y="8941445"/>
            <a:ext cx="179933" cy="179933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3329583" y="8936682"/>
            <a:ext cx="2772323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Menselijke controle op elke beoordeling.</a:t>
            </a:r>
          </a:p>
        </p:txBody>
      </p:sp>
      <p:pic>
        <p:nvPicPr>
          <p:cNvPr id="76" name="Picture 75" descr="svg-0-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3741" y="9193113"/>
            <a:ext cx="179933" cy="179933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3329583" y="9188351"/>
            <a:ext cx="3509367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AI-geletterdheid docenten, verplicht sinds feb. 2025.</a:t>
            </a:r>
          </a:p>
        </p:txBody>
      </p:sp>
      <p:pic>
        <p:nvPicPr>
          <p:cNvPr id="78" name="Picture 77" descr="svg-0-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3741" y="9444782"/>
            <a:ext cx="179933" cy="179933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329583" y="9440019"/>
            <a:ext cx="3289221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49"/>
              </a:lnSpc>
            </a:pPr>
            <a:r>
              <a:rPr sz="999" b="0">
                <a:solidFill>
                  <a:srgbClr val="000326"/>
                </a:solidFill>
                <a:latin typeface="Inter"/>
              </a:rPr>
              <a:t>Documentatie en ondersteuning vanuit Eduface.</a:t>
            </a:r>
          </a:p>
        </p:txBody>
      </p:sp>
      <p:pic>
        <p:nvPicPr>
          <p:cNvPr id="80" name="Picture 79" descr="Academic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10182225"/>
            <a:ext cx="784860" cy="1524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267450" y="10201275"/>
            <a:ext cx="5715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55A78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