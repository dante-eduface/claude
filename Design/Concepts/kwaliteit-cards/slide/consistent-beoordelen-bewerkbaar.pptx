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457200"/>
            <a:ext cx="10668000" cy="609600"/>
          </a:xfrm>
          <a:prstGeom prst="rect">
            <a:avLst/>
          </a:prstGeom>
          <a:noFill/>
        </p:spPr>
        <p:txBody>
          <a:bodyPr wrap="square" lIns="0" rIns="0" tIns="0" bIns="0">
            <a:spAutoFit/>
          </a:bodyPr>
          <a:lstStyle/>
          <a:p>
            <a:pPr algn="l">
              <a:lnSpc>
                <a:spcPct val="100000"/>
              </a:lnSpc>
            </a:pPr>
            <a:r>
              <a:rPr sz="4000" b="1">
                <a:solidFill>
                  <a:srgbClr val="002333"/>
                </a:solidFill>
                <a:latin typeface="League Spartan"/>
              </a:rPr>
              <a:t>Accreditatie</a:t>
            </a:r>
          </a:p>
        </p:txBody>
      </p:sp>
      <p:sp>
        <p:nvSpPr>
          <p:cNvPr id="3" name="Rounded Rectangle 2"/>
          <p:cNvSpPr/>
          <p:nvPr/>
        </p:nvSpPr>
        <p:spPr>
          <a:xfrm>
            <a:off x="762000" y="1270000"/>
            <a:ext cx="10668000" cy="2159000"/>
          </a:xfrm>
          <a:prstGeom prst="roundRect">
            <a:avLst>
              <a:gd name="adj" fmla="val 9411"/>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1574800"/>
            <a:ext cx="4572000" cy="889000"/>
          </a:xfrm>
          <a:prstGeom prst="rect">
            <a:avLst/>
          </a:prstGeom>
          <a:noFill/>
        </p:spPr>
        <p:txBody>
          <a:bodyPr wrap="square" lIns="0" rIns="0" tIns="0" bIns="0">
            <a:spAutoFit/>
          </a:bodyPr>
          <a:lstStyle/>
          <a:p>
            <a:pPr algn="l">
              <a:lnSpc>
                <a:spcPct val="105000"/>
              </a:lnSpc>
            </a:pPr>
            <a:r>
              <a:rPr sz="3200" b="1">
                <a:solidFill>
                  <a:srgbClr val="FFFFFF"/>
                </a:solidFill>
                <a:latin typeface="League Spartan"/>
              </a:rPr>
              <a:t>Beoordelaars oordelen</a:t>
            </a:r>
          </a:p>
          <a:p>
            <a:pPr algn="l">
              <a:lnSpc>
                <a:spcPct val="105000"/>
              </a:lnSpc>
            </a:pPr>
            <a:r>
              <a:rPr sz="3200" b="1">
                <a:solidFill>
                  <a:srgbClr val="FFFFFF"/>
                </a:solidFill>
                <a:latin typeface="League Spartan"/>
              </a:rPr>
              <a:t>consistent</a:t>
            </a:r>
          </a:p>
        </p:txBody>
      </p:sp>
      <p:sp>
        <p:nvSpPr>
          <p:cNvPr id="5" name="TextBox 4"/>
          <p:cNvSpPr txBox="1"/>
          <p:nvPr/>
        </p:nvSpPr>
        <p:spPr>
          <a:xfrm>
            <a:off x="1168400" y="2565400"/>
            <a:ext cx="4445000" cy="533400"/>
          </a:xfrm>
          <a:prstGeom prst="rect">
            <a:avLst/>
          </a:prstGeom>
          <a:noFill/>
        </p:spPr>
        <p:txBody>
          <a:bodyPr wrap="square" lIns="0" rIns="0" tIns="0" bIns="0">
            <a:spAutoFit/>
          </a:bodyPr>
          <a:lstStyle/>
          <a:p>
            <a:pPr algn="l">
              <a:lnSpc>
                <a:spcPct val="130000"/>
              </a:lnSpc>
            </a:pPr>
            <a:r>
              <a:rPr sz="1600" b="0">
                <a:solidFill>
                  <a:srgbClr val="A9BCC4"/>
                </a:solidFill>
                <a:latin typeface="Inter"/>
              </a:rPr>
              <a:t>Zie in één overzicht wie afwijkt van het team.</a:t>
            </a:r>
          </a:p>
        </p:txBody>
      </p:sp>
      <p:sp>
        <p:nvSpPr>
          <p:cNvPr id="6" name="Rounded Rectangle 5"/>
          <p:cNvSpPr/>
          <p:nvPr/>
        </p:nvSpPr>
        <p:spPr>
          <a:xfrm>
            <a:off x="6096000" y="1574800"/>
            <a:ext cx="4927600" cy="1549400"/>
          </a:xfrm>
          <a:prstGeom prst="roundRect">
            <a:avLst>
              <a:gd name="adj" fmla="val 6557"/>
            </a:avLst>
          </a:prstGeom>
          <a:solidFill>
            <a:srgbClr val="0A2C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0" y="1727200"/>
            <a:ext cx="2667000" cy="254000"/>
          </a:xfrm>
          <a:prstGeom prst="rect">
            <a:avLst/>
          </a:prstGeom>
          <a:noFill/>
        </p:spPr>
        <p:txBody>
          <a:bodyPr wrap="square" lIns="0" rIns="0" tIns="0" bIns="0">
            <a:spAutoFit/>
          </a:bodyPr>
          <a:lstStyle/>
          <a:p>
            <a:pPr algn="l">
              <a:lnSpc>
                <a:spcPct val="115000"/>
              </a:lnSpc>
            </a:pPr>
            <a:r>
              <a:rPr sz="1600" b="0">
                <a:solidFill>
                  <a:srgbClr val="A9BCC4"/>
                </a:solidFill>
                <a:latin typeface="Inter"/>
              </a:rPr>
              <a:t>Voorbeeld per docent</a:t>
            </a:r>
          </a:p>
        </p:txBody>
      </p:sp>
      <p:sp>
        <p:nvSpPr>
          <p:cNvPr id="8" name="TextBox 7"/>
          <p:cNvSpPr txBox="1"/>
          <p:nvPr/>
        </p:nvSpPr>
        <p:spPr>
          <a:xfrm>
            <a:off x="9042400" y="1727200"/>
            <a:ext cx="1778000" cy="254000"/>
          </a:xfrm>
          <a:prstGeom prst="rect">
            <a:avLst/>
          </a:prstGeom>
          <a:noFill/>
        </p:spPr>
        <p:txBody>
          <a:bodyPr wrap="square" lIns="0" rIns="0" tIns="0" bIns="0">
            <a:spAutoFit/>
          </a:bodyPr>
          <a:lstStyle/>
          <a:p>
            <a:pPr algn="r">
              <a:lnSpc>
                <a:spcPct val="115000"/>
              </a:lnSpc>
            </a:pPr>
            <a:r>
              <a:rPr sz="1600" b="0">
                <a:solidFill>
                  <a:srgbClr val="A9BCC4"/>
                </a:solidFill>
                <a:latin typeface="Inter"/>
              </a:rPr>
              <a:t>Gemiddelde 7,1</a:t>
            </a:r>
          </a:p>
        </p:txBody>
      </p:sp>
      <p:sp>
        <p:nvSpPr>
          <p:cNvPr id="9" name="TextBox 8"/>
          <p:cNvSpPr txBox="1"/>
          <p:nvPr/>
        </p:nvSpPr>
        <p:spPr>
          <a:xfrm>
            <a:off x="6350000" y="2057400"/>
            <a:ext cx="952500" cy="254000"/>
          </a:xfrm>
          <a:prstGeom prst="rect">
            <a:avLst/>
          </a:prstGeom>
          <a:noFill/>
        </p:spPr>
        <p:txBody>
          <a:bodyPr wrap="square" lIns="0" rIns="0" tIns="0" bIns="0">
            <a:spAutoFit/>
          </a:bodyPr>
          <a:lstStyle/>
          <a:p>
            <a:pPr algn="l">
              <a:lnSpc>
                <a:spcPct val="115000"/>
              </a:lnSpc>
            </a:pPr>
            <a:r>
              <a:rPr sz="1600" b="0">
                <a:solidFill>
                  <a:srgbClr val="A9BCC4"/>
                </a:solidFill>
                <a:latin typeface="Inter"/>
              </a:rPr>
              <a:t>Docent A</a:t>
            </a:r>
          </a:p>
        </p:txBody>
      </p:sp>
      <p:sp>
        <p:nvSpPr>
          <p:cNvPr id="10" name="Rounded Rectangle 9"/>
          <p:cNvSpPr/>
          <p:nvPr/>
        </p:nvSpPr>
        <p:spPr>
          <a:xfrm>
            <a:off x="7366000" y="2120900"/>
            <a:ext cx="2857500" cy="127000"/>
          </a:xfrm>
          <a:prstGeom prst="roundRect">
            <a:avLst>
              <a:gd name="adj" fmla="val 50000"/>
            </a:avLst>
          </a:prstGeom>
          <a:solidFill>
            <a:srgbClr val="1B3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66000" y="2120900"/>
            <a:ext cx="2057400" cy="1270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50500" y="2057400"/>
            <a:ext cx="469900" cy="254000"/>
          </a:xfrm>
          <a:prstGeom prst="rect">
            <a:avLst/>
          </a:prstGeom>
          <a:noFill/>
        </p:spPr>
        <p:txBody>
          <a:bodyPr wrap="square" lIns="0" rIns="0" tIns="0" bIns="0">
            <a:spAutoFit/>
          </a:bodyPr>
          <a:lstStyle/>
          <a:p>
            <a:pPr algn="r">
              <a:lnSpc>
                <a:spcPct val="115000"/>
              </a:lnSpc>
            </a:pPr>
            <a:r>
              <a:rPr sz="1600" b="1">
                <a:solidFill>
                  <a:srgbClr val="A9BCC4"/>
                </a:solidFill>
                <a:latin typeface="Inter"/>
              </a:rPr>
              <a:t>7,2</a:t>
            </a:r>
          </a:p>
        </p:txBody>
      </p:sp>
      <p:sp>
        <p:nvSpPr>
          <p:cNvPr id="13" name="TextBox 12"/>
          <p:cNvSpPr txBox="1"/>
          <p:nvPr/>
        </p:nvSpPr>
        <p:spPr>
          <a:xfrm>
            <a:off x="6350000" y="2387600"/>
            <a:ext cx="952500" cy="254000"/>
          </a:xfrm>
          <a:prstGeom prst="rect">
            <a:avLst/>
          </a:prstGeom>
          <a:noFill/>
        </p:spPr>
        <p:txBody>
          <a:bodyPr wrap="square" lIns="0" rIns="0" tIns="0" bIns="0">
            <a:spAutoFit/>
          </a:bodyPr>
          <a:lstStyle/>
          <a:p>
            <a:pPr algn="l">
              <a:lnSpc>
                <a:spcPct val="115000"/>
              </a:lnSpc>
            </a:pPr>
            <a:r>
              <a:rPr sz="1600" b="0">
                <a:solidFill>
                  <a:srgbClr val="A9BCC4"/>
                </a:solidFill>
                <a:latin typeface="Inter"/>
              </a:rPr>
              <a:t>Docent B</a:t>
            </a:r>
          </a:p>
        </p:txBody>
      </p:sp>
      <p:sp>
        <p:nvSpPr>
          <p:cNvPr id="14" name="Rounded Rectangle 13"/>
          <p:cNvSpPr/>
          <p:nvPr/>
        </p:nvSpPr>
        <p:spPr>
          <a:xfrm>
            <a:off x="7366000" y="2451100"/>
            <a:ext cx="2857500" cy="127000"/>
          </a:xfrm>
          <a:prstGeom prst="roundRect">
            <a:avLst>
              <a:gd name="adj" fmla="val 50000"/>
            </a:avLst>
          </a:prstGeom>
          <a:solidFill>
            <a:srgbClr val="1B3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66000" y="2451100"/>
            <a:ext cx="2000250" cy="1270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50500" y="2387600"/>
            <a:ext cx="469900" cy="254000"/>
          </a:xfrm>
          <a:prstGeom prst="rect">
            <a:avLst/>
          </a:prstGeom>
          <a:noFill/>
        </p:spPr>
        <p:txBody>
          <a:bodyPr wrap="square" lIns="0" rIns="0" tIns="0" bIns="0">
            <a:spAutoFit/>
          </a:bodyPr>
          <a:lstStyle/>
          <a:p>
            <a:pPr algn="r">
              <a:lnSpc>
                <a:spcPct val="115000"/>
              </a:lnSpc>
            </a:pPr>
            <a:r>
              <a:rPr sz="1600" b="1">
                <a:solidFill>
                  <a:srgbClr val="A9BCC4"/>
                </a:solidFill>
                <a:latin typeface="Inter"/>
              </a:rPr>
              <a:t>7,0</a:t>
            </a:r>
          </a:p>
        </p:txBody>
      </p:sp>
      <p:sp>
        <p:nvSpPr>
          <p:cNvPr id="17" name="TextBox 16"/>
          <p:cNvSpPr txBox="1"/>
          <p:nvPr/>
        </p:nvSpPr>
        <p:spPr>
          <a:xfrm>
            <a:off x="6350000" y="2717800"/>
            <a:ext cx="952500" cy="254000"/>
          </a:xfrm>
          <a:prstGeom prst="rect">
            <a:avLst/>
          </a:prstGeom>
          <a:noFill/>
        </p:spPr>
        <p:txBody>
          <a:bodyPr wrap="square" lIns="0" rIns="0" tIns="0" bIns="0">
            <a:spAutoFit/>
          </a:bodyPr>
          <a:lstStyle/>
          <a:p>
            <a:pPr algn="l">
              <a:lnSpc>
                <a:spcPct val="115000"/>
              </a:lnSpc>
            </a:pPr>
            <a:r>
              <a:rPr sz="1600" b="1">
                <a:solidFill>
                  <a:srgbClr val="FFFFFF"/>
                </a:solidFill>
                <a:latin typeface="Inter"/>
              </a:rPr>
              <a:t>Docent C</a:t>
            </a:r>
          </a:p>
        </p:txBody>
      </p:sp>
      <p:sp>
        <p:nvSpPr>
          <p:cNvPr id="18" name="Rounded Rectangle 17"/>
          <p:cNvSpPr/>
          <p:nvPr/>
        </p:nvSpPr>
        <p:spPr>
          <a:xfrm>
            <a:off x="7366000" y="2781300"/>
            <a:ext cx="2857500" cy="127000"/>
          </a:xfrm>
          <a:prstGeom prst="roundRect">
            <a:avLst>
              <a:gd name="adj" fmla="val 50000"/>
            </a:avLst>
          </a:prstGeom>
          <a:solidFill>
            <a:srgbClr val="1B3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66000" y="2781300"/>
            <a:ext cx="1600200" cy="127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50500" y="2717800"/>
            <a:ext cx="469900" cy="254000"/>
          </a:xfrm>
          <a:prstGeom prst="rect">
            <a:avLst/>
          </a:prstGeom>
          <a:noFill/>
        </p:spPr>
        <p:txBody>
          <a:bodyPr wrap="square" lIns="0" rIns="0" tIns="0" bIns="0">
            <a:spAutoFit/>
          </a:bodyPr>
          <a:lstStyle/>
          <a:p>
            <a:pPr algn="r">
              <a:lnSpc>
                <a:spcPct val="115000"/>
              </a:lnSpc>
            </a:pPr>
            <a:r>
              <a:rPr sz="1600" b="1">
                <a:solidFill>
                  <a:srgbClr val="FFFFFF"/>
                </a:solidFill>
                <a:latin typeface="Inter"/>
              </a:rPr>
              <a:t>5,6</a:t>
            </a:r>
          </a:p>
        </p:txBody>
      </p:sp>
      <p:sp>
        <p:nvSpPr>
          <p:cNvPr id="21" name="Rectangle 20"/>
          <p:cNvSpPr/>
          <p:nvPr/>
        </p:nvSpPr>
        <p:spPr>
          <a:xfrm>
            <a:off x="9385300" y="2006600"/>
            <a:ext cx="19050" cy="1016000"/>
          </a:xfrm>
          <a:prstGeom prst="rect">
            <a:avLst/>
          </a:prstGeom>
          <a:solidFill>
            <a:srgbClr val="A9BC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2000" y="3632200"/>
            <a:ext cx="5715000" cy="1498600"/>
          </a:xfrm>
          <a:prstGeom prst="roundRect">
            <a:avLst>
              <a:gd name="adj" fmla="val 10169"/>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700" y="3644900"/>
            <a:ext cx="5689600" cy="1473200"/>
          </a:xfrm>
          <a:prstGeom prst="roundRect">
            <a:avLst>
              <a:gd name="adj" fmla="val 948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6800" y="3886200"/>
            <a:ext cx="5080000" cy="355600"/>
          </a:xfrm>
          <a:prstGeom prst="rect">
            <a:avLst/>
          </a:prstGeom>
          <a:noFill/>
        </p:spPr>
        <p:txBody>
          <a:bodyPr wrap="square" lIns="0" rIns="0" tIns="0" bIns="0">
            <a:spAutoFit/>
          </a:bodyPr>
          <a:lstStyle/>
          <a:p>
            <a:pPr algn="l">
              <a:lnSpc>
                <a:spcPct val="105000"/>
              </a:lnSpc>
            </a:pPr>
            <a:r>
              <a:rPr sz="2400" b="1">
                <a:solidFill>
                  <a:srgbClr val="002333"/>
                </a:solidFill>
                <a:latin typeface="League Spartan"/>
              </a:rPr>
              <a:t>Elk cijfer is navolgbaar</a:t>
            </a:r>
          </a:p>
        </p:txBody>
      </p:sp>
      <p:sp>
        <p:nvSpPr>
          <p:cNvPr id="25" name="TextBox 24"/>
          <p:cNvSpPr txBox="1"/>
          <p:nvPr/>
        </p:nvSpPr>
        <p:spPr>
          <a:xfrm>
            <a:off x="1066800" y="4292600"/>
            <a:ext cx="5080000" cy="254000"/>
          </a:xfrm>
          <a:prstGeom prst="rect">
            <a:avLst/>
          </a:prstGeom>
          <a:noFill/>
        </p:spPr>
        <p:txBody>
          <a:bodyPr wrap="square" lIns="0" rIns="0" tIns="0" bIns="0">
            <a:spAutoFit/>
          </a:bodyPr>
          <a:lstStyle/>
          <a:p>
            <a:pPr algn="l">
              <a:lnSpc>
                <a:spcPct val="115000"/>
              </a:lnSpc>
            </a:pPr>
            <a:r>
              <a:rPr sz="1600" b="0">
                <a:solidFill>
                  <a:srgbClr val="5B7480"/>
                </a:solidFill>
                <a:latin typeface="Inter"/>
              </a:rPr>
              <a:t>Onderbouwing per rubriccriterium.</a:t>
            </a:r>
          </a:p>
        </p:txBody>
      </p:sp>
      <p:sp>
        <p:nvSpPr>
          <p:cNvPr id="26" name="Rounded Rectangle 25"/>
          <p:cNvSpPr/>
          <p:nvPr/>
        </p:nvSpPr>
        <p:spPr>
          <a:xfrm>
            <a:off x="1066800" y="4622800"/>
            <a:ext cx="2159000" cy="304800"/>
          </a:xfrm>
          <a:prstGeom prst="roundRect">
            <a:avLst>
              <a:gd name="adj" fmla="val 500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6800" y="4660900"/>
            <a:ext cx="2159000" cy="228600"/>
          </a:xfrm>
          <a:prstGeom prst="rect">
            <a:avLst/>
          </a:prstGeom>
          <a:noFill/>
        </p:spPr>
        <p:txBody>
          <a:bodyPr wrap="square" lIns="0" rIns="0" tIns="0" bIns="0">
            <a:spAutoFit/>
          </a:bodyPr>
          <a:lstStyle/>
          <a:p>
            <a:pPr algn="ctr">
              <a:lnSpc>
                <a:spcPct val="115000"/>
              </a:lnSpc>
            </a:pPr>
            <a:r>
              <a:rPr sz="1600" b="1">
                <a:solidFill>
                  <a:srgbClr val="002333"/>
                </a:solidFill>
                <a:latin typeface="Inter"/>
              </a:rPr>
              <a:t>AI Act audit trail</a:t>
            </a:r>
          </a:p>
        </p:txBody>
      </p:sp>
      <p:sp>
        <p:nvSpPr>
          <p:cNvPr id="28" name="Rounded Rectangle 27"/>
          <p:cNvSpPr/>
          <p:nvPr/>
        </p:nvSpPr>
        <p:spPr>
          <a:xfrm>
            <a:off x="6680200" y="3632200"/>
            <a:ext cx="4749800" cy="1498600"/>
          </a:xfrm>
          <a:prstGeom prst="roundRect">
            <a:avLst>
              <a:gd name="adj" fmla="val 1016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85000" y="3886200"/>
            <a:ext cx="4140200" cy="584200"/>
          </a:xfrm>
          <a:prstGeom prst="rect">
            <a:avLst/>
          </a:prstGeom>
          <a:noFill/>
        </p:spPr>
        <p:txBody>
          <a:bodyPr wrap="square" lIns="0" rIns="0" tIns="0" bIns="0">
            <a:spAutoFit/>
          </a:bodyPr>
          <a:lstStyle/>
          <a:p>
            <a:pPr algn="l">
              <a:lnSpc>
                <a:spcPct val="110000"/>
              </a:lnSpc>
            </a:pPr>
            <a:r>
              <a:rPr sz="2000" b="1">
                <a:solidFill>
                  <a:srgbClr val="002333"/>
                </a:solidFill>
                <a:latin typeface="League Spartan"/>
              </a:rPr>
              <a:t>De examencommissie borgt</a:t>
            </a:r>
          </a:p>
          <a:p>
            <a:pPr algn="l">
              <a:lnSpc>
                <a:spcPct val="110000"/>
              </a:lnSpc>
            </a:pPr>
            <a:r>
              <a:rPr sz="2000" b="1">
                <a:solidFill>
                  <a:srgbClr val="002333"/>
                </a:solidFill>
                <a:latin typeface="League Spartan"/>
              </a:rPr>
              <a:t>de kwaliteit</a:t>
            </a:r>
          </a:p>
        </p:txBody>
      </p:sp>
      <p:sp>
        <p:nvSpPr>
          <p:cNvPr id="30" name="TextBox 29"/>
          <p:cNvSpPr txBox="1"/>
          <p:nvPr/>
        </p:nvSpPr>
        <p:spPr>
          <a:xfrm>
            <a:off x="6985000" y="4572000"/>
            <a:ext cx="4140200" cy="254000"/>
          </a:xfrm>
          <a:prstGeom prst="rect">
            <a:avLst/>
          </a:prstGeom>
          <a:noFill/>
        </p:spPr>
        <p:txBody>
          <a:bodyPr wrap="square" lIns="0" rIns="0" tIns="0" bIns="0">
            <a:spAutoFit/>
          </a:bodyPr>
          <a:lstStyle/>
          <a:p>
            <a:pPr algn="l">
              <a:lnSpc>
                <a:spcPct val="115000"/>
              </a:lnSpc>
            </a:pPr>
            <a:r>
              <a:rPr sz="1600" b="0">
                <a:solidFill>
                  <a:srgbClr val="5B7480"/>
                </a:solidFill>
                <a:latin typeface="Inter"/>
              </a:rPr>
              <a:t>Elke onderbouwing direct in te zien.</a:t>
            </a:r>
          </a:p>
        </p:txBody>
      </p:sp>
      <p:sp>
        <p:nvSpPr>
          <p:cNvPr id="31" name="Rectangle 30"/>
          <p:cNvSpPr/>
          <p:nvPr/>
        </p:nvSpPr>
        <p:spPr>
          <a:xfrm>
            <a:off x="762000" y="5334000"/>
            <a:ext cx="25400" cy="8636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6000" y="5334000"/>
            <a:ext cx="10414000" cy="863600"/>
          </a:xfrm>
          <a:prstGeom prst="rect">
            <a:avLst/>
          </a:prstGeom>
          <a:noFill/>
        </p:spPr>
        <p:txBody>
          <a:bodyPr wrap="square" lIns="0" rIns="0" tIns="0" bIns="0">
            <a:spAutoFit/>
          </a:bodyPr>
          <a:lstStyle/>
          <a:p>
            <a:pPr algn="l">
              <a:lnSpc>
                <a:spcPct val="140000"/>
              </a:lnSpc>
            </a:pPr>
            <a:r>
              <a:rPr sz="1600" b="0">
                <a:solidFill>
                  <a:srgbClr val="002333"/>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