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62000" y="609600"/>
            <a:ext cx="7010400" cy="4216400"/>
          </a:xfrm>
          <a:prstGeom prst="roundRect">
            <a:avLst>
              <a:gd name="adj" fmla="val 4819"/>
            </a:avLst>
          </a:prstGeom>
          <a:solidFill>
            <a:srgbClr val="00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1016000"/>
            <a:ext cx="6197600" cy="1016000"/>
          </a:xfrm>
          <a:prstGeom prst="rect">
            <a:avLst/>
          </a:prstGeom>
          <a:noFill/>
        </p:spPr>
        <p:txBody>
          <a:bodyPr wrap="square" lIns="0" rIns="0" tIns="0" bIns="0">
            <a:spAutoFit/>
          </a:bodyPr>
          <a:lstStyle/>
          <a:p>
            <a:pPr algn="l">
              <a:lnSpc>
                <a:spcPct val="105000"/>
              </a:lnSpc>
            </a:pPr>
            <a:r>
              <a:rPr sz="3600" b="1">
                <a:solidFill>
                  <a:srgbClr val="FFFFFF"/>
                </a:solidFill>
                <a:latin typeface="League Spartan"/>
              </a:rPr>
              <a:t>Beoordelaars oordelen</a:t>
            </a:r>
          </a:p>
          <a:p>
            <a:pPr algn="l">
              <a:lnSpc>
                <a:spcPct val="105000"/>
              </a:lnSpc>
            </a:pPr>
            <a:r>
              <a:rPr sz="3600" b="1">
                <a:solidFill>
                  <a:srgbClr val="FFFFFF"/>
                </a:solidFill>
                <a:latin typeface="League Spartan"/>
              </a:rPr>
              <a:t>consistent</a:t>
            </a:r>
          </a:p>
        </p:txBody>
      </p:sp>
      <p:sp>
        <p:nvSpPr>
          <p:cNvPr id="4" name="TextBox 3"/>
          <p:cNvSpPr txBox="1"/>
          <p:nvPr/>
        </p:nvSpPr>
        <p:spPr>
          <a:xfrm>
            <a:off x="1168400" y="2133600"/>
            <a:ext cx="6197600" cy="279400"/>
          </a:xfrm>
          <a:prstGeom prst="rect">
            <a:avLst/>
          </a:prstGeom>
          <a:noFill/>
        </p:spPr>
        <p:txBody>
          <a:bodyPr wrap="square" lIns="0" rIns="0" tIns="0" bIns="0">
            <a:spAutoFit/>
          </a:bodyPr>
          <a:lstStyle/>
          <a:p>
            <a:pPr algn="l">
              <a:lnSpc>
                <a:spcPct val="115000"/>
              </a:lnSpc>
            </a:pPr>
            <a:r>
              <a:rPr sz="1700" b="0">
                <a:solidFill>
                  <a:srgbClr val="A9BCC4"/>
                </a:solidFill>
                <a:latin typeface="Inter"/>
              </a:rPr>
              <a:t>Zie in één overzicht wie afwijkt van het team.</a:t>
            </a:r>
          </a:p>
        </p:txBody>
      </p:sp>
      <p:sp>
        <p:nvSpPr>
          <p:cNvPr id="5" name="Rounded Rectangle 4"/>
          <p:cNvSpPr/>
          <p:nvPr/>
        </p:nvSpPr>
        <p:spPr>
          <a:xfrm>
            <a:off x="1168400" y="2667000"/>
            <a:ext cx="6197600" cy="1752600"/>
          </a:xfrm>
          <a:prstGeom prst="roundRect">
            <a:avLst>
              <a:gd name="adj" fmla="val 5797"/>
            </a:avLst>
          </a:prstGeom>
          <a:solidFill>
            <a:srgbClr val="0A2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22400" y="2870200"/>
            <a:ext cx="3556000" cy="254000"/>
          </a:xfrm>
          <a:prstGeom prst="rect">
            <a:avLst/>
          </a:prstGeom>
          <a:noFill/>
        </p:spPr>
        <p:txBody>
          <a:bodyPr wrap="square" lIns="0" rIns="0" tIns="0" bIns="0">
            <a:spAutoFit/>
          </a:bodyPr>
          <a:lstStyle/>
          <a:p>
            <a:pPr algn="l">
              <a:lnSpc>
                <a:spcPct val="115000"/>
              </a:lnSpc>
            </a:pPr>
            <a:r>
              <a:rPr sz="1600" b="0">
                <a:solidFill>
                  <a:srgbClr val="A9BCC4"/>
                </a:solidFill>
                <a:latin typeface="Inter"/>
              </a:rPr>
              <a:t>Voorbeeld, cijfer per docent</a:t>
            </a:r>
          </a:p>
        </p:txBody>
      </p:sp>
      <p:sp>
        <p:nvSpPr>
          <p:cNvPr id="7" name="TextBox 6"/>
          <p:cNvSpPr txBox="1"/>
          <p:nvPr/>
        </p:nvSpPr>
        <p:spPr>
          <a:xfrm>
            <a:off x="5334000" y="2870200"/>
            <a:ext cx="1778000" cy="254000"/>
          </a:xfrm>
          <a:prstGeom prst="rect">
            <a:avLst/>
          </a:prstGeom>
          <a:noFill/>
        </p:spPr>
        <p:txBody>
          <a:bodyPr wrap="square" lIns="0" rIns="0" tIns="0" bIns="0">
            <a:spAutoFit/>
          </a:bodyPr>
          <a:lstStyle/>
          <a:p>
            <a:pPr algn="r">
              <a:lnSpc>
                <a:spcPct val="115000"/>
              </a:lnSpc>
            </a:pPr>
            <a:r>
              <a:rPr sz="1600" b="0">
                <a:solidFill>
                  <a:srgbClr val="A9BCC4"/>
                </a:solidFill>
                <a:latin typeface="Inter"/>
              </a:rPr>
              <a:t>Gemiddelde 7,1</a:t>
            </a:r>
          </a:p>
        </p:txBody>
      </p:sp>
      <p:sp>
        <p:nvSpPr>
          <p:cNvPr id="8" name="TextBox 7"/>
          <p:cNvSpPr txBox="1"/>
          <p:nvPr/>
        </p:nvSpPr>
        <p:spPr>
          <a:xfrm>
            <a:off x="1422400" y="3251200"/>
            <a:ext cx="1016000" cy="254000"/>
          </a:xfrm>
          <a:prstGeom prst="rect">
            <a:avLst/>
          </a:prstGeom>
          <a:noFill/>
        </p:spPr>
        <p:txBody>
          <a:bodyPr wrap="square" lIns="0" rIns="0" tIns="0" bIns="0">
            <a:spAutoFit/>
          </a:bodyPr>
          <a:lstStyle/>
          <a:p>
            <a:pPr algn="l">
              <a:lnSpc>
                <a:spcPct val="115000"/>
              </a:lnSpc>
            </a:pPr>
            <a:r>
              <a:rPr sz="1600" b="0">
                <a:solidFill>
                  <a:srgbClr val="A9BCC4"/>
                </a:solidFill>
                <a:latin typeface="Inter"/>
              </a:rPr>
              <a:t>Docent A</a:t>
            </a:r>
          </a:p>
        </p:txBody>
      </p:sp>
      <p:sp>
        <p:nvSpPr>
          <p:cNvPr id="9" name="Rounded Rectangle 8"/>
          <p:cNvSpPr/>
          <p:nvPr/>
        </p:nvSpPr>
        <p:spPr>
          <a:xfrm>
            <a:off x="2540000" y="3314700"/>
            <a:ext cx="3810000" cy="127000"/>
          </a:xfrm>
          <a:prstGeom prst="roundRect">
            <a:avLst>
              <a:gd name="adj" fmla="val 50000"/>
            </a:avLst>
          </a:prstGeom>
          <a:solidFill>
            <a:srgbClr val="1B3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40000" y="3314700"/>
            <a:ext cx="2743200" cy="127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40500" y="3251200"/>
            <a:ext cx="571500" cy="254000"/>
          </a:xfrm>
          <a:prstGeom prst="rect">
            <a:avLst/>
          </a:prstGeom>
          <a:noFill/>
        </p:spPr>
        <p:txBody>
          <a:bodyPr wrap="square" lIns="0" rIns="0" tIns="0" bIns="0">
            <a:spAutoFit/>
          </a:bodyPr>
          <a:lstStyle/>
          <a:p>
            <a:pPr algn="r">
              <a:lnSpc>
                <a:spcPct val="115000"/>
              </a:lnSpc>
            </a:pPr>
            <a:r>
              <a:rPr sz="1600" b="1">
                <a:solidFill>
                  <a:srgbClr val="FFFFFF"/>
                </a:solidFill>
                <a:latin typeface="Inter"/>
              </a:rPr>
              <a:t>7,2</a:t>
            </a:r>
          </a:p>
        </p:txBody>
      </p:sp>
      <p:sp>
        <p:nvSpPr>
          <p:cNvPr id="12" name="TextBox 11"/>
          <p:cNvSpPr txBox="1"/>
          <p:nvPr/>
        </p:nvSpPr>
        <p:spPr>
          <a:xfrm>
            <a:off x="1422400" y="3606800"/>
            <a:ext cx="1016000" cy="254000"/>
          </a:xfrm>
          <a:prstGeom prst="rect">
            <a:avLst/>
          </a:prstGeom>
          <a:noFill/>
        </p:spPr>
        <p:txBody>
          <a:bodyPr wrap="square" lIns="0" rIns="0" tIns="0" bIns="0">
            <a:spAutoFit/>
          </a:bodyPr>
          <a:lstStyle/>
          <a:p>
            <a:pPr algn="l">
              <a:lnSpc>
                <a:spcPct val="115000"/>
              </a:lnSpc>
            </a:pPr>
            <a:r>
              <a:rPr sz="1600" b="0">
                <a:solidFill>
                  <a:srgbClr val="A9BCC4"/>
                </a:solidFill>
                <a:latin typeface="Inter"/>
              </a:rPr>
              <a:t>Docent B</a:t>
            </a:r>
          </a:p>
        </p:txBody>
      </p:sp>
      <p:sp>
        <p:nvSpPr>
          <p:cNvPr id="13" name="Rounded Rectangle 12"/>
          <p:cNvSpPr/>
          <p:nvPr/>
        </p:nvSpPr>
        <p:spPr>
          <a:xfrm>
            <a:off x="2540000" y="3670300"/>
            <a:ext cx="3810000" cy="127000"/>
          </a:xfrm>
          <a:prstGeom prst="roundRect">
            <a:avLst>
              <a:gd name="adj" fmla="val 50000"/>
            </a:avLst>
          </a:prstGeom>
          <a:solidFill>
            <a:srgbClr val="1B3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540000" y="3670300"/>
            <a:ext cx="2667000" cy="127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40500" y="3606800"/>
            <a:ext cx="571500" cy="254000"/>
          </a:xfrm>
          <a:prstGeom prst="rect">
            <a:avLst/>
          </a:prstGeom>
          <a:noFill/>
        </p:spPr>
        <p:txBody>
          <a:bodyPr wrap="square" lIns="0" rIns="0" tIns="0" bIns="0">
            <a:spAutoFit/>
          </a:bodyPr>
          <a:lstStyle/>
          <a:p>
            <a:pPr algn="r">
              <a:lnSpc>
                <a:spcPct val="115000"/>
              </a:lnSpc>
            </a:pPr>
            <a:r>
              <a:rPr sz="1600" b="1">
                <a:solidFill>
                  <a:srgbClr val="FFFFFF"/>
                </a:solidFill>
                <a:latin typeface="Inter"/>
              </a:rPr>
              <a:t>7,0</a:t>
            </a:r>
          </a:p>
        </p:txBody>
      </p:sp>
      <p:sp>
        <p:nvSpPr>
          <p:cNvPr id="16" name="TextBox 15"/>
          <p:cNvSpPr txBox="1"/>
          <p:nvPr/>
        </p:nvSpPr>
        <p:spPr>
          <a:xfrm>
            <a:off x="1422400" y="3962400"/>
            <a:ext cx="1016000" cy="254000"/>
          </a:xfrm>
          <a:prstGeom prst="rect">
            <a:avLst/>
          </a:prstGeom>
          <a:noFill/>
        </p:spPr>
        <p:txBody>
          <a:bodyPr wrap="square" lIns="0" rIns="0" tIns="0" bIns="0">
            <a:spAutoFit/>
          </a:bodyPr>
          <a:lstStyle/>
          <a:p>
            <a:pPr algn="l">
              <a:lnSpc>
                <a:spcPct val="115000"/>
              </a:lnSpc>
            </a:pPr>
            <a:r>
              <a:rPr sz="1600" b="1">
                <a:solidFill>
                  <a:srgbClr val="FFFFFF"/>
                </a:solidFill>
                <a:latin typeface="Inter"/>
              </a:rPr>
              <a:t>Docent C</a:t>
            </a:r>
          </a:p>
        </p:txBody>
      </p:sp>
      <p:sp>
        <p:nvSpPr>
          <p:cNvPr id="17" name="Rounded Rectangle 16"/>
          <p:cNvSpPr/>
          <p:nvPr/>
        </p:nvSpPr>
        <p:spPr>
          <a:xfrm>
            <a:off x="2540000" y="4025900"/>
            <a:ext cx="3810000" cy="127000"/>
          </a:xfrm>
          <a:prstGeom prst="roundRect">
            <a:avLst>
              <a:gd name="adj" fmla="val 50000"/>
            </a:avLst>
          </a:prstGeom>
          <a:solidFill>
            <a:srgbClr val="1B3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540000" y="4025900"/>
            <a:ext cx="2133600" cy="127000"/>
          </a:xfrm>
          <a:prstGeom prst="roundRect">
            <a:avLst>
              <a:gd name="adj" fmla="val 5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40500" y="3962400"/>
            <a:ext cx="571500" cy="254000"/>
          </a:xfrm>
          <a:prstGeom prst="rect">
            <a:avLst/>
          </a:prstGeom>
          <a:noFill/>
        </p:spPr>
        <p:txBody>
          <a:bodyPr wrap="square" lIns="0" rIns="0" tIns="0" bIns="0">
            <a:spAutoFit/>
          </a:bodyPr>
          <a:lstStyle/>
          <a:p>
            <a:pPr algn="r">
              <a:lnSpc>
                <a:spcPct val="115000"/>
              </a:lnSpc>
            </a:pPr>
            <a:r>
              <a:rPr sz="1600" b="1">
                <a:solidFill>
                  <a:srgbClr val="E07B00"/>
                </a:solidFill>
                <a:latin typeface="Inter"/>
              </a:rPr>
              <a:t>5,6</a:t>
            </a:r>
          </a:p>
        </p:txBody>
      </p:sp>
      <p:sp>
        <p:nvSpPr>
          <p:cNvPr id="20" name="Rectangle 19"/>
          <p:cNvSpPr/>
          <p:nvPr/>
        </p:nvSpPr>
        <p:spPr>
          <a:xfrm>
            <a:off x="5235575" y="3175000"/>
            <a:ext cx="19050" cy="1066800"/>
          </a:xfrm>
          <a:prstGeom prst="rect">
            <a:avLst/>
          </a:prstGeom>
          <a:solidFill>
            <a:srgbClr val="8FA9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75600" y="609600"/>
            <a:ext cx="3454400" cy="2159000"/>
          </a:xfrm>
          <a:prstGeom prst="roundRect">
            <a:avLst>
              <a:gd name="adj" fmla="val 7058"/>
            </a:avLst>
          </a:prstGeom>
          <a:solidFill>
            <a:srgbClr val="CD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988300" y="622300"/>
            <a:ext cx="3429000" cy="2133600"/>
          </a:xfrm>
          <a:prstGeom prst="roundRect">
            <a:avLst>
              <a:gd name="adj" fmla="val 654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80400" y="863600"/>
            <a:ext cx="2844800" cy="635000"/>
          </a:xfrm>
          <a:prstGeom prst="rect">
            <a:avLst/>
          </a:prstGeom>
          <a:noFill/>
        </p:spPr>
        <p:txBody>
          <a:bodyPr wrap="square" lIns="0" rIns="0" tIns="0" bIns="0">
            <a:spAutoFit/>
          </a:bodyPr>
          <a:lstStyle/>
          <a:p>
            <a:pPr algn="l">
              <a:lnSpc>
                <a:spcPct val="105000"/>
              </a:lnSpc>
            </a:pPr>
            <a:r>
              <a:rPr sz="2400" b="1">
                <a:solidFill>
                  <a:srgbClr val="002333"/>
                </a:solidFill>
                <a:latin typeface="League Spartan"/>
              </a:rPr>
              <a:t>Elk cijfer is</a:t>
            </a:r>
          </a:p>
          <a:p>
            <a:pPr algn="l">
              <a:lnSpc>
                <a:spcPct val="105000"/>
              </a:lnSpc>
            </a:pPr>
            <a:r>
              <a:rPr sz="2400" b="1">
                <a:solidFill>
                  <a:srgbClr val="002333"/>
                </a:solidFill>
                <a:latin typeface="League Spartan"/>
              </a:rPr>
              <a:t>navolgbaar</a:t>
            </a:r>
          </a:p>
        </p:txBody>
      </p:sp>
      <p:sp>
        <p:nvSpPr>
          <p:cNvPr id="24" name="TextBox 23"/>
          <p:cNvSpPr txBox="1"/>
          <p:nvPr/>
        </p:nvSpPr>
        <p:spPr>
          <a:xfrm>
            <a:off x="8280400" y="1600200"/>
            <a:ext cx="2844800" cy="508000"/>
          </a:xfrm>
          <a:prstGeom prst="rect">
            <a:avLst/>
          </a:prstGeom>
          <a:noFill/>
        </p:spPr>
        <p:txBody>
          <a:bodyPr wrap="square" lIns="0" rIns="0" tIns="0" bIns="0">
            <a:spAutoFit/>
          </a:bodyPr>
          <a:lstStyle/>
          <a:p>
            <a:pPr algn="l">
              <a:lnSpc>
                <a:spcPct val="125000"/>
              </a:lnSpc>
            </a:pPr>
            <a:r>
              <a:rPr sz="1600" b="0">
                <a:solidFill>
                  <a:srgbClr val="5B7480"/>
                </a:solidFill>
                <a:latin typeface="Inter"/>
              </a:rPr>
              <a:t>Onderbouwing per rubriccriterium.</a:t>
            </a:r>
          </a:p>
        </p:txBody>
      </p:sp>
      <p:sp>
        <p:nvSpPr>
          <p:cNvPr id="25" name="Rounded Rectangle 24"/>
          <p:cNvSpPr/>
          <p:nvPr/>
        </p:nvSpPr>
        <p:spPr>
          <a:xfrm>
            <a:off x="8280400" y="2209800"/>
            <a:ext cx="2159000" cy="330200"/>
          </a:xfrm>
          <a:prstGeom prst="roundRect">
            <a:avLst>
              <a:gd name="adj" fmla="val 50000"/>
            </a:avLst>
          </a:prstGeom>
          <a:solidFill>
            <a:srgbClr val="F3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80400" y="2266950"/>
            <a:ext cx="2159000" cy="228600"/>
          </a:xfrm>
          <a:prstGeom prst="rect">
            <a:avLst/>
          </a:prstGeom>
          <a:noFill/>
        </p:spPr>
        <p:txBody>
          <a:bodyPr wrap="square" lIns="0" rIns="0" tIns="0" bIns="0">
            <a:spAutoFit/>
          </a:bodyPr>
          <a:lstStyle/>
          <a:p>
            <a:pPr algn="ctr">
              <a:lnSpc>
                <a:spcPct val="115000"/>
              </a:lnSpc>
            </a:pPr>
            <a:r>
              <a:rPr sz="1600" b="1">
                <a:solidFill>
                  <a:srgbClr val="002333"/>
                </a:solidFill>
                <a:latin typeface="Inter"/>
              </a:rPr>
              <a:t>AI Act audit trail</a:t>
            </a:r>
          </a:p>
        </p:txBody>
      </p:sp>
      <p:sp>
        <p:nvSpPr>
          <p:cNvPr id="27" name="Rounded Rectangle 26"/>
          <p:cNvSpPr/>
          <p:nvPr/>
        </p:nvSpPr>
        <p:spPr>
          <a:xfrm>
            <a:off x="7975600" y="2971800"/>
            <a:ext cx="3454400" cy="1854200"/>
          </a:xfrm>
          <a:prstGeom prst="roundRect">
            <a:avLst>
              <a:gd name="adj" fmla="val 8219"/>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80400" y="3276600"/>
            <a:ext cx="2844800" cy="584200"/>
          </a:xfrm>
          <a:prstGeom prst="rect">
            <a:avLst/>
          </a:prstGeom>
          <a:noFill/>
        </p:spPr>
        <p:txBody>
          <a:bodyPr wrap="square" lIns="0" rIns="0" tIns="0" bIns="0">
            <a:spAutoFit/>
          </a:bodyPr>
          <a:lstStyle/>
          <a:p>
            <a:pPr algn="l">
              <a:lnSpc>
                <a:spcPct val="110000"/>
              </a:lnSpc>
            </a:pPr>
            <a:r>
              <a:rPr sz="2000" b="1">
                <a:solidFill>
                  <a:srgbClr val="002333"/>
                </a:solidFill>
                <a:latin typeface="League Spartan"/>
              </a:rPr>
              <a:t>De examencommissie</a:t>
            </a:r>
          </a:p>
          <a:p>
            <a:pPr algn="l">
              <a:lnSpc>
                <a:spcPct val="110000"/>
              </a:lnSpc>
            </a:pPr>
            <a:r>
              <a:rPr sz="2000" b="1">
                <a:solidFill>
                  <a:srgbClr val="002333"/>
                </a:solidFill>
                <a:latin typeface="League Spartan"/>
              </a:rPr>
              <a:t>borgt de kwaliteit</a:t>
            </a:r>
          </a:p>
        </p:txBody>
      </p:sp>
      <p:sp>
        <p:nvSpPr>
          <p:cNvPr id="29" name="TextBox 28"/>
          <p:cNvSpPr txBox="1"/>
          <p:nvPr/>
        </p:nvSpPr>
        <p:spPr>
          <a:xfrm>
            <a:off x="8280400" y="3987800"/>
            <a:ext cx="2844800" cy="508000"/>
          </a:xfrm>
          <a:prstGeom prst="rect">
            <a:avLst/>
          </a:prstGeom>
          <a:noFill/>
        </p:spPr>
        <p:txBody>
          <a:bodyPr wrap="square" lIns="0" rIns="0" tIns="0" bIns="0">
            <a:spAutoFit/>
          </a:bodyPr>
          <a:lstStyle/>
          <a:p>
            <a:pPr algn="l">
              <a:lnSpc>
                <a:spcPct val="125000"/>
              </a:lnSpc>
            </a:pPr>
            <a:r>
              <a:rPr sz="1600" b="0">
                <a:solidFill>
                  <a:srgbClr val="5B7480"/>
                </a:solidFill>
                <a:latin typeface="Inter"/>
              </a:rPr>
              <a:t>Elke onderbouwing direct in te zien.</a:t>
            </a:r>
          </a:p>
        </p:txBody>
      </p:sp>
      <p:sp>
        <p:nvSpPr>
          <p:cNvPr id="30" name="Rounded Rectangle 29"/>
          <p:cNvSpPr/>
          <p:nvPr/>
        </p:nvSpPr>
        <p:spPr>
          <a:xfrm>
            <a:off x="762000" y="5029200"/>
            <a:ext cx="10668000" cy="1270000"/>
          </a:xfrm>
          <a:prstGeom prst="roundRect">
            <a:avLst>
              <a:gd name="adj" fmla="val 8000"/>
            </a:avLst>
          </a:prstGeom>
          <a:solidFill>
            <a:srgbClr val="F3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2000" y="5029200"/>
            <a:ext cx="63500" cy="1270000"/>
          </a:xfrm>
          <a:prstGeom prst="rect">
            <a:avLst/>
          </a:prstGeom>
          <a:solidFill>
            <a:srgbClr val="00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17600" y="5257800"/>
            <a:ext cx="10033000" cy="889000"/>
          </a:xfrm>
          <a:prstGeom prst="rect">
            <a:avLst/>
          </a:prstGeom>
          <a:noFill/>
        </p:spPr>
        <p:txBody>
          <a:bodyPr wrap="square" lIns="0" rIns="0" tIns="0" bIns="0">
            <a:spAutoFit/>
          </a:bodyPr>
          <a:lstStyle/>
          <a:p>
            <a:pPr algn="l">
              <a:lnSpc>
                <a:spcPct val="135000"/>
              </a:lnSpc>
            </a:pPr>
            <a:r>
              <a:rPr sz="1700" b="1">
                <a:solidFill>
                  <a:srgbClr val="002333"/>
                </a:solidFill>
                <a:latin typeface="Inter"/>
              </a:rPr>
              <a:t>Consistent beoordelen is een speerpunt van dit project. Daarmee helpt het om de eisen van de accreditatiepartij hierboven steviger te borgen, en dat kan een positieve impact hebben op de pabo, die nu in de accreditatie zit.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