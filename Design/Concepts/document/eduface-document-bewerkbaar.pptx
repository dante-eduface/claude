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 Id="rId13" Type="http://schemas.openxmlformats.org/officeDocument/2006/relationships/image" Target="../media/image12.png"/><Relationship Id="rId14" Type="http://schemas.openxmlformats.org/officeDocument/2006/relationships/image" Target="../media/image13.png"/><Relationship Id="rId15" Type="http://schemas.openxmlformats.org/officeDocument/2006/relationships/image" Target="../media/image14.png"/><Relationship Id="rId16" Type="http://schemas.openxmlformats.org/officeDocument/2006/relationships/image" Target="../media/image15.png"/><Relationship Id="rId17" Type="http://schemas.openxmlformats.org/officeDocument/2006/relationships/image" Target="../media/image16.png"/><Relationship Id="rId18" Type="http://schemas.openxmlformats.org/officeDocument/2006/relationships/image" Target="../media/image17.png"/><Relationship Id="rId19" Type="http://schemas.openxmlformats.org/officeDocument/2006/relationships/image" Target="../media/image18.png"/><Relationship Id="rId20" Type="http://schemas.openxmlformats.org/officeDocument/2006/relationships/image" Target="../media/image19.png"/><Relationship Id="rId21" Type="http://schemas.openxmlformats.org/officeDocument/2006/relationships/image" Target="../media/image20.png"/><Relationship Id="rId22" Type="http://schemas.openxmlformats.org/officeDocument/2006/relationships/image" Target="../media/image21.png"/><Relationship Id="rId23" Type="http://schemas.openxmlformats.org/officeDocument/2006/relationships/image" Target="../media/image2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image" Target="../media/image38.png"/><Relationship Id="rId10" Type="http://schemas.openxmlformats.org/officeDocument/2006/relationships/image" Target="../media/image2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16337"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01</a:t>
            </a:r>
          </a:p>
        </p:txBody>
      </p:sp>
      <p:sp>
        <p:nvSpPr>
          <p:cNvPr id="3" name="TextBox 2"/>
          <p:cNvSpPr txBox="1"/>
          <p:nvPr/>
        </p:nvSpPr>
        <p:spPr>
          <a:xfrm>
            <a:off x="723900" y="819299"/>
            <a:ext cx="1545669"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Voorstel</a:t>
            </a:r>
          </a:p>
        </p:txBody>
      </p:sp>
      <p:sp>
        <p:nvSpPr>
          <p:cNvPr id="4" name="TextBox 3"/>
          <p:cNvSpPr txBox="1"/>
          <p:nvPr/>
        </p:nvSpPr>
        <p:spPr>
          <a:xfrm>
            <a:off x="723900" y="1814215"/>
            <a:ext cx="6087814" cy="1135261"/>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5" name="Rectangle 4"/>
          <p:cNvSpPr/>
          <p:nvPr/>
        </p:nvSpPr>
        <p:spPr>
          <a:xfrm>
            <a:off x="719882" y="3264098"/>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928390" y="3292673"/>
            <a:ext cx="5910560" cy="200025"/>
          </a:xfrm>
          <a:prstGeom prst="rect">
            <a:avLst/>
          </a:prstGeom>
          <a:noFill/>
        </p:spPr>
        <p:txBody>
          <a:bodyPr wrap="square" anchor="t" lIns="0" rIns="0" tIns="0" bIns="0">
            <a:noAutofit/>
          </a:bodyPr>
          <a:lstStyle/>
          <a:p>
            <a:pPr algn="l">
              <a:lnSpc>
                <a:spcPts val="2124"/>
              </a:lnSpc>
            </a:pPr>
            <a:r>
              <a:rPr sz="1700" b="1">
                <a:solidFill>
                  <a:srgbClr val="000326"/>
                </a:solidFill>
                <a:latin typeface="League Spartan"/>
              </a:rPr>
              <a:t>Dat is een concrete invulling van het koerspunt efficiëntie.</a:t>
            </a:r>
          </a:p>
        </p:txBody>
      </p:sp>
      <p:sp>
        <p:nvSpPr>
          <p:cNvPr id="7" name="Rounded Rectangle 6"/>
          <p:cNvSpPr/>
          <p:nvPr/>
        </p:nvSpPr>
        <p:spPr>
          <a:xfrm>
            <a:off x="719882" y="3893790"/>
            <a:ext cx="2952006" cy="2345531"/>
          </a:xfrm>
          <a:prstGeom prst="roundRect">
            <a:avLst>
              <a:gd name="adj" fmla="val 9209"/>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TextBox 7"/>
          <p:cNvSpPr txBox="1"/>
          <p:nvPr/>
        </p:nvSpPr>
        <p:spPr>
          <a:xfrm>
            <a:off x="1053405" y="4227314"/>
            <a:ext cx="26917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NU</a:t>
            </a:r>
          </a:p>
        </p:txBody>
      </p:sp>
      <p:sp>
        <p:nvSpPr>
          <p:cNvPr id="9" name="TextBox 8"/>
          <p:cNvSpPr txBox="1"/>
          <p:nvPr/>
        </p:nvSpPr>
        <p:spPr>
          <a:xfrm>
            <a:off x="1053405" y="4487614"/>
            <a:ext cx="2107740"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€ 37.000</a:t>
            </a:r>
          </a:p>
        </p:txBody>
      </p:sp>
      <p:sp>
        <p:nvSpPr>
          <p:cNvPr id="10" name="TextBox 9"/>
          <p:cNvSpPr txBox="1"/>
          <p:nvPr/>
        </p:nvSpPr>
        <p:spPr>
          <a:xfrm>
            <a:off x="1053405" y="5062240"/>
            <a:ext cx="175669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de helft</a:t>
            </a:r>
          </a:p>
        </p:txBody>
      </p:sp>
      <p:pic>
        <p:nvPicPr>
          <p:cNvPr id="11" name="Picture 10" descr="svg-0-0.png"/>
          <p:cNvPicPr>
            <a:picLocks noChangeAspect="1"/>
          </p:cNvPicPr>
          <p:nvPr/>
        </p:nvPicPr>
        <p:blipFill>
          <a:blip r:embed="rId2"/>
          <a:stretch>
            <a:fillRect/>
          </a:stretch>
        </p:blipFill>
        <p:spPr>
          <a:xfrm>
            <a:off x="1053405" y="5468689"/>
            <a:ext cx="189607" cy="189607"/>
          </a:xfrm>
          <a:prstGeom prst="rect">
            <a:avLst/>
          </a:prstGeom>
        </p:spPr>
      </p:pic>
      <p:pic>
        <p:nvPicPr>
          <p:cNvPr id="12" name="Picture 11" descr="svg-0-1.png"/>
          <p:cNvPicPr>
            <a:picLocks noChangeAspect="1"/>
          </p:cNvPicPr>
          <p:nvPr/>
        </p:nvPicPr>
        <p:blipFill>
          <a:blip r:embed="rId3"/>
          <a:stretch>
            <a:fillRect/>
          </a:stretch>
        </p:blipFill>
        <p:spPr>
          <a:xfrm>
            <a:off x="1286173" y="5468689"/>
            <a:ext cx="189607" cy="189607"/>
          </a:xfrm>
          <a:prstGeom prst="rect">
            <a:avLst/>
          </a:prstGeom>
        </p:spPr>
      </p:pic>
      <p:pic>
        <p:nvPicPr>
          <p:cNvPr id="13" name="Picture 12" descr="svg-0-2.png"/>
          <p:cNvPicPr>
            <a:picLocks noChangeAspect="1"/>
          </p:cNvPicPr>
          <p:nvPr/>
        </p:nvPicPr>
        <p:blipFill>
          <a:blip r:embed="rId4"/>
          <a:stretch>
            <a:fillRect/>
          </a:stretch>
        </p:blipFill>
        <p:spPr>
          <a:xfrm>
            <a:off x="1518940" y="5468689"/>
            <a:ext cx="189607" cy="189607"/>
          </a:xfrm>
          <a:prstGeom prst="rect">
            <a:avLst/>
          </a:prstGeom>
        </p:spPr>
      </p:pic>
      <p:pic>
        <p:nvPicPr>
          <p:cNvPr id="14" name="Picture 13" descr="svg-0-3.png"/>
          <p:cNvPicPr>
            <a:picLocks noChangeAspect="1"/>
          </p:cNvPicPr>
          <p:nvPr/>
        </p:nvPicPr>
        <p:blipFill>
          <a:blip r:embed="rId5"/>
          <a:stretch>
            <a:fillRect/>
          </a:stretch>
        </p:blipFill>
        <p:spPr>
          <a:xfrm>
            <a:off x="1751707" y="5468689"/>
            <a:ext cx="189756" cy="189756"/>
          </a:xfrm>
          <a:prstGeom prst="rect">
            <a:avLst/>
          </a:prstGeom>
        </p:spPr>
      </p:pic>
      <p:pic>
        <p:nvPicPr>
          <p:cNvPr id="15" name="Picture 14" descr="svg-0-2.png"/>
          <p:cNvPicPr>
            <a:picLocks noChangeAspect="1"/>
          </p:cNvPicPr>
          <p:nvPr/>
        </p:nvPicPr>
        <p:blipFill>
          <a:blip r:embed="rId4"/>
          <a:stretch>
            <a:fillRect/>
          </a:stretch>
        </p:blipFill>
        <p:spPr>
          <a:xfrm>
            <a:off x="1984623" y="5468689"/>
            <a:ext cx="189607" cy="189607"/>
          </a:xfrm>
          <a:prstGeom prst="rect">
            <a:avLst/>
          </a:prstGeom>
        </p:spPr>
      </p:pic>
      <p:pic>
        <p:nvPicPr>
          <p:cNvPr id="16" name="Picture 15" descr="svg-0-5.png"/>
          <p:cNvPicPr>
            <a:picLocks noChangeAspect="1"/>
          </p:cNvPicPr>
          <p:nvPr/>
        </p:nvPicPr>
        <p:blipFill>
          <a:blip r:embed="rId6"/>
          <a:stretch>
            <a:fillRect/>
          </a:stretch>
        </p:blipFill>
        <p:spPr>
          <a:xfrm>
            <a:off x="2217390" y="5468689"/>
            <a:ext cx="189607" cy="189607"/>
          </a:xfrm>
          <a:prstGeom prst="rect">
            <a:avLst/>
          </a:prstGeom>
        </p:spPr>
      </p:pic>
      <p:pic>
        <p:nvPicPr>
          <p:cNvPr id="17" name="Picture 16" descr="svg-0-6.png"/>
          <p:cNvPicPr>
            <a:picLocks noChangeAspect="1"/>
          </p:cNvPicPr>
          <p:nvPr/>
        </p:nvPicPr>
        <p:blipFill>
          <a:blip r:embed="rId7"/>
          <a:stretch>
            <a:fillRect/>
          </a:stretch>
        </p:blipFill>
        <p:spPr>
          <a:xfrm>
            <a:off x="2450157" y="5468689"/>
            <a:ext cx="189756" cy="189756"/>
          </a:xfrm>
          <a:prstGeom prst="rect">
            <a:avLst/>
          </a:prstGeom>
        </p:spPr>
      </p:pic>
      <p:pic>
        <p:nvPicPr>
          <p:cNvPr id="18" name="Picture 17" descr="svg-0-5.png"/>
          <p:cNvPicPr>
            <a:picLocks noChangeAspect="1"/>
          </p:cNvPicPr>
          <p:nvPr/>
        </p:nvPicPr>
        <p:blipFill>
          <a:blip r:embed="rId6"/>
          <a:stretch>
            <a:fillRect/>
          </a:stretch>
        </p:blipFill>
        <p:spPr>
          <a:xfrm>
            <a:off x="2683073" y="5468689"/>
            <a:ext cx="189607" cy="189607"/>
          </a:xfrm>
          <a:prstGeom prst="rect">
            <a:avLst/>
          </a:prstGeom>
        </p:spPr>
      </p:pic>
      <p:pic>
        <p:nvPicPr>
          <p:cNvPr id="19" name="Picture 18" descr="svg-0-8.png"/>
          <p:cNvPicPr>
            <a:picLocks noChangeAspect="1"/>
          </p:cNvPicPr>
          <p:nvPr/>
        </p:nvPicPr>
        <p:blipFill>
          <a:blip r:embed="rId8"/>
          <a:stretch>
            <a:fillRect/>
          </a:stretch>
        </p:blipFill>
        <p:spPr>
          <a:xfrm>
            <a:off x="2915841" y="5468689"/>
            <a:ext cx="189607" cy="189607"/>
          </a:xfrm>
          <a:prstGeom prst="rect">
            <a:avLst/>
          </a:prstGeom>
        </p:spPr>
      </p:pic>
      <p:pic>
        <p:nvPicPr>
          <p:cNvPr id="20" name="Picture 19" descr="svg-0-9.png"/>
          <p:cNvPicPr>
            <a:picLocks noChangeAspect="1"/>
          </p:cNvPicPr>
          <p:nvPr/>
        </p:nvPicPr>
        <p:blipFill>
          <a:blip r:embed="rId9"/>
          <a:stretch>
            <a:fillRect/>
          </a:stretch>
        </p:blipFill>
        <p:spPr>
          <a:xfrm>
            <a:off x="3148608" y="5468689"/>
            <a:ext cx="189756" cy="189756"/>
          </a:xfrm>
          <a:prstGeom prst="rect">
            <a:avLst/>
          </a:prstGeom>
        </p:spPr>
      </p:pic>
      <p:pic>
        <p:nvPicPr>
          <p:cNvPr id="21" name="Picture 20" descr="svg-0-10.png"/>
          <p:cNvPicPr>
            <a:picLocks noChangeAspect="1"/>
          </p:cNvPicPr>
          <p:nvPr/>
        </p:nvPicPr>
        <p:blipFill>
          <a:blip r:embed="rId10"/>
          <a:stretch>
            <a:fillRect/>
          </a:stretch>
        </p:blipFill>
        <p:spPr>
          <a:xfrm>
            <a:off x="1053405" y="5716042"/>
            <a:ext cx="189607" cy="189607"/>
          </a:xfrm>
          <a:prstGeom prst="rect">
            <a:avLst/>
          </a:prstGeom>
        </p:spPr>
      </p:pic>
      <p:pic>
        <p:nvPicPr>
          <p:cNvPr id="22" name="Picture 21" descr="svg-0-11.png"/>
          <p:cNvPicPr>
            <a:picLocks noChangeAspect="1"/>
          </p:cNvPicPr>
          <p:nvPr/>
        </p:nvPicPr>
        <p:blipFill>
          <a:blip r:embed="rId11"/>
          <a:stretch>
            <a:fillRect/>
          </a:stretch>
        </p:blipFill>
        <p:spPr>
          <a:xfrm>
            <a:off x="1286173" y="5716042"/>
            <a:ext cx="189607" cy="189607"/>
          </a:xfrm>
          <a:prstGeom prst="rect">
            <a:avLst/>
          </a:prstGeom>
        </p:spPr>
      </p:pic>
      <p:pic>
        <p:nvPicPr>
          <p:cNvPr id="23" name="Picture 22" descr="svg-0-12.png"/>
          <p:cNvPicPr>
            <a:picLocks noChangeAspect="1"/>
          </p:cNvPicPr>
          <p:nvPr/>
        </p:nvPicPr>
        <p:blipFill>
          <a:blip r:embed="rId12"/>
          <a:stretch>
            <a:fillRect/>
          </a:stretch>
        </p:blipFill>
        <p:spPr>
          <a:xfrm>
            <a:off x="1518940" y="5716042"/>
            <a:ext cx="189607" cy="189607"/>
          </a:xfrm>
          <a:prstGeom prst="rect">
            <a:avLst/>
          </a:prstGeom>
        </p:spPr>
      </p:pic>
      <p:pic>
        <p:nvPicPr>
          <p:cNvPr id="24" name="Picture 23" descr="svg-0-13.png"/>
          <p:cNvPicPr>
            <a:picLocks noChangeAspect="1"/>
          </p:cNvPicPr>
          <p:nvPr/>
        </p:nvPicPr>
        <p:blipFill>
          <a:blip r:embed="rId13"/>
          <a:stretch>
            <a:fillRect/>
          </a:stretch>
        </p:blipFill>
        <p:spPr>
          <a:xfrm>
            <a:off x="1751707" y="5716042"/>
            <a:ext cx="189756" cy="189756"/>
          </a:xfrm>
          <a:prstGeom prst="rect">
            <a:avLst/>
          </a:prstGeom>
        </p:spPr>
      </p:pic>
      <p:pic>
        <p:nvPicPr>
          <p:cNvPr id="25" name="Picture 24" descr="svg-0-12.png"/>
          <p:cNvPicPr>
            <a:picLocks noChangeAspect="1"/>
          </p:cNvPicPr>
          <p:nvPr/>
        </p:nvPicPr>
        <p:blipFill>
          <a:blip r:embed="rId12"/>
          <a:stretch>
            <a:fillRect/>
          </a:stretch>
        </p:blipFill>
        <p:spPr>
          <a:xfrm>
            <a:off x="1984623" y="5716042"/>
            <a:ext cx="189607" cy="189607"/>
          </a:xfrm>
          <a:prstGeom prst="rect">
            <a:avLst/>
          </a:prstGeom>
        </p:spPr>
      </p:pic>
      <p:pic>
        <p:nvPicPr>
          <p:cNvPr id="26" name="Picture 25" descr="svg-0-15.png"/>
          <p:cNvPicPr>
            <a:picLocks noChangeAspect="1"/>
          </p:cNvPicPr>
          <p:nvPr/>
        </p:nvPicPr>
        <p:blipFill>
          <a:blip r:embed="rId14"/>
          <a:stretch>
            <a:fillRect/>
          </a:stretch>
        </p:blipFill>
        <p:spPr>
          <a:xfrm>
            <a:off x="2217390" y="5716042"/>
            <a:ext cx="189607" cy="189607"/>
          </a:xfrm>
          <a:prstGeom prst="rect">
            <a:avLst/>
          </a:prstGeom>
        </p:spPr>
      </p:pic>
      <p:pic>
        <p:nvPicPr>
          <p:cNvPr id="27" name="Picture 26" descr="svg-0-16.png"/>
          <p:cNvPicPr>
            <a:picLocks noChangeAspect="1"/>
          </p:cNvPicPr>
          <p:nvPr/>
        </p:nvPicPr>
        <p:blipFill>
          <a:blip r:embed="rId15"/>
          <a:stretch>
            <a:fillRect/>
          </a:stretch>
        </p:blipFill>
        <p:spPr>
          <a:xfrm>
            <a:off x="2450157" y="5716042"/>
            <a:ext cx="189756" cy="189756"/>
          </a:xfrm>
          <a:prstGeom prst="rect">
            <a:avLst/>
          </a:prstGeom>
        </p:spPr>
      </p:pic>
      <p:pic>
        <p:nvPicPr>
          <p:cNvPr id="28" name="Picture 27" descr="svg-0-15.png"/>
          <p:cNvPicPr>
            <a:picLocks noChangeAspect="1"/>
          </p:cNvPicPr>
          <p:nvPr/>
        </p:nvPicPr>
        <p:blipFill>
          <a:blip r:embed="rId14"/>
          <a:stretch>
            <a:fillRect/>
          </a:stretch>
        </p:blipFill>
        <p:spPr>
          <a:xfrm>
            <a:off x="2683073" y="5716042"/>
            <a:ext cx="189607" cy="189607"/>
          </a:xfrm>
          <a:prstGeom prst="rect">
            <a:avLst/>
          </a:prstGeom>
        </p:spPr>
      </p:pic>
      <p:pic>
        <p:nvPicPr>
          <p:cNvPr id="29" name="Picture 28" descr="svg-0-18.png"/>
          <p:cNvPicPr>
            <a:picLocks noChangeAspect="1"/>
          </p:cNvPicPr>
          <p:nvPr/>
        </p:nvPicPr>
        <p:blipFill>
          <a:blip r:embed="rId16"/>
          <a:stretch>
            <a:fillRect/>
          </a:stretch>
        </p:blipFill>
        <p:spPr>
          <a:xfrm>
            <a:off x="2915841" y="5716042"/>
            <a:ext cx="189607" cy="189607"/>
          </a:xfrm>
          <a:prstGeom prst="rect">
            <a:avLst/>
          </a:prstGeom>
        </p:spPr>
      </p:pic>
      <p:pic>
        <p:nvPicPr>
          <p:cNvPr id="30" name="Picture 29" descr="svg-0-19.png"/>
          <p:cNvPicPr>
            <a:picLocks noChangeAspect="1"/>
          </p:cNvPicPr>
          <p:nvPr/>
        </p:nvPicPr>
        <p:blipFill>
          <a:blip r:embed="rId17"/>
          <a:stretch>
            <a:fillRect/>
          </a:stretch>
        </p:blipFill>
        <p:spPr>
          <a:xfrm>
            <a:off x="3148608" y="5716042"/>
            <a:ext cx="189756" cy="189756"/>
          </a:xfrm>
          <a:prstGeom prst="rect">
            <a:avLst/>
          </a:prstGeom>
        </p:spPr>
      </p:pic>
      <p:sp>
        <p:nvSpPr>
          <p:cNvPr id="31" name="Rounded Rectangle 30"/>
          <p:cNvSpPr/>
          <p:nvPr/>
        </p:nvSpPr>
        <p:spPr>
          <a:xfrm>
            <a:off x="3887837" y="3893790"/>
            <a:ext cx="2952155" cy="2345531"/>
          </a:xfrm>
          <a:prstGeom prst="roundRect">
            <a:avLst>
              <a:gd name="adj" fmla="val 9209"/>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TextBox 31"/>
          <p:cNvSpPr txBox="1"/>
          <p:nvPr/>
        </p:nvSpPr>
        <p:spPr>
          <a:xfrm>
            <a:off x="4211836" y="4217789"/>
            <a:ext cx="106994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MET EDUFACE</a:t>
            </a:r>
          </a:p>
        </p:txBody>
      </p:sp>
      <p:sp>
        <p:nvSpPr>
          <p:cNvPr id="33" name="TextBox 32"/>
          <p:cNvSpPr txBox="1"/>
          <p:nvPr/>
        </p:nvSpPr>
        <p:spPr>
          <a:xfrm>
            <a:off x="4211836" y="4478089"/>
            <a:ext cx="20088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€ 18.000</a:t>
            </a:r>
          </a:p>
        </p:txBody>
      </p:sp>
      <p:sp>
        <p:nvSpPr>
          <p:cNvPr id="34" name="TextBox 33"/>
          <p:cNvSpPr txBox="1"/>
          <p:nvPr/>
        </p:nvSpPr>
        <p:spPr>
          <a:xfrm>
            <a:off x="4211836" y="5052715"/>
            <a:ext cx="2103739"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elke student</a:t>
            </a:r>
          </a:p>
        </p:txBody>
      </p:sp>
      <p:pic>
        <p:nvPicPr>
          <p:cNvPr id="35" name="Picture 34" descr="svg-0-20.png"/>
          <p:cNvPicPr>
            <a:picLocks noChangeAspect="1"/>
          </p:cNvPicPr>
          <p:nvPr/>
        </p:nvPicPr>
        <p:blipFill>
          <a:blip r:embed="rId18"/>
          <a:stretch>
            <a:fillRect/>
          </a:stretch>
        </p:blipFill>
        <p:spPr>
          <a:xfrm>
            <a:off x="4211836" y="5459164"/>
            <a:ext cx="191542" cy="191542"/>
          </a:xfrm>
          <a:prstGeom prst="rect">
            <a:avLst/>
          </a:prstGeom>
        </p:spPr>
      </p:pic>
      <p:pic>
        <p:nvPicPr>
          <p:cNvPr id="36" name="Picture 35" descr="svg-0-21.png"/>
          <p:cNvPicPr>
            <a:picLocks noChangeAspect="1"/>
          </p:cNvPicPr>
          <p:nvPr/>
        </p:nvPicPr>
        <p:blipFill>
          <a:blip r:embed="rId19"/>
          <a:stretch>
            <a:fillRect/>
          </a:stretch>
        </p:blipFill>
        <p:spPr>
          <a:xfrm>
            <a:off x="4446538" y="5459164"/>
            <a:ext cx="191542" cy="191542"/>
          </a:xfrm>
          <a:prstGeom prst="rect">
            <a:avLst/>
          </a:prstGeom>
        </p:spPr>
      </p:pic>
      <p:pic>
        <p:nvPicPr>
          <p:cNvPr id="37" name="Picture 36" descr="svg-0-22.png"/>
          <p:cNvPicPr>
            <a:picLocks noChangeAspect="1"/>
          </p:cNvPicPr>
          <p:nvPr/>
        </p:nvPicPr>
        <p:blipFill>
          <a:blip r:embed="rId20"/>
          <a:stretch>
            <a:fillRect/>
          </a:stretch>
        </p:blipFill>
        <p:spPr>
          <a:xfrm>
            <a:off x="4681240" y="5459164"/>
            <a:ext cx="191542" cy="191542"/>
          </a:xfrm>
          <a:prstGeom prst="rect">
            <a:avLst/>
          </a:prstGeom>
        </p:spPr>
      </p:pic>
      <p:pic>
        <p:nvPicPr>
          <p:cNvPr id="38" name="Picture 37" descr="svg-0-20.png"/>
          <p:cNvPicPr>
            <a:picLocks noChangeAspect="1"/>
          </p:cNvPicPr>
          <p:nvPr/>
        </p:nvPicPr>
        <p:blipFill>
          <a:blip r:embed="rId18"/>
          <a:stretch>
            <a:fillRect/>
          </a:stretch>
        </p:blipFill>
        <p:spPr>
          <a:xfrm>
            <a:off x="4915942" y="5459164"/>
            <a:ext cx="191542" cy="191542"/>
          </a:xfrm>
          <a:prstGeom prst="rect">
            <a:avLst/>
          </a:prstGeom>
        </p:spPr>
      </p:pic>
      <p:pic>
        <p:nvPicPr>
          <p:cNvPr id="39" name="Picture 38" descr="svg-0-21.png"/>
          <p:cNvPicPr>
            <a:picLocks noChangeAspect="1"/>
          </p:cNvPicPr>
          <p:nvPr/>
        </p:nvPicPr>
        <p:blipFill>
          <a:blip r:embed="rId19"/>
          <a:stretch>
            <a:fillRect/>
          </a:stretch>
        </p:blipFill>
        <p:spPr>
          <a:xfrm>
            <a:off x="5150644" y="5459164"/>
            <a:ext cx="191542" cy="191542"/>
          </a:xfrm>
          <a:prstGeom prst="rect">
            <a:avLst/>
          </a:prstGeom>
        </p:spPr>
      </p:pic>
      <p:pic>
        <p:nvPicPr>
          <p:cNvPr id="40" name="Picture 39" descr="svg-0-25.png"/>
          <p:cNvPicPr>
            <a:picLocks noChangeAspect="1"/>
          </p:cNvPicPr>
          <p:nvPr/>
        </p:nvPicPr>
        <p:blipFill>
          <a:blip r:embed="rId21"/>
          <a:stretch>
            <a:fillRect/>
          </a:stretch>
        </p:blipFill>
        <p:spPr>
          <a:xfrm>
            <a:off x="5385346" y="5459164"/>
            <a:ext cx="191691" cy="191691"/>
          </a:xfrm>
          <a:prstGeom prst="rect">
            <a:avLst/>
          </a:prstGeom>
        </p:spPr>
      </p:pic>
      <p:pic>
        <p:nvPicPr>
          <p:cNvPr id="41" name="Picture 40" descr="svg-0-20.png"/>
          <p:cNvPicPr>
            <a:picLocks noChangeAspect="1"/>
          </p:cNvPicPr>
          <p:nvPr/>
        </p:nvPicPr>
        <p:blipFill>
          <a:blip r:embed="rId18"/>
          <a:stretch>
            <a:fillRect/>
          </a:stretch>
        </p:blipFill>
        <p:spPr>
          <a:xfrm>
            <a:off x="5620196" y="5459164"/>
            <a:ext cx="191542" cy="191542"/>
          </a:xfrm>
          <a:prstGeom prst="rect">
            <a:avLst/>
          </a:prstGeom>
        </p:spPr>
      </p:pic>
      <p:pic>
        <p:nvPicPr>
          <p:cNvPr id="42" name="Picture 41" descr="svg-0-21.png"/>
          <p:cNvPicPr>
            <a:picLocks noChangeAspect="1"/>
          </p:cNvPicPr>
          <p:nvPr/>
        </p:nvPicPr>
        <p:blipFill>
          <a:blip r:embed="rId19"/>
          <a:stretch>
            <a:fillRect/>
          </a:stretch>
        </p:blipFill>
        <p:spPr>
          <a:xfrm>
            <a:off x="5854898" y="5459164"/>
            <a:ext cx="191542" cy="191542"/>
          </a:xfrm>
          <a:prstGeom prst="rect">
            <a:avLst/>
          </a:prstGeom>
        </p:spPr>
      </p:pic>
      <p:pic>
        <p:nvPicPr>
          <p:cNvPr id="43" name="Picture 42" descr="svg-0-20.png"/>
          <p:cNvPicPr>
            <a:picLocks noChangeAspect="1"/>
          </p:cNvPicPr>
          <p:nvPr/>
        </p:nvPicPr>
        <p:blipFill>
          <a:blip r:embed="rId18"/>
          <a:stretch>
            <a:fillRect/>
          </a:stretch>
        </p:blipFill>
        <p:spPr>
          <a:xfrm>
            <a:off x="6089600" y="5459164"/>
            <a:ext cx="191542" cy="191542"/>
          </a:xfrm>
          <a:prstGeom prst="rect">
            <a:avLst/>
          </a:prstGeom>
        </p:spPr>
      </p:pic>
      <p:pic>
        <p:nvPicPr>
          <p:cNvPr id="44" name="Picture 43" descr="svg-0-29.png"/>
          <p:cNvPicPr>
            <a:picLocks noChangeAspect="1"/>
          </p:cNvPicPr>
          <p:nvPr/>
        </p:nvPicPr>
        <p:blipFill>
          <a:blip r:embed="rId22"/>
          <a:stretch>
            <a:fillRect/>
          </a:stretch>
        </p:blipFill>
        <p:spPr>
          <a:xfrm>
            <a:off x="6324302" y="5459164"/>
            <a:ext cx="191542" cy="191542"/>
          </a:xfrm>
          <a:prstGeom prst="rect">
            <a:avLst/>
          </a:prstGeom>
        </p:spPr>
      </p:pic>
      <p:pic>
        <p:nvPicPr>
          <p:cNvPr id="45" name="Picture 44" descr="svg-0-20.png"/>
          <p:cNvPicPr>
            <a:picLocks noChangeAspect="1"/>
          </p:cNvPicPr>
          <p:nvPr/>
        </p:nvPicPr>
        <p:blipFill>
          <a:blip r:embed="rId18"/>
          <a:stretch>
            <a:fillRect/>
          </a:stretch>
        </p:blipFill>
        <p:spPr>
          <a:xfrm>
            <a:off x="4211836" y="5708452"/>
            <a:ext cx="191542" cy="191542"/>
          </a:xfrm>
          <a:prstGeom prst="rect">
            <a:avLst/>
          </a:prstGeom>
        </p:spPr>
      </p:pic>
      <p:pic>
        <p:nvPicPr>
          <p:cNvPr id="46" name="Picture 45" descr="svg-0-21.png"/>
          <p:cNvPicPr>
            <a:picLocks noChangeAspect="1"/>
          </p:cNvPicPr>
          <p:nvPr/>
        </p:nvPicPr>
        <p:blipFill>
          <a:blip r:embed="rId19"/>
          <a:stretch>
            <a:fillRect/>
          </a:stretch>
        </p:blipFill>
        <p:spPr>
          <a:xfrm>
            <a:off x="4446538" y="5708452"/>
            <a:ext cx="191542" cy="191542"/>
          </a:xfrm>
          <a:prstGeom prst="rect">
            <a:avLst/>
          </a:prstGeom>
        </p:spPr>
      </p:pic>
      <p:pic>
        <p:nvPicPr>
          <p:cNvPr id="47" name="Picture 46" descr="svg-0-22.png"/>
          <p:cNvPicPr>
            <a:picLocks noChangeAspect="1"/>
          </p:cNvPicPr>
          <p:nvPr/>
        </p:nvPicPr>
        <p:blipFill>
          <a:blip r:embed="rId20"/>
          <a:stretch>
            <a:fillRect/>
          </a:stretch>
        </p:blipFill>
        <p:spPr>
          <a:xfrm>
            <a:off x="4681240" y="5708452"/>
            <a:ext cx="191542" cy="191542"/>
          </a:xfrm>
          <a:prstGeom prst="rect">
            <a:avLst/>
          </a:prstGeom>
        </p:spPr>
      </p:pic>
      <p:pic>
        <p:nvPicPr>
          <p:cNvPr id="48" name="Picture 47" descr="svg-0-20.png"/>
          <p:cNvPicPr>
            <a:picLocks noChangeAspect="1"/>
          </p:cNvPicPr>
          <p:nvPr/>
        </p:nvPicPr>
        <p:blipFill>
          <a:blip r:embed="rId18"/>
          <a:stretch>
            <a:fillRect/>
          </a:stretch>
        </p:blipFill>
        <p:spPr>
          <a:xfrm>
            <a:off x="4915942" y="5708452"/>
            <a:ext cx="191542" cy="191542"/>
          </a:xfrm>
          <a:prstGeom prst="rect">
            <a:avLst/>
          </a:prstGeom>
        </p:spPr>
      </p:pic>
      <p:pic>
        <p:nvPicPr>
          <p:cNvPr id="49" name="Picture 48" descr="svg-0-21.png"/>
          <p:cNvPicPr>
            <a:picLocks noChangeAspect="1"/>
          </p:cNvPicPr>
          <p:nvPr/>
        </p:nvPicPr>
        <p:blipFill>
          <a:blip r:embed="rId19"/>
          <a:stretch>
            <a:fillRect/>
          </a:stretch>
        </p:blipFill>
        <p:spPr>
          <a:xfrm>
            <a:off x="5150644" y="5708452"/>
            <a:ext cx="191542" cy="191542"/>
          </a:xfrm>
          <a:prstGeom prst="rect">
            <a:avLst/>
          </a:prstGeom>
        </p:spPr>
      </p:pic>
      <p:pic>
        <p:nvPicPr>
          <p:cNvPr id="50" name="Picture 49" descr="svg-0-25.png"/>
          <p:cNvPicPr>
            <a:picLocks noChangeAspect="1"/>
          </p:cNvPicPr>
          <p:nvPr/>
        </p:nvPicPr>
        <p:blipFill>
          <a:blip r:embed="rId21"/>
          <a:stretch>
            <a:fillRect/>
          </a:stretch>
        </p:blipFill>
        <p:spPr>
          <a:xfrm>
            <a:off x="5385346" y="5708452"/>
            <a:ext cx="191691" cy="191691"/>
          </a:xfrm>
          <a:prstGeom prst="rect">
            <a:avLst/>
          </a:prstGeom>
        </p:spPr>
      </p:pic>
      <p:pic>
        <p:nvPicPr>
          <p:cNvPr id="51" name="Picture 50" descr="svg-0-20.png"/>
          <p:cNvPicPr>
            <a:picLocks noChangeAspect="1"/>
          </p:cNvPicPr>
          <p:nvPr/>
        </p:nvPicPr>
        <p:blipFill>
          <a:blip r:embed="rId18"/>
          <a:stretch>
            <a:fillRect/>
          </a:stretch>
        </p:blipFill>
        <p:spPr>
          <a:xfrm>
            <a:off x="5620196" y="5708452"/>
            <a:ext cx="191542" cy="191542"/>
          </a:xfrm>
          <a:prstGeom prst="rect">
            <a:avLst/>
          </a:prstGeom>
        </p:spPr>
      </p:pic>
      <p:pic>
        <p:nvPicPr>
          <p:cNvPr id="52" name="Picture 51" descr="svg-0-21.png"/>
          <p:cNvPicPr>
            <a:picLocks noChangeAspect="1"/>
          </p:cNvPicPr>
          <p:nvPr/>
        </p:nvPicPr>
        <p:blipFill>
          <a:blip r:embed="rId19"/>
          <a:stretch>
            <a:fillRect/>
          </a:stretch>
        </p:blipFill>
        <p:spPr>
          <a:xfrm>
            <a:off x="5854898" y="5708452"/>
            <a:ext cx="191542" cy="191542"/>
          </a:xfrm>
          <a:prstGeom prst="rect">
            <a:avLst/>
          </a:prstGeom>
        </p:spPr>
      </p:pic>
      <p:pic>
        <p:nvPicPr>
          <p:cNvPr id="53" name="Picture 52" descr="svg-0-20.png"/>
          <p:cNvPicPr>
            <a:picLocks noChangeAspect="1"/>
          </p:cNvPicPr>
          <p:nvPr/>
        </p:nvPicPr>
        <p:blipFill>
          <a:blip r:embed="rId18"/>
          <a:stretch>
            <a:fillRect/>
          </a:stretch>
        </p:blipFill>
        <p:spPr>
          <a:xfrm>
            <a:off x="6089600" y="5708452"/>
            <a:ext cx="191542" cy="191542"/>
          </a:xfrm>
          <a:prstGeom prst="rect">
            <a:avLst/>
          </a:prstGeom>
        </p:spPr>
      </p:pic>
      <p:pic>
        <p:nvPicPr>
          <p:cNvPr id="54" name="Picture 53" descr="svg-0-29.png"/>
          <p:cNvPicPr>
            <a:picLocks noChangeAspect="1"/>
          </p:cNvPicPr>
          <p:nvPr/>
        </p:nvPicPr>
        <p:blipFill>
          <a:blip r:embed="rId22"/>
          <a:stretch>
            <a:fillRect/>
          </a:stretch>
        </p:blipFill>
        <p:spPr>
          <a:xfrm>
            <a:off x="6324302" y="5708452"/>
            <a:ext cx="191542" cy="191542"/>
          </a:xfrm>
          <a:prstGeom prst="rect">
            <a:avLst/>
          </a:prstGeom>
        </p:spPr>
      </p:pic>
      <p:sp>
        <p:nvSpPr>
          <p:cNvPr id="55" name="TextBox 54"/>
          <p:cNvSpPr txBox="1"/>
          <p:nvPr/>
        </p:nvSpPr>
        <p:spPr>
          <a:xfrm>
            <a:off x="723900" y="6347222"/>
            <a:ext cx="2804827"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 poppetje staat voor 5% van de studenten.</a:t>
            </a:r>
          </a:p>
        </p:txBody>
      </p:sp>
      <p:sp>
        <p:nvSpPr>
          <p:cNvPr id="56" name="Rounded Rectangle 55"/>
          <p:cNvSpPr/>
          <p:nvPr/>
        </p:nvSpPr>
        <p:spPr>
          <a:xfrm>
            <a:off x="719882" y="6723162"/>
            <a:ext cx="6120110" cy="1422648"/>
          </a:xfrm>
          <a:prstGeom prst="roundRect">
            <a:avLst>
              <a:gd name="adj" fmla="val 15182"/>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7" name="TextBox 56"/>
          <p:cNvSpPr txBox="1"/>
          <p:nvPr/>
        </p:nvSpPr>
        <p:spPr>
          <a:xfrm>
            <a:off x="1043880" y="7056686"/>
            <a:ext cx="3437573"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76% goedkoper</a:t>
            </a:r>
          </a:p>
        </p:txBody>
      </p:sp>
      <p:sp>
        <p:nvSpPr>
          <p:cNvPr id="58" name="TextBox 57"/>
          <p:cNvSpPr txBox="1"/>
          <p:nvPr/>
        </p:nvSpPr>
        <p:spPr>
          <a:xfrm>
            <a:off x="1043880" y="7631311"/>
            <a:ext cx="232076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die feedback krijgt</a:t>
            </a:r>
          </a:p>
        </p:txBody>
      </p:sp>
      <p:pic>
        <p:nvPicPr>
          <p:cNvPr id="59" name="Picture 58" descr="academica.png"/>
          <p:cNvPicPr>
            <a:picLocks noChangeAspect="1"/>
          </p:cNvPicPr>
          <p:nvPr/>
        </p:nvPicPr>
        <p:blipFill>
          <a:blip r:embed="rId23"/>
          <a:stretch>
            <a:fillRect/>
          </a:stretch>
        </p:blipFill>
        <p:spPr>
          <a:xfrm>
            <a:off x="742950" y="10182225"/>
            <a:ext cx="784860" cy="152400"/>
          </a:xfrm>
          <a:prstGeom prst="rect">
            <a:avLst/>
          </a:prstGeom>
        </p:spPr>
      </p:pic>
      <p:sp>
        <p:nvSpPr>
          <p:cNvPr id="60" name="TextBox 5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2006"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02</a:t>
            </a:r>
          </a:p>
        </p:txBody>
      </p:sp>
      <p:sp>
        <p:nvSpPr>
          <p:cNvPr id="4" name="TextBox 3"/>
          <p:cNvSpPr txBox="1"/>
          <p:nvPr/>
        </p:nvSpPr>
        <p:spPr>
          <a:xfrm>
            <a:off x="723900" y="819299"/>
            <a:ext cx="1269468"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Kosten</a:t>
            </a:r>
          </a:p>
        </p:txBody>
      </p:sp>
      <p:sp>
        <p:nvSpPr>
          <p:cNvPr id="5" name="Rounded Rectangle 4"/>
          <p:cNvSpPr/>
          <p:nvPr/>
        </p:nvSpPr>
        <p:spPr>
          <a:xfrm>
            <a:off x="719882" y="1795165"/>
            <a:ext cx="6120110" cy="3347591"/>
          </a:xfrm>
          <a:prstGeom prst="roundRect">
            <a:avLst>
              <a:gd name="adj" fmla="val 6452"/>
            </a:avLst>
          </a:prstGeom>
          <a:solidFill>
            <a:srgbClr val="E4E0F5"/>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2128689"/>
            <a:ext cx="14774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€ 3,75</a:t>
            </a:r>
          </a:p>
        </p:txBody>
      </p:sp>
      <p:sp>
        <p:nvSpPr>
          <p:cNvPr id="7" name="TextBox 6"/>
          <p:cNvSpPr txBox="1"/>
          <p:nvPr/>
        </p:nvSpPr>
        <p:spPr>
          <a:xfrm>
            <a:off x="1043880" y="2703314"/>
            <a:ext cx="292884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per maand* · exclusief btw</a:t>
            </a:r>
          </a:p>
        </p:txBody>
      </p:sp>
      <p:sp>
        <p:nvSpPr>
          <p:cNvPr id="8" name="Rounded Rectangle 7"/>
          <p:cNvSpPr/>
          <p:nvPr/>
        </p:nvSpPr>
        <p:spPr>
          <a:xfrm>
            <a:off x="1043880" y="3109764"/>
            <a:ext cx="5472112" cy="1405086"/>
          </a:xfrm>
          <a:prstGeom prst="roundRect">
            <a:avLst>
              <a:gd name="adj" fmla="val 8967"/>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335238"/>
            <a:ext cx="3889796"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Hoe meer studenten, hoe lager de prijs per student</a:t>
            </a:r>
          </a:p>
        </p:txBody>
      </p:sp>
      <p:sp>
        <p:nvSpPr>
          <p:cNvPr id="10" name="TextBox 9"/>
          <p:cNvSpPr txBox="1"/>
          <p:nvPr/>
        </p:nvSpPr>
        <p:spPr>
          <a:xfrm>
            <a:off x="1259830" y="3528268"/>
            <a:ext cx="1730026"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Prijs per student per maand</a:t>
            </a:r>
          </a:p>
        </p:txBody>
      </p:sp>
      <p:sp>
        <p:nvSpPr>
          <p:cNvPr id="11" name="TextBox 10"/>
          <p:cNvSpPr txBox="1"/>
          <p:nvPr/>
        </p:nvSpPr>
        <p:spPr>
          <a:xfrm>
            <a:off x="1259830" y="3868192"/>
            <a:ext cx="1099947"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Tot en met 400</a:t>
            </a:r>
          </a:p>
        </p:txBody>
      </p:sp>
      <p:sp>
        <p:nvSpPr>
          <p:cNvPr id="12" name="Rounded Rectangle 11"/>
          <p:cNvSpPr/>
          <p:nvPr/>
        </p:nvSpPr>
        <p:spPr>
          <a:xfrm>
            <a:off x="2627709" y="389036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627709" y="3890367"/>
            <a:ext cx="2808536"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813173" y="3868192"/>
            <a:ext cx="486870"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€ 3,75</a:t>
            </a:r>
          </a:p>
        </p:txBody>
      </p:sp>
      <p:sp>
        <p:nvSpPr>
          <p:cNvPr id="15" name="TextBox 14"/>
          <p:cNvSpPr txBox="1"/>
          <p:nvPr/>
        </p:nvSpPr>
        <p:spPr>
          <a:xfrm>
            <a:off x="1259830" y="4146500"/>
            <a:ext cx="100710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Meer dan 400</a:t>
            </a:r>
          </a:p>
        </p:txBody>
      </p:sp>
      <p:sp>
        <p:nvSpPr>
          <p:cNvPr id="16" name="Rounded Rectangle 15"/>
          <p:cNvSpPr/>
          <p:nvPr/>
        </p:nvSpPr>
        <p:spPr>
          <a:xfrm>
            <a:off x="2627709" y="416867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627709" y="4168676"/>
            <a:ext cx="2246709"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794171" y="4146500"/>
            <a:ext cx="505873"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€ 3,00</a:t>
            </a:r>
          </a:p>
        </p:txBody>
      </p:sp>
      <p:sp>
        <p:nvSpPr>
          <p:cNvPr id="19" name="TextBox 18"/>
          <p:cNvSpPr txBox="1"/>
          <p:nvPr/>
        </p:nvSpPr>
        <p:spPr>
          <a:xfrm>
            <a:off x="1043880" y="4658767"/>
            <a:ext cx="3991975"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 Minimaal € 1.500 per maand, dat dekt de eerste 400 studenten.</a:t>
            </a:r>
          </a:p>
        </p:txBody>
      </p:sp>
      <p:sp>
        <p:nvSpPr>
          <p:cNvPr id="20" name="Rounded Rectangle 19"/>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academica.png"/>
          <p:cNvPicPr>
            <a:picLocks noChangeAspect="1"/>
          </p:cNvPicPr>
          <p:nvPr/>
        </p:nvPicPr>
        <p:blipFill>
          <a:blip r:embed="rId2"/>
          <a:stretch>
            <a:fillRect/>
          </a:stretch>
        </p:blipFill>
        <p:spPr>
          <a:xfrm>
            <a:off x="742950" y="10182225"/>
            <a:ext cx="784860" cy="152400"/>
          </a:xfrm>
          <a:prstGeom prst="rect">
            <a:avLst/>
          </a:prstGeom>
        </p:spPr>
      </p:pic>
      <p:sp>
        <p:nvSpPr>
          <p:cNvPr id="22" name="TextBox 21"/>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367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03</a:t>
            </a:r>
          </a:p>
        </p:txBody>
      </p:sp>
      <p:sp>
        <p:nvSpPr>
          <p:cNvPr id="3" name="TextBox 2"/>
          <p:cNvSpPr txBox="1"/>
          <p:nvPr/>
        </p:nvSpPr>
        <p:spPr>
          <a:xfrm>
            <a:off x="723900" y="819299"/>
            <a:ext cx="2002226"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Opbrengst</a:t>
            </a:r>
          </a:p>
        </p:txBody>
      </p:sp>
      <p:sp>
        <p:nvSpPr>
          <p:cNvPr id="4" name="Rounded Rectangle 3"/>
          <p:cNvSpPr/>
          <p:nvPr/>
        </p:nvSpPr>
        <p:spPr>
          <a:xfrm>
            <a:off x="719882" y="1795165"/>
            <a:ext cx="6120110" cy="2999482"/>
          </a:xfrm>
          <a:prstGeom prst="roundRect">
            <a:avLst>
              <a:gd name="adj" fmla="val 7201"/>
            </a:avLst>
          </a:prstGeom>
          <a:solidFill>
            <a:srgbClr val="DFE8F3"/>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Rounded Rectangle 4"/>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6" name="Picture 5" descr="svg-2-0.png"/>
          <p:cNvPicPr>
            <a:picLocks noChangeAspect="1"/>
          </p:cNvPicPr>
          <p:nvPr/>
        </p:nvPicPr>
        <p:blipFill>
          <a:blip r:embed="rId2"/>
          <a:stretch>
            <a:fillRect/>
          </a:stretch>
        </p:blipFill>
        <p:spPr>
          <a:xfrm>
            <a:off x="1133773" y="2209056"/>
            <a:ext cx="179933" cy="179933"/>
          </a:xfrm>
          <a:prstGeom prst="rect">
            <a:avLst/>
          </a:prstGeom>
        </p:spPr>
      </p:pic>
      <p:sp>
        <p:nvSpPr>
          <p:cNvPr id="7" name="TextBox 6"/>
          <p:cNvSpPr txBox="1"/>
          <p:nvPr/>
        </p:nvSpPr>
        <p:spPr>
          <a:xfrm>
            <a:off x="1547664" y="2198043"/>
            <a:ext cx="229176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Uniforme beoordeling</a:t>
            </a:r>
          </a:p>
        </p:txBody>
      </p:sp>
      <p:sp>
        <p:nvSpPr>
          <p:cNvPr id="8" name="TextBox 7"/>
          <p:cNvSpPr txBox="1"/>
          <p:nvPr/>
        </p:nvSpPr>
        <p:spPr>
          <a:xfrm>
            <a:off x="1043880" y="2605980"/>
            <a:ext cx="579507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opdracht wordt langs dezelfde criteria beoordeeld, door elke beoordelaar.</a:t>
            </a:r>
          </a:p>
        </p:txBody>
      </p:sp>
      <p:sp>
        <p:nvSpPr>
          <p:cNvPr id="9" name="Rounded Rectangle 8"/>
          <p:cNvSpPr/>
          <p:nvPr/>
        </p:nvSpPr>
        <p:spPr>
          <a:xfrm>
            <a:off x="1043880" y="3012430"/>
            <a:ext cx="2628007"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TextBox 9"/>
          <p:cNvSpPr txBox="1"/>
          <p:nvPr/>
        </p:nvSpPr>
        <p:spPr>
          <a:xfrm>
            <a:off x="1259830" y="3237905"/>
            <a:ext cx="602218"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Zonder</a:t>
            </a:r>
          </a:p>
        </p:txBody>
      </p:sp>
      <p:sp>
        <p:nvSpPr>
          <p:cNvPr id="11" name="TextBox 10"/>
          <p:cNvSpPr txBox="1"/>
          <p:nvPr/>
        </p:nvSpPr>
        <p:spPr>
          <a:xfrm>
            <a:off x="1259830" y="3430935"/>
            <a:ext cx="221442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beoordelaar met een eigen blik</a:t>
            </a:r>
          </a:p>
        </p:txBody>
      </p:sp>
      <p:sp>
        <p:nvSpPr>
          <p:cNvPr id="12" name="Rectangle 11"/>
          <p:cNvSpPr/>
          <p:nvPr/>
        </p:nvSpPr>
        <p:spPr>
          <a:xfrm>
            <a:off x="1259830" y="3907631"/>
            <a:ext cx="2196108"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491555"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106513"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567732"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3116759"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1259830"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18" name="TextBox 17"/>
          <p:cNvSpPr txBox="1"/>
          <p:nvPr/>
        </p:nvSpPr>
        <p:spPr>
          <a:xfrm>
            <a:off x="3117652"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19" name="Rounded Rectangle 18"/>
          <p:cNvSpPr/>
          <p:nvPr/>
        </p:nvSpPr>
        <p:spPr>
          <a:xfrm>
            <a:off x="3887837" y="3012430"/>
            <a:ext cx="2628156"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TextBox 19"/>
          <p:cNvSpPr txBox="1"/>
          <p:nvPr/>
        </p:nvSpPr>
        <p:spPr>
          <a:xfrm>
            <a:off x="4103787" y="3237905"/>
            <a:ext cx="1007769"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Met Eduface</a:t>
            </a:r>
          </a:p>
        </p:txBody>
      </p:sp>
      <p:sp>
        <p:nvSpPr>
          <p:cNvPr id="21" name="TextBox 20"/>
          <p:cNvSpPr txBox="1"/>
          <p:nvPr/>
        </p:nvSpPr>
        <p:spPr>
          <a:xfrm>
            <a:off x="4103787" y="3430935"/>
            <a:ext cx="196622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Iedereen langs dezelfde criteria</a:t>
            </a:r>
          </a:p>
        </p:txBody>
      </p:sp>
      <p:sp>
        <p:nvSpPr>
          <p:cNvPr id="22" name="Rectangle 21"/>
          <p:cNvSpPr/>
          <p:nvPr/>
        </p:nvSpPr>
        <p:spPr>
          <a:xfrm>
            <a:off x="4103787" y="3907631"/>
            <a:ext cx="2196257"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4994523"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5126236"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5257949"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5389811"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4103787"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28" name="TextBox 27"/>
          <p:cNvSpPr txBox="1"/>
          <p:nvPr/>
        </p:nvSpPr>
        <p:spPr>
          <a:xfrm>
            <a:off x="5961757"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29" name="Rounded Rectangle 28"/>
          <p:cNvSpPr/>
          <p:nvPr/>
        </p:nvSpPr>
        <p:spPr>
          <a:xfrm>
            <a:off x="719882" y="5010596"/>
            <a:ext cx="6120110" cy="1534864"/>
          </a:xfrm>
          <a:prstGeom prst="roundRect">
            <a:avLst>
              <a:gd name="adj" fmla="val 14072"/>
            </a:avLst>
          </a:prstGeom>
          <a:solidFill>
            <a:srgbClr val="EEF3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1043880" y="5334595"/>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1" name="Picture 30" descr="svg-2-1.png"/>
          <p:cNvPicPr>
            <a:picLocks noChangeAspect="1"/>
          </p:cNvPicPr>
          <p:nvPr/>
        </p:nvPicPr>
        <p:blipFill>
          <a:blip r:embed="rId3"/>
          <a:stretch>
            <a:fillRect/>
          </a:stretch>
        </p:blipFill>
        <p:spPr>
          <a:xfrm>
            <a:off x="1133773" y="5424488"/>
            <a:ext cx="179933" cy="179933"/>
          </a:xfrm>
          <a:prstGeom prst="rect">
            <a:avLst/>
          </a:prstGeom>
        </p:spPr>
      </p:pic>
      <p:sp>
        <p:nvSpPr>
          <p:cNvPr id="32" name="TextBox 31"/>
          <p:cNvSpPr txBox="1"/>
          <p:nvPr/>
        </p:nvSpPr>
        <p:spPr>
          <a:xfrm>
            <a:off x="1547664" y="5413474"/>
            <a:ext cx="40668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Formatieve feedback voor elke student</a:t>
            </a:r>
          </a:p>
        </p:txBody>
      </p:sp>
      <p:sp>
        <p:nvSpPr>
          <p:cNvPr id="33" name="TextBox 32"/>
          <p:cNvSpPr txBox="1"/>
          <p:nvPr/>
        </p:nvSpPr>
        <p:spPr>
          <a:xfrm>
            <a:off x="1043880" y="5821412"/>
            <a:ext cx="4981277"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Nu krijgt de helft van de studenten formatieve feedback. Met Eduface is dat iedereen.</a:t>
            </a:r>
          </a:p>
        </p:txBody>
      </p:sp>
      <p:sp>
        <p:nvSpPr>
          <p:cNvPr id="34" name="Rounded Rectangle 33"/>
          <p:cNvSpPr/>
          <p:nvPr/>
        </p:nvSpPr>
        <p:spPr>
          <a:xfrm>
            <a:off x="719882" y="6761411"/>
            <a:ext cx="6120110" cy="1553914"/>
          </a:xfrm>
          <a:prstGeom prst="roundRect">
            <a:avLst>
              <a:gd name="adj" fmla="val 1390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Rounded Rectangle 34"/>
          <p:cNvSpPr/>
          <p:nvPr/>
        </p:nvSpPr>
        <p:spPr>
          <a:xfrm>
            <a:off x="1053405" y="7094934"/>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6" name="Picture 35" descr="svg-2-2.png"/>
          <p:cNvPicPr>
            <a:picLocks noChangeAspect="1"/>
          </p:cNvPicPr>
          <p:nvPr/>
        </p:nvPicPr>
        <p:blipFill>
          <a:blip r:embed="rId4"/>
          <a:stretch>
            <a:fillRect/>
          </a:stretch>
        </p:blipFill>
        <p:spPr>
          <a:xfrm>
            <a:off x="1143298" y="7184827"/>
            <a:ext cx="179933" cy="179933"/>
          </a:xfrm>
          <a:prstGeom prst="rect">
            <a:avLst/>
          </a:prstGeom>
        </p:spPr>
      </p:pic>
      <p:sp>
        <p:nvSpPr>
          <p:cNvPr id="37" name="TextBox 36"/>
          <p:cNvSpPr txBox="1"/>
          <p:nvPr/>
        </p:nvSpPr>
        <p:spPr>
          <a:xfrm>
            <a:off x="1557189" y="7173813"/>
            <a:ext cx="237444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Integratie in NEO LMS</a:t>
            </a:r>
          </a:p>
        </p:txBody>
      </p:sp>
      <p:sp>
        <p:nvSpPr>
          <p:cNvPr id="38" name="TextBox 37"/>
          <p:cNvSpPr txBox="1"/>
          <p:nvPr/>
        </p:nvSpPr>
        <p:spPr>
          <a:xfrm>
            <a:off x="1053405" y="7581751"/>
            <a:ext cx="4892873"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Opdrachten en cijfers lopen via NEO. Docenten en studenten werken in de omgeving die ze kennen.</a:t>
            </a:r>
          </a:p>
        </p:txBody>
      </p:sp>
      <p:pic>
        <p:nvPicPr>
          <p:cNvPr id="39" name="Picture 38" descr="academica.png"/>
          <p:cNvPicPr>
            <a:picLocks noChangeAspect="1"/>
          </p:cNvPicPr>
          <p:nvPr/>
        </p:nvPicPr>
        <p:blipFill>
          <a:blip r:embed="rId5"/>
          <a:stretch>
            <a:fillRect/>
          </a:stretch>
        </p:blipFill>
        <p:spPr>
          <a:xfrm>
            <a:off x="742950" y="10182225"/>
            <a:ext cx="784860" cy="152400"/>
          </a:xfrm>
          <a:prstGeom prst="rect">
            <a:avLst/>
          </a:prstGeom>
        </p:spPr>
      </p:pic>
      <p:sp>
        <p:nvSpPr>
          <p:cNvPr id="40" name="TextBox 3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75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04</a:t>
            </a:r>
          </a:p>
        </p:txBody>
      </p:sp>
      <p:sp>
        <p:nvSpPr>
          <p:cNvPr id="4" name="TextBox 3"/>
          <p:cNvSpPr txBox="1"/>
          <p:nvPr/>
        </p:nvSpPr>
        <p:spPr>
          <a:xfrm>
            <a:off x="723900" y="819299"/>
            <a:ext cx="2260425"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Accreditatie</a:t>
            </a:r>
          </a:p>
        </p:txBody>
      </p:sp>
      <p:sp>
        <p:nvSpPr>
          <p:cNvPr id="5" name="Rounded Rectangle 4"/>
          <p:cNvSpPr/>
          <p:nvPr/>
        </p:nvSpPr>
        <p:spPr>
          <a:xfrm>
            <a:off x="719882" y="1795165"/>
            <a:ext cx="6120110" cy="3022104"/>
          </a:xfrm>
          <a:prstGeom prst="roundRect">
            <a:avLst>
              <a:gd name="adj" fmla="val 7147"/>
            </a:avLst>
          </a:prstGeom>
          <a:solidFill>
            <a:srgbClr val="E0EAF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2-0.png"/>
          <p:cNvPicPr>
            <a:picLocks noChangeAspect="1"/>
          </p:cNvPicPr>
          <p:nvPr/>
        </p:nvPicPr>
        <p:blipFill>
          <a:blip r:embed="rId2"/>
          <a:stretch>
            <a:fillRect/>
          </a:stretch>
        </p:blipFill>
        <p:spPr>
          <a:xfrm>
            <a:off x="1133773" y="2209056"/>
            <a:ext cx="179933" cy="179933"/>
          </a:xfrm>
          <a:prstGeom prst="rect">
            <a:avLst/>
          </a:prstGeom>
        </p:spPr>
      </p:pic>
      <p:sp>
        <p:nvSpPr>
          <p:cNvPr id="8" name="TextBox 7"/>
          <p:cNvSpPr txBox="1"/>
          <p:nvPr/>
        </p:nvSpPr>
        <p:spPr>
          <a:xfrm>
            <a:off x="1547664" y="2198043"/>
            <a:ext cx="3463576"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Beoordelaars oordelen consistent</a:t>
            </a:r>
          </a:p>
        </p:txBody>
      </p:sp>
      <p:sp>
        <p:nvSpPr>
          <p:cNvPr id="9" name="TextBox 8"/>
          <p:cNvSpPr txBox="1"/>
          <p:nvPr/>
        </p:nvSpPr>
        <p:spPr>
          <a:xfrm>
            <a:off x="1043880" y="2605980"/>
            <a:ext cx="338373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Zie in één overzicht wie afwijkt van het team.</a:t>
            </a:r>
          </a:p>
        </p:txBody>
      </p:sp>
      <p:sp>
        <p:nvSpPr>
          <p:cNvPr id="10" name="Rounded Rectangle 9"/>
          <p:cNvSpPr/>
          <p:nvPr/>
        </p:nvSpPr>
        <p:spPr>
          <a:xfrm>
            <a:off x="1043880" y="3012430"/>
            <a:ext cx="5472112" cy="1480840"/>
          </a:xfrm>
          <a:prstGeom prst="roundRect">
            <a:avLst>
              <a:gd name="adj" fmla="val 8508"/>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1259830" y="3228380"/>
            <a:ext cx="137348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Voorbeeld per docent</a:t>
            </a:r>
          </a:p>
        </p:txBody>
      </p:sp>
      <p:sp>
        <p:nvSpPr>
          <p:cNvPr id="12" name="TextBox 11"/>
          <p:cNvSpPr txBox="1"/>
          <p:nvPr/>
        </p:nvSpPr>
        <p:spPr>
          <a:xfrm>
            <a:off x="5497264" y="3228380"/>
            <a:ext cx="95626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Gemiddelde 7,1</a:t>
            </a:r>
          </a:p>
        </p:txBody>
      </p:sp>
      <p:sp>
        <p:nvSpPr>
          <p:cNvPr id="13" name="TextBox 12"/>
          <p:cNvSpPr txBox="1"/>
          <p:nvPr/>
        </p:nvSpPr>
        <p:spPr>
          <a:xfrm>
            <a:off x="1259830" y="3568303"/>
            <a:ext cx="677894"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A</a:t>
            </a:r>
          </a:p>
        </p:txBody>
      </p:sp>
      <p:sp>
        <p:nvSpPr>
          <p:cNvPr id="14" name="Rounded Rectangle 13"/>
          <p:cNvSpPr/>
          <p:nvPr/>
        </p:nvSpPr>
        <p:spPr>
          <a:xfrm>
            <a:off x="2627709" y="3590479"/>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Rounded Rectangle 14"/>
          <p:cNvSpPr/>
          <p:nvPr/>
        </p:nvSpPr>
        <p:spPr>
          <a:xfrm>
            <a:off x="2627709" y="3590479"/>
            <a:ext cx="2022128"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ectangle 15"/>
          <p:cNvSpPr/>
          <p:nvPr/>
        </p:nvSpPr>
        <p:spPr>
          <a:xfrm>
            <a:off x="4621709" y="3536603"/>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6044702" y="3568303"/>
            <a:ext cx="255341"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7,2</a:t>
            </a:r>
          </a:p>
        </p:txBody>
      </p:sp>
      <p:sp>
        <p:nvSpPr>
          <p:cNvPr id="18" name="TextBox 17"/>
          <p:cNvSpPr txBox="1"/>
          <p:nvPr/>
        </p:nvSpPr>
        <p:spPr>
          <a:xfrm>
            <a:off x="1259830" y="3846612"/>
            <a:ext cx="672727"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B</a:t>
            </a:r>
          </a:p>
        </p:txBody>
      </p:sp>
      <p:sp>
        <p:nvSpPr>
          <p:cNvPr id="19" name="Rounded Rectangle 18"/>
          <p:cNvSpPr/>
          <p:nvPr/>
        </p:nvSpPr>
        <p:spPr>
          <a:xfrm>
            <a:off x="2627709" y="386878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Rounded Rectangle 19"/>
          <p:cNvSpPr/>
          <p:nvPr/>
        </p:nvSpPr>
        <p:spPr>
          <a:xfrm>
            <a:off x="2627709" y="3868787"/>
            <a:ext cx="1965871"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ectangle 20"/>
          <p:cNvSpPr/>
          <p:nvPr/>
        </p:nvSpPr>
        <p:spPr>
          <a:xfrm>
            <a:off x="4621709" y="3814911"/>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6043535" y="3846612"/>
            <a:ext cx="256508"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7,0</a:t>
            </a:r>
          </a:p>
        </p:txBody>
      </p:sp>
      <p:sp>
        <p:nvSpPr>
          <p:cNvPr id="23" name="TextBox 22"/>
          <p:cNvSpPr txBox="1"/>
          <p:nvPr/>
        </p:nvSpPr>
        <p:spPr>
          <a:xfrm>
            <a:off x="1259830" y="4124920"/>
            <a:ext cx="691229"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Docent C</a:t>
            </a:r>
          </a:p>
        </p:txBody>
      </p:sp>
      <p:sp>
        <p:nvSpPr>
          <p:cNvPr id="24" name="Rounded Rectangle 23"/>
          <p:cNvSpPr/>
          <p:nvPr/>
        </p:nvSpPr>
        <p:spPr>
          <a:xfrm>
            <a:off x="2627709" y="414709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2627709" y="4147096"/>
            <a:ext cx="1572667"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ectangle 25"/>
          <p:cNvSpPr/>
          <p:nvPr/>
        </p:nvSpPr>
        <p:spPr>
          <a:xfrm>
            <a:off x="4621709" y="4093220"/>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6026866" y="4124920"/>
            <a:ext cx="273177"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5,6</a:t>
            </a:r>
          </a:p>
        </p:txBody>
      </p:sp>
      <p:sp>
        <p:nvSpPr>
          <p:cNvPr id="28" name="Rounded Rectangle 27"/>
          <p:cNvSpPr/>
          <p:nvPr/>
        </p:nvSpPr>
        <p:spPr>
          <a:xfrm>
            <a:off x="719882" y="5033218"/>
            <a:ext cx="6120110" cy="1755874"/>
          </a:xfrm>
          <a:prstGeom prst="roundRect">
            <a:avLst>
              <a:gd name="adj" fmla="val 12301"/>
            </a:avLst>
          </a:prstGeom>
          <a:solidFill>
            <a:srgbClr val="EFF5F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Rounded Rectangle 28"/>
          <p:cNvSpPr/>
          <p:nvPr/>
        </p:nvSpPr>
        <p:spPr>
          <a:xfrm>
            <a:off x="1043880" y="5357217"/>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0" name="Picture 29" descr="svg-3-1.png"/>
          <p:cNvPicPr>
            <a:picLocks noChangeAspect="1"/>
          </p:cNvPicPr>
          <p:nvPr/>
        </p:nvPicPr>
        <p:blipFill>
          <a:blip r:embed="rId3"/>
          <a:stretch>
            <a:fillRect/>
          </a:stretch>
        </p:blipFill>
        <p:spPr>
          <a:xfrm>
            <a:off x="1133773" y="5447109"/>
            <a:ext cx="179933" cy="179933"/>
          </a:xfrm>
          <a:prstGeom prst="rect">
            <a:avLst/>
          </a:prstGeom>
        </p:spPr>
      </p:pic>
      <p:sp>
        <p:nvSpPr>
          <p:cNvPr id="31" name="TextBox 30"/>
          <p:cNvSpPr txBox="1"/>
          <p:nvPr/>
        </p:nvSpPr>
        <p:spPr>
          <a:xfrm>
            <a:off x="1547664" y="5436096"/>
            <a:ext cx="243161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Elk cijfer is navolgbaar</a:t>
            </a:r>
          </a:p>
        </p:txBody>
      </p:sp>
      <p:sp>
        <p:nvSpPr>
          <p:cNvPr id="32" name="TextBox 31"/>
          <p:cNvSpPr txBox="1"/>
          <p:nvPr/>
        </p:nvSpPr>
        <p:spPr>
          <a:xfrm>
            <a:off x="1043880" y="5844034"/>
            <a:ext cx="2622804"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Onderbouwing per rubriccriterium.</a:t>
            </a:r>
          </a:p>
        </p:txBody>
      </p:sp>
      <p:sp>
        <p:nvSpPr>
          <p:cNvPr id="33" name="Rounded Rectangle 32"/>
          <p:cNvSpPr/>
          <p:nvPr/>
        </p:nvSpPr>
        <p:spPr>
          <a:xfrm>
            <a:off x="1043880" y="6214467"/>
            <a:ext cx="1164729" cy="25062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1187797" y="6268343"/>
            <a:ext cx="1039273" cy="142875"/>
          </a:xfrm>
          <a:prstGeom prst="rect">
            <a:avLst/>
          </a:prstGeom>
          <a:noFill/>
        </p:spPr>
        <p:txBody>
          <a:bodyPr wrap="square" anchor="t" lIns="0" rIns="0" tIns="0" bIns="0">
            <a:noAutofit/>
          </a:bodyPr>
          <a:lstStyle/>
          <a:p>
            <a:pPr algn="l">
              <a:lnSpc>
                <a:spcPts val="1080"/>
              </a:lnSpc>
            </a:pPr>
            <a:r>
              <a:rPr sz="900" b="1">
                <a:solidFill>
                  <a:srgbClr val="000326"/>
                </a:solidFill>
                <a:latin typeface="Inter"/>
              </a:rPr>
              <a:t>AI Act audit trail</a:t>
            </a:r>
          </a:p>
        </p:txBody>
      </p:sp>
      <p:sp>
        <p:nvSpPr>
          <p:cNvPr id="35" name="Rounded Rectangle 34"/>
          <p:cNvSpPr/>
          <p:nvPr/>
        </p:nvSpPr>
        <p:spPr>
          <a:xfrm>
            <a:off x="719882" y="7005042"/>
            <a:ext cx="6120110" cy="1344364"/>
          </a:xfrm>
          <a:prstGeom prst="roundRect">
            <a:avLst>
              <a:gd name="adj" fmla="val 16067"/>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Rounded Rectangle 35"/>
          <p:cNvSpPr/>
          <p:nvPr/>
        </p:nvSpPr>
        <p:spPr>
          <a:xfrm>
            <a:off x="1053405" y="733856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7" name="Picture 36" descr="svg-3-2.png"/>
          <p:cNvPicPr>
            <a:picLocks noChangeAspect="1"/>
          </p:cNvPicPr>
          <p:nvPr/>
        </p:nvPicPr>
        <p:blipFill>
          <a:blip r:embed="rId4"/>
          <a:stretch>
            <a:fillRect/>
          </a:stretch>
        </p:blipFill>
        <p:spPr>
          <a:xfrm>
            <a:off x="1143298" y="7428458"/>
            <a:ext cx="179933" cy="179933"/>
          </a:xfrm>
          <a:prstGeom prst="rect">
            <a:avLst/>
          </a:prstGeom>
        </p:spPr>
      </p:pic>
      <p:sp>
        <p:nvSpPr>
          <p:cNvPr id="38" name="TextBox 37"/>
          <p:cNvSpPr txBox="1"/>
          <p:nvPr/>
        </p:nvSpPr>
        <p:spPr>
          <a:xfrm>
            <a:off x="1557189" y="7417445"/>
            <a:ext cx="414882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De examencommissie borgt de kwaliteit</a:t>
            </a:r>
          </a:p>
        </p:txBody>
      </p:sp>
      <p:sp>
        <p:nvSpPr>
          <p:cNvPr id="39" name="TextBox 38"/>
          <p:cNvSpPr txBox="1"/>
          <p:nvPr/>
        </p:nvSpPr>
        <p:spPr>
          <a:xfrm>
            <a:off x="1053405" y="7825383"/>
            <a:ext cx="269798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onderbouwing direct in te zien.</a:t>
            </a:r>
          </a:p>
        </p:txBody>
      </p:sp>
      <p:sp>
        <p:nvSpPr>
          <p:cNvPr id="40" name="Rectangle 39"/>
          <p:cNvSpPr/>
          <p:nvPr/>
        </p:nvSpPr>
        <p:spPr>
          <a:xfrm>
            <a:off x="719882" y="8709273"/>
            <a:ext cx="19050" cy="649635"/>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TextBox 40"/>
          <p:cNvSpPr txBox="1"/>
          <p:nvPr/>
        </p:nvSpPr>
        <p:spPr>
          <a:xfrm>
            <a:off x="918865" y="8728323"/>
            <a:ext cx="5753695" cy="604540"/>
          </a:xfrm>
          <a:prstGeom prst="rect">
            <a:avLst/>
          </a:prstGeom>
          <a:noFill/>
        </p:spPr>
        <p:txBody>
          <a:bodyPr wrap="square" anchor="t" lIns="0" rIns="0" tIns="0" bIns="0">
            <a:noAutofit/>
          </a:bodyPr>
          <a:lstStyle/>
          <a:p>
            <a:pPr algn="l">
              <a:lnSpc>
                <a:spcPts val="1704"/>
              </a:lnSpc>
            </a:pPr>
            <a:r>
              <a:rPr sz="1100" b="0">
                <a:solidFill>
                  <a:srgbClr val="FFFFFF"/>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
        <p:nvSpPr>
          <p:cNvPr id="42" name="Rounded Rectangle 41"/>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3" name="Picture 42" descr="academica.png"/>
          <p:cNvPicPr>
            <a:picLocks noChangeAspect="1"/>
          </p:cNvPicPr>
          <p:nvPr/>
        </p:nvPicPr>
        <p:blipFill>
          <a:blip r:embed="rId5"/>
          <a:stretch>
            <a:fillRect/>
          </a:stretch>
        </p:blipFill>
        <p:spPr>
          <a:xfrm>
            <a:off x="742950" y="10182225"/>
            <a:ext cx="784860" cy="152400"/>
          </a:xfrm>
          <a:prstGeom prst="rect">
            <a:avLst/>
          </a:prstGeom>
        </p:spPr>
      </p:pic>
      <p:sp>
        <p:nvSpPr>
          <p:cNvPr id="44" name="TextBox 43"/>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050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05</a:t>
            </a:r>
          </a:p>
        </p:txBody>
      </p:sp>
      <p:sp>
        <p:nvSpPr>
          <p:cNvPr id="3" name="TextBox 2"/>
          <p:cNvSpPr txBox="1"/>
          <p:nvPr/>
        </p:nvSpPr>
        <p:spPr>
          <a:xfrm>
            <a:off x="723900" y="819299"/>
            <a:ext cx="1860042"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Koersplan</a:t>
            </a:r>
          </a:p>
        </p:txBody>
      </p:sp>
      <p:sp>
        <p:nvSpPr>
          <p:cNvPr id="4" name="TextBox 3"/>
          <p:cNvSpPr txBox="1"/>
          <p:nvPr/>
        </p:nvSpPr>
        <p:spPr>
          <a:xfrm>
            <a:off x="723900" y="1814215"/>
            <a:ext cx="5916216" cy="662880"/>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5" name="Rounded Rectangle 4"/>
          <p:cNvSpPr/>
          <p:nvPr/>
        </p:nvSpPr>
        <p:spPr>
          <a:xfrm>
            <a:off x="719882" y="2863602"/>
            <a:ext cx="6120110" cy="3712815"/>
          </a:xfrm>
          <a:prstGeom prst="roundRect">
            <a:avLst>
              <a:gd name="adj" fmla="val 5817"/>
            </a:avLst>
          </a:prstGeom>
          <a:solidFill>
            <a:srgbClr val="DDE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3187601"/>
            <a:ext cx="1837372"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KOERSPLAN ACADEMICA</a:t>
            </a:r>
          </a:p>
        </p:txBody>
      </p:sp>
      <p:sp>
        <p:nvSpPr>
          <p:cNvPr id="7" name="TextBox 6"/>
          <p:cNvSpPr txBox="1"/>
          <p:nvPr/>
        </p:nvSpPr>
        <p:spPr>
          <a:xfrm>
            <a:off x="1043880" y="3430935"/>
            <a:ext cx="108327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Efficiëntie</a:t>
            </a:r>
          </a:p>
        </p:txBody>
      </p:sp>
      <p:sp>
        <p:nvSpPr>
          <p:cNvPr id="8" name="Rounded Rectangle 7"/>
          <p:cNvSpPr/>
          <p:nvPr/>
        </p:nvSpPr>
        <p:spPr>
          <a:xfrm>
            <a:off x="1043880" y="38053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Rounded Rectangle 8"/>
          <p:cNvSpPr/>
          <p:nvPr/>
        </p:nvSpPr>
        <p:spPr>
          <a:xfrm>
            <a:off x="1223814" y="398532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0" name="Picture 9" descr="svg-4-0.png"/>
          <p:cNvPicPr>
            <a:picLocks noChangeAspect="1"/>
          </p:cNvPicPr>
          <p:nvPr/>
        </p:nvPicPr>
        <p:blipFill>
          <a:blip r:embed="rId2"/>
          <a:stretch>
            <a:fillRect/>
          </a:stretch>
        </p:blipFill>
        <p:spPr>
          <a:xfrm>
            <a:off x="1313706" y="4075212"/>
            <a:ext cx="179933" cy="179933"/>
          </a:xfrm>
          <a:prstGeom prst="rect">
            <a:avLst/>
          </a:prstGeom>
        </p:spPr>
      </p:pic>
      <p:sp>
        <p:nvSpPr>
          <p:cNvPr id="11" name="TextBox 10"/>
          <p:cNvSpPr txBox="1"/>
          <p:nvPr/>
        </p:nvSpPr>
        <p:spPr>
          <a:xfrm>
            <a:off x="1727597" y="4064347"/>
            <a:ext cx="1734693"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Een stevig kernteam</a:t>
            </a:r>
          </a:p>
        </p:txBody>
      </p:sp>
      <p:sp>
        <p:nvSpPr>
          <p:cNvPr id="12" name="Rounded Rectangle 11"/>
          <p:cNvSpPr/>
          <p:nvPr/>
        </p:nvSpPr>
        <p:spPr>
          <a:xfrm>
            <a:off x="1043880" y="466903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1223814" y="484896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4-1.png"/>
          <p:cNvPicPr>
            <a:picLocks noChangeAspect="1"/>
          </p:cNvPicPr>
          <p:nvPr/>
        </p:nvPicPr>
        <p:blipFill>
          <a:blip r:embed="rId3"/>
          <a:stretch>
            <a:fillRect/>
          </a:stretch>
        </p:blipFill>
        <p:spPr>
          <a:xfrm>
            <a:off x="1313706" y="4938861"/>
            <a:ext cx="179933" cy="179933"/>
          </a:xfrm>
          <a:prstGeom prst="rect">
            <a:avLst/>
          </a:prstGeom>
        </p:spPr>
      </p:pic>
      <p:sp>
        <p:nvSpPr>
          <p:cNvPr id="15" name="TextBox 14"/>
          <p:cNvSpPr txBox="1"/>
          <p:nvPr/>
        </p:nvSpPr>
        <p:spPr>
          <a:xfrm>
            <a:off x="1727597" y="4927997"/>
            <a:ext cx="1505831"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Betere processen</a:t>
            </a:r>
          </a:p>
        </p:txBody>
      </p:sp>
      <p:sp>
        <p:nvSpPr>
          <p:cNvPr id="16" name="Rounded Rectangle 15"/>
          <p:cNvSpPr/>
          <p:nvPr/>
        </p:nvSpPr>
        <p:spPr>
          <a:xfrm>
            <a:off x="1043880" y="55326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223814" y="571261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4-2.png"/>
          <p:cNvPicPr>
            <a:picLocks noChangeAspect="1"/>
          </p:cNvPicPr>
          <p:nvPr/>
        </p:nvPicPr>
        <p:blipFill>
          <a:blip r:embed="rId4"/>
          <a:stretch>
            <a:fillRect/>
          </a:stretch>
        </p:blipFill>
        <p:spPr>
          <a:xfrm>
            <a:off x="1313706" y="5802511"/>
            <a:ext cx="179933" cy="179933"/>
          </a:xfrm>
          <a:prstGeom prst="rect">
            <a:avLst/>
          </a:prstGeom>
        </p:spPr>
      </p:pic>
      <p:sp>
        <p:nvSpPr>
          <p:cNvPr id="19" name="TextBox 18"/>
          <p:cNvSpPr txBox="1"/>
          <p:nvPr/>
        </p:nvSpPr>
        <p:spPr>
          <a:xfrm>
            <a:off x="1727597" y="5791646"/>
            <a:ext cx="1215962"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Datagedreven</a:t>
            </a:r>
          </a:p>
        </p:txBody>
      </p:sp>
      <p:pic>
        <p:nvPicPr>
          <p:cNvPr id="20" name="Picture 19" descr="academica.png"/>
          <p:cNvPicPr>
            <a:picLocks noChangeAspect="1"/>
          </p:cNvPicPr>
          <p:nvPr/>
        </p:nvPicPr>
        <p:blipFill>
          <a:blip r:embed="rId5"/>
          <a:stretch>
            <a:fillRect/>
          </a:stretch>
        </p:blipFill>
        <p:spPr>
          <a:xfrm>
            <a:off x="742950" y="10182225"/>
            <a:ext cx="784860" cy="152400"/>
          </a:xfrm>
          <a:prstGeom prst="rect">
            <a:avLst/>
          </a:prstGeom>
        </p:spPr>
      </p:pic>
      <p:sp>
        <p:nvSpPr>
          <p:cNvPr id="21" name="TextBox 20"/>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40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06</a:t>
            </a:r>
          </a:p>
        </p:txBody>
      </p:sp>
      <p:sp>
        <p:nvSpPr>
          <p:cNvPr id="4" name="TextBox 3"/>
          <p:cNvSpPr txBox="1"/>
          <p:nvPr/>
        </p:nvSpPr>
        <p:spPr>
          <a:xfrm>
            <a:off x="723900" y="819299"/>
            <a:ext cx="1411486"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Privacy</a:t>
            </a:r>
          </a:p>
        </p:txBody>
      </p:sp>
      <p:sp>
        <p:nvSpPr>
          <p:cNvPr id="5" name="Rounded Rectangle 4"/>
          <p:cNvSpPr/>
          <p:nvPr/>
        </p:nvSpPr>
        <p:spPr>
          <a:xfrm>
            <a:off x="719882" y="1795165"/>
            <a:ext cx="6120110" cy="1166217"/>
          </a:xfrm>
          <a:prstGeom prst="roundRect">
            <a:avLst>
              <a:gd name="adj" fmla="val 18521"/>
            </a:avLst>
          </a:prstGeom>
          <a:solidFill>
            <a:srgbClr val="E6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9834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5-0.png"/>
          <p:cNvPicPr>
            <a:picLocks noChangeAspect="1"/>
          </p:cNvPicPr>
          <p:nvPr/>
        </p:nvPicPr>
        <p:blipFill>
          <a:blip r:embed="rId2"/>
          <a:stretch>
            <a:fillRect/>
          </a:stretch>
        </p:blipFill>
        <p:spPr>
          <a:xfrm>
            <a:off x="1133773" y="2288232"/>
            <a:ext cx="179933" cy="179933"/>
          </a:xfrm>
          <a:prstGeom prst="rect">
            <a:avLst/>
          </a:prstGeom>
        </p:spPr>
      </p:pic>
      <p:sp>
        <p:nvSpPr>
          <p:cNvPr id="8" name="TextBox 7"/>
          <p:cNvSpPr txBox="1"/>
          <p:nvPr/>
        </p:nvSpPr>
        <p:spPr>
          <a:xfrm>
            <a:off x="1547664" y="2147739"/>
            <a:ext cx="4792563" cy="45913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Academica blijft eigenaar van al het studentenwerk en alle data.</a:t>
            </a:r>
          </a:p>
        </p:txBody>
      </p:sp>
      <p:sp>
        <p:nvSpPr>
          <p:cNvPr id="9" name="Rounded Rectangle 8"/>
          <p:cNvSpPr/>
          <p:nvPr/>
        </p:nvSpPr>
        <p:spPr>
          <a:xfrm>
            <a:off x="719882" y="3177332"/>
            <a:ext cx="6120110" cy="2138065"/>
          </a:xfrm>
          <a:prstGeom prst="roundRect">
            <a:avLst>
              <a:gd name="adj" fmla="val 10102"/>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Rounded Rectangle 9"/>
          <p:cNvSpPr/>
          <p:nvPr/>
        </p:nvSpPr>
        <p:spPr>
          <a:xfrm>
            <a:off x="1053405" y="351085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1" name="Picture 10" descr="svg-5-1.png"/>
          <p:cNvPicPr>
            <a:picLocks noChangeAspect="1"/>
          </p:cNvPicPr>
          <p:nvPr/>
        </p:nvPicPr>
        <p:blipFill>
          <a:blip r:embed="rId3"/>
          <a:stretch>
            <a:fillRect/>
          </a:stretch>
        </p:blipFill>
        <p:spPr>
          <a:xfrm>
            <a:off x="1143298" y="3600748"/>
            <a:ext cx="179933" cy="179933"/>
          </a:xfrm>
          <a:prstGeom prst="rect">
            <a:avLst/>
          </a:prstGeom>
        </p:spPr>
      </p:pic>
      <p:sp>
        <p:nvSpPr>
          <p:cNvPr id="12" name="TextBox 11"/>
          <p:cNvSpPr txBox="1"/>
          <p:nvPr/>
        </p:nvSpPr>
        <p:spPr>
          <a:xfrm>
            <a:off x="1557189" y="3589734"/>
            <a:ext cx="22044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Gebruik van de data</a:t>
            </a:r>
          </a:p>
        </p:txBody>
      </p:sp>
      <p:pic>
        <p:nvPicPr>
          <p:cNvPr id="13" name="Picture 12" descr="svg-5-2.png"/>
          <p:cNvPicPr>
            <a:picLocks noChangeAspect="1"/>
          </p:cNvPicPr>
          <p:nvPr/>
        </p:nvPicPr>
        <p:blipFill>
          <a:blip r:embed="rId4"/>
          <a:stretch>
            <a:fillRect/>
          </a:stretch>
        </p:blipFill>
        <p:spPr>
          <a:xfrm>
            <a:off x="1053405" y="4118818"/>
            <a:ext cx="179933" cy="179933"/>
          </a:xfrm>
          <a:prstGeom prst="rect">
            <a:avLst/>
          </a:prstGeom>
        </p:spPr>
      </p:pic>
      <p:sp>
        <p:nvSpPr>
          <p:cNvPr id="14" name="TextBox 13"/>
          <p:cNvSpPr txBox="1"/>
          <p:nvPr/>
        </p:nvSpPr>
        <p:spPr>
          <a:xfrm>
            <a:off x="1359247" y="4114056"/>
            <a:ext cx="4713732"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Studentenwerk wordt nooit gebruikt om AI-modellen te trainen.</a:t>
            </a:r>
          </a:p>
        </p:txBody>
      </p:sp>
      <p:pic>
        <p:nvPicPr>
          <p:cNvPr id="15" name="Picture 14" descr="svg-5-3.png"/>
          <p:cNvPicPr>
            <a:picLocks noChangeAspect="1"/>
          </p:cNvPicPr>
          <p:nvPr/>
        </p:nvPicPr>
        <p:blipFill>
          <a:blip r:embed="rId5"/>
          <a:stretch>
            <a:fillRect/>
          </a:stretch>
        </p:blipFill>
        <p:spPr>
          <a:xfrm>
            <a:off x="1053405" y="4501158"/>
            <a:ext cx="179933" cy="179933"/>
          </a:xfrm>
          <a:prstGeom prst="rect">
            <a:avLst/>
          </a:prstGeom>
        </p:spPr>
      </p:pic>
      <p:sp>
        <p:nvSpPr>
          <p:cNvPr id="16" name="TextBox 15"/>
          <p:cNvSpPr txBox="1"/>
          <p:nvPr/>
        </p:nvSpPr>
        <p:spPr>
          <a:xfrm>
            <a:off x="1359247" y="4496395"/>
            <a:ext cx="4700290" cy="374005"/>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Verwerking alleen voor het afgesproken onderwijsdoel, in opdracht van Academica.</a:t>
            </a:r>
          </a:p>
        </p:txBody>
      </p:sp>
      <p:sp>
        <p:nvSpPr>
          <p:cNvPr id="17" name="Rounded Rectangle 16"/>
          <p:cNvSpPr/>
          <p:nvPr/>
        </p:nvSpPr>
        <p:spPr>
          <a:xfrm>
            <a:off x="719882" y="5531346"/>
            <a:ext cx="6120110" cy="1935510"/>
          </a:xfrm>
          <a:prstGeom prst="roundRect">
            <a:avLst>
              <a:gd name="adj" fmla="val 11159"/>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Rounded Rectangle 17"/>
          <p:cNvSpPr/>
          <p:nvPr/>
        </p:nvSpPr>
        <p:spPr>
          <a:xfrm>
            <a:off x="1053405" y="5864870"/>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9" name="Picture 18" descr="svg-5-4.png"/>
          <p:cNvPicPr>
            <a:picLocks noChangeAspect="1"/>
          </p:cNvPicPr>
          <p:nvPr/>
        </p:nvPicPr>
        <p:blipFill>
          <a:blip r:embed="rId6"/>
          <a:stretch>
            <a:fillRect/>
          </a:stretch>
        </p:blipFill>
        <p:spPr>
          <a:xfrm>
            <a:off x="1143298" y="5954762"/>
            <a:ext cx="179933" cy="179933"/>
          </a:xfrm>
          <a:prstGeom prst="rect">
            <a:avLst/>
          </a:prstGeom>
        </p:spPr>
      </p:pic>
      <p:sp>
        <p:nvSpPr>
          <p:cNvPr id="20" name="TextBox 19"/>
          <p:cNvSpPr txBox="1"/>
          <p:nvPr/>
        </p:nvSpPr>
        <p:spPr>
          <a:xfrm>
            <a:off x="1557189" y="5943749"/>
            <a:ext cx="2089904"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Waar de data staat</a:t>
            </a:r>
          </a:p>
        </p:txBody>
      </p:sp>
      <p:pic>
        <p:nvPicPr>
          <p:cNvPr id="21" name="Picture 20" descr="svg-5-3.png"/>
          <p:cNvPicPr>
            <a:picLocks noChangeAspect="1"/>
          </p:cNvPicPr>
          <p:nvPr/>
        </p:nvPicPr>
        <p:blipFill>
          <a:blip r:embed="rId5"/>
          <a:stretch>
            <a:fillRect/>
          </a:stretch>
        </p:blipFill>
        <p:spPr>
          <a:xfrm>
            <a:off x="1053405" y="6472833"/>
            <a:ext cx="179933" cy="179933"/>
          </a:xfrm>
          <a:prstGeom prst="rect">
            <a:avLst/>
          </a:prstGeom>
        </p:spPr>
      </p:pic>
      <p:sp>
        <p:nvSpPr>
          <p:cNvPr id="22" name="TextBox 21"/>
          <p:cNvSpPr txBox="1"/>
          <p:nvPr/>
        </p:nvSpPr>
        <p:spPr>
          <a:xfrm>
            <a:off x="1359247" y="6468070"/>
            <a:ext cx="4346519"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Data alleen in de EU, ook bij Microsoft, Google en Railway.</a:t>
            </a:r>
          </a:p>
        </p:txBody>
      </p:sp>
      <p:pic>
        <p:nvPicPr>
          <p:cNvPr id="23" name="Picture 22" descr="svg-5-3.png"/>
          <p:cNvPicPr>
            <a:picLocks noChangeAspect="1"/>
          </p:cNvPicPr>
          <p:nvPr/>
        </p:nvPicPr>
        <p:blipFill>
          <a:blip r:embed="rId5"/>
          <a:stretch>
            <a:fillRect/>
          </a:stretch>
        </p:blipFill>
        <p:spPr>
          <a:xfrm>
            <a:off x="1053405" y="6855172"/>
            <a:ext cx="179933" cy="179933"/>
          </a:xfrm>
          <a:prstGeom prst="rect">
            <a:avLst/>
          </a:prstGeom>
        </p:spPr>
      </p:pic>
      <p:sp>
        <p:nvSpPr>
          <p:cNvPr id="24" name="TextBox 23"/>
          <p:cNvSpPr txBox="1"/>
          <p:nvPr/>
        </p:nvSpPr>
        <p:spPr>
          <a:xfrm>
            <a:off x="1359247" y="6850410"/>
            <a:ext cx="411682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Eigen model, geen koppeling met een extern AI-model.</a:t>
            </a:r>
          </a:p>
        </p:txBody>
      </p:sp>
      <p:sp>
        <p:nvSpPr>
          <p:cNvPr id="25" name="Rounded Rectangle 24"/>
          <p:cNvSpPr/>
          <p:nvPr/>
        </p:nvSpPr>
        <p:spPr>
          <a:xfrm>
            <a:off x="719882" y="7682805"/>
            <a:ext cx="6120110" cy="2317849"/>
          </a:xfrm>
          <a:prstGeom prst="roundRect">
            <a:avLst>
              <a:gd name="adj" fmla="val 9318"/>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16329"/>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06221"/>
            <a:ext cx="179933" cy="179933"/>
          </a:xfrm>
          <a:prstGeom prst="rect">
            <a:avLst/>
          </a:prstGeom>
        </p:spPr>
      </p:pic>
      <p:sp>
        <p:nvSpPr>
          <p:cNvPr id="28" name="TextBox 27"/>
          <p:cNvSpPr txBox="1"/>
          <p:nvPr/>
        </p:nvSpPr>
        <p:spPr>
          <a:xfrm>
            <a:off x="1557189" y="8095208"/>
            <a:ext cx="136498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Wet en regie</a:t>
            </a:r>
          </a:p>
        </p:txBody>
      </p:sp>
      <p:pic>
        <p:nvPicPr>
          <p:cNvPr id="29" name="Picture 28" descr="svg-5-8.png"/>
          <p:cNvPicPr>
            <a:picLocks noChangeAspect="1"/>
          </p:cNvPicPr>
          <p:nvPr/>
        </p:nvPicPr>
        <p:blipFill>
          <a:blip r:embed="rId8"/>
          <a:stretch>
            <a:fillRect/>
          </a:stretch>
        </p:blipFill>
        <p:spPr>
          <a:xfrm>
            <a:off x="1053405" y="8624292"/>
            <a:ext cx="179933" cy="179933"/>
          </a:xfrm>
          <a:prstGeom prst="rect">
            <a:avLst/>
          </a:prstGeom>
        </p:spPr>
      </p:pic>
      <p:sp>
        <p:nvSpPr>
          <p:cNvPr id="30" name="TextBox 29"/>
          <p:cNvSpPr txBox="1"/>
          <p:nvPr/>
        </p:nvSpPr>
        <p:spPr>
          <a:xfrm>
            <a:off x="1359247" y="8619530"/>
            <a:ext cx="499443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AVG: verwerkersovereenkomst, een datalek binnen 48 uur gemeld.</a:t>
            </a:r>
          </a:p>
        </p:txBody>
      </p:sp>
      <p:pic>
        <p:nvPicPr>
          <p:cNvPr id="31" name="Picture 30" descr="svg-5-9.png"/>
          <p:cNvPicPr>
            <a:picLocks noChangeAspect="1"/>
          </p:cNvPicPr>
          <p:nvPr/>
        </p:nvPicPr>
        <p:blipFill>
          <a:blip r:embed="rId9"/>
          <a:stretch>
            <a:fillRect/>
          </a:stretch>
        </p:blipFill>
        <p:spPr>
          <a:xfrm>
            <a:off x="1053405" y="9006632"/>
            <a:ext cx="179933" cy="179933"/>
          </a:xfrm>
          <a:prstGeom prst="rect">
            <a:avLst/>
          </a:prstGeom>
        </p:spPr>
      </p:pic>
      <p:sp>
        <p:nvSpPr>
          <p:cNvPr id="32" name="TextBox 31"/>
          <p:cNvSpPr txBox="1"/>
          <p:nvPr/>
        </p:nvSpPr>
        <p:spPr>
          <a:xfrm>
            <a:off x="1359247" y="9001869"/>
            <a:ext cx="3896963"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AI Act: audit trail voor elke summatieve beoordeling.</a:t>
            </a:r>
          </a:p>
        </p:txBody>
      </p:sp>
      <p:pic>
        <p:nvPicPr>
          <p:cNvPr id="33" name="Picture 32" descr="svg-5-3.png"/>
          <p:cNvPicPr>
            <a:picLocks noChangeAspect="1"/>
          </p:cNvPicPr>
          <p:nvPr/>
        </p:nvPicPr>
        <p:blipFill>
          <a:blip r:embed="rId5"/>
          <a:stretch>
            <a:fillRect/>
          </a:stretch>
        </p:blipFill>
        <p:spPr>
          <a:xfrm>
            <a:off x="1053405" y="9388971"/>
            <a:ext cx="179933" cy="179933"/>
          </a:xfrm>
          <a:prstGeom prst="rect">
            <a:avLst/>
          </a:prstGeom>
        </p:spPr>
      </p:pic>
      <p:sp>
        <p:nvSpPr>
          <p:cNvPr id="34" name="TextBox 33"/>
          <p:cNvSpPr txBox="1"/>
          <p:nvPr/>
        </p:nvSpPr>
        <p:spPr>
          <a:xfrm>
            <a:off x="1359247" y="9384209"/>
            <a:ext cx="2617970"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De docent beslist, de AI assisteert.</a:t>
            </a:r>
          </a:p>
        </p:txBody>
      </p:sp>
      <p:sp>
        <p:nvSpPr>
          <p:cNvPr id="35" name="Rounded Rectangle 34"/>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academica.png"/>
          <p:cNvPicPr>
            <a:picLocks noChangeAspect="1"/>
          </p:cNvPicPr>
          <p:nvPr/>
        </p:nvPicPr>
        <p:blipFill>
          <a:blip r:embed="rId10"/>
          <a:stretch>
            <a:fillRect/>
          </a:stretch>
        </p:blipFill>
        <p:spPr>
          <a:xfrm>
            <a:off x="742950" y="10182225"/>
            <a:ext cx="784860" cy="152400"/>
          </a:xfrm>
          <a:prstGeom prst="rect">
            <a:avLst/>
          </a:prstGeom>
        </p:spPr>
      </p:pic>
      <p:sp>
        <p:nvSpPr>
          <p:cNvPr id="37" name="TextBox 36"/>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