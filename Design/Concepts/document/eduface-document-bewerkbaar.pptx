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850" cy="1069657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16337"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01</a:t>
            </a:r>
          </a:p>
        </p:txBody>
      </p:sp>
      <p:sp>
        <p:nvSpPr>
          <p:cNvPr id="3" name="TextBox 2"/>
          <p:cNvSpPr txBox="1"/>
          <p:nvPr/>
        </p:nvSpPr>
        <p:spPr>
          <a:xfrm>
            <a:off x="723900" y="819299"/>
            <a:ext cx="1545669"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Voorstel</a:t>
            </a:r>
          </a:p>
        </p:txBody>
      </p:sp>
      <p:sp>
        <p:nvSpPr>
          <p:cNvPr id="4" name="TextBox 3"/>
          <p:cNvSpPr txBox="1"/>
          <p:nvPr/>
        </p:nvSpPr>
        <p:spPr>
          <a:xfrm>
            <a:off x="723900" y="1814215"/>
            <a:ext cx="6087814" cy="1135261"/>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Eduface is een onderwijskundig AI-model, ontwikkeld met hulp van de Universiteit Leiden en de Radboud Universiteit, dat formatieve en summatieve feedback geeft op studentopdrachten. Docenten besteden daardoor minder tijd aan het formuleren van feedback, elke student krijgt formatieve feedback, en een groeiend aantal studenten vraagt niet om evenredig meer nakijkers.</a:t>
            </a:r>
          </a:p>
        </p:txBody>
      </p:sp>
      <p:sp>
        <p:nvSpPr>
          <p:cNvPr id="5" name="Rectangle 4"/>
          <p:cNvSpPr/>
          <p:nvPr/>
        </p:nvSpPr>
        <p:spPr>
          <a:xfrm>
            <a:off x="719882" y="3264098"/>
            <a:ext cx="28575" cy="26982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928390" y="3292673"/>
            <a:ext cx="5910560" cy="200025"/>
          </a:xfrm>
          <a:prstGeom prst="rect">
            <a:avLst/>
          </a:prstGeom>
          <a:noFill/>
        </p:spPr>
        <p:txBody>
          <a:bodyPr wrap="square" anchor="t" lIns="0" rIns="0" tIns="0" bIns="0">
            <a:noAutofit/>
          </a:bodyPr>
          <a:lstStyle/>
          <a:p>
            <a:pPr algn="l">
              <a:lnSpc>
                <a:spcPts val="2124"/>
              </a:lnSpc>
            </a:pPr>
            <a:r>
              <a:rPr sz="1700" b="1">
                <a:solidFill>
                  <a:srgbClr val="000326"/>
                </a:solidFill>
                <a:latin typeface="League Spartan"/>
              </a:rPr>
              <a:t>Dat is een concrete invulling van het koerspunt efficiëntie.</a:t>
            </a:r>
          </a:p>
        </p:txBody>
      </p:sp>
      <p:sp>
        <p:nvSpPr>
          <p:cNvPr id="7" name="Rounded Rectangle 6"/>
          <p:cNvSpPr/>
          <p:nvPr/>
        </p:nvSpPr>
        <p:spPr>
          <a:xfrm>
            <a:off x="719882" y="3893790"/>
            <a:ext cx="2952006" cy="2296567"/>
          </a:xfrm>
          <a:prstGeom prst="roundRect">
            <a:avLst>
              <a:gd name="adj" fmla="val 9405"/>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TextBox 7"/>
          <p:cNvSpPr txBox="1"/>
          <p:nvPr/>
        </p:nvSpPr>
        <p:spPr>
          <a:xfrm>
            <a:off x="1053405" y="4227314"/>
            <a:ext cx="269176"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NU</a:t>
            </a:r>
          </a:p>
        </p:txBody>
      </p:sp>
      <p:sp>
        <p:nvSpPr>
          <p:cNvPr id="9" name="TextBox 8"/>
          <p:cNvSpPr txBox="1"/>
          <p:nvPr/>
        </p:nvSpPr>
        <p:spPr>
          <a:xfrm>
            <a:off x="1053405" y="4487614"/>
            <a:ext cx="2107740"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€ 37.000</a:t>
            </a:r>
          </a:p>
        </p:txBody>
      </p:sp>
      <p:sp>
        <p:nvSpPr>
          <p:cNvPr id="10" name="TextBox 9"/>
          <p:cNvSpPr txBox="1"/>
          <p:nvPr/>
        </p:nvSpPr>
        <p:spPr>
          <a:xfrm>
            <a:off x="1053405" y="5062240"/>
            <a:ext cx="175669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de helft</a:t>
            </a:r>
          </a:p>
        </p:txBody>
      </p:sp>
      <p:sp>
        <p:nvSpPr>
          <p:cNvPr id="11" name="Oval 10"/>
          <p:cNvSpPr/>
          <p:nvPr/>
        </p:nvSpPr>
        <p:spPr>
          <a:xfrm>
            <a:off x="1053405"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1290638"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527870"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1765102"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002334"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2239566"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Oval 16"/>
          <p:cNvSpPr/>
          <p:nvPr/>
        </p:nvSpPr>
        <p:spPr>
          <a:xfrm>
            <a:off x="2476798"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Oval 17"/>
          <p:cNvSpPr/>
          <p:nvPr/>
        </p:nvSpPr>
        <p:spPr>
          <a:xfrm>
            <a:off x="2714030"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Oval 18"/>
          <p:cNvSpPr/>
          <p:nvPr/>
        </p:nvSpPr>
        <p:spPr>
          <a:xfrm>
            <a:off x="2951262"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Oval 19"/>
          <p:cNvSpPr/>
          <p:nvPr/>
        </p:nvSpPr>
        <p:spPr>
          <a:xfrm>
            <a:off x="3188494"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Oval 20"/>
          <p:cNvSpPr/>
          <p:nvPr/>
        </p:nvSpPr>
        <p:spPr>
          <a:xfrm>
            <a:off x="1053405"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1290638"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1527870"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1765102"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2002334"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2239566"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Oval 26"/>
          <p:cNvSpPr/>
          <p:nvPr/>
        </p:nvSpPr>
        <p:spPr>
          <a:xfrm>
            <a:off x="2476798"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8" name="Oval 27"/>
          <p:cNvSpPr/>
          <p:nvPr/>
        </p:nvSpPr>
        <p:spPr>
          <a:xfrm>
            <a:off x="2714030"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Oval 28"/>
          <p:cNvSpPr/>
          <p:nvPr/>
        </p:nvSpPr>
        <p:spPr>
          <a:xfrm>
            <a:off x="2951262"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Oval 29"/>
          <p:cNvSpPr/>
          <p:nvPr/>
        </p:nvSpPr>
        <p:spPr>
          <a:xfrm>
            <a:off x="3188494"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1" name="Rounded Rectangle 30"/>
          <p:cNvSpPr/>
          <p:nvPr/>
        </p:nvSpPr>
        <p:spPr>
          <a:xfrm>
            <a:off x="3887837" y="3893790"/>
            <a:ext cx="2952155" cy="2296567"/>
          </a:xfrm>
          <a:prstGeom prst="roundRect">
            <a:avLst>
              <a:gd name="adj" fmla="val 9405"/>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2" name="TextBox 31"/>
          <p:cNvSpPr txBox="1"/>
          <p:nvPr/>
        </p:nvSpPr>
        <p:spPr>
          <a:xfrm>
            <a:off x="4211836" y="4217789"/>
            <a:ext cx="1069943"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MET EDUFACE</a:t>
            </a:r>
          </a:p>
        </p:txBody>
      </p:sp>
      <p:sp>
        <p:nvSpPr>
          <p:cNvPr id="33" name="TextBox 32"/>
          <p:cNvSpPr txBox="1"/>
          <p:nvPr/>
        </p:nvSpPr>
        <p:spPr>
          <a:xfrm>
            <a:off x="4211836" y="4478089"/>
            <a:ext cx="20088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€ 18.000</a:t>
            </a:r>
          </a:p>
        </p:txBody>
      </p:sp>
      <p:sp>
        <p:nvSpPr>
          <p:cNvPr id="34" name="TextBox 33"/>
          <p:cNvSpPr txBox="1"/>
          <p:nvPr/>
        </p:nvSpPr>
        <p:spPr>
          <a:xfrm>
            <a:off x="4211836" y="5052715"/>
            <a:ext cx="2103739"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elke student</a:t>
            </a:r>
          </a:p>
        </p:txBody>
      </p:sp>
      <p:sp>
        <p:nvSpPr>
          <p:cNvPr id="35" name="Oval 34"/>
          <p:cNvSpPr/>
          <p:nvPr/>
        </p:nvSpPr>
        <p:spPr>
          <a:xfrm>
            <a:off x="4211836"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Oval 35"/>
          <p:cNvSpPr/>
          <p:nvPr/>
        </p:nvSpPr>
        <p:spPr>
          <a:xfrm>
            <a:off x="4451003"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Oval 36"/>
          <p:cNvSpPr/>
          <p:nvPr/>
        </p:nvSpPr>
        <p:spPr>
          <a:xfrm>
            <a:off x="4690170"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8" name="Oval 37"/>
          <p:cNvSpPr/>
          <p:nvPr/>
        </p:nvSpPr>
        <p:spPr>
          <a:xfrm>
            <a:off x="4929336"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Oval 38"/>
          <p:cNvSpPr/>
          <p:nvPr/>
        </p:nvSpPr>
        <p:spPr>
          <a:xfrm>
            <a:off x="5168503"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Oval 39"/>
          <p:cNvSpPr/>
          <p:nvPr/>
        </p:nvSpPr>
        <p:spPr>
          <a:xfrm>
            <a:off x="5407670"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Oval 40"/>
          <p:cNvSpPr/>
          <p:nvPr/>
        </p:nvSpPr>
        <p:spPr>
          <a:xfrm>
            <a:off x="5646837"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2" name="Oval 41"/>
          <p:cNvSpPr/>
          <p:nvPr/>
        </p:nvSpPr>
        <p:spPr>
          <a:xfrm>
            <a:off x="5886004"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3" name="Oval 42"/>
          <p:cNvSpPr/>
          <p:nvPr/>
        </p:nvSpPr>
        <p:spPr>
          <a:xfrm>
            <a:off x="6125170"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4" name="Oval 43"/>
          <p:cNvSpPr/>
          <p:nvPr/>
        </p:nvSpPr>
        <p:spPr>
          <a:xfrm>
            <a:off x="6364337"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5" name="Oval 44"/>
          <p:cNvSpPr/>
          <p:nvPr/>
        </p:nvSpPr>
        <p:spPr>
          <a:xfrm>
            <a:off x="4211836"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6" name="Oval 45"/>
          <p:cNvSpPr/>
          <p:nvPr/>
        </p:nvSpPr>
        <p:spPr>
          <a:xfrm>
            <a:off x="4451003"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7" name="Oval 46"/>
          <p:cNvSpPr/>
          <p:nvPr/>
        </p:nvSpPr>
        <p:spPr>
          <a:xfrm>
            <a:off x="4690170"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8" name="Oval 47"/>
          <p:cNvSpPr/>
          <p:nvPr/>
        </p:nvSpPr>
        <p:spPr>
          <a:xfrm>
            <a:off x="4929336"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9" name="Oval 48"/>
          <p:cNvSpPr/>
          <p:nvPr/>
        </p:nvSpPr>
        <p:spPr>
          <a:xfrm>
            <a:off x="5168503"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0" name="Oval 49"/>
          <p:cNvSpPr/>
          <p:nvPr/>
        </p:nvSpPr>
        <p:spPr>
          <a:xfrm>
            <a:off x="5407670"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1" name="Oval 50"/>
          <p:cNvSpPr/>
          <p:nvPr/>
        </p:nvSpPr>
        <p:spPr>
          <a:xfrm>
            <a:off x="5646837"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2" name="Oval 51"/>
          <p:cNvSpPr/>
          <p:nvPr/>
        </p:nvSpPr>
        <p:spPr>
          <a:xfrm>
            <a:off x="5886004"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3" name="Oval 52"/>
          <p:cNvSpPr/>
          <p:nvPr/>
        </p:nvSpPr>
        <p:spPr>
          <a:xfrm>
            <a:off x="6125170"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4" name="Oval 53"/>
          <p:cNvSpPr/>
          <p:nvPr/>
        </p:nvSpPr>
        <p:spPr>
          <a:xfrm>
            <a:off x="6364337"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5" name="TextBox 54"/>
          <p:cNvSpPr txBox="1"/>
          <p:nvPr/>
        </p:nvSpPr>
        <p:spPr>
          <a:xfrm>
            <a:off x="723900" y="6298257"/>
            <a:ext cx="2055733"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stip is 5% van de studenten.</a:t>
            </a:r>
          </a:p>
        </p:txBody>
      </p:sp>
      <p:sp>
        <p:nvSpPr>
          <p:cNvPr id="56" name="Rounded Rectangle 55"/>
          <p:cNvSpPr/>
          <p:nvPr/>
        </p:nvSpPr>
        <p:spPr>
          <a:xfrm>
            <a:off x="719882" y="6674197"/>
            <a:ext cx="6120110" cy="1422648"/>
          </a:xfrm>
          <a:prstGeom prst="roundRect">
            <a:avLst>
              <a:gd name="adj" fmla="val 15182"/>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7" name="TextBox 56"/>
          <p:cNvSpPr txBox="1"/>
          <p:nvPr/>
        </p:nvSpPr>
        <p:spPr>
          <a:xfrm>
            <a:off x="1043880" y="7007721"/>
            <a:ext cx="3437573"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76% goedkoper</a:t>
            </a:r>
          </a:p>
        </p:txBody>
      </p:sp>
      <p:sp>
        <p:nvSpPr>
          <p:cNvPr id="58" name="TextBox 57"/>
          <p:cNvSpPr txBox="1"/>
          <p:nvPr/>
        </p:nvSpPr>
        <p:spPr>
          <a:xfrm>
            <a:off x="1043880" y="7582346"/>
            <a:ext cx="232076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die feedback krijgt</a:t>
            </a:r>
          </a:p>
        </p:txBody>
      </p:sp>
      <p:pic>
        <p:nvPicPr>
          <p:cNvPr id="59" name="Picture 58" descr="academica.png"/>
          <p:cNvPicPr>
            <a:picLocks noChangeAspect="1"/>
          </p:cNvPicPr>
          <p:nvPr/>
        </p:nvPicPr>
        <p:blipFill>
          <a:blip r:embed="rId2"/>
          <a:stretch>
            <a:fillRect/>
          </a:stretch>
        </p:blipFill>
        <p:spPr>
          <a:xfrm>
            <a:off x="742950" y="10182225"/>
            <a:ext cx="784860" cy="152400"/>
          </a:xfrm>
          <a:prstGeom prst="rect">
            <a:avLst/>
          </a:prstGeom>
        </p:spPr>
      </p:pic>
      <p:sp>
        <p:nvSpPr>
          <p:cNvPr id="60" name="TextBox 59"/>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2006"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02</a:t>
            </a:r>
          </a:p>
        </p:txBody>
      </p:sp>
      <p:sp>
        <p:nvSpPr>
          <p:cNvPr id="4" name="TextBox 3"/>
          <p:cNvSpPr txBox="1"/>
          <p:nvPr/>
        </p:nvSpPr>
        <p:spPr>
          <a:xfrm>
            <a:off x="723900" y="819299"/>
            <a:ext cx="1269468"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Kosten</a:t>
            </a:r>
          </a:p>
        </p:txBody>
      </p:sp>
      <p:sp>
        <p:nvSpPr>
          <p:cNvPr id="5" name="Rounded Rectangle 4"/>
          <p:cNvSpPr/>
          <p:nvPr/>
        </p:nvSpPr>
        <p:spPr>
          <a:xfrm>
            <a:off x="719882" y="1795165"/>
            <a:ext cx="6120110" cy="3347591"/>
          </a:xfrm>
          <a:prstGeom prst="roundRect">
            <a:avLst>
              <a:gd name="adj" fmla="val 6452"/>
            </a:avLst>
          </a:prstGeom>
          <a:solidFill>
            <a:srgbClr val="E4E0F5"/>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1043880" y="2128689"/>
            <a:ext cx="14774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€ 3,75</a:t>
            </a:r>
          </a:p>
        </p:txBody>
      </p:sp>
      <p:sp>
        <p:nvSpPr>
          <p:cNvPr id="7" name="TextBox 6"/>
          <p:cNvSpPr txBox="1"/>
          <p:nvPr/>
        </p:nvSpPr>
        <p:spPr>
          <a:xfrm>
            <a:off x="1043880" y="2703314"/>
            <a:ext cx="292884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per maand* · exclusief btw</a:t>
            </a:r>
          </a:p>
        </p:txBody>
      </p:sp>
      <p:sp>
        <p:nvSpPr>
          <p:cNvPr id="8" name="Rounded Rectangle 7"/>
          <p:cNvSpPr/>
          <p:nvPr/>
        </p:nvSpPr>
        <p:spPr>
          <a:xfrm>
            <a:off x="1043880" y="3109764"/>
            <a:ext cx="5472112" cy="1405086"/>
          </a:xfrm>
          <a:prstGeom prst="roundRect">
            <a:avLst>
              <a:gd name="adj" fmla="val 8967"/>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335238"/>
            <a:ext cx="3889796"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Hoe meer studenten, hoe lager de prijs per student</a:t>
            </a:r>
          </a:p>
        </p:txBody>
      </p:sp>
      <p:sp>
        <p:nvSpPr>
          <p:cNvPr id="10" name="TextBox 9"/>
          <p:cNvSpPr txBox="1"/>
          <p:nvPr/>
        </p:nvSpPr>
        <p:spPr>
          <a:xfrm>
            <a:off x="1259830" y="3528268"/>
            <a:ext cx="1730026"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Prijs per student per maand</a:t>
            </a:r>
          </a:p>
        </p:txBody>
      </p:sp>
      <p:sp>
        <p:nvSpPr>
          <p:cNvPr id="11" name="TextBox 10"/>
          <p:cNvSpPr txBox="1"/>
          <p:nvPr/>
        </p:nvSpPr>
        <p:spPr>
          <a:xfrm>
            <a:off x="1259830" y="3868192"/>
            <a:ext cx="1099947"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Tot en met 400</a:t>
            </a:r>
          </a:p>
        </p:txBody>
      </p:sp>
      <p:sp>
        <p:nvSpPr>
          <p:cNvPr id="12" name="Rounded Rectangle 11"/>
          <p:cNvSpPr/>
          <p:nvPr/>
        </p:nvSpPr>
        <p:spPr>
          <a:xfrm>
            <a:off x="2627709" y="389036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2627709" y="3890367"/>
            <a:ext cx="2808536"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TextBox 13"/>
          <p:cNvSpPr txBox="1"/>
          <p:nvPr/>
        </p:nvSpPr>
        <p:spPr>
          <a:xfrm>
            <a:off x="5813173" y="3868192"/>
            <a:ext cx="486870"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€ 3,75</a:t>
            </a:r>
          </a:p>
        </p:txBody>
      </p:sp>
      <p:sp>
        <p:nvSpPr>
          <p:cNvPr id="15" name="TextBox 14"/>
          <p:cNvSpPr txBox="1"/>
          <p:nvPr/>
        </p:nvSpPr>
        <p:spPr>
          <a:xfrm>
            <a:off x="1259830" y="4146500"/>
            <a:ext cx="1007102"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Meer dan 400</a:t>
            </a:r>
          </a:p>
        </p:txBody>
      </p:sp>
      <p:sp>
        <p:nvSpPr>
          <p:cNvPr id="16" name="Rounded Rectangle 15"/>
          <p:cNvSpPr/>
          <p:nvPr/>
        </p:nvSpPr>
        <p:spPr>
          <a:xfrm>
            <a:off x="2627709" y="416867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2627709" y="4168676"/>
            <a:ext cx="2246709"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TextBox 17"/>
          <p:cNvSpPr txBox="1"/>
          <p:nvPr/>
        </p:nvSpPr>
        <p:spPr>
          <a:xfrm>
            <a:off x="5794171" y="4146500"/>
            <a:ext cx="505873"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€ 3,00</a:t>
            </a:r>
          </a:p>
        </p:txBody>
      </p:sp>
      <p:sp>
        <p:nvSpPr>
          <p:cNvPr id="19" name="TextBox 18"/>
          <p:cNvSpPr txBox="1"/>
          <p:nvPr/>
        </p:nvSpPr>
        <p:spPr>
          <a:xfrm>
            <a:off x="1043880" y="4658767"/>
            <a:ext cx="3991975"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 Minimaal € 1.500 per maand, dat dekt de eerste 400 studenten.</a:t>
            </a:r>
          </a:p>
        </p:txBody>
      </p:sp>
      <p:sp>
        <p:nvSpPr>
          <p:cNvPr id="20" name="Rounded Rectangle 19"/>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1" name="Picture 20" descr="academica.png"/>
          <p:cNvPicPr>
            <a:picLocks noChangeAspect="1"/>
          </p:cNvPicPr>
          <p:nvPr/>
        </p:nvPicPr>
        <p:blipFill>
          <a:blip r:embed="rId2"/>
          <a:stretch>
            <a:fillRect/>
          </a:stretch>
        </p:blipFill>
        <p:spPr>
          <a:xfrm>
            <a:off x="742950" y="10182225"/>
            <a:ext cx="784860" cy="152400"/>
          </a:xfrm>
          <a:prstGeom prst="rect">
            <a:avLst/>
          </a:prstGeom>
        </p:spPr>
      </p:pic>
      <p:sp>
        <p:nvSpPr>
          <p:cNvPr id="22" name="TextBox 21"/>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43673"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03</a:t>
            </a:r>
          </a:p>
        </p:txBody>
      </p:sp>
      <p:sp>
        <p:nvSpPr>
          <p:cNvPr id="3" name="TextBox 2"/>
          <p:cNvSpPr txBox="1"/>
          <p:nvPr/>
        </p:nvSpPr>
        <p:spPr>
          <a:xfrm>
            <a:off x="723900" y="819299"/>
            <a:ext cx="2002226"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Opbrengst</a:t>
            </a:r>
          </a:p>
        </p:txBody>
      </p:sp>
      <p:sp>
        <p:nvSpPr>
          <p:cNvPr id="4" name="Rounded Rectangle 3"/>
          <p:cNvSpPr/>
          <p:nvPr/>
        </p:nvSpPr>
        <p:spPr>
          <a:xfrm>
            <a:off x="719882" y="1795165"/>
            <a:ext cx="6120110" cy="2999482"/>
          </a:xfrm>
          <a:prstGeom prst="roundRect">
            <a:avLst>
              <a:gd name="adj" fmla="val 7201"/>
            </a:avLst>
          </a:prstGeom>
          <a:solidFill>
            <a:srgbClr val="DFE8F3"/>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Rounded Rectangle 4"/>
          <p:cNvSpPr/>
          <p:nvPr/>
        </p:nvSpPr>
        <p:spPr>
          <a:xfrm>
            <a:off x="1043880" y="2119164"/>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6" name="Picture 5" descr="svg-2-0.png"/>
          <p:cNvPicPr>
            <a:picLocks noChangeAspect="1"/>
          </p:cNvPicPr>
          <p:nvPr/>
        </p:nvPicPr>
        <p:blipFill>
          <a:blip r:embed="rId2"/>
          <a:stretch>
            <a:fillRect/>
          </a:stretch>
        </p:blipFill>
        <p:spPr>
          <a:xfrm>
            <a:off x="1133773" y="2209056"/>
            <a:ext cx="179933" cy="179933"/>
          </a:xfrm>
          <a:prstGeom prst="rect">
            <a:avLst/>
          </a:prstGeom>
        </p:spPr>
      </p:pic>
      <p:sp>
        <p:nvSpPr>
          <p:cNvPr id="7" name="TextBox 6"/>
          <p:cNvSpPr txBox="1"/>
          <p:nvPr/>
        </p:nvSpPr>
        <p:spPr>
          <a:xfrm>
            <a:off x="1547664" y="2198043"/>
            <a:ext cx="229176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Uniforme beoordeling</a:t>
            </a:r>
          </a:p>
        </p:txBody>
      </p:sp>
      <p:sp>
        <p:nvSpPr>
          <p:cNvPr id="8" name="TextBox 7"/>
          <p:cNvSpPr txBox="1"/>
          <p:nvPr/>
        </p:nvSpPr>
        <p:spPr>
          <a:xfrm>
            <a:off x="1043880" y="2605980"/>
            <a:ext cx="579507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opdracht wordt langs dezelfde criteria beoordeeld, door elke beoordelaar.</a:t>
            </a:r>
          </a:p>
        </p:txBody>
      </p:sp>
      <p:sp>
        <p:nvSpPr>
          <p:cNvPr id="9" name="Rounded Rectangle 8"/>
          <p:cNvSpPr/>
          <p:nvPr/>
        </p:nvSpPr>
        <p:spPr>
          <a:xfrm>
            <a:off x="1043880" y="3012430"/>
            <a:ext cx="2628007"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0" name="TextBox 9"/>
          <p:cNvSpPr txBox="1"/>
          <p:nvPr/>
        </p:nvSpPr>
        <p:spPr>
          <a:xfrm>
            <a:off x="1259830" y="3237905"/>
            <a:ext cx="602218"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Zonder</a:t>
            </a:r>
          </a:p>
        </p:txBody>
      </p:sp>
      <p:sp>
        <p:nvSpPr>
          <p:cNvPr id="11" name="TextBox 10"/>
          <p:cNvSpPr txBox="1"/>
          <p:nvPr/>
        </p:nvSpPr>
        <p:spPr>
          <a:xfrm>
            <a:off x="1259830" y="3430935"/>
            <a:ext cx="2214420"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beoordelaar met een eigen blik</a:t>
            </a:r>
          </a:p>
        </p:txBody>
      </p:sp>
      <p:sp>
        <p:nvSpPr>
          <p:cNvPr id="12" name="Rectangle 11"/>
          <p:cNvSpPr/>
          <p:nvPr/>
        </p:nvSpPr>
        <p:spPr>
          <a:xfrm>
            <a:off x="1259830" y="3907631"/>
            <a:ext cx="2196108"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491555"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106513"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567732"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3116759"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TextBox 16"/>
          <p:cNvSpPr txBox="1"/>
          <p:nvPr/>
        </p:nvSpPr>
        <p:spPr>
          <a:xfrm>
            <a:off x="1259830" y="4094708"/>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18" name="TextBox 17"/>
          <p:cNvSpPr txBox="1"/>
          <p:nvPr/>
        </p:nvSpPr>
        <p:spPr>
          <a:xfrm>
            <a:off x="3117652" y="4094708"/>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19" name="Rounded Rectangle 18"/>
          <p:cNvSpPr/>
          <p:nvPr/>
        </p:nvSpPr>
        <p:spPr>
          <a:xfrm>
            <a:off x="3887837" y="3012430"/>
            <a:ext cx="2628156"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TextBox 19"/>
          <p:cNvSpPr txBox="1"/>
          <p:nvPr/>
        </p:nvSpPr>
        <p:spPr>
          <a:xfrm>
            <a:off x="4103787" y="3237905"/>
            <a:ext cx="1007769"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Met Eduface</a:t>
            </a:r>
          </a:p>
        </p:txBody>
      </p:sp>
      <p:sp>
        <p:nvSpPr>
          <p:cNvPr id="21" name="TextBox 20"/>
          <p:cNvSpPr txBox="1"/>
          <p:nvPr/>
        </p:nvSpPr>
        <p:spPr>
          <a:xfrm>
            <a:off x="4103787" y="3430935"/>
            <a:ext cx="196622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Iedereen langs dezelfde criteria</a:t>
            </a:r>
          </a:p>
        </p:txBody>
      </p:sp>
      <p:sp>
        <p:nvSpPr>
          <p:cNvPr id="22" name="Rectangle 21"/>
          <p:cNvSpPr/>
          <p:nvPr/>
        </p:nvSpPr>
        <p:spPr>
          <a:xfrm>
            <a:off x="4103787" y="3907631"/>
            <a:ext cx="2196257"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4994523"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5126236"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5257949"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5389811"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TextBox 26"/>
          <p:cNvSpPr txBox="1"/>
          <p:nvPr/>
        </p:nvSpPr>
        <p:spPr>
          <a:xfrm>
            <a:off x="4103787" y="4094708"/>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28" name="TextBox 27"/>
          <p:cNvSpPr txBox="1"/>
          <p:nvPr/>
        </p:nvSpPr>
        <p:spPr>
          <a:xfrm>
            <a:off x="5961757" y="4094708"/>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29" name="Rounded Rectangle 28"/>
          <p:cNvSpPr/>
          <p:nvPr/>
        </p:nvSpPr>
        <p:spPr>
          <a:xfrm>
            <a:off x="719882" y="5010596"/>
            <a:ext cx="6120110" cy="1534864"/>
          </a:xfrm>
          <a:prstGeom prst="roundRect">
            <a:avLst>
              <a:gd name="adj" fmla="val 14072"/>
            </a:avLst>
          </a:prstGeom>
          <a:solidFill>
            <a:srgbClr val="EEF3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Rounded Rectangle 29"/>
          <p:cNvSpPr/>
          <p:nvPr/>
        </p:nvSpPr>
        <p:spPr>
          <a:xfrm>
            <a:off x="1043880" y="5334595"/>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1" name="Picture 30" descr="svg-2-1.png"/>
          <p:cNvPicPr>
            <a:picLocks noChangeAspect="1"/>
          </p:cNvPicPr>
          <p:nvPr/>
        </p:nvPicPr>
        <p:blipFill>
          <a:blip r:embed="rId3"/>
          <a:stretch>
            <a:fillRect/>
          </a:stretch>
        </p:blipFill>
        <p:spPr>
          <a:xfrm>
            <a:off x="1133773" y="5424488"/>
            <a:ext cx="179933" cy="179933"/>
          </a:xfrm>
          <a:prstGeom prst="rect">
            <a:avLst/>
          </a:prstGeom>
        </p:spPr>
      </p:pic>
      <p:sp>
        <p:nvSpPr>
          <p:cNvPr id="32" name="TextBox 31"/>
          <p:cNvSpPr txBox="1"/>
          <p:nvPr/>
        </p:nvSpPr>
        <p:spPr>
          <a:xfrm>
            <a:off x="1547664" y="5413474"/>
            <a:ext cx="40668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Formatieve feedback voor elke student</a:t>
            </a:r>
          </a:p>
        </p:txBody>
      </p:sp>
      <p:sp>
        <p:nvSpPr>
          <p:cNvPr id="33" name="TextBox 32"/>
          <p:cNvSpPr txBox="1"/>
          <p:nvPr/>
        </p:nvSpPr>
        <p:spPr>
          <a:xfrm>
            <a:off x="1043880" y="5821412"/>
            <a:ext cx="4981277"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Nu krijgt de helft van de studenten formatieve feedback. Met Eduface is dat iedereen.</a:t>
            </a:r>
          </a:p>
        </p:txBody>
      </p:sp>
      <p:sp>
        <p:nvSpPr>
          <p:cNvPr id="34" name="Rounded Rectangle 33"/>
          <p:cNvSpPr/>
          <p:nvPr/>
        </p:nvSpPr>
        <p:spPr>
          <a:xfrm>
            <a:off x="719882" y="6761411"/>
            <a:ext cx="6120110" cy="1553914"/>
          </a:xfrm>
          <a:prstGeom prst="roundRect">
            <a:avLst>
              <a:gd name="adj" fmla="val 13900"/>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5" name="Rounded Rectangle 34"/>
          <p:cNvSpPr/>
          <p:nvPr/>
        </p:nvSpPr>
        <p:spPr>
          <a:xfrm>
            <a:off x="1053405" y="7094934"/>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6" name="Picture 35" descr="svg-2-2.png"/>
          <p:cNvPicPr>
            <a:picLocks noChangeAspect="1"/>
          </p:cNvPicPr>
          <p:nvPr/>
        </p:nvPicPr>
        <p:blipFill>
          <a:blip r:embed="rId4"/>
          <a:stretch>
            <a:fillRect/>
          </a:stretch>
        </p:blipFill>
        <p:spPr>
          <a:xfrm>
            <a:off x="1143298" y="7184827"/>
            <a:ext cx="179933" cy="179933"/>
          </a:xfrm>
          <a:prstGeom prst="rect">
            <a:avLst/>
          </a:prstGeom>
        </p:spPr>
      </p:pic>
      <p:sp>
        <p:nvSpPr>
          <p:cNvPr id="37" name="TextBox 36"/>
          <p:cNvSpPr txBox="1"/>
          <p:nvPr/>
        </p:nvSpPr>
        <p:spPr>
          <a:xfrm>
            <a:off x="1557189" y="7173813"/>
            <a:ext cx="237444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Integratie in NEO LMS</a:t>
            </a:r>
          </a:p>
        </p:txBody>
      </p:sp>
      <p:sp>
        <p:nvSpPr>
          <p:cNvPr id="38" name="TextBox 37"/>
          <p:cNvSpPr txBox="1"/>
          <p:nvPr/>
        </p:nvSpPr>
        <p:spPr>
          <a:xfrm>
            <a:off x="1053405" y="7581751"/>
            <a:ext cx="4892873"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Opdrachten en cijfers lopen via NEO. Docenten en studenten werken in de omgeving die ze kennen.</a:t>
            </a:r>
          </a:p>
        </p:txBody>
      </p:sp>
      <p:pic>
        <p:nvPicPr>
          <p:cNvPr id="39" name="Picture 38" descr="academica.png"/>
          <p:cNvPicPr>
            <a:picLocks noChangeAspect="1"/>
          </p:cNvPicPr>
          <p:nvPr/>
        </p:nvPicPr>
        <p:blipFill>
          <a:blip r:embed="rId5"/>
          <a:stretch>
            <a:fillRect/>
          </a:stretch>
        </p:blipFill>
        <p:spPr>
          <a:xfrm>
            <a:off x="742950" y="10182225"/>
            <a:ext cx="784860" cy="152400"/>
          </a:xfrm>
          <a:prstGeom prst="rect">
            <a:avLst/>
          </a:prstGeom>
        </p:spPr>
      </p:pic>
      <p:sp>
        <p:nvSpPr>
          <p:cNvPr id="40" name="TextBox 39"/>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7507"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04</a:t>
            </a:r>
          </a:p>
        </p:txBody>
      </p:sp>
      <p:sp>
        <p:nvSpPr>
          <p:cNvPr id="4" name="TextBox 3"/>
          <p:cNvSpPr txBox="1"/>
          <p:nvPr/>
        </p:nvSpPr>
        <p:spPr>
          <a:xfrm>
            <a:off x="723900" y="819299"/>
            <a:ext cx="2260425"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Accreditatie</a:t>
            </a:r>
          </a:p>
        </p:txBody>
      </p:sp>
      <p:sp>
        <p:nvSpPr>
          <p:cNvPr id="5" name="Rounded Rectangle 4"/>
          <p:cNvSpPr/>
          <p:nvPr/>
        </p:nvSpPr>
        <p:spPr>
          <a:xfrm>
            <a:off x="719882" y="1795165"/>
            <a:ext cx="6120110" cy="3022104"/>
          </a:xfrm>
          <a:prstGeom prst="roundRect">
            <a:avLst>
              <a:gd name="adj" fmla="val 7147"/>
            </a:avLst>
          </a:prstGeom>
          <a:solidFill>
            <a:srgbClr val="E0EAF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Rounded Rectangle 5"/>
          <p:cNvSpPr/>
          <p:nvPr/>
        </p:nvSpPr>
        <p:spPr>
          <a:xfrm>
            <a:off x="1043880" y="2119164"/>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7" name="Picture 6" descr="svg-2-0.png"/>
          <p:cNvPicPr>
            <a:picLocks noChangeAspect="1"/>
          </p:cNvPicPr>
          <p:nvPr/>
        </p:nvPicPr>
        <p:blipFill>
          <a:blip r:embed="rId2"/>
          <a:stretch>
            <a:fillRect/>
          </a:stretch>
        </p:blipFill>
        <p:spPr>
          <a:xfrm>
            <a:off x="1133773" y="2209056"/>
            <a:ext cx="179933" cy="179933"/>
          </a:xfrm>
          <a:prstGeom prst="rect">
            <a:avLst/>
          </a:prstGeom>
        </p:spPr>
      </p:pic>
      <p:sp>
        <p:nvSpPr>
          <p:cNvPr id="8" name="TextBox 7"/>
          <p:cNvSpPr txBox="1"/>
          <p:nvPr/>
        </p:nvSpPr>
        <p:spPr>
          <a:xfrm>
            <a:off x="1547664" y="2198043"/>
            <a:ext cx="3463576"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Beoordelaars oordelen consistent</a:t>
            </a:r>
          </a:p>
        </p:txBody>
      </p:sp>
      <p:sp>
        <p:nvSpPr>
          <p:cNvPr id="9" name="TextBox 8"/>
          <p:cNvSpPr txBox="1"/>
          <p:nvPr/>
        </p:nvSpPr>
        <p:spPr>
          <a:xfrm>
            <a:off x="1043880" y="2605980"/>
            <a:ext cx="338373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Zie in één overzicht wie afwijkt van het team.</a:t>
            </a:r>
          </a:p>
        </p:txBody>
      </p:sp>
      <p:sp>
        <p:nvSpPr>
          <p:cNvPr id="10" name="Rounded Rectangle 9"/>
          <p:cNvSpPr/>
          <p:nvPr/>
        </p:nvSpPr>
        <p:spPr>
          <a:xfrm>
            <a:off x="1043880" y="3012430"/>
            <a:ext cx="5472112" cy="1480840"/>
          </a:xfrm>
          <a:prstGeom prst="roundRect">
            <a:avLst>
              <a:gd name="adj" fmla="val 8508"/>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TextBox 10"/>
          <p:cNvSpPr txBox="1"/>
          <p:nvPr/>
        </p:nvSpPr>
        <p:spPr>
          <a:xfrm>
            <a:off x="1259830" y="3228380"/>
            <a:ext cx="137348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Voorbeeld per docent</a:t>
            </a:r>
          </a:p>
        </p:txBody>
      </p:sp>
      <p:sp>
        <p:nvSpPr>
          <p:cNvPr id="12" name="TextBox 11"/>
          <p:cNvSpPr txBox="1"/>
          <p:nvPr/>
        </p:nvSpPr>
        <p:spPr>
          <a:xfrm>
            <a:off x="5497264" y="3228380"/>
            <a:ext cx="95626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Gemiddelde 7,1</a:t>
            </a:r>
          </a:p>
        </p:txBody>
      </p:sp>
      <p:sp>
        <p:nvSpPr>
          <p:cNvPr id="13" name="TextBox 12"/>
          <p:cNvSpPr txBox="1"/>
          <p:nvPr/>
        </p:nvSpPr>
        <p:spPr>
          <a:xfrm>
            <a:off x="1259830" y="3568303"/>
            <a:ext cx="677894"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A</a:t>
            </a:r>
          </a:p>
        </p:txBody>
      </p:sp>
      <p:sp>
        <p:nvSpPr>
          <p:cNvPr id="14" name="Rounded Rectangle 13"/>
          <p:cNvSpPr/>
          <p:nvPr/>
        </p:nvSpPr>
        <p:spPr>
          <a:xfrm>
            <a:off x="2627709" y="3590479"/>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Rounded Rectangle 14"/>
          <p:cNvSpPr/>
          <p:nvPr/>
        </p:nvSpPr>
        <p:spPr>
          <a:xfrm>
            <a:off x="2627709" y="3590479"/>
            <a:ext cx="2022128"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ectangle 15"/>
          <p:cNvSpPr/>
          <p:nvPr/>
        </p:nvSpPr>
        <p:spPr>
          <a:xfrm>
            <a:off x="4621709" y="3536603"/>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TextBox 16"/>
          <p:cNvSpPr txBox="1"/>
          <p:nvPr/>
        </p:nvSpPr>
        <p:spPr>
          <a:xfrm>
            <a:off x="6044702" y="3568303"/>
            <a:ext cx="255341"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7,2</a:t>
            </a:r>
          </a:p>
        </p:txBody>
      </p:sp>
      <p:sp>
        <p:nvSpPr>
          <p:cNvPr id="18" name="TextBox 17"/>
          <p:cNvSpPr txBox="1"/>
          <p:nvPr/>
        </p:nvSpPr>
        <p:spPr>
          <a:xfrm>
            <a:off x="1259830" y="3846612"/>
            <a:ext cx="672727"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B</a:t>
            </a:r>
          </a:p>
        </p:txBody>
      </p:sp>
      <p:sp>
        <p:nvSpPr>
          <p:cNvPr id="19" name="Rounded Rectangle 18"/>
          <p:cNvSpPr/>
          <p:nvPr/>
        </p:nvSpPr>
        <p:spPr>
          <a:xfrm>
            <a:off x="2627709" y="386878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Rounded Rectangle 19"/>
          <p:cNvSpPr/>
          <p:nvPr/>
        </p:nvSpPr>
        <p:spPr>
          <a:xfrm>
            <a:off x="2627709" y="3868787"/>
            <a:ext cx="1965871"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Rectangle 20"/>
          <p:cNvSpPr/>
          <p:nvPr/>
        </p:nvSpPr>
        <p:spPr>
          <a:xfrm>
            <a:off x="4621709" y="3814911"/>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TextBox 21"/>
          <p:cNvSpPr txBox="1"/>
          <p:nvPr/>
        </p:nvSpPr>
        <p:spPr>
          <a:xfrm>
            <a:off x="6043535" y="3846612"/>
            <a:ext cx="256508"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7,0</a:t>
            </a:r>
          </a:p>
        </p:txBody>
      </p:sp>
      <p:sp>
        <p:nvSpPr>
          <p:cNvPr id="23" name="TextBox 22"/>
          <p:cNvSpPr txBox="1"/>
          <p:nvPr/>
        </p:nvSpPr>
        <p:spPr>
          <a:xfrm>
            <a:off x="1259830" y="4124920"/>
            <a:ext cx="691229"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Docent C</a:t>
            </a:r>
          </a:p>
        </p:txBody>
      </p:sp>
      <p:sp>
        <p:nvSpPr>
          <p:cNvPr id="24" name="Rounded Rectangle 23"/>
          <p:cNvSpPr/>
          <p:nvPr/>
        </p:nvSpPr>
        <p:spPr>
          <a:xfrm>
            <a:off x="2627709" y="414709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Rounded Rectangle 24"/>
          <p:cNvSpPr/>
          <p:nvPr/>
        </p:nvSpPr>
        <p:spPr>
          <a:xfrm>
            <a:off x="2627709" y="4147096"/>
            <a:ext cx="1572667"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ectangle 25"/>
          <p:cNvSpPr/>
          <p:nvPr/>
        </p:nvSpPr>
        <p:spPr>
          <a:xfrm>
            <a:off x="4621709" y="4093220"/>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TextBox 26"/>
          <p:cNvSpPr txBox="1"/>
          <p:nvPr/>
        </p:nvSpPr>
        <p:spPr>
          <a:xfrm>
            <a:off x="6026866" y="4124920"/>
            <a:ext cx="273177"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5,6</a:t>
            </a:r>
          </a:p>
        </p:txBody>
      </p:sp>
      <p:sp>
        <p:nvSpPr>
          <p:cNvPr id="28" name="Rounded Rectangle 27"/>
          <p:cNvSpPr/>
          <p:nvPr/>
        </p:nvSpPr>
        <p:spPr>
          <a:xfrm>
            <a:off x="719882" y="5033218"/>
            <a:ext cx="6120110" cy="1755874"/>
          </a:xfrm>
          <a:prstGeom prst="roundRect">
            <a:avLst>
              <a:gd name="adj" fmla="val 12301"/>
            </a:avLst>
          </a:prstGeom>
          <a:solidFill>
            <a:srgbClr val="EFF5F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Rounded Rectangle 28"/>
          <p:cNvSpPr/>
          <p:nvPr/>
        </p:nvSpPr>
        <p:spPr>
          <a:xfrm>
            <a:off x="1043880" y="5357217"/>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0" name="Picture 29" descr="svg-3-1.png"/>
          <p:cNvPicPr>
            <a:picLocks noChangeAspect="1"/>
          </p:cNvPicPr>
          <p:nvPr/>
        </p:nvPicPr>
        <p:blipFill>
          <a:blip r:embed="rId3"/>
          <a:stretch>
            <a:fillRect/>
          </a:stretch>
        </p:blipFill>
        <p:spPr>
          <a:xfrm>
            <a:off x="1133773" y="5447109"/>
            <a:ext cx="179933" cy="179933"/>
          </a:xfrm>
          <a:prstGeom prst="rect">
            <a:avLst/>
          </a:prstGeom>
        </p:spPr>
      </p:pic>
      <p:sp>
        <p:nvSpPr>
          <p:cNvPr id="31" name="TextBox 30"/>
          <p:cNvSpPr txBox="1"/>
          <p:nvPr/>
        </p:nvSpPr>
        <p:spPr>
          <a:xfrm>
            <a:off x="1547664" y="5436096"/>
            <a:ext cx="243161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Elk cijfer is navolgbaar</a:t>
            </a:r>
          </a:p>
        </p:txBody>
      </p:sp>
      <p:sp>
        <p:nvSpPr>
          <p:cNvPr id="32" name="TextBox 31"/>
          <p:cNvSpPr txBox="1"/>
          <p:nvPr/>
        </p:nvSpPr>
        <p:spPr>
          <a:xfrm>
            <a:off x="1043880" y="5844034"/>
            <a:ext cx="2622804"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Onderbouwing per rubriccriterium.</a:t>
            </a:r>
          </a:p>
        </p:txBody>
      </p:sp>
      <p:sp>
        <p:nvSpPr>
          <p:cNvPr id="33" name="Rounded Rectangle 32"/>
          <p:cNvSpPr/>
          <p:nvPr/>
        </p:nvSpPr>
        <p:spPr>
          <a:xfrm>
            <a:off x="1043880" y="6214467"/>
            <a:ext cx="1164729" cy="25062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4" name="TextBox 33"/>
          <p:cNvSpPr txBox="1"/>
          <p:nvPr/>
        </p:nvSpPr>
        <p:spPr>
          <a:xfrm>
            <a:off x="1187797" y="6268343"/>
            <a:ext cx="1039273" cy="142875"/>
          </a:xfrm>
          <a:prstGeom prst="rect">
            <a:avLst/>
          </a:prstGeom>
          <a:noFill/>
        </p:spPr>
        <p:txBody>
          <a:bodyPr wrap="square" anchor="t" lIns="0" rIns="0" tIns="0" bIns="0">
            <a:noAutofit/>
          </a:bodyPr>
          <a:lstStyle/>
          <a:p>
            <a:pPr algn="l">
              <a:lnSpc>
                <a:spcPts val="1080"/>
              </a:lnSpc>
            </a:pPr>
            <a:r>
              <a:rPr sz="900" b="1">
                <a:solidFill>
                  <a:srgbClr val="000326"/>
                </a:solidFill>
                <a:latin typeface="Inter"/>
              </a:rPr>
              <a:t>AI Act audit trail</a:t>
            </a:r>
          </a:p>
        </p:txBody>
      </p:sp>
      <p:sp>
        <p:nvSpPr>
          <p:cNvPr id="35" name="Rounded Rectangle 34"/>
          <p:cNvSpPr/>
          <p:nvPr/>
        </p:nvSpPr>
        <p:spPr>
          <a:xfrm>
            <a:off x="719882" y="7005042"/>
            <a:ext cx="6120110" cy="1344364"/>
          </a:xfrm>
          <a:prstGeom prst="roundRect">
            <a:avLst>
              <a:gd name="adj" fmla="val 16067"/>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Rounded Rectangle 35"/>
          <p:cNvSpPr/>
          <p:nvPr/>
        </p:nvSpPr>
        <p:spPr>
          <a:xfrm>
            <a:off x="1053405" y="7338566"/>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7" name="Picture 36" descr="svg-3-2.png"/>
          <p:cNvPicPr>
            <a:picLocks noChangeAspect="1"/>
          </p:cNvPicPr>
          <p:nvPr/>
        </p:nvPicPr>
        <p:blipFill>
          <a:blip r:embed="rId4"/>
          <a:stretch>
            <a:fillRect/>
          </a:stretch>
        </p:blipFill>
        <p:spPr>
          <a:xfrm>
            <a:off x="1143298" y="7428458"/>
            <a:ext cx="179933" cy="179933"/>
          </a:xfrm>
          <a:prstGeom prst="rect">
            <a:avLst/>
          </a:prstGeom>
        </p:spPr>
      </p:pic>
      <p:sp>
        <p:nvSpPr>
          <p:cNvPr id="38" name="TextBox 37"/>
          <p:cNvSpPr txBox="1"/>
          <p:nvPr/>
        </p:nvSpPr>
        <p:spPr>
          <a:xfrm>
            <a:off x="1557189" y="7417445"/>
            <a:ext cx="414882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De examencommissie borgt de kwaliteit</a:t>
            </a:r>
          </a:p>
        </p:txBody>
      </p:sp>
      <p:sp>
        <p:nvSpPr>
          <p:cNvPr id="39" name="TextBox 38"/>
          <p:cNvSpPr txBox="1"/>
          <p:nvPr/>
        </p:nvSpPr>
        <p:spPr>
          <a:xfrm>
            <a:off x="1053405" y="7825383"/>
            <a:ext cx="269798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onderbouwing direct in te zien.</a:t>
            </a:r>
          </a:p>
        </p:txBody>
      </p:sp>
      <p:sp>
        <p:nvSpPr>
          <p:cNvPr id="40" name="Rectangle 39"/>
          <p:cNvSpPr/>
          <p:nvPr/>
        </p:nvSpPr>
        <p:spPr>
          <a:xfrm>
            <a:off x="719882" y="8709273"/>
            <a:ext cx="19050" cy="649635"/>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TextBox 40"/>
          <p:cNvSpPr txBox="1"/>
          <p:nvPr/>
        </p:nvSpPr>
        <p:spPr>
          <a:xfrm>
            <a:off x="918865" y="8728323"/>
            <a:ext cx="5753695" cy="604540"/>
          </a:xfrm>
          <a:prstGeom prst="rect">
            <a:avLst/>
          </a:prstGeom>
          <a:noFill/>
        </p:spPr>
        <p:txBody>
          <a:bodyPr wrap="square" anchor="t" lIns="0" rIns="0" tIns="0" bIns="0">
            <a:noAutofit/>
          </a:bodyPr>
          <a:lstStyle/>
          <a:p>
            <a:pPr algn="l">
              <a:lnSpc>
                <a:spcPts val="1704"/>
              </a:lnSpc>
            </a:pPr>
            <a:r>
              <a:rPr sz="1100" b="0">
                <a:solidFill>
                  <a:srgbClr val="FFFFFF"/>
                </a:solidFill>
                <a:latin typeface="Inter"/>
              </a:rPr>
              <a:t>Consistent beoordelen is een speerpunt van dit project. Daarmee helpt het om de eisen van de accreditatiepartij hierboven steviger te borgen, en dat kan een positieve impact hebben op de pabo, die nu in de accreditatie zit.</a:t>
            </a:r>
          </a:p>
        </p:txBody>
      </p:sp>
      <p:sp>
        <p:nvSpPr>
          <p:cNvPr id="42" name="Rounded Rectangle 41"/>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43" name="Picture 42" descr="academica.png"/>
          <p:cNvPicPr>
            <a:picLocks noChangeAspect="1"/>
          </p:cNvPicPr>
          <p:nvPr/>
        </p:nvPicPr>
        <p:blipFill>
          <a:blip r:embed="rId5"/>
          <a:stretch>
            <a:fillRect/>
          </a:stretch>
        </p:blipFill>
        <p:spPr>
          <a:xfrm>
            <a:off x="742950" y="10182225"/>
            <a:ext cx="784860" cy="152400"/>
          </a:xfrm>
          <a:prstGeom prst="rect">
            <a:avLst/>
          </a:prstGeom>
        </p:spPr>
      </p:pic>
      <p:sp>
        <p:nvSpPr>
          <p:cNvPr id="44" name="TextBox 43"/>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40506"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05</a:t>
            </a:r>
          </a:p>
        </p:txBody>
      </p:sp>
      <p:sp>
        <p:nvSpPr>
          <p:cNvPr id="3" name="TextBox 2"/>
          <p:cNvSpPr txBox="1"/>
          <p:nvPr/>
        </p:nvSpPr>
        <p:spPr>
          <a:xfrm>
            <a:off x="723900" y="819299"/>
            <a:ext cx="1860042"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Koersplan</a:t>
            </a:r>
          </a:p>
        </p:txBody>
      </p:sp>
      <p:sp>
        <p:nvSpPr>
          <p:cNvPr id="4" name="TextBox 3"/>
          <p:cNvSpPr txBox="1"/>
          <p:nvPr/>
        </p:nvSpPr>
        <p:spPr>
          <a:xfrm>
            <a:off x="723900" y="1814215"/>
            <a:ext cx="5916216" cy="662880"/>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Deze investering sluit naadloos aan op het kopje Efficiëntie uit het koersplan dat Academica voor de komende jaren heeft opgesteld. Binnen dat kopje versterkt het direct drie punten.</a:t>
            </a:r>
          </a:p>
        </p:txBody>
      </p:sp>
      <p:sp>
        <p:nvSpPr>
          <p:cNvPr id="5" name="Rounded Rectangle 4"/>
          <p:cNvSpPr/>
          <p:nvPr/>
        </p:nvSpPr>
        <p:spPr>
          <a:xfrm>
            <a:off x="719882" y="2863602"/>
            <a:ext cx="6120110" cy="3712815"/>
          </a:xfrm>
          <a:prstGeom prst="roundRect">
            <a:avLst>
              <a:gd name="adj" fmla="val 5817"/>
            </a:avLst>
          </a:prstGeom>
          <a:solidFill>
            <a:srgbClr val="DDE4F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1043880" y="3187601"/>
            <a:ext cx="1837372"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KOERSPLAN ACADEMICA</a:t>
            </a:r>
          </a:p>
        </p:txBody>
      </p:sp>
      <p:sp>
        <p:nvSpPr>
          <p:cNvPr id="7" name="TextBox 6"/>
          <p:cNvSpPr txBox="1"/>
          <p:nvPr/>
        </p:nvSpPr>
        <p:spPr>
          <a:xfrm>
            <a:off x="1043880" y="3430935"/>
            <a:ext cx="108327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Efficiëntie</a:t>
            </a:r>
          </a:p>
        </p:txBody>
      </p:sp>
      <p:sp>
        <p:nvSpPr>
          <p:cNvPr id="8" name="Rounded Rectangle 7"/>
          <p:cNvSpPr/>
          <p:nvPr/>
        </p:nvSpPr>
        <p:spPr>
          <a:xfrm>
            <a:off x="1043880" y="380538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Rounded Rectangle 8"/>
          <p:cNvSpPr/>
          <p:nvPr/>
        </p:nvSpPr>
        <p:spPr>
          <a:xfrm>
            <a:off x="1223814" y="3985320"/>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0" name="Picture 9" descr="svg-4-0.png"/>
          <p:cNvPicPr>
            <a:picLocks noChangeAspect="1"/>
          </p:cNvPicPr>
          <p:nvPr/>
        </p:nvPicPr>
        <p:blipFill>
          <a:blip r:embed="rId2"/>
          <a:stretch>
            <a:fillRect/>
          </a:stretch>
        </p:blipFill>
        <p:spPr>
          <a:xfrm>
            <a:off x="1313706" y="4075212"/>
            <a:ext cx="179933" cy="179933"/>
          </a:xfrm>
          <a:prstGeom prst="rect">
            <a:avLst/>
          </a:prstGeom>
        </p:spPr>
      </p:pic>
      <p:sp>
        <p:nvSpPr>
          <p:cNvPr id="11" name="TextBox 10"/>
          <p:cNvSpPr txBox="1"/>
          <p:nvPr/>
        </p:nvSpPr>
        <p:spPr>
          <a:xfrm>
            <a:off x="1727597" y="4064347"/>
            <a:ext cx="1734693"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Een stevig kernteam</a:t>
            </a:r>
          </a:p>
        </p:txBody>
      </p:sp>
      <p:sp>
        <p:nvSpPr>
          <p:cNvPr id="12" name="Rounded Rectangle 11"/>
          <p:cNvSpPr/>
          <p:nvPr/>
        </p:nvSpPr>
        <p:spPr>
          <a:xfrm>
            <a:off x="1043880" y="466903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1223814" y="484896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4" name="Picture 13" descr="svg-4-1.png"/>
          <p:cNvPicPr>
            <a:picLocks noChangeAspect="1"/>
          </p:cNvPicPr>
          <p:nvPr/>
        </p:nvPicPr>
        <p:blipFill>
          <a:blip r:embed="rId3"/>
          <a:stretch>
            <a:fillRect/>
          </a:stretch>
        </p:blipFill>
        <p:spPr>
          <a:xfrm>
            <a:off x="1313706" y="4938861"/>
            <a:ext cx="179933" cy="179933"/>
          </a:xfrm>
          <a:prstGeom prst="rect">
            <a:avLst/>
          </a:prstGeom>
        </p:spPr>
      </p:pic>
      <p:sp>
        <p:nvSpPr>
          <p:cNvPr id="15" name="TextBox 14"/>
          <p:cNvSpPr txBox="1"/>
          <p:nvPr/>
        </p:nvSpPr>
        <p:spPr>
          <a:xfrm>
            <a:off x="1727597" y="4927997"/>
            <a:ext cx="1505831"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Betere processen</a:t>
            </a:r>
          </a:p>
        </p:txBody>
      </p:sp>
      <p:sp>
        <p:nvSpPr>
          <p:cNvPr id="16" name="Rounded Rectangle 15"/>
          <p:cNvSpPr/>
          <p:nvPr/>
        </p:nvSpPr>
        <p:spPr>
          <a:xfrm>
            <a:off x="1043880" y="553268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1223814" y="571261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8" name="Picture 17" descr="svg-4-2.png"/>
          <p:cNvPicPr>
            <a:picLocks noChangeAspect="1"/>
          </p:cNvPicPr>
          <p:nvPr/>
        </p:nvPicPr>
        <p:blipFill>
          <a:blip r:embed="rId4"/>
          <a:stretch>
            <a:fillRect/>
          </a:stretch>
        </p:blipFill>
        <p:spPr>
          <a:xfrm>
            <a:off x="1313706" y="5802511"/>
            <a:ext cx="179933" cy="179933"/>
          </a:xfrm>
          <a:prstGeom prst="rect">
            <a:avLst/>
          </a:prstGeom>
        </p:spPr>
      </p:pic>
      <p:sp>
        <p:nvSpPr>
          <p:cNvPr id="19" name="TextBox 18"/>
          <p:cNvSpPr txBox="1"/>
          <p:nvPr/>
        </p:nvSpPr>
        <p:spPr>
          <a:xfrm>
            <a:off x="1727597" y="5791646"/>
            <a:ext cx="1215962"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Datagedreven</a:t>
            </a:r>
          </a:p>
        </p:txBody>
      </p:sp>
      <p:pic>
        <p:nvPicPr>
          <p:cNvPr id="20" name="Picture 19" descr="academica.png"/>
          <p:cNvPicPr>
            <a:picLocks noChangeAspect="1"/>
          </p:cNvPicPr>
          <p:nvPr/>
        </p:nvPicPr>
        <p:blipFill>
          <a:blip r:embed="rId5"/>
          <a:stretch>
            <a:fillRect/>
          </a:stretch>
        </p:blipFill>
        <p:spPr>
          <a:xfrm>
            <a:off x="742950" y="10182225"/>
            <a:ext cx="784860" cy="152400"/>
          </a:xfrm>
          <a:prstGeom prst="rect">
            <a:avLst/>
          </a:prstGeom>
        </p:spPr>
      </p:pic>
      <p:sp>
        <p:nvSpPr>
          <p:cNvPr id="21" name="TextBox 20"/>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4007"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06</a:t>
            </a:r>
          </a:p>
        </p:txBody>
      </p:sp>
      <p:sp>
        <p:nvSpPr>
          <p:cNvPr id="4" name="TextBox 3"/>
          <p:cNvSpPr txBox="1"/>
          <p:nvPr/>
        </p:nvSpPr>
        <p:spPr>
          <a:xfrm>
            <a:off x="723900" y="819299"/>
            <a:ext cx="1411486"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Privacy</a:t>
            </a:r>
          </a:p>
        </p:txBody>
      </p:sp>
      <p:sp>
        <p:nvSpPr>
          <p:cNvPr id="5" name="Rounded Rectangle 4"/>
          <p:cNvSpPr/>
          <p:nvPr/>
        </p:nvSpPr>
        <p:spPr>
          <a:xfrm>
            <a:off x="719882" y="1795165"/>
            <a:ext cx="6120110" cy="1166217"/>
          </a:xfrm>
          <a:prstGeom prst="roundRect">
            <a:avLst>
              <a:gd name="adj" fmla="val 18521"/>
            </a:avLst>
          </a:prstGeom>
          <a:solidFill>
            <a:srgbClr val="E6E8E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Rounded Rectangle 5"/>
          <p:cNvSpPr/>
          <p:nvPr/>
        </p:nvSpPr>
        <p:spPr>
          <a:xfrm>
            <a:off x="1043880" y="2198340"/>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7" name="Picture 6" descr="svg-5-0.png"/>
          <p:cNvPicPr>
            <a:picLocks noChangeAspect="1"/>
          </p:cNvPicPr>
          <p:nvPr/>
        </p:nvPicPr>
        <p:blipFill>
          <a:blip r:embed="rId2"/>
          <a:stretch>
            <a:fillRect/>
          </a:stretch>
        </p:blipFill>
        <p:spPr>
          <a:xfrm>
            <a:off x="1133773" y="2288232"/>
            <a:ext cx="179933" cy="179933"/>
          </a:xfrm>
          <a:prstGeom prst="rect">
            <a:avLst/>
          </a:prstGeom>
        </p:spPr>
      </p:pic>
      <p:sp>
        <p:nvSpPr>
          <p:cNvPr id="8" name="TextBox 7"/>
          <p:cNvSpPr txBox="1"/>
          <p:nvPr/>
        </p:nvSpPr>
        <p:spPr>
          <a:xfrm>
            <a:off x="1547664" y="2147739"/>
            <a:ext cx="4792563" cy="45913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Academica blijft eigenaar van al het studentenwerk en alle data.</a:t>
            </a:r>
          </a:p>
        </p:txBody>
      </p:sp>
      <p:sp>
        <p:nvSpPr>
          <p:cNvPr id="9" name="Rounded Rectangle 8"/>
          <p:cNvSpPr/>
          <p:nvPr/>
        </p:nvSpPr>
        <p:spPr>
          <a:xfrm>
            <a:off x="719882" y="3177332"/>
            <a:ext cx="6120110" cy="2138065"/>
          </a:xfrm>
          <a:prstGeom prst="roundRect">
            <a:avLst>
              <a:gd name="adj" fmla="val 10102"/>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0" name="Rounded Rectangle 9"/>
          <p:cNvSpPr/>
          <p:nvPr/>
        </p:nvSpPr>
        <p:spPr>
          <a:xfrm>
            <a:off x="1053405" y="3510855"/>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1" name="Picture 10" descr="svg-5-1.png"/>
          <p:cNvPicPr>
            <a:picLocks noChangeAspect="1"/>
          </p:cNvPicPr>
          <p:nvPr/>
        </p:nvPicPr>
        <p:blipFill>
          <a:blip r:embed="rId3"/>
          <a:stretch>
            <a:fillRect/>
          </a:stretch>
        </p:blipFill>
        <p:spPr>
          <a:xfrm>
            <a:off x="1143298" y="3600748"/>
            <a:ext cx="179933" cy="179933"/>
          </a:xfrm>
          <a:prstGeom prst="rect">
            <a:avLst/>
          </a:prstGeom>
        </p:spPr>
      </p:pic>
      <p:sp>
        <p:nvSpPr>
          <p:cNvPr id="12" name="TextBox 11"/>
          <p:cNvSpPr txBox="1"/>
          <p:nvPr/>
        </p:nvSpPr>
        <p:spPr>
          <a:xfrm>
            <a:off x="1557189" y="3589734"/>
            <a:ext cx="22044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Gebruik van de data</a:t>
            </a:r>
          </a:p>
        </p:txBody>
      </p:sp>
      <p:pic>
        <p:nvPicPr>
          <p:cNvPr id="13" name="Picture 12" descr="svg-5-2.png"/>
          <p:cNvPicPr>
            <a:picLocks noChangeAspect="1"/>
          </p:cNvPicPr>
          <p:nvPr/>
        </p:nvPicPr>
        <p:blipFill>
          <a:blip r:embed="rId4"/>
          <a:stretch>
            <a:fillRect/>
          </a:stretch>
        </p:blipFill>
        <p:spPr>
          <a:xfrm>
            <a:off x="1053405" y="4118818"/>
            <a:ext cx="179933" cy="179933"/>
          </a:xfrm>
          <a:prstGeom prst="rect">
            <a:avLst/>
          </a:prstGeom>
        </p:spPr>
      </p:pic>
      <p:sp>
        <p:nvSpPr>
          <p:cNvPr id="14" name="TextBox 13"/>
          <p:cNvSpPr txBox="1"/>
          <p:nvPr/>
        </p:nvSpPr>
        <p:spPr>
          <a:xfrm>
            <a:off x="1359247" y="4114056"/>
            <a:ext cx="4713732"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Studentenwerk wordt nooit gebruikt om AI-modellen te trainen.</a:t>
            </a:r>
          </a:p>
        </p:txBody>
      </p:sp>
      <p:pic>
        <p:nvPicPr>
          <p:cNvPr id="15" name="Picture 14" descr="svg-5-3.png"/>
          <p:cNvPicPr>
            <a:picLocks noChangeAspect="1"/>
          </p:cNvPicPr>
          <p:nvPr/>
        </p:nvPicPr>
        <p:blipFill>
          <a:blip r:embed="rId5"/>
          <a:stretch>
            <a:fillRect/>
          </a:stretch>
        </p:blipFill>
        <p:spPr>
          <a:xfrm>
            <a:off x="1053405" y="4501158"/>
            <a:ext cx="179933" cy="179933"/>
          </a:xfrm>
          <a:prstGeom prst="rect">
            <a:avLst/>
          </a:prstGeom>
        </p:spPr>
      </p:pic>
      <p:sp>
        <p:nvSpPr>
          <p:cNvPr id="16" name="TextBox 15"/>
          <p:cNvSpPr txBox="1"/>
          <p:nvPr/>
        </p:nvSpPr>
        <p:spPr>
          <a:xfrm>
            <a:off x="1359247" y="4496395"/>
            <a:ext cx="4700290" cy="374005"/>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Verwerking alleen voor het afgesproken onderwijsdoel, in opdracht van Academica.</a:t>
            </a:r>
          </a:p>
        </p:txBody>
      </p:sp>
      <p:sp>
        <p:nvSpPr>
          <p:cNvPr id="17" name="Rounded Rectangle 16"/>
          <p:cNvSpPr/>
          <p:nvPr/>
        </p:nvSpPr>
        <p:spPr>
          <a:xfrm>
            <a:off x="719882" y="5531346"/>
            <a:ext cx="6120110" cy="1935510"/>
          </a:xfrm>
          <a:prstGeom prst="roundRect">
            <a:avLst>
              <a:gd name="adj" fmla="val 11159"/>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Rounded Rectangle 17"/>
          <p:cNvSpPr/>
          <p:nvPr/>
        </p:nvSpPr>
        <p:spPr>
          <a:xfrm>
            <a:off x="1053405" y="5864870"/>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9" name="Picture 18" descr="svg-5-4.png"/>
          <p:cNvPicPr>
            <a:picLocks noChangeAspect="1"/>
          </p:cNvPicPr>
          <p:nvPr/>
        </p:nvPicPr>
        <p:blipFill>
          <a:blip r:embed="rId6"/>
          <a:stretch>
            <a:fillRect/>
          </a:stretch>
        </p:blipFill>
        <p:spPr>
          <a:xfrm>
            <a:off x="1143298" y="5954762"/>
            <a:ext cx="179933" cy="179933"/>
          </a:xfrm>
          <a:prstGeom prst="rect">
            <a:avLst/>
          </a:prstGeom>
        </p:spPr>
      </p:pic>
      <p:sp>
        <p:nvSpPr>
          <p:cNvPr id="20" name="TextBox 19"/>
          <p:cNvSpPr txBox="1"/>
          <p:nvPr/>
        </p:nvSpPr>
        <p:spPr>
          <a:xfrm>
            <a:off x="1557189" y="5943749"/>
            <a:ext cx="2089904"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Waar de data staat</a:t>
            </a:r>
          </a:p>
        </p:txBody>
      </p:sp>
      <p:pic>
        <p:nvPicPr>
          <p:cNvPr id="21" name="Picture 20" descr="svg-5-3.png"/>
          <p:cNvPicPr>
            <a:picLocks noChangeAspect="1"/>
          </p:cNvPicPr>
          <p:nvPr/>
        </p:nvPicPr>
        <p:blipFill>
          <a:blip r:embed="rId5"/>
          <a:stretch>
            <a:fillRect/>
          </a:stretch>
        </p:blipFill>
        <p:spPr>
          <a:xfrm>
            <a:off x="1053405" y="6472833"/>
            <a:ext cx="179933" cy="179933"/>
          </a:xfrm>
          <a:prstGeom prst="rect">
            <a:avLst/>
          </a:prstGeom>
        </p:spPr>
      </p:pic>
      <p:sp>
        <p:nvSpPr>
          <p:cNvPr id="22" name="TextBox 21"/>
          <p:cNvSpPr txBox="1"/>
          <p:nvPr/>
        </p:nvSpPr>
        <p:spPr>
          <a:xfrm>
            <a:off x="1359247" y="6468070"/>
            <a:ext cx="4346519"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Data alleen in de EU, ook bij Microsoft, Google en Railway.</a:t>
            </a:r>
          </a:p>
        </p:txBody>
      </p:sp>
      <p:pic>
        <p:nvPicPr>
          <p:cNvPr id="23" name="Picture 22" descr="svg-5-3.png"/>
          <p:cNvPicPr>
            <a:picLocks noChangeAspect="1"/>
          </p:cNvPicPr>
          <p:nvPr/>
        </p:nvPicPr>
        <p:blipFill>
          <a:blip r:embed="rId5"/>
          <a:stretch>
            <a:fillRect/>
          </a:stretch>
        </p:blipFill>
        <p:spPr>
          <a:xfrm>
            <a:off x="1053405" y="6855172"/>
            <a:ext cx="179933" cy="179933"/>
          </a:xfrm>
          <a:prstGeom prst="rect">
            <a:avLst/>
          </a:prstGeom>
        </p:spPr>
      </p:pic>
      <p:sp>
        <p:nvSpPr>
          <p:cNvPr id="24" name="TextBox 23"/>
          <p:cNvSpPr txBox="1"/>
          <p:nvPr/>
        </p:nvSpPr>
        <p:spPr>
          <a:xfrm>
            <a:off x="1359247" y="6850410"/>
            <a:ext cx="411682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Eigen model, geen koppeling met een extern AI-model.</a:t>
            </a:r>
          </a:p>
        </p:txBody>
      </p:sp>
      <p:sp>
        <p:nvSpPr>
          <p:cNvPr id="25" name="Rounded Rectangle 24"/>
          <p:cNvSpPr/>
          <p:nvPr/>
        </p:nvSpPr>
        <p:spPr>
          <a:xfrm>
            <a:off x="719882" y="7682805"/>
            <a:ext cx="6120110" cy="2317849"/>
          </a:xfrm>
          <a:prstGeom prst="roundRect">
            <a:avLst>
              <a:gd name="adj" fmla="val 9318"/>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ounded Rectangle 25"/>
          <p:cNvSpPr/>
          <p:nvPr/>
        </p:nvSpPr>
        <p:spPr>
          <a:xfrm>
            <a:off x="1053405" y="8016329"/>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7" name="Picture 26" descr="svg-5-7.png"/>
          <p:cNvPicPr>
            <a:picLocks noChangeAspect="1"/>
          </p:cNvPicPr>
          <p:nvPr/>
        </p:nvPicPr>
        <p:blipFill>
          <a:blip r:embed="rId7"/>
          <a:stretch>
            <a:fillRect/>
          </a:stretch>
        </p:blipFill>
        <p:spPr>
          <a:xfrm>
            <a:off x="1143298" y="8106221"/>
            <a:ext cx="179933" cy="179933"/>
          </a:xfrm>
          <a:prstGeom prst="rect">
            <a:avLst/>
          </a:prstGeom>
        </p:spPr>
      </p:pic>
      <p:sp>
        <p:nvSpPr>
          <p:cNvPr id="28" name="TextBox 27"/>
          <p:cNvSpPr txBox="1"/>
          <p:nvPr/>
        </p:nvSpPr>
        <p:spPr>
          <a:xfrm>
            <a:off x="1557189" y="8095208"/>
            <a:ext cx="136498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Wet en regie</a:t>
            </a:r>
          </a:p>
        </p:txBody>
      </p:sp>
      <p:pic>
        <p:nvPicPr>
          <p:cNvPr id="29" name="Picture 28" descr="svg-5-8.png"/>
          <p:cNvPicPr>
            <a:picLocks noChangeAspect="1"/>
          </p:cNvPicPr>
          <p:nvPr/>
        </p:nvPicPr>
        <p:blipFill>
          <a:blip r:embed="rId8"/>
          <a:stretch>
            <a:fillRect/>
          </a:stretch>
        </p:blipFill>
        <p:spPr>
          <a:xfrm>
            <a:off x="1053405" y="8624292"/>
            <a:ext cx="179933" cy="179933"/>
          </a:xfrm>
          <a:prstGeom prst="rect">
            <a:avLst/>
          </a:prstGeom>
        </p:spPr>
      </p:pic>
      <p:sp>
        <p:nvSpPr>
          <p:cNvPr id="30" name="TextBox 29"/>
          <p:cNvSpPr txBox="1"/>
          <p:nvPr/>
        </p:nvSpPr>
        <p:spPr>
          <a:xfrm>
            <a:off x="1359247" y="8619530"/>
            <a:ext cx="499443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AVG: verwerkersovereenkomst, een datalek binnen 48 uur gemeld.</a:t>
            </a:r>
          </a:p>
        </p:txBody>
      </p:sp>
      <p:pic>
        <p:nvPicPr>
          <p:cNvPr id="31" name="Picture 30" descr="svg-5-9.png"/>
          <p:cNvPicPr>
            <a:picLocks noChangeAspect="1"/>
          </p:cNvPicPr>
          <p:nvPr/>
        </p:nvPicPr>
        <p:blipFill>
          <a:blip r:embed="rId9"/>
          <a:stretch>
            <a:fillRect/>
          </a:stretch>
        </p:blipFill>
        <p:spPr>
          <a:xfrm>
            <a:off x="1053405" y="9006632"/>
            <a:ext cx="179933" cy="179933"/>
          </a:xfrm>
          <a:prstGeom prst="rect">
            <a:avLst/>
          </a:prstGeom>
        </p:spPr>
      </p:pic>
      <p:sp>
        <p:nvSpPr>
          <p:cNvPr id="32" name="TextBox 31"/>
          <p:cNvSpPr txBox="1"/>
          <p:nvPr/>
        </p:nvSpPr>
        <p:spPr>
          <a:xfrm>
            <a:off x="1359247" y="9001869"/>
            <a:ext cx="3896963"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AI Act: audit trail voor elke summatieve beoordeling.</a:t>
            </a:r>
          </a:p>
        </p:txBody>
      </p:sp>
      <p:pic>
        <p:nvPicPr>
          <p:cNvPr id="33" name="Picture 32" descr="svg-5-3.png"/>
          <p:cNvPicPr>
            <a:picLocks noChangeAspect="1"/>
          </p:cNvPicPr>
          <p:nvPr/>
        </p:nvPicPr>
        <p:blipFill>
          <a:blip r:embed="rId5"/>
          <a:stretch>
            <a:fillRect/>
          </a:stretch>
        </p:blipFill>
        <p:spPr>
          <a:xfrm>
            <a:off x="1053405" y="9388971"/>
            <a:ext cx="179933" cy="179933"/>
          </a:xfrm>
          <a:prstGeom prst="rect">
            <a:avLst/>
          </a:prstGeom>
        </p:spPr>
      </p:pic>
      <p:sp>
        <p:nvSpPr>
          <p:cNvPr id="34" name="TextBox 33"/>
          <p:cNvSpPr txBox="1"/>
          <p:nvPr/>
        </p:nvSpPr>
        <p:spPr>
          <a:xfrm>
            <a:off x="1359247" y="9384209"/>
            <a:ext cx="2617970"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De docent beslist, de AI assisteert.</a:t>
            </a:r>
          </a:p>
        </p:txBody>
      </p:sp>
      <p:sp>
        <p:nvSpPr>
          <p:cNvPr id="35" name="Rounded Rectangle 34"/>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6" name="Picture 35" descr="academica.png"/>
          <p:cNvPicPr>
            <a:picLocks noChangeAspect="1"/>
          </p:cNvPicPr>
          <p:nvPr/>
        </p:nvPicPr>
        <p:blipFill>
          <a:blip r:embed="rId10"/>
          <a:stretch>
            <a:fillRect/>
          </a:stretch>
        </p:blipFill>
        <p:spPr>
          <a:xfrm>
            <a:off x="742950" y="10182225"/>
            <a:ext cx="784860" cy="152400"/>
          </a:xfrm>
          <a:prstGeom prst="rect">
            <a:avLst/>
          </a:prstGeom>
        </p:spPr>
      </p:pic>
      <p:sp>
        <p:nvSpPr>
          <p:cNvPr id="37" name="TextBox 36"/>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