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7562850" cy="1069657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59873" cy="1605707"/>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23900" y="575965"/>
            <a:ext cx="216337" cy="142875"/>
          </a:xfrm>
          <a:prstGeom prst="rect">
            <a:avLst/>
          </a:prstGeom>
          <a:noFill/>
        </p:spPr>
        <p:txBody>
          <a:bodyPr wrap="square" anchor="t" lIns="0" rIns="0" tIns="0" bIns="0">
            <a:noAutofit/>
          </a:bodyPr>
          <a:lstStyle/>
          <a:p>
            <a:pPr algn="l">
              <a:lnSpc>
                <a:spcPts val="1080"/>
              </a:lnSpc>
            </a:pPr>
            <a:r>
              <a:rPr sz="900" b="1">
                <a:solidFill>
                  <a:srgbClr val="FFFFFF"/>
                </a:solidFill>
                <a:latin typeface="Inter"/>
              </a:rPr>
              <a:t>01</a:t>
            </a:r>
          </a:p>
        </p:txBody>
      </p:sp>
      <p:sp>
        <p:nvSpPr>
          <p:cNvPr id="4" name="TextBox 3"/>
          <p:cNvSpPr txBox="1"/>
          <p:nvPr/>
        </p:nvSpPr>
        <p:spPr>
          <a:xfrm>
            <a:off x="723900" y="819299"/>
            <a:ext cx="5018937" cy="352425"/>
          </a:xfrm>
          <a:prstGeom prst="rect">
            <a:avLst/>
          </a:prstGeom>
          <a:noFill/>
        </p:spPr>
        <p:txBody>
          <a:bodyPr wrap="square" anchor="t" lIns="0" rIns="0" tIns="0" bIns="0">
            <a:noAutofit/>
          </a:bodyPr>
          <a:lstStyle/>
          <a:p>
            <a:pPr algn="l">
              <a:lnSpc>
                <a:spcPts val="3300"/>
              </a:lnSpc>
            </a:pPr>
            <a:r>
              <a:rPr sz="3000" b="1">
                <a:solidFill>
                  <a:srgbClr val="FFFFFF"/>
                </a:solidFill>
                <a:latin typeface="League Spartan"/>
              </a:rPr>
              <a:t>Managementsamenvatting</a:t>
            </a:r>
          </a:p>
        </p:txBody>
      </p:sp>
      <p:sp>
        <p:nvSpPr>
          <p:cNvPr id="5" name="TextBox 4"/>
          <p:cNvSpPr txBox="1"/>
          <p:nvPr/>
        </p:nvSpPr>
        <p:spPr>
          <a:xfrm>
            <a:off x="723900" y="1984623"/>
            <a:ext cx="6087814" cy="1135261"/>
          </a:xfrm>
          <a:prstGeom prst="rect">
            <a:avLst/>
          </a:prstGeom>
          <a:noFill/>
        </p:spPr>
        <p:txBody>
          <a:bodyPr wrap="square" anchor="t" lIns="0" rIns="0" tIns="0" bIns="0">
            <a:noAutofit/>
          </a:bodyPr>
          <a:lstStyle/>
          <a:p>
            <a:pPr algn="l">
              <a:lnSpc>
                <a:spcPts val="1860"/>
              </a:lnSpc>
            </a:pPr>
            <a:r>
              <a:rPr sz="1200" b="0">
                <a:solidFill>
                  <a:srgbClr val="000326"/>
                </a:solidFill>
                <a:latin typeface="Inter"/>
              </a:rPr>
              <a:t>Eduface is een onderwijskundig AI-model, ontwikkeld met hulp van de Universiteit Leiden en de Radboud Universiteit, dat formatieve en summatieve feedback geeft op studentopdrachten. Docenten besteden daardoor minder tijd aan het formuleren van feedback, elke student krijgt formatieve feedback, en een groeiend aantal studenten vraagt niet om evenredig meer nakijkers.</a:t>
            </a:r>
          </a:p>
        </p:txBody>
      </p:sp>
      <p:sp>
        <p:nvSpPr>
          <p:cNvPr id="6" name="Rectangle 5"/>
          <p:cNvSpPr/>
          <p:nvPr/>
        </p:nvSpPr>
        <p:spPr>
          <a:xfrm>
            <a:off x="719882" y="3434507"/>
            <a:ext cx="28575" cy="269825"/>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928390" y="3463082"/>
            <a:ext cx="5910560" cy="200025"/>
          </a:xfrm>
          <a:prstGeom prst="rect">
            <a:avLst/>
          </a:prstGeom>
          <a:noFill/>
        </p:spPr>
        <p:txBody>
          <a:bodyPr wrap="square" anchor="t" lIns="0" rIns="0" tIns="0" bIns="0">
            <a:noAutofit/>
          </a:bodyPr>
          <a:lstStyle/>
          <a:p>
            <a:pPr algn="l">
              <a:lnSpc>
                <a:spcPts val="2124"/>
              </a:lnSpc>
            </a:pPr>
            <a:r>
              <a:rPr sz="1700" b="1">
                <a:solidFill>
                  <a:srgbClr val="000326"/>
                </a:solidFill>
                <a:latin typeface="League Spartan"/>
              </a:rPr>
              <a:t>Dat is een concrete invulling van het koerspunt efficiëntie.</a:t>
            </a:r>
          </a:p>
        </p:txBody>
      </p:sp>
      <p:sp>
        <p:nvSpPr>
          <p:cNvPr id="8" name="Rounded Rectangle 7"/>
          <p:cNvSpPr/>
          <p:nvPr/>
        </p:nvSpPr>
        <p:spPr>
          <a:xfrm>
            <a:off x="719882" y="4064198"/>
            <a:ext cx="2952006" cy="2296567"/>
          </a:xfrm>
          <a:prstGeom prst="roundRect">
            <a:avLst>
              <a:gd name="adj" fmla="val 9405"/>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1053405" y="4397722"/>
            <a:ext cx="269176" cy="142875"/>
          </a:xfrm>
          <a:prstGeom prst="rect">
            <a:avLst/>
          </a:prstGeom>
          <a:noFill/>
        </p:spPr>
        <p:txBody>
          <a:bodyPr wrap="square" anchor="t" lIns="0" rIns="0" tIns="0" bIns="0">
            <a:noAutofit/>
          </a:bodyPr>
          <a:lstStyle/>
          <a:p>
            <a:pPr algn="l">
              <a:lnSpc>
                <a:spcPts val="1080"/>
              </a:lnSpc>
            </a:pPr>
            <a:r>
              <a:rPr sz="900" b="1">
                <a:solidFill>
                  <a:srgbClr val="555A78"/>
                </a:solidFill>
                <a:latin typeface="Inter"/>
              </a:rPr>
              <a:t>NU</a:t>
            </a:r>
          </a:p>
        </p:txBody>
      </p:sp>
      <p:sp>
        <p:nvSpPr>
          <p:cNvPr id="10" name="TextBox 9"/>
          <p:cNvSpPr txBox="1"/>
          <p:nvPr/>
        </p:nvSpPr>
        <p:spPr>
          <a:xfrm>
            <a:off x="1053405" y="4658023"/>
            <a:ext cx="2107740" cy="428625"/>
          </a:xfrm>
          <a:prstGeom prst="rect">
            <a:avLst/>
          </a:prstGeom>
          <a:noFill/>
        </p:spPr>
        <p:txBody>
          <a:bodyPr wrap="square" anchor="t" lIns="0" rIns="0" tIns="0" bIns="0">
            <a:noAutofit/>
          </a:bodyPr>
          <a:lstStyle/>
          <a:p>
            <a:pPr algn="l">
              <a:lnSpc>
                <a:spcPts val="3600"/>
              </a:lnSpc>
            </a:pPr>
            <a:r>
              <a:rPr sz="3600" b="1">
                <a:solidFill>
                  <a:srgbClr val="000326"/>
                </a:solidFill>
                <a:latin typeface="League Spartan"/>
              </a:rPr>
              <a:t>€ 37.000</a:t>
            </a:r>
          </a:p>
        </p:txBody>
      </p:sp>
      <p:sp>
        <p:nvSpPr>
          <p:cNvPr id="11" name="TextBox 10"/>
          <p:cNvSpPr txBox="1"/>
          <p:nvPr/>
        </p:nvSpPr>
        <p:spPr>
          <a:xfrm>
            <a:off x="1053405" y="5232648"/>
            <a:ext cx="1756696"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Feedback voor de helft</a:t>
            </a:r>
          </a:p>
        </p:txBody>
      </p:sp>
      <p:sp>
        <p:nvSpPr>
          <p:cNvPr id="12" name="Oval 11"/>
          <p:cNvSpPr/>
          <p:nvPr/>
        </p:nvSpPr>
        <p:spPr>
          <a:xfrm>
            <a:off x="1053405"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Oval 12"/>
          <p:cNvSpPr/>
          <p:nvPr/>
        </p:nvSpPr>
        <p:spPr>
          <a:xfrm>
            <a:off x="1290638"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Oval 13"/>
          <p:cNvSpPr/>
          <p:nvPr/>
        </p:nvSpPr>
        <p:spPr>
          <a:xfrm>
            <a:off x="1527870"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Oval 14"/>
          <p:cNvSpPr/>
          <p:nvPr/>
        </p:nvSpPr>
        <p:spPr>
          <a:xfrm>
            <a:off x="1765102"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Oval 15"/>
          <p:cNvSpPr/>
          <p:nvPr/>
        </p:nvSpPr>
        <p:spPr>
          <a:xfrm>
            <a:off x="2002334"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Oval 16"/>
          <p:cNvSpPr/>
          <p:nvPr/>
        </p:nvSpPr>
        <p:spPr>
          <a:xfrm>
            <a:off x="2239566"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Oval 17"/>
          <p:cNvSpPr/>
          <p:nvPr/>
        </p:nvSpPr>
        <p:spPr>
          <a:xfrm>
            <a:off x="2476798"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9" name="Oval 18"/>
          <p:cNvSpPr/>
          <p:nvPr/>
        </p:nvSpPr>
        <p:spPr>
          <a:xfrm>
            <a:off x="2714030"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Oval 19"/>
          <p:cNvSpPr/>
          <p:nvPr/>
        </p:nvSpPr>
        <p:spPr>
          <a:xfrm>
            <a:off x="2951262"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Oval 20"/>
          <p:cNvSpPr/>
          <p:nvPr/>
        </p:nvSpPr>
        <p:spPr>
          <a:xfrm>
            <a:off x="3188494" y="5639098"/>
            <a:ext cx="150912" cy="150912"/>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Oval 21"/>
          <p:cNvSpPr/>
          <p:nvPr/>
        </p:nvSpPr>
        <p:spPr>
          <a:xfrm>
            <a:off x="1053405"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Oval 22"/>
          <p:cNvSpPr/>
          <p:nvPr/>
        </p:nvSpPr>
        <p:spPr>
          <a:xfrm>
            <a:off x="1290638"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Oval 23"/>
          <p:cNvSpPr/>
          <p:nvPr/>
        </p:nvSpPr>
        <p:spPr>
          <a:xfrm>
            <a:off x="1527870"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Oval 24"/>
          <p:cNvSpPr/>
          <p:nvPr/>
        </p:nvSpPr>
        <p:spPr>
          <a:xfrm>
            <a:off x="1765102"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Oval 25"/>
          <p:cNvSpPr/>
          <p:nvPr/>
        </p:nvSpPr>
        <p:spPr>
          <a:xfrm>
            <a:off x="2002334"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Oval 26"/>
          <p:cNvSpPr/>
          <p:nvPr/>
        </p:nvSpPr>
        <p:spPr>
          <a:xfrm>
            <a:off x="2239566"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Oval 27"/>
          <p:cNvSpPr/>
          <p:nvPr/>
        </p:nvSpPr>
        <p:spPr>
          <a:xfrm>
            <a:off x="2476798"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Oval 28"/>
          <p:cNvSpPr/>
          <p:nvPr/>
        </p:nvSpPr>
        <p:spPr>
          <a:xfrm>
            <a:off x="2714030"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Oval 29"/>
          <p:cNvSpPr/>
          <p:nvPr/>
        </p:nvSpPr>
        <p:spPr>
          <a:xfrm>
            <a:off x="2951262"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1" name="Oval 30"/>
          <p:cNvSpPr/>
          <p:nvPr/>
        </p:nvSpPr>
        <p:spPr>
          <a:xfrm>
            <a:off x="3188494" y="5876330"/>
            <a:ext cx="150912" cy="150912"/>
          </a:xfrm>
          <a:prstGeom prst="ellipse">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2" name="Rounded Rectangle 31"/>
          <p:cNvSpPr/>
          <p:nvPr/>
        </p:nvSpPr>
        <p:spPr>
          <a:xfrm>
            <a:off x="3887837" y="4064198"/>
            <a:ext cx="2952155" cy="2296567"/>
          </a:xfrm>
          <a:prstGeom prst="roundRect">
            <a:avLst>
              <a:gd name="adj" fmla="val 9405"/>
            </a:avLst>
          </a:prstGeom>
          <a:solidFill>
            <a:srgbClr val="E3E6F4"/>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3" name="TextBox 32"/>
          <p:cNvSpPr txBox="1"/>
          <p:nvPr/>
        </p:nvSpPr>
        <p:spPr>
          <a:xfrm>
            <a:off x="4211836" y="4388197"/>
            <a:ext cx="1069943" cy="142875"/>
          </a:xfrm>
          <a:prstGeom prst="rect">
            <a:avLst/>
          </a:prstGeom>
          <a:noFill/>
        </p:spPr>
        <p:txBody>
          <a:bodyPr wrap="square" anchor="t" lIns="0" rIns="0" tIns="0" bIns="0">
            <a:noAutofit/>
          </a:bodyPr>
          <a:lstStyle/>
          <a:p>
            <a:pPr algn="l">
              <a:lnSpc>
                <a:spcPts val="1080"/>
              </a:lnSpc>
            </a:pPr>
            <a:r>
              <a:rPr sz="900" b="1">
                <a:solidFill>
                  <a:srgbClr val="555A78"/>
                </a:solidFill>
                <a:latin typeface="Inter"/>
              </a:rPr>
              <a:t>MET EDUFACE</a:t>
            </a:r>
          </a:p>
        </p:txBody>
      </p:sp>
      <p:sp>
        <p:nvSpPr>
          <p:cNvPr id="34" name="TextBox 33"/>
          <p:cNvSpPr txBox="1"/>
          <p:nvPr/>
        </p:nvSpPr>
        <p:spPr>
          <a:xfrm>
            <a:off x="4211836" y="4648498"/>
            <a:ext cx="2008894" cy="428625"/>
          </a:xfrm>
          <a:prstGeom prst="rect">
            <a:avLst/>
          </a:prstGeom>
          <a:noFill/>
        </p:spPr>
        <p:txBody>
          <a:bodyPr wrap="square" anchor="t" lIns="0" rIns="0" tIns="0" bIns="0">
            <a:noAutofit/>
          </a:bodyPr>
          <a:lstStyle/>
          <a:p>
            <a:pPr algn="l">
              <a:lnSpc>
                <a:spcPts val="3600"/>
              </a:lnSpc>
            </a:pPr>
            <a:r>
              <a:rPr sz="3600" b="1">
                <a:solidFill>
                  <a:srgbClr val="000326"/>
                </a:solidFill>
                <a:latin typeface="League Spartan"/>
              </a:rPr>
              <a:t>€ 18.000</a:t>
            </a:r>
          </a:p>
        </p:txBody>
      </p:sp>
      <p:sp>
        <p:nvSpPr>
          <p:cNvPr id="35" name="TextBox 34"/>
          <p:cNvSpPr txBox="1"/>
          <p:nvPr/>
        </p:nvSpPr>
        <p:spPr>
          <a:xfrm>
            <a:off x="4211836" y="5223123"/>
            <a:ext cx="2103739"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Feedback voor elke student</a:t>
            </a:r>
          </a:p>
        </p:txBody>
      </p:sp>
      <p:sp>
        <p:nvSpPr>
          <p:cNvPr id="36" name="Oval 35"/>
          <p:cNvSpPr/>
          <p:nvPr/>
        </p:nvSpPr>
        <p:spPr>
          <a:xfrm>
            <a:off x="4211836"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Oval 36"/>
          <p:cNvSpPr/>
          <p:nvPr/>
        </p:nvSpPr>
        <p:spPr>
          <a:xfrm>
            <a:off x="4451003"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Oval 37"/>
          <p:cNvSpPr/>
          <p:nvPr/>
        </p:nvSpPr>
        <p:spPr>
          <a:xfrm>
            <a:off x="4690170"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9" name="Oval 38"/>
          <p:cNvSpPr/>
          <p:nvPr/>
        </p:nvSpPr>
        <p:spPr>
          <a:xfrm>
            <a:off x="4929336"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0" name="Oval 39"/>
          <p:cNvSpPr/>
          <p:nvPr/>
        </p:nvSpPr>
        <p:spPr>
          <a:xfrm>
            <a:off x="5168503"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Oval 40"/>
          <p:cNvSpPr/>
          <p:nvPr/>
        </p:nvSpPr>
        <p:spPr>
          <a:xfrm>
            <a:off x="5407670"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Oval 41"/>
          <p:cNvSpPr/>
          <p:nvPr/>
        </p:nvSpPr>
        <p:spPr>
          <a:xfrm>
            <a:off x="5646837"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3" name="Oval 42"/>
          <p:cNvSpPr/>
          <p:nvPr/>
        </p:nvSpPr>
        <p:spPr>
          <a:xfrm>
            <a:off x="5886004"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4" name="Oval 43"/>
          <p:cNvSpPr/>
          <p:nvPr/>
        </p:nvSpPr>
        <p:spPr>
          <a:xfrm>
            <a:off x="6125170"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Oval 44"/>
          <p:cNvSpPr/>
          <p:nvPr/>
        </p:nvSpPr>
        <p:spPr>
          <a:xfrm>
            <a:off x="6364337" y="5629573"/>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Oval 45"/>
          <p:cNvSpPr/>
          <p:nvPr/>
        </p:nvSpPr>
        <p:spPr>
          <a:xfrm>
            <a:off x="4211836"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7" name="Oval 46"/>
          <p:cNvSpPr/>
          <p:nvPr/>
        </p:nvSpPr>
        <p:spPr>
          <a:xfrm>
            <a:off x="4451003"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8" name="Oval 47"/>
          <p:cNvSpPr/>
          <p:nvPr/>
        </p:nvSpPr>
        <p:spPr>
          <a:xfrm>
            <a:off x="4690170"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9" name="Oval 48"/>
          <p:cNvSpPr/>
          <p:nvPr/>
        </p:nvSpPr>
        <p:spPr>
          <a:xfrm>
            <a:off x="4929336"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0" name="Oval 49"/>
          <p:cNvSpPr/>
          <p:nvPr/>
        </p:nvSpPr>
        <p:spPr>
          <a:xfrm>
            <a:off x="5168503"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Oval 50"/>
          <p:cNvSpPr/>
          <p:nvPr/>
        </p:nvSpPr>
        <p:spPr>
          <a:xfrm>
            <a:off x="5407670"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Oval 51"/>
          <p:cNvSpPr/>
          <p:nvPr/>
        </p:nvSpPr>
        <p:spPr>
          <a:xfrm>
            <a:off x="5646837"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3" name="Oval 52"/>
          <p:cNvSpPr/>
          <p:nvPr/>
        </p:nvSpPr>
        <p:spPr>
          <a:xfrm>
            <a:off x="5886004"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4" name="Oval 53"/>
          <p:cNvSpPr/>
          <p:nvPr/>
        </p:nvSpPr>
        <p:spPr>
          <a:xfrm>
            <a:off x="6125170"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5" name="Oval 54"/>
          <p:cNvSpPr/>
          <p:nvPr/>
        </p:nvSpPr>
        <p:spPr>
          <a:xfrm>
            <a:off x="6364337" y="5868739"/>
            <a:ext cx="152846" cy="152846"/>
          </a:xfrm>
          <a:prstGeom prst="ellipse">
            <a:avLst/>
          </a:prstGeom>
          <a:solidFill>
            <a:srgbClr val="000326"/>
          </a:solidFill>
          <a:ln w="9525">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6" name="TextBox 55"/>
          <p:cNvSpPr txBox="1"/>
          <p:nvPr/>
        </p:nvSpPr>
        <p:spPr>
          <a:xfrm>
            <a:off x="723900" y="6468666"/>
            <a:ext cx="2055733"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Elke stip is 5% van de studenten.</a:t>
            </a:r>
          </a:p>
        </p:txBody>
      </p:sp>
      <p:sp>
        <p:nvSpPr>
          <p:cNvPr id="57" name="Rounded Rectangle 56"/>
          <p:cNvSpPr/>
          <p:nvPr/>
        </p:nvSpPr>
        <p:spPr>
          <a:xfrm>
            <a:off x="719882" y="6844605"/>
            <a:ext cx="6120110" cy="1422648"/>
          </a:xfrm>
          <a:prstGeom prst="roundRect">
            <a:avLst>
              <a:gd name="adj" fmla="val 15182"/>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8" name="TextBox 57"/>
          <p:cNvSpPr txBox="1"/>
          <p:nvPr/>
        </p:nvSpPr>
        <p:spPr>
          <a:xfrm>
            <a:off x="1043880" y="7178129"/>
            <a:ext cx="3437573" cy="428625"/>
          </a:xfrm>
          <a:prstGeom prst="rect">
            <a:avLst/>
          </a:prstGeom>
          <a:noFill/>
        </p:spPr>
        <p:txBody>
          <a:bodyPr wrap="square" anchor="t" lIns="0" rIns="0" tIns="0" bIns="0">
            <a:noAutofit/>
          </a:bodyPr>
          <a:lstStyle/>
          <a:p>
            <a:pPr algn="l">
              <a:lnSpc>
                <a:spcPts val="3600"/>
              </a:lnSpc>
            </a:pPr>
            <a:r>
              <a:rPr sz="3600" b="1">
                <a:solidFill>
                  <a:srgbClr val="000326"/>
                </a:solidFill>
                <a:latin typeface="League Spartan"/>
              </a:rPr>
              <a:t>76% goedkoper</a:t>
            </a:r>
          </a:p>
        </p:txBody>
      </p:sp>
      <p:sp>
        <p:nvSpPr>
          <p:cNvPr id="59" name="TextBox 58"/>
          <p:cNvSpPr txBox="1"/>
          <p:nvPr/>
        </p:nvSpPr>
        <p:spPr>
          <a:xfrm>
            <a:off x="1043880" y="7752755"/>
            <a:ext cx="2320766"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per student die feedback krijgt</a:t>
            </a:r>
          </a:p>
        </p:txBody>
      </p:sp>
      <p:pic>
        <p:nvPicPr>
          <p:cNvPr id="60" name="Picture 59" descr="academica.png"/>
          <p:cNvPicPr>
            <a:picLocks noChangeAspect="1"/>
          </p:cNvPicPr>
          <p:nvPr/>
        </p:nvPicPr>
        <p:blipFill>
          <a:blip r:embed="rId2"/>
          <a:stretch>
            <a:fillRect/>
          </a:stretch>
        </p:blipFill>
        <p:spPr>
          <a:xfrm>
            <a:off x="742950" y="10182225"/>
            <a:ext cx="784860" cy="152400"/>
          </a:xfrm>
          <a:prstGeom prst="rect">
            <a:avLst/>
          </a:prstGeom>
        </p:spPr>
      </p:pic>
      <p:sp>
        <p:nvSpPr>
          <p:cNvPr id="61" name="TextBox 60"/>
          <p:cNvSpPr txBox="1"/>
          <p:nvPr/>
        </p:nvSpPr>
        <p:spPr>
          <a:xfrm>
            <a:off x="6267450" y="10201275"/>
            <a:ext cx="571500" cy="152400"/>
          </a:xfrm>
          <a:prstGeom prst="rect">
            <a:avLst/>
          </a:prstGeom>
          <a:noFill/>
        </p:spPr>
        <p:txBody>
          <a:bodyPr wrap="none" lIns="0" rIns="0" tIns="0" bIns="0">
            <a:spAutoFit/>
          </a:bodyPr>
          <a:lstStyle/>
          <a:p>
            <a:pPr algn="r"/>
            <a:r>
              <a:rPr sz="800">
                <a:solidFill>
                  <a:srgbClr val="555A78"/>
                </a:solidFill>
                <a:latin typeface="Inter"/>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850" cy="10696575"/>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23900" y="575965"/>
            <a:ext cx="242006" cy="142875"/>
          </a:xfrm>
          <a:prstGeom prst="rect">
            <a:avLst/>
          </a:prstGeom>
          <a:noFill/>
        </p:spPr>
        <p:txBody>
          <a:bodyPr wrap="square" anchor="t" lIns="0" rIns="0" tIns="0" bIns="0">
            <a:noAutofit/>
          </a:bodyPr>
          <a:lstStyle/>
          <a:p>
            <a:pPr algn="l">
              <a:lnSpc>
                <a:spcPts val="1080"/>
              </a:lnSpc>
            </a:pPr>
            <a:r>
              <a:rPr sz="900" b="1">
                <a:solidFill>
                  <a:srgbClr val="FFFFFF"/>
                </a:solidFill>
                <a:latin typeface="Inter"/>
              </a:rPr>
              <a:t>02</a:t>
            </a:r>
          </a:p>
        </p:txBody>
      </p:sp>
      <p:sp>
        <p:nvSpPr>
          <p:cNvPr id="4" name="TextBox 3"/>
          <p:cNvSpPr txBox="1"/>
          <p:nvPr/>
        </p:nvSpPr>
        <p:spPr>
          <a:xfrm>
            <a:off x="723900" y="819299"/>
            <a:ext cx="1269468" cy="352425"/>
          </a:xfrm>
          <a:prstGeom prst="rect">
            <a:avLst/>
          </a:prstGeom>
          <a:noFill/>
        </p:spPr>
        <p:txBody>
          <a:bodyPr wrap="square" anchor="t" lIns="0" rIns="0" tIns="0" bIns="0">
            <a:noAutofit/>
          </a:bodyPr>
          <a:lstStyle/>
          <a:p>
            <a:pPr algn="l">
              <a:lnSpc>
                <a:spcPts val="3300"/>
              </a:lnSpc>
            </a:pPr>
            <a:r>
              <a:rPr sz="3000" b="1">
                <a:solidFill>
                  <a:srgbClr val="FFFFFF"/>
                </a:solidFill>
                <a:latin typeface="League Spartan"/>
              </a:rPr>
              <a:t>Kosten</a:t>
            </a:r>
          </a:p>
        </p:txBody>
      </p:sp>
      <p:sp>
        <p:nvSpPr>
          <p:cNvPr id="5" name="Rounded Rectangle 4"/>
          <p:cNvSpPr/>
          <p:nvPr/>
        </p:nvSpPr>
        <p:spPr>
          <a:xfrm>
            <a:off x="719882" y="1795165"/>
            <a:ext cx="6120110" cy="3347591"/>
          </a:xfrm>
          <a:prstGeom prst="roundRect">
            <a:avLst>
              <a:gd name="adj" fmla="val 6452"/>
            </a:avLst>
          </a:prstGeom>
          <a:solidFill>
            <a:srgbClr val="E4E0F5"/>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TextBox 5"/>
          <p:cNvSpPr txBox="1"/>
          <p:nvPr/>
        </p:nvSpPr>
        <p:spPr>
          <a:xfrm>
            <a:off x="1043880" y="2128689"/>
            <a:ext cx="1477494" cy="428625"/>
          </a:xfrm>
          <a:prstGeom prst="rect">
            <a:avLst/>
          </a:prstGeom>
          <a:noFill/>
        </p:spPr>
        <p:txBody>
          <a:bodyPr wrap="square" anchor="t" lIns="0" rIns="0" tIns="0" bIns="0">
            <a:noAutofit/>
          </a:bodyPr>
          <a:lstStyle/>
          <a:p>
            <a:pPr algn="l">
              <a:lnSpc>
                <a:spcPts val="3600"/>
              </a:lnSpc>
            </a:pPr>
            <a:r>
              <a:rPr sz="3600" b="1">
                <a:solidFill>
                  <a:srgbClr val="000326"/>
                </a:solidFill>
                <a:latin typeface="League Spartan"/>
              </a:rPr>
              <a:t>€ 3,75</a:t>
            </a:r>
          </a:p>
        </p:txBody>
      </p:sp>
      <p:sp>
        <p:nvSpPr>
          <p:cNvPr id="7" name="TextBox 6"/>
          <p:cNvSpPr txBox="1"/>
          <p:nvPr/>
        </p:nvSpPr>
        <p:spPr>
          <a:xfrm>
            <a:off x="1043880" y="2703314"/>
            <a:ext cx="2928842"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per student per maand* · exclusief btw</a:t>
            </a:r>
          </a:p>
        </p:txBody>
      </p:sp>
      <p:sp>
        <p:nvSpPr>
          <p:cNvPr id="8" name="Rounded Rectangle 7"/>
          <p:cNvSpPr/>
          <p:nvPr/>
        </p:nvSpPr>
        <p:spPr>
          <a:xfrm>
            <a:off x="1043880" y="3109764"/>
            <a:ext cx="5472112" cy="1405086"/>
          </a:xfrm>
          <a:prstGeom prst="roundRect">
            <a:avLst>
              <a:gd name="adj" fmla="val 8967"/>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TextBox 8"/>
          <p:cNvSpPr txBox="1"/>
          <p:nvPr/>
        </p:nvSpPr>
        <p:spPr>
          <a:xfrm>
            <a:off x="1259830" y="3335238"/>
            <a:ext cx="3889796" cy="171450"/>
          </a:xfrm>
          <a:prstGeom prst="rect">
            <a:avLst/>
          </a:prstGeom>
          <a:noFill/>
        </p:spPr>
        <p:txBody>
          <a:bodyPr wrap="square" anchor="t" lIns="0" rIns="0" tIns="0" bIns="0">
            <a:noAutofit/>
          </a:bodyPr>
          <a:lstStyle/>
          <a:p>
            <a:pPr algn="l">
              <a:lnSpc>
                <a:spcPts val="1595"/>
              </a:lnSpc>
            </a:pPr>
            <a:r>
              <a:rPr sz="1100" b="1">
                <a:solidFill>
                  <a:srgbClr val="000326"/>
                </a:solidFill>
                <a:latin typeface="Inter"/>
              </a:rPr>
              <a:t>Hoe meer studenten, hoe lager de prijs per student</a:t>
            </a:r>
          </a:p>
        </p:txBody>
      </p:sp>
      <p:sp>
        <p:nvSpPr>
          <p:cNvPr id="10" name="TextBox 9"/>
          <p:cNvSpPr txBox="1"/>
          <p:nvPr/>
        </p:nvSpPr>
        <p:spPr>
          <a:xfrm>
            <a:off x="1259830" y="3528268"/>
            <a:ext cx="1730026"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Prijs per student per maand</a:t>
            </a:r>
          </a:p>
        </p:txBody>
      </p:sp>
      <p:sp>
        <p:nvSpPr>
          <p:cNvPr id="11" name="TextBox 10"/>
          <p:cNvSpPr txBox="1"/>
          <p:nvPr/>
        </p:nvSpPr>
        <p:spPr>
          <a:xfrm>
            <a:off x="1259830" y="3868192"/>
            <a:ext cx="1099947" cy="152400"/>
          </a:xfrm>
          <a:prstGeom prst="rect">
            <a:avLst/>
          </a:prstGeom>
          <a:noFill/>
        </p:spPr>
        <p:txBody>
          <a:bodyPr wrap="square" anchor="t" lIns="0" rIns="0" tIns="0" bIns="0">
            <a:noAutofit/>
          </a:bodyPr>
          <a:lstStyle/>
          <a:p>
            <a:pPr algn="l">
              <a:lnSpc>
                <a:spcPts val="1199"/>
              </a:lnSpc>
            </a:pPr>
            <a:r>
              <a:rPr sz="999" b="1">
                <a:solidFill>
                  <a:srgbClr val="000326"/>
                </a:solidFill>
                <a:latin typeface="Inter"/>
              </a:rPr>
              <a:t>Tot en met 400</a:t>
            </a:r>
          </a:p>
        </p:txBody>
      </p:sp>
      <p:sp>
        <p:nvSpPr>
          <p:cNvPr id="12" name="Rounded Rectangle 11"/>
          <p:cNvSpPr/>
          <p:nvPr/>
        </p:nvSpPr>
        <p:spPr>
          <a:xfrm>
            <a:off x="2627709" y="3890367"/>
            <a:ext cx="2808536" cy="107900"/>
          </a:xfrm>
          <a:prstGeom prst="roundRect">
            <a:avLst>
              <a:gd name="adj" fmla="val 50000"/>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Rounded Rectangle 12"/>
          <p:cNvSpPr/>
          <p:nvPr/>
        </p:nvSpPr>
        <p:spPr>
          <a:xfrm>
            <a:off x="2627709" y="3890367"/>
            <a:ext cx="2808536" cy="107900"/>
          </a:xfrm>
          <a:prstGeom prst="roundRect">
            <a:avLst>
              <a:gd name="adj" fmla="val 50000"/>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TextBox 13"/>
          <p:cNvSpPr txBox="1"/>
          <p:nvPr/>
        </p:nvSpPr>
        <p:spPr>
          <a:xfrm>
            <a:off x="5813173" y="3868192"/>
            <a:ext cx="486870"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€ 3,75</a:t>
            </a:r>
          </a:p>
        </p:txBody>
      </p:sp>
      <p:sp>
        <p:nvSpPr>
          <p:cNvPr id="15" name="TextBox 14"/>
          <p:cNvSpPr txBox="1"/>
          <p:nvPr/>
        </p:nvSpPr>
        <p:spPr>
          <a:xfrm>
            <a:off x="1259830" y="4146500"/>
            <a:ext cx="1007102" cy="152400"/>
          </a:xfrm>
          <a:prstGeom prst="rect">
            <a:avLst/>
          </a:prstGeom>
          <a:noFill/>
        </p:spPr>
        <p:txBody>
          <a:bodyPr wrap="square" anchor="t" lIns="0" rIns="0" tIns="0" bIns="0">
            <a:noAutofit/>
          </a:bodyPr>
          <a:lstStyle/>
          <a:p>
            <a:pPr algn="l">
              <a:lnSpc>
                <a:spcPts val="1199"/>
              </a:lnSpc>
            </a:pPr>
            <a:r>
              <a:rPr sz="999" b="0">
                <a:solidFill>
                  <a:srgbClr val="555A78"/>
                </a:solidFill>
                <a:latin typeface="Inter"/>
              </a:rPr>
              <a:t>Meer dan 400</a:t>
            </a:r>
          </a:p>
        </p:txBody>
      </p:sp>
      <p:sp>
        <p:nvSpPr>
          <p:cNvPr id="16" name="Rounded Rectangle 15"/>
          <p:cNvSpPr/>
          <p:nvPr/>
        </p:nvSpPr>
        <p:spPr>
          <a:xfrm>
            <a:off x="2627709" y="4168676"/>
            <a:ext cx="2808536" cy="107900"/>
          </a:xfrm>
          <a:prstGeom prst="roundRect">
            <a:avLst>
              <a:gd name="adj" fmla="val 50000"/>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Rounded Rectangle 16"/>
          <p:cNvSpPr/>
          <p:nvPr/>
        </p:nvSpPr>
        <p:spPr>
          <a:xfrm>
            <a:off x="2627709" y="4168676"/>
            <a:ext cx="2246709" cy="107900"/>
          </a:xfrm>
          <a:prstGeom prst="roundRect">
            <a:avLst>
              <a:gd name="adj" fmla="val 50000"/>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5794171" y="4146500"/>
            <a:ext cx="505873"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€ 3,00</a:t>
            </a:r>
          </a:p>
        </p:txBody>
      </p:sp>
      <p:sp>
        <p:nvSpPr>
          <p:cNvPr id="19" name="TextBox 18"/>
          <p:cNvSpPr txBox="1"/>
          <p:nvPr/>
        </p:nvSpPr>
        <p:spPr>
          <a:xfrm>
            <a:off x="1043880" y="4658767"/>
            <a:ext cx="3991975"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 Minimaal € 1.500 per maand, dat dekt de eerste 400 studenten.</a:t>
            </a:r>
          </a:p>
        </p:txBody>
      </p:sp>
      <p:sp>
        <p:nvSpPr>
          <p:cNvPr id="20" name="Rounded Rectangle 19"/>
          <p:cNvSpPr/>
          <p:nvPr/>
        </p:nvSpPr>
        <p:spPr>
          <a:xfrm>
            <a:off x="666750" y="10125075"/>
            <a:ext cx="904875" cy="266700"/>
          </a:xfrm>
          <a:prstGeom prst="roundRect">
            <a:avLst>
              <a:gd name="adj" fmla="val 30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academica.png"/>
          <p:cNvPicPr>
            <a:picLocks noChangeAspect="1"/>
          </p:cNvPicPr>
          <p:nvPr/>
        </p:nvPicPr>
        <p:blipFill>
          <a:blip r:embed="rId2"/>
          <a:stretch>
            <a:fillRect/>
          </a:stretch>
        </p:blipFill>
        <p:spPr>
          <a:xfrm>
            <a:off x="742950" y="10182225"/>
            <a:ext cx="784860" cy="152400"/>
          </a:xfrm>
          <a:prstGeom prst="rect">
            <a:avLst/>
          </a:prstGeom>
        </p:spPr>
      </p:pic>
      <p:sp>
        <p:nvSpPr>
          <p:cNvPr id="22" name="TextBox 21"/>
          <p:cNvSpPr txBox="1"/>
          <p:nvPr/>
        </p:nvSpPr>
        <p:spPr>
          <a:xfrm>
            <a:off x="6267450" y="10201275"/>
            <a:ext cx="571500" cy="152400"/>
          </a:xfrm>
          <a:prstGeom prst="rect">
            <a:avLst/>
          </a:prstGeom>
          <a:noFill/>
        </p:spPr>
        <p:txBody>
          <a:bodyPr wrap="none" lIns="0" rIns="0" tIns="0" bIns="0">
            <a:spAutoFit/>
          </a:bodyPr>
          <a:lstStyle/>
          <a:p>
            <a:pPr algn="r"/>
            <a:r>
              <a:rPr sz="800">
                <a:solidFill>
                  <a:srgbClr val="B3B5C6"/>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59873" cy="1605707"/>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23900" y="575965"/>
            <a:ext cx="243673" cy="142875"/>
          </a:xfrm>
          <a:prstGeom prst="rect">
            <a:avLst/>
          </a:prstGeom>
          <a:noFill/>
        </p:spPr>
        <p:txBody>
          <a:bodyPr wrap="square" anchor="t" lIns="0" rIns="0" tIns="0" bIns="0">
            <a:noAutofit/>
          </a:bodyPr>
          <a:lstStyle/>
          <a:p>
            <a:pPr algn="l">
              <a:lnSpc>
                <a:spcPts val="1080"/>
              </a:lnSpc>
            </a:pPr>
            <a:r>
              <a:rPr sz="900" b="1">
                <a:solidFill>
                  <a:srgbClr val="FFFFFF"/>
                </a:solidFill>
                <a:latin typeface="Inter"/>
              </a:rPr>
              <a:t>03</a:t>
            </a:r>
          </a:p>
        </p:txBody>
      </p:sp>
      <p:sp>
        <p:nvSpPr>
          <p:cNvPr id="4" name="TextBox 3"/>
          <p:cNvSpPr txBox="1"/>
          <p:nvPr/>
        </p:nvSpPr>
        <p:spPr>
          <a:xfrm>
            <a:off x="723900" y="819299"/>
            <a:ext cx="2002226" cy="352425"/>
          </a:xfrm>
          <a:prstGeom prst="rect">
            <a:avLst/>
          </a:prstGeom>
          <a:noFill/>
        </p:spPr>
        <p:txBody>
          <a:bodyPr wrap="square" anchor="t" lIns="0" rIns="0" tIns="0" bIns="0">
            <a:noAutofit/>
          </a:bodyPr>
          <a:lstStyle/>
          <a:p>
            <a:pPr algn="l">
              <a:lnSpc>
                <a:spcPts val="3300"/>
              </a:lnSpc>
            </a:pPr>
            <a:r>
              <a:rPr sz="3000" b="1">
                <a:solidFill>
                  <a:srgbClr val="FFFFFF"/>
                </a:solidFill>
                <a:latin typeface="League Spartan"/>
              </a:rPr>
              <a:t>Opbrengst</a:t>
            </a:r>
          </a:p>
        </p:txBody>
      </p:sp>
      <p:sp>
        <p:nvSpPr>
          <p:cNvPr id="5" name="Rounded Rectangle 4"/>
          <p:cNvSpPr/>
          <p:nvPr/>
        </p:nvSpPr>
        <p:spPr>
          <a:xfrm>
            <a:off x="719882" y="1965573"/>
            <a:ext cx="6120110" cy="2999482"/>
          </a:xfrm>
          <a:prstGeom prst="roundRect">
            <a:avLst>
              <a:gd name="adj" fmla="val 7201"/>
            </a:avLst>
          </a:prstGeom>
          <a:solidFill>
            <a:srgbClr val="DFE8F3"/>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Rounded Rectangle 5"/>
          <p:cNvSpPr/>
          <p:nvPr/>
        </p:nvSpPr>
        <p:spPr>
          <a:xfrm>
            <a:off x="1043880" y="2289572"/>
            <a:ext cx="359866" cy="359866"/>
          </a:xfrm>
          <a:prstGeom prst="roundRect">
            <a:avLst>
              <a:gd name="adj" fmla="val 30011"/>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svg-2-0.png"/>
          <p:cNvPicPr>
            <a:picLocks noChangeAspect="1"/>
          </p:cNvPicPr>
          <p:nvPr/>
        </p:nvPicPr>
        <p:blipFill>
          <a:blip r:embed="rId2"/>
          <a:stretch>
            <a:fillRect/>
          </a:stretch>
        </p:blipFill>
        <p:spPr>
          <a:xfrm>
            <a:off x="1133773" y="2379464"/>
            <a:ext cx="179933" cy="179933"/>
          </a:xfrm>
          <a:prstGeom prst="rect">
            <a:avLst/>
          </a:prstGeom>
        </p:spPr>
      </p:pic>
      <p:sp>
        <p:nvSpPr>
          <p:cNvPr id="8" name="TextBox 7"/>
          <p:cNvSpPr txBox="1"/>
          <p:nvPr/>
        </p:nvSpPr>
        <p:spPr>
          <a:xfrm>
            <a:off x="1547664" y="2368451"/>
            <a:ext cx="2291763"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Uniforme beoordeling</a:t>
            </a:r>
          </a:p>
        </p:txBody>
      </p:sp>
      <p:sp>
        <p:nvSpPr>
          <p:cNvPr id="9" name="TextBox 8"/>
          <p:cNvSpPr txBox="1"/>
          <p:nvPr/>
        </p:nvSpPr>
        <p:spPr>
          <a:xfrm>
            <a:off x="1043880" y="2776389"/>
            <a:ext cx="5795070"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Elke opdracht wordt langs dezelfde criteria beoordeeld, door elke beoordelaar.</a:t>
            </a:r>
          </a:p>
        </p:txBody>
      </p:sp>
      <p:sp>
        <p:nvSpPr>
          <p:cNvPr id="10" name="Rounded Rectangle 9"/>
          <p:cNvSpPr/>
          <p:nvPr/>
        </p:nvSpPr>
        <p:spPr>
          <a:xfrm>
            <a:off x="1043880" y="3182838"/>
            <a:ext cx="2628007" cy="1458218"/>
          </a:xfrm>
          <a:prstGeom prst="roundRect">
            <a:avLst>
              <a:gd name="adj" fmla="val 864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1259830" y="3408313"/>
            <a:ext cx="602218" cy="171450"/>
          </a:xfrm>
          <a:prstGeom prst="rect">
            <a:avLst/>
          </a:prstGeom>
          <a:noFill/>
        </p:spPr>
        <p:txBody>
          <a:bodyPr wrap="square" anchor="t" lIns="0" rIns="0" tIns="0" bIns="0">
            <a:noAutofit/>
          </a:bodyPr>
          <a:lstStyle/>
          <a:p>
            <a:pPr algn="l">
              <a:lnSpc>
                <a:spcPts val="1595"/>
              </a:lnSpc>
            </a:pPr>
            <a:r>
              <a:rPr sz="1100" b="1">
                <a:solidFill>
                  <a:srgbClr val="000326"/>
                </a:solidFill>
                <a:latin typeface="Inter"/>
              </a:rPr>
              <a:t>Zonder</a:t>
            </a:r>
          </a:p>
        </p:txBody>
      </p:sp>
      <p:sp>
        <p:nvSpPr>
          <p:cNvPr id="12" name="TextBox 11"/>
          <p:cNvSpPr txBox="1"/>
          <p:nvPr/>
        </p:nvSpPr>
        <p:spPr>
          <a:xfrm>
            <a:off x="1259830" y="3601343"/>
            <a:ext cx="2214420"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Elke beoordelaar met een eigen blik</a:t>
            </a:r>
          </a:p>
        </p:txBody>
      </p:sp>
      <p:sp>
        <p:nvSpPr>
          <p:cNvPr id="13" name="Rectangle 12"/>
          <p:cNvSpPr/>
          <p:nvPr/>
        </p:nvSpPr>
        <p:spPr>
          <a:xfrm>
            <a:off x="1259830" y="4078039"/>
            <a:ext cx="2196108" cy="14288"/>
          </a:xfrm>
          <a:prstGeom prst="rect">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Oval 13"/>
          <p:cNvSpPr/>
          <p:nvPr/>
        </p:nvSpPr>
        <p:spPr>
          <a:xfrm>
            <a:off x="1491555" y="4009579"/>
            <a:ext cx="151061" cy="151061"/>
          </a:xfrm>
          <a:prstGeom prst="ellipse">
            <a:avLst/>
          </a:prstGeom>
          <a:solidFill>
            <a:srgbClr val="FFFFFF"/>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Oval 14"/>
          <p:cNvSpPr/>
          <p:nvPr/>
        </p:nvSpPr>
        <p:spPr>
          <a:xfrm>
            <a:off x="2106513" y="4009579"/>
            <a:ext cx="151061" cy="151061"/>
          </a:xfrm>
          <a:prstGeom prst="ellipse">
            <a:avLst/>
          </a:prstGeom>
          <a:solidFill>
            <a:srgbClr val="FFFFFF"/>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Oval 15"/>
          <p:cNvSpPr/>
          <p:nvPr/>
        </p:nvSpPr>
        <p:spPr>
          <a:xfrm>
            <a:off x="2567732" y="4009579"/>
            <a:ext cx="151061" cy="151061"/>
          </a:xfrm>
          <a:prstGeom prst="ellipse">
            <a:avLst/>
          </a:prstGeom>
          <a:solidFill>
            <a:srgbClr val="FFFFFF"/>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Oval 16"/>
          <p:cNvSpPr/>
          <p:nvPr/>
        </p:nvSpPr>
        <p:spPr>
          <a:xfrm>
            <a:off x="3116759" y="4009579"/>
            <a:ext cx="151061" cy="151061"/>
          </a:xfrm>
          <a:prstGeom prst="ellipse">
            <a:avLst/>
          </a:prstGeom>
          <a:solidFill>
            <a:srgbClr val="FFFFFF"/>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TextBox 17"/>
          <p:cNvSpPr txBox="1"/>
          <p:nvPr/>
        </p:nvSpPr>
        <p:spPr>
          <a:xfrm>
            <a:off x="1259830" y="4265116"/>
            <a:ext cx="578882"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Strenger</a:t>
            </a:r>
          </a:p>
        </p:txBody>
      </p:sp>
      <p:sp>
        <p:nvSpPr>
          <p:cNvPr id="19" name="TextBox 18"/>
          <p:cNvSpPr txBox="1"/>
          <p:nvPr/>
        </p:nvSpPr>
        <p:spPr>
          <a:xfrm>
            <a:off x="3117652" y="4265116"/>
            <a:ext cx="436031"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Milder</a:t>
            </a:r>
          </a:p>
        </p:txBody>
      </p:sp>
      <p:sp>
        <p:nvSpPr>
          <p:cNvPr id="20" name="Rounded Rectangle 19"/>
          <p:cNvSpPr/>
          <p:nvPr/>
        </p:nvSpPr>
        <p:spPr>
          <a:xfrm>
            <a:off x="3887837" y="3182838"/>
            <a:ext cx="2628156" cy="1458218"/>
          </a:xfrm>
          <a:prstGeom prst="roundRect">
            <a:avLst>
              <a:gd name="adj" fmla="val 864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TextBox 20"/>
          <p:cNvSpPr txBox="1"/>
          <p:nvPr/>
        </p:nvSpPr>
        <p:spPr>
          <a:xfrm>
            <a:off x="4103787" y="3408313"/>
            <a:ext cx="1007769" cy="171450"/>
          </a:xfrm>
          <a:prstGeom prst="rect">
            <a:avLst/>
          </a:prstGeom>
          <a:noFill/>
        </p:spPr>
        <p:txBody>
          <a:bodyPr wrap="square" anchor="t" lIns="0" rIns="0" tIns="0" bIns="0">
            <a:noAutofit/>
          </a:bodyPr>
          <a:lstStyle/>
          <a:p>
            <a:pPr algn="l">
              <a:lnSpc>
                <a:spcPts val="1595"/>
              </a:lnSpc>
            </a:pPr>
            <a:r>
              <a:rPr sz="1100" b="1">
                <a:solidFill>
                  <a:srgbClr val="000326"/>
                </a:solidFill>
                <a:latin typeface="Inter"/>
              </a:rPr>
              <a:t>Met Eduface</a:t>
            </a:r>
          </a:p>
        </p:txBody>
      </p:sp>
      <p:sp>
        <p:nvSpPr>
          <p:cNvPr id="22" name="TextBox 21"/>
          <p:cNvSpPr txBox="1"/>
          <p:nvPr/>
        </p:nvSpPr>
        <p:spPr>
          <a:xfrm>
            <a:off x="4103787" y="3601343"/>
            <a:ext cx="1966222"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Iedereen langs dezelfde criteria</a:t>
            </a:r>
          </a:p>
        </p:txBody>
      </p:sp>
      <p:sp>
        <p:nvSpPr>
          <p:cNvPr id="23" name="Rectangle 22"/>
          <p:cNvSpPr/>
          <p:nvPr/>
        </p:nvSpPr>
        <p:spPr>
          <a:xfrm>
            <a:off x="4103787" y="4078039"/>
            <a:ext cx="2196257" cy="14288"/>
          </a:xfrm>
          <a:prstGeom prst="rect">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Oval 23"/>
          <p:cNvSpPr/>
          <p:nvPr/>
        </p:nvSpPr>
        <p:spPr>
          <a:xfrm>
            <a:off x="4994523" y="4009579"/>
            <a:ext cx="151061" cy="151061"/>
          </a:xfrm>
          <a:prstGeom prst="ellipse">
            <a:avLst/>
          </a:prstGeom>
          <a:solidFill>
            <a:srgbClr val="000326"/>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Oval 24"/>
          <p:cNvSpPr/>
          <p:nvPr/>
        </p:nvSpPr>
        <p:spPr>
          <a:xfrm>
            <a:off x="5126236" y="4009579"/>
            <a:ext cx="151061" cy="151061"/>
          </a:xfrm>
          <a:prstGeom prst="ellipse">
            <a:avLst/>
          </a:prstGeom>
          <a:solidFill>
            <a:srgbClr val="000326"/>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Oval 25"/>
          <p:cNvSpPr/>
          <p:nvPr/>
        </p:nvSpPr>
        <p:spPr>
          <a:xfrm>
            <a:off x="5257949" y="4009579"/>
            <a:ext cx="151061" cy="151061"/>
          </a:xfrm>
          <a:prstGeom prst="ellipse">
            <a:avLst/>
          </a:prstGeom>
          <a:solidFill>
            <a:srgbClr val="000326"/>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Oval 26"/>
          <p:cNvSpPr/>
          <p:nvPr/>
        </p:nvSpPr>
        <p:spPr>
          <a:xfrm>
            <a:off x="5389811" y="4009579"/>
            <a:ext cx="151061" cy="151061"/>
          </a:xfrm>
          <a:prstGeom prst="ellipse">
            <a:avLst/>
          </a:prstGeom>
          <a:solidFill>
            <a:srgbClr val="000326"/>
          </a:solidFill>
          <a:ln w="19050">
            <a:solidFill>
              <a:srgbClr val="000326"/>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4103787" y="4265116"/>
            <a:ext cx="578882"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Strenger</a:t>
            </a:r>
          </a:p>
        </p:txBody>
      </p:sp>
      <p:sp>
        <p:nvSpPr>
          <p:cNvPr id="29" name="TextBox 28"/>
          <p:cNvSpPr txBox="1"/>
          <p:nvPr/>
        </p:nvSpPr>
        <p:spPr>
          <a:xfrm>
            <a:off x="5961757" y="4265116"/>
            <a:ext cx="436031"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Milder</a:t>
            </a:r>
          </a:p>
        </p:txBody>
      </p:sp>
      <p:sp>
        <p:nvSpPr>
          <p:cNvPr id="30" name="Rounded Rectangle 29"/>
          <p:cNvSpPr/>
          <p:nvPr/>
        </p:nvSpPr>
        <p:spPr>
          <a:xfrm>
            <a:off x="719882" y="5181005"/>
            <a:ext cx="6120110" cy="2527995"/>
          </a:xfrm>
          <a:prstGeom prst="roundRect">
            <a:avLst>
              <a:gd name="adj" fmla="val 8544"/>
            </a:avLst>
          </a:prstGeom>
          <a:solidFill>
            <a:srgbClr val="EEF3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1" name="Rounded Rectangle 30"/>
          <p:cNvSpPr/>
          <p:nvPr/>
        </p:nvSpPr>
        <p:spPr>
          <a:xfrm>
            <a:off x="1043880" y="5505004"/>
            <a:ext cx="359866" cy="359866"/>
          </a:xfrm>
          <a:prstGeom prst="roundRect">
            <a:avLst>
              <a:gd name="adj" fmla="val 30011"/>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2" name="Picture 31" descr="svg-2-1.png"/>
          <p:cNvPicPr>
            <a:picLocks noChangeAspect="1"/>
          </p:cNvPicPr>
          <p:nvPr/>
        </p:nvPicPr>
        <p:blipFill>
          <a:blip r:embed="rId3"/>
          <a:stretch>
            <a:fillRect/>
          </a:stretch>
        </p:blipFill>
        <p:spPr>
          <a:xfrm>
            <a:off x="1133773" y="5594896"/>
            <a:ext cx="179933" cy="179933"/>
          </a:xfrm>
          <a:prstGeom prst="rect">
            <a:avLst/>
          </a:prstGeom>
        </p:spPr>
      </p:pic>
      <p:sp>
        <p:nvSpPr>
          <p:cNvPr id="33" name="TextBox 32"/>
          <p:cNvSpPr txBox="1"/>
          <p:nvPr/>
        </p:nvSpPr>
        <p:spPr>
          <a:xfrm>
            <a:off x="1547664" y="5583882"/>
            <a:ext cx="4066818"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Formatieve feedback voor elke student</a:t>
            </a:r>
          </a:p>
        </p:txBody>
      </p:sp>
      <p:sp>
        <p:nvSpPr>
          <p:cNvPr id="34" name="TextBox 33"/>
          <p:cNvSpPr txBox="1"/>
          <p:nvPr/>
        </p:nvSpPr>
        <p:spPr>
          <a:xfrm>
            <a:off x="1043880" y="5991820"/>
            <a:ext cx="4981277" cy="38100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Nu krijgt de helft van de studenten formatieve feedback. Met Eduface is dat iedereen.</a:t>
            </a:r>
          </a:p>
        </p:txBody>
      </p:sp>
      <p:sp>
        <p:nvSpPr>
          <p:cNvPr id="35" name="TextBox 34"/>
          <p:cNvSpPr txBox="1"/>
          <p:nvPr/>
        </p:nvSpPr>
        <p:spPr>
          <a:xfrm>
            <a:off x="1043880" y="6571804"/>
            <a:ext cx="1176123" cy="152400"/>
          </a:xfrm>
          <a:prstGeom prst="rect">
            <a:avLst/>
          </a:prstGeom>
          <a:noFill/>
        </p:spPr>
        <p:txBody>
          <a:bodyPr wrap="square" anchor="t" lIns="0" rIns="0" tIns="0" bIns="0">
            <a:noAutofit/>
          </a:bodyPr>
          <a:lstStyle/>
          <a:p>
            <a:pPr algn="l">
              <a:lnSpc>
                <a:spcPts val="1199"/>
              </a:lnSpc>
            </a:pPr>
            <a:r>
              <a:rPr sz="999" b="0">
                <a:solidFill>
                  <a:srgbClr val="555A78"/>
                </a:solidFill>
                <a:latin typeface="Inter"/>
              </a:rPr>
              <a:t>Nu, voor de helft</a:t>
            </a:r>
          </a:p>
        </p:txBody>
      </p:sp>
      <p:sp>
        <p:nvSpPr>
          <p:cNvPr id="36" name="Rounded Rectangle 35"/>
          <p:cNvSpPr/>
          <p:nvPr/>
        </p:nvSpPr>
        <p:spPr>
          <a:xfrm>
            <a:off x="2411760" y="6593979"/>
            <a:ext cx="3240435" cy="107900"/>
          </a:xfrm>
          <a:prstGeom prst="roundRect">
            <a:avLst>
              <a:gd name="adj" fmla="val 50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Rounded Rectangle 36"/>
          <p:cNvSpPr/>
          <p:nvPr/>
        </p:nvSpPr>
        <p:spPr>
          <a:xfrm>
            <a:off x="2411760" y="6593979"/>
            <a:ext cx="1620143" cy="107900"/>
          </a:xfrm>
          <a:prstGeom prst="roundRect">
            <a:avLst>
              <a:gd name="adj" fmla="val 50000"/>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TextBox 37"/>
          <p:cNvSpPr txBox="1"/>
          <p:nvPr/>
        </p:nvSpPr>
        <p:spPr>
          <a:xfrm>
            <a:off x="5826764" y="6571804"/>
            <a:ext cx="689229"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€ 36.000</a:t>
            </a:r>
          </a:p>
        </p:txBody>
      </p:sp>
      <p:sp>
        <p:nvSpPr>
          <p:cNvPr id="39" name="TextBox 38"/>
          <p:cNvSpPr txBox="1"/>
          <p:nvPr/>
        </p:nvSpPr>
        <p:spPr>
          <a:xfrm>
            <a:off x="1043880" y="6850112"/>
            <a:ext cx="1388983" cy="152400"/>
          </a:xfrm>
          <a:prstGeom prst="rect">
            <a:avLst/>
          </a:prstGeom>
          <a:noFill/>
        </p:spPr>
        <p:txBody>
          <a:bodyPr wrap="square" anchor="t" lIns="0" rIns="0" tIns="0" bIns="0">
            <a:noAutofit/>
          </a:bodyPr>
          <a:lstStyle/>
          <a:p>
            <a:pPr algn="l">
              <a:lnSpc>
                <a:spcPts val="1199"/>
              </a:lnSpc>
            </a:pPr>
            <a:r>
              <a:rPr sz="999" b="1">
                <a:solidFill>
                  <a:srgbClr val="000326"/>
                </a:solidFill>
                <a:latin typeface="Inter"/>
              </a:rPr>
              <a:t>Voor alle studenten</a:t>
            </a:r>
          </a:p>
        </p:txBody>
      </p:sp>
      <p:sp>
        <p:nvSpPr>
          <p:cNvPr id="40" name="Rounded Rectangle 39"/>
          <p:cNvSpPr/>
          <p:nvPr/>
        </p:nvSpPr>
        <p:spPr>
          <a:xfrm>
            <a:off x="2411760" y="6872288"/>
            <a:ext cx="3240435" cy="107900"/>
          </a:xfrm>
          <a:prstGeom prst="roundRect">
            <a:avLst>
              <a:gd name="adj" fmla="val 50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Rounded Rectangle 40"/>
          <p:cNvSpPr/>
          <p:nvPr/>
        </p:nvSpPr>
        <p:spPr>
          <a:xfrm>
            <a:off x="2411760" y="6872288"/>
            <a:ext cx="3240435" cy="107900"/>
          </a:xfrm>
          <a:prstGeom prst="roundRect">
            <a:avLst>
              <a:gd name="adj" fmla="val 50000"/>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TextBox 41"/>
          <p:cNvSpPr txBox="1"/>
          <p:nvPr/>
        </p:nvSpPr>
        <p:spPr>
          <a:xfrm>
            <a:off x="5833098" y="6850112"/>
            <a:ext cx="682895"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€ 72.000</a:t>
            </a:r>
          </a:p>
        </p:txBody>
      </p:sp>
      <p:sp>
        <p:nvSpPr>
          <p:cNvPr id="43" name="TextBox 42"/>
          <p:cNvSpPr txBox="1"/>
          <p:nvPr/>
        </p:nvSpPr>
        <p:spPr>
          <a:xfrm>
            <a:off x="1043880" y="7191970"/>
            <a:ext cx="5694021" cy="171450"/>
          </a:xfrm>
          <a:prstGeom prst="rect">
            <a:avLst/>
          </a:prstGeom>
          <a:noFill/>
        </p:spPr>
        <p:txBody>
          <a:bodyPr wrap="square" anchor="t" lIns="0" rIns="0" tIns="0" bIns="0">
            <a:noAutofit/>
          </a:bodyPr>
          <a:lstStyle/>
          <a:p>
            <a:pPr algn="l">
              <a:lnSpc>
                <a:spcPts val="1595"/>
              </a:lnSpc>
            </a:pPr>
            <a:r>
              <a:rPr sz="1100" b="1">
                <a:solidFill>
                  <a:srgbClr val="000326"/>
                </a:solidFill>
                <a:latin typeface="Inter"/>
              </a:rPr>
              <a:t>De feitelijke kosten om iedereen te bedienen liggen dus twee keer zo hoog.</a:t>
            </a:r>
          </a:p>
        </p:txBody>
      </p:sp>
      <p:sp>
        <p:nvSpPr>
          <p:cNvPr id="44" name="Rounded Rectangle 43"/>
          <p:cNvSpPr/>
          <p:nvPr/>
        </p:nvSpPr>
        <p:spPr>
          <a:xfrm>
            <a:off x="719882" y="7924949"/>
            <a:ext cx="6120110" cy="1553914"/>
          </a:xfrm>
          <a:prstGeom prst="roundRect">
            <a:avLst>
              <a:gd name="adj" fmla="val 13900"/>
            </a:avLst>
          </a:prstGeom>
          <a:noFill/>
          <a:ln w="9525">
            <a:solidFill>
              <a:srgbClr val="D6D9EA"/>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Rounded Rectangle 44"/>
          <p:cNvSpPr/>
          <p:nvPr/>
        </p:nvSpPr>
        <p:spPr>
          <a:xfrm>
            <a:off x="1053405" y="8258473"/>
            <a:ext cx="359866" cy="359866"/>
          </a:xfrm>
          <a:prstGeom prst="roundRect">
            <a:avLst>
              <a:gd name="adj" fmla="val 30011"/>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46" name="Picture 45" descr="svg-2-2.png"/>
          <p:cNvPicPr>
            <a:picLocks noChangeAspect="1"/>
          </p:cNvPicPr>
          <p:nvPr/>
        </p:nvPicPr>
        <p:blipFill>
          <a:blip r:embed="rId4"/>
          <a:stretch>
            <a:fillRect/>
          </a:stretch>
        </p:blipFill>
        <p:spPr>
          <a:xfrm>
            <a:off x="1143298" y="8348365"/>
            <a:ext cx="179933" cy="179933"/>
          </a:xfrm>
          <a:prstGeom prst="rect">
            <a:avLst/>
          </a:prstGeom>
        </p:spPr>
      </p:pic>
      <p:sp>
        <p:nvSpPr>
          <p:cNvPr id="47" name="TextBox 46"/>
          <p:cNvSpPr txBox="1"/>
          <p:nvPr/>
        </p:nvSpPr>
        <p:spPr>
          <a:xfrm>
            <a:off x="1557189" y="8337352"/>
            <a:ext cx="2374440"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Integratie in NEO LMS</a:t>
            </a:r>
          </a:p>
        </p:txBody>
      </p:sp>
      <p:sp>
        <p:nvSpPr>
          <p:cNvPr id="48" name="TextBox 47"/>
          <p:cNvSpPr txBox="1"/>
          <p:nvPr/>
        </p:nvSpPr>
        <p:spPr>
          <a:xfrm>
            <a:off x="1053405" y="8745289"/>
            <a:ext cx="4892873" cy="38100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Opdrachten en cijfers lopen via NEO. Docenten en studenten werken in de omgeving die ze kennen.</a:t>
            </a:r>
          </a:p>
        </p:txBody>
      </p:sp>
      <p:pic>
        <p:nvPicPr>
          <p:cNvPr id="49" name="Picture 48" descr="academica.png"/>
          <p:cNvPicPr>
            <a:picLocks noChangeAspect="1"/>
          </p:cNvPicPr>
          <p:nvPr/>
        </p:nvPicPr>
        <p:blipFill>
          <a:blip r:embed="rId5"/>
          <a:stretch>
            <a:fillRect/>
          </a:stretch>
        </p:blipFill>
        <p:spPr>
          <a:xfrm>
            <a:off x="742950" y="10182225"/>
            <a:ext cx="784860" cy="152400"/>
          </a:xfrm>
          <a:prstGeom prst="rect">
            <a:avLst/>
          </a:prstGeom>
        </p:spPr>
      </p:pic>
      <p:sp>
        <p:nvSpPr>
          <p:cNvPr id="50" name="TextBox 49"/>
          <p:cNvSpPr txBox="1"/>
          <p:nvPr/>
        </p:nvSpPr>
        <p:spPr>
          <a:xfrm>
            <a:off x="6267450" y="10201275"/>
            <a:ext cx="571500" cy="152400"/>
          </a:xfrm>
          <a:prstGeom prst="rect">
            <a:avLst/>
          </a:prstGeom>
          <a:noFill/>
        </p:spPr>
        <p:txBody>
          <a:bodyPr wrap="none" lIns="0" rIns="0" tIns="0" bIns="0">
            <a:spAutoFit/>
          </a:bodyPr>
          <a:lstStyle/>
          <a:p>
            <a:pPr algn="r"/>
            <a:r>
              <a:rPr sz="800">
                <a:solidFill>
                  <a:srgbClr val="555A78"/>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850" cy="10696575"/>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23900" y="575965"/>
            <a:ext cx="247507" cy="142875"/>
          </a:xfrm>
          <a:prstGeom prst="rect">
            <a:avLst/>
          </a:prstGeom>
          <a:noFill/>
        </p:spPr>
        <p:txBody>
          <a:bodyPr wrap="square" anchor="t" lIns="0" rIns="0" tIns="0" bIns="0">
            <a:noAutofit/>
          </a:bodyPr>
          <a:lstStyle/>
          <a:p>
            <a:pPr algn="l">
              <a:lnSpc>
                <a:spcPts val="1080"/>
              </a:lnSpc>
            </a:pPr>
            <a:r>
              <a:rPr sz="900" b="1">
                <a:solidFill>
                  <a:srgbClr val="FFFFFF"/>
                </a:solidFill>
                <a:latin typeface="Inter"/>
              </a:rPr>
              <a:t>04</a:t>
            </a:r>
          </a:p>
        </p:txBody>
      </p:sp>
      <p:sp>
        <p:nvSpPr>
          <p:cNvPr id="4" name="TextBox 3"/>
          <p:cNvSpPr txBox="1"/>
          <p:nvPr/>
        </p:nvSpPr>
        <p:spPr>
          <a:xfrm>
            <a:off x="723900" y="819299"/>
            <a:ext cx="2260425" cy="352425"/>
          </a:xfrm>
          <a:prstGeom prst="rect">
            <a:avLst/>
          </a:prstGeom>
          <a:noFill/>
        </p:spPr>
        <p:txBody>
          <a:bodyPr wrap="square" anchor="t" lIns="0" rIns="0" tIns="0" bIns="0">
            <a:noAutofit/>
          </a:bodyPr>
          <a:lstStyle/>
          <a:p>
            <a:pPr algn="l">
              <a:lnSpc>
                <a:spcPts val="3300"/>
              </a:lnSpc>
            </a:pPr>
            <a:r>
              <a:rPr sz="3000" b="1">
                <a:solidFill>
                  <a:srgbClr val="FFFFFF"/>
                </a:solidFill>
                <a:latin typeface="League Spartan"/>
              </a:rPr>
              <a:t>Accreditatie</a:t>
            </a:r>
          </a:p>
        </p:txBody>
      </p:sp>
      <p:sp>
        <p:nvSpPr>
          <p:cNvPr id="5" name="Rounded Rectangle 4"/>
          <p:cNvSpPr/>
          <p:nvPr/>
        </p:nvSpPr>
        <p:spPr>
          <a:xfrm>
            <a:off x="719882" y="1795165"/>
            <a:ext cx="6120110" cy="3022104"/>
          </a:xfrm>
          <a:prstGeom prst="roundRect">
            <a:avLst>
              <a:gd name="adj" fmla="val 7147"/>
            </a:avLst>
          </a:prstGeom>
          <a:solidFill>
            <a:srgbClr val="E0EAF0"/>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Rounded Rectangle 5"/>
          <p:cNvSpPr/>
          <p:nvPr/>
        </p:nvSpPr>
        <p:spPr>
          <a:xfrm>
            <a:off x="1043880" y="2119164"/>
            <a:ext cx="359866" cy="359866"/>
          </a:xfrm>
          <a:prstGeom prst="roundRect">
            <a:avLst>
              <a:gd name="adj" fmla="val 30011"/>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svg-2-0.png"/>
          <p:cNvPicPr>
            <a:picLocks noChangeAspect="1"/>
          </p:cNvPicPr>
          <p:nvPr/>
        </p:nvPicPr>
        <p:blipFill>
          <a:blip r:embed="rId2"/>
          <a:stretch>
            <a:fillRect/>
          </a:stretch>
        </p:blipFill>
        <p:spPr>
          <a:xfrm>
            <a:off x="1133773" y="2209056"/>
            <a:ext cx="179933" cy="179933"/>
          </a:xfrm>
          <a:prstGeom prst="rect">
            <a:avLst/>
          </a:prstGeom>
        </p:spPr>
      </p:pic>
      <p:sp>
        <p:nvSpPr>
          <p:cNvPr id="8" name="TextBox 7"/>
          <p:cNvSpPr txBox="1"/>
          <p:nvPr/>
        </p:nvSpPr>
        <p:spPr>
          <a:xfrm>
            <a:off x="1547664" y="2198043"/>
            <a:ext cx="3463576"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Beoordelaars oordelen consistent</a:t>
            </a:r>
          </a:p>
        </p:txBody>
      </p:sp>
      <p:sp>
        <p:nvSpPr>
          <p:cNvPr id="9" name="TextBox 8"/>
          <p:cNvSpPr txBox="1"/>
          <p:nvPr/>
        </p:nvSpPr>
        <p:spPr>
          <a:xfrm>
            <a:off x="1043880" y="2605980"/>
            <a:ext cx="3383732"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Zie in één overzicht wie afwijkt van het team.</a:t>
            </a:r>
          </a:p>
        </p:txBody>
      </p:sp>
      <p:sp>
        <p:nvSpPr>
          <p:cNvPr id="10" name="Rounded Rectangle 9"/>
          <p:cNvSpPr/>
          <p:nvPr/>
        </p:nvSpPr>
        <p:spPr>
          <a:xfrm>
            <a:off x="1043880" y="3012430"/>
            <a:ext cx="5472112" cy="1480840"/>
          </a:xfrm>
          <a:prstGeom prst="roundRect">
            <a:avLst>
              <a:gd name="adj" fmla="val 8508"/>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TextBox 10"/>
          <p:cNvSpPr txBox="1"/>
          <p:nvPr/>
        </p:nvSpPr>
        <p:spPr>
          <a:xfrm>
            <a:off x="1259830" y="3228380"/>
            <a:ext cx="1373481"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Voorbeeld per docent</a:t>
            </a:r>
          </a:p>
        </p:txBody>
      </p:sp>
      <p:sp>
        <p:nvSpPr>
          <p:cNvPr id="12" name="TextBox 11"/>
          <p:cNvSpPr txBox="1"/>
          <p:nvPr/>
        </p:nvSpPr>
        <p:spPr>
          <a:xfrm>
            <a:off x="5497264" y="3228380"/>
            <a:ext cx="956262" cy="142875"/>
          </a:xfrm>
          <a:prstGeom prst="rect">
            <a:avLst/>
          </a:prstGeom>
          <a:noFill/>
        </p:spPr>
        <p:txBody>
          <a:bodyPr wrap="square" anchor="t" lIns="0" rIns="0" tIns="0" bIns="0">
            <a:noAutofit/>
          </a:bodyPr>
          <a:lstStyle/>
          <a:p>
            <a:pPr algn="l">
              <a:lnSpc>
                <a:spcPts val="1260"/>
              </a:lnSpc>
            </a:pPr>
            <a:r>
              <a:rPr sz="900" b="0">
                <a:solidFill>
                  <a:srgbClr val="555A78"/>
                </a:solidFill>
                <a:latin typeface="Inter"/>
              </a:rPr>
              <a:t>Gemiddelde 7,1</a:t>
            </a:r>
          </a:p>
        </p:txBody>
      </p:sp>
      <p:sp>
        <p:nvSpPr>
          <p:cNvPr id="13" name="TextBox 12"/>
          <p:cNvSpPr txBox="1"/>
          <p:nvPr/>
        </p:nvSpPr>
        <p:spPr>
          <a:xfrm>
            <a:off x="1259830" y="3568303"/>
            <a:ext cx="677894" cy="152400"/>
          </a:xfrm>
          <a:prstGeom prst="rect">
            <a:avLst/>
          </a:prstGeom>
          <a:noFill/>
        </p:spPr>
        <p:txBody>
          <a:bodyPr wrap="square" anchor="t" lIns="0" rIns="0" tIns="0" bIns="0">
            <a:noAutofit/>
          </a:bodyPr>
          <a:lstStyle/>
          <a:p>
            <a:pPr algn="l">
              <a:lnSpc>
                <a:spcPts val="1199"/>
              </a:lnSpc>
            </a:pPr>
            <a:r>
              <a:rPr sz="999" b="0">
                <a:solidFill>
                  <a:srgbClr val="555A78"/>
                </a:solidFill>
                <a:latin typeface="Inter"/>
              </a:rPr>
              <a:t>Docent A</a:t>
            </a:r>
          </a:p>
        </p:txBody>
      </p:sp>
      <p:sp>
        <p:nvSpPr>
          <p:cNvPr id="14" name="Rounded Rectangle 13"/>
          <p:cNvSpPr/>
          <p:nvPr/>
        </p:nvSpPr>
        <p:spPr>
          <a:xfrm>
            <a:off x="2627709" y="3590479"/>
            <a:ext cx="2808536" cy="107900"/>
          </a:xfrm>
          <a:prstGeom prst="roundRect">
            <a:avLst>
              <a:gd name="adj" fmla="val 50000"/>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Rounded Rectangle 14"/>
          <p:cNvSpPr/>
          <p:nvPr/>
        </p:nvSpPr>
        <p:spPr>
          <a:xfrm>
            <a:off x="2627709" y="3590479"/>
            <a:ext cx="2022128" cy="107900"/>
          </a:xfrm>
          <a:prstGeom prst="roundRect">
            <a:avLst>
              <a:gd name="adj" fmla="val 50000"/>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Rectangle 15"/>
          <p:cNvSpPr/>
          <p:nvPr/>
        </p:nvSpPr>
        <p:spPr>
          <a:xfrm>
            <a:off x="4621709" y="3536603"/>
            <a:ext cx="17859" cy="215652"/>
          </a:xfrm>
          <a:prstGeom prst="rect">
            <a:avLst/>
          </a:prstGeom>
          <a:solidFill>
            <a:srgbClr val="555A78"/>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7" name="TextBox 16"/>
          <p:cNvSpPr txBox="1"/>
          <p:nvPr/>
        </p:nvSpPr>
        <p:spPr>
          <a:xfrm>
            <a:off x="6044702" y="3568303"/>
            <a:ext cx="255341"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7,2</a:t>
            </a:r>
          </a:p>
        </p:txBody>
      </p:sp>
      <p:sp>
        <p:nvSpPr>
          <p:cNvPr id="18" name="TextBox 17"/>
          <p:cNvSpPr txBox="1"/>
          <p:nvPr/>
        </p:nvSpPr>
        <p:spPr>
          <a:xfrm>
            <a:off x="1259830" y="3846612"/>
            <a:ext cx="672727" cy="152400"/>
          </a:xfrm>
          <a:prstGeom prst="rect">
            <a:avLst/>
          </a:prstGeom>
          <a:noFill/>
        </p:spPr>
        <p:txBody>
          <a:bodyPr wrap="square" anchor="t" lIns="0" rIns="0" tIns="0" bIns="0">
            <a:noAutofit/>
          </a:bodyPr>
          <a:lstStyle/>
          <a:p>
            <a:pPr algn="l">
              <a:lnSpc>
                <a:spcPts val="1199"/>
              </a:lnSpc>
            </a:pPr>
            <a:r>
              <a:rPr sz="999" b="0">
                <a:solidFill>
                  <a:srgbClr val="555A78"/>
                </a:solidFill>
                <a:latin typeface="Inter"/>
              </a:rPr>
              <a:t>Docent B</a:t>
            </a:r>
          </a:p>
        </p:txBody>
      </p:sp>
      <p:sp>
        <p:nvSpPr>
          <p:cNvPr id="19" name="Rounded Rectangle 18"/>
          <p:cNvSpPr/>
          <p:nvPr/>
        </p:nvSpPr>
        <p:spPr>
          <a:xfrm>
            <a:off x="2627709" y="3868787"/>
            <a:ext cx="2808536" cy="107900"/>
          </a:xfrm>
          <a:prstGeom prst="roundRect">
            <a:avLst>
              <a:gd name="adj" fmla="val 50000"/>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Rounded Rectangle 19"/>
          <p:cNvSpPr/>
          <p:nvPr/>
        </p:nvSpPr>
        <p:spPr>
          <a:xfrm>
            <a:off x="2627709" y="3868787"/>
            <a:ext cx="1965871" cy="107900"/>
          </a:xfrm>
          <a:prstGeom prst="roundRect">
            <a:avLst>
              <a:gd name="adj" fmla="val 50000"/>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Rectangle 20"/>
          <p:cNvSpPr/>
          <p:nvPr/>
        </p:nvSpPr>
        <p:spPr>
          <a:xfrm>
            <a:off x="4621709" y="3814911"/>
            <a:ext cx="17859" cy="215652"/>
          </a:xfrm>
          <a:prstGeom prst="rect">
            <a:avLst/>
          </a:prstGeom>
          <a:solidFill>
            <a:srgbClr val="555A78"/>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6043535" y="3846612"/>
            <a:ext cx="256508"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7,0</a:t>
            </a:r>
          </a:p>
        </p:txBody>
      </p:sp>
      <p:sp>
        <p:nvSpPr>
          <p:cNvPr id="23" name="TextBox 22"/>
          <p:cNvSpPr txBox="1"/>
          <p:nvPr/>
        </p:nvSpPr>
        <p:spPr>
          <a:xfrm>
            <a:off x="1259830" y="4124920"/>
            <a:ext cx="691229" cy="152400"/>
          </a:xfrm>
          <a:prstGeom prst="rect">
            <a:avLst/>
          </a:prstGeom>
          <a:noFill/>
        </p:spPr>
        <p:txBody>
          <a:bodyPr wrap="square" anchor="t" lIns="0" rIns="0" tIns="0" bIns="0">
            <a:noAutofit/>
          </a:bodyPr>
          <a:lstStyle/>
          <a:p>
            <a:pPr algn="l">
              <a:lnSpc>
                <a:spcPts val="1199"/>
              </a:lnSpc>
            </a:pPr>
            <a:r>
              <a:rPr sz="999" b="1">
                <a:solidFill>
                  <a:srgbClr val="000326"/>
                </a:solidFill>
                <a:latin typeface="Inter"/>
              </a:rPr>
              <a:t>Docent C</a:t>
            </a:r>
          </a:p>
        </p:txBody>
      </p:sp>
      <p:sp>
        <p:nvSpPr>
          <p:cNvPr id="24" name="Rounded Rectangle 23"/>
          <p:cNvSpPr/>
          <p:nvPr/>
        </p:nvSpPr>
        <p:spPr>
          <a:xfrm>
            <a:off x="2627709" y="4147096"/>
            <a:ext cx="2808536" cy="107900"/>
          </a:xfrm>
          <a:prstGeom prst="roundRect">
            <a:avLst>
              <a:gd name="adj" fmla="val 50000"/>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Rounded Rectangle 24"/>
          <p:cNvSpPr/>
          <p:nvPr/>
        </p:nvSpPr>
        <p:spPr>
          <a:xfrm>
            <a:off x="2627709" y="4147096"/>
            <a:ext cx="1572667" cy="107900"/>
          </a:xfrm>
          <a:prstGeom prst="roundRect">
            <a:avLst>
              <a:gd name="adj" fmla="val 50000"/>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Rectangle 25"/>
          <p:cNvSpPr/>
          <p:nvPr/>
        </p:nvSpPr>
        <p:spPr>
          <a:xfrm>
            <a:off x="4621709" y="4093220"/>
            <a:ext cx="17859" cy="215652"/>
          </a:xfrm>
          <a:prstGeom prst="rect">
            <a:avLst/>
          </a:prstGeom>
          <a:solidFill>
            <a:srgbClr val="555A78"/>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7" name="TextBox 26"/>
          <p:cNvSpPr txBox="1"/>
          <p:nvPr/>
        </p:nvSpPr>
        <p:spPr>
          <a:xfrm>
            <a:off x="6026866" y="4124920"/>
            <a:ext cx="273177" cy="152400"/>
          </a:xfrm>
          <a:prstGeom prst="rect">
            <a:avLst/>
          </a:prstGeom>
          <a:noFill/>
        </p:spPr>
        <p:txBody>
          <a:bodyPr wrap="square" anchor="t" lIns="0" rIns="0" tIns="0" bIns="0">
            <a:noAutofit/>
          </a:bodyPr>
          <a:lstStyle/>
          <a:p>
            <a:pPr algn="r">
              <a:lnSpc>
                <a:spcPts val="1199"/>
              </a:lnSpc>
            </a:pPr>
            <a:r>
              <a:rPr sz="999" b="1">
                <a:solidFill>
                  <a:srgbClr val="000326"/>
                </a:solidFill>
                <a:latin typeface="Inter"/>
              </a:rPr>
              <a:t>5,6</a:t>
            </a:r>
          </a:p>
        </p:txBody>
      </p:sp>
      <p:sp>
        <p:nvSpPr>
          <p:cNvPr id="28" name="Rounded Rectangle 27"/>
          <p:cNvSpPr/>
          <p:nvPr/>
        </p:nvSpPr>
        <p:spPr>
          <a:xfrm>
            <a:off x="719882" y="5033218"/>
            <a:ext cx="6120110" cy="1755874"/>
          </a:xfrm>
          <a:prstGeom prst="roundRect">
            <a:avLst>
              <a:gd name="adj" fmla="val 12301"/>
            </a:avLst>
          </a:prstGeom>
          <a:solidFill>
            <a:srgbClr val="EFF5F8"/>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Rounded Rectangle 28"/>
          <p:cNvSpPr/>
          <p:nvPr/>
        </p:nvSpPr>
        <p:spPr>
          <a:xfrm>
            <a:off x="1043880" y="5357217"/>
            <a:ext cx="359866" cy="359866"/>
          </a:xfrm>
          <a:prstGeom prst="roundRect">
            <a:avLst>
              <a:gd name="adj" fmla="val 30011"/>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0" name="Picture 29" descr="svg-3-1.png"/>
          <p:cNvPicPr>
            <a:picLocks noChangeAspect="1"/>
          </p:cNvPicPr>
          <p:nvPr/>
        </p:nvPicPr>
        <p:blipFill>
          <a:blip r:embed="rId3"/>
          <a:stretch>
            <a:fillRect/>
          </a:stretch>
        </p:blipFill>
        <p:spPr>
          <a:xfrm>
            <a:off x="1133773" y="5447109"/>
            <a:ext cx="179933" cy="179933"/>
          </a:xfrm>
          <a:prstGeom prst="rect">
            <a:avLst/>
          </a:prstGeom>
        </p:spPr>
      </p:pic>
      <p:sp>
        <p:nvSpPr>
          <p:cNvPr id="31" name="TextBox 30"/>
          <p:cNvSpPr txBox="1"/>
          <p:nvPr/>
        </p:nvSpPr>
        <p:spPr>
          <a:xfrm>
            <a:off x="1547664" y="5436096"/>
            <a:ext cx="2431613"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Elk cijfer is navolgbaar</a:t>
            </a:r>
          </a:p>
        </p:txBody>
      </p:sp>
      <p:sp>
        <p:nvSpPr>
          <p:cNvPr id="32" name="TextBox 31"/>
          <p:cNvSpPr txBox="1"/>
          <p:nvPr/>
        </p:nvSpPr>
        <p:spPr>
          <a:xfrm>
            <a:off x="1043880" y="5844034"/>
            <a:ext cx="2622804"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Onderbouwing per rubriccriterium.</a:t>
            </a:r>
          </a:p>
        </p:txBody>
      </p:sp>
      <p:sp>
        <p:nvSpPr>
          <p:cNvPr id="33" name="Rounded Rectangle 32"/>
          <p:cNvSpPr/>
          <p:nvPr/>
        </p:nvSpPr>
        <p:spPr>
          <a:xfrm>
            <a:off x="1043880" y="6214467"/>
            <a:ext cx="1164729" cy="250627"/>
          </a:xfrm>
          <a:prstGeom prst="roundRect">
            <a:avLst>
              <a:gd name="adj" fmla="val 50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4" name="TextBox 33"/>
          <p:cNvSpPr txBox="1"/>
          <p:nvPr/>
        </p:nvSpPr>
        <p:spPr>
          <a:xfrm>
            <a:off x="1187797" y="6268343"/>
            <a:ext cx="1039273" cy="142875"/>
          </a:xfrm>
          <a:prstGeom prst="rect">
            <a:avLst/>
          </a:prstGeom>
          <a:noFill/>
        </p:spPr>
        <p:txBody>
          <a:bodyPr wrap="square" anchor="t" lIns="0" rIns="0" tIns="0" bIns="0">
            <a:noAutofit/>
          </a:bodyPr>
          <a:lstStyle/>
          <a:p>
            <a:pPr algn="l">
              <a:lnSpc>
                <a:spcPts val="1080"/>
              </a:lnSpc>
            </a:pPr>
            <a:r>
              <a:rPr sz="900" b="1">
                <a:solidFill>
                  <a:srgbClr val="000326"/>
                </a:solidFill>
                <a:latin typeface="Inter"/>
              </a:rPr>
              <a:t>AI Act audit trail</a:t>
            </a:r>
          </a:p>
        </p:txBody>
      </p:sp>
      <p:sp>
        <p:nvSpPr>
          <p:cNvPr id="35" name="Rounded Rectangle 34"/>
          <p:cNvSpPr/>
          <p:nvPr/>
        </p:nvSpPr>
        <p:spPr>
          <a:xfrm>
            <a:off x="719882" y="7005042"/>
            <a:ext cx="6120110" cy="1344364"/>
          </a:xfrm>
          <a:prstGeom prst="roundRect">
            <a:avLst>
              <a:gd name="adj" fmla="val 16067"/>
            </a:avLst>
          </a:prstGeom>
          <a:solidFill>
            <a:srgbClr val="FFFFFF"/>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Rounded Rectangle 35"/>
          <p:cNvSpPr/>
          <p:nvPr/>
        </p:nvSpPr>
        <p:spPr>
          <a:xfrm>
            <a:off x="1053405" y="7338566"/>
            <a:ext cx="359866" cy="359866"/>
          </a:xfrm>
          <a:prstGeom prst="roundRect">
            <a:avLst>
              <a:gd name="adj" fmla="val 30011"/>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37" name="Picture 36" descr="svg-3-2.png"/>
          <p:cNvPicPr>
            <a:picLocks noChangeAspect="1"/>
          </p:cNvPicPr>
          <p:nvPr/>
        </p:nvPicPr>
        <p:blipFill>
          <a:blip r:embed="rId4"/>
          <a:stretch>
            <a:fillRect/>
          </a:stretch>
        </p:blipFill>
        <p:spPr>
          <a:xfrm>
            <a:off x="1143298" y="7428458"/>
            <a:ext cx="179933" cy="179933"/>
          </a:xfrm>
          <a:prstGeom prst="rect">
            <a:avLst/>
          </a:prstGeom>
        </p:spPr>
      </p:pic>
      <p:sp>
        <p:nvSpPr>
          <p:cNvPr id="38" name="TextBox 37"/>
          <p:cNvSpPr txBox="1"/>
          <p:nvPr/>
        </p:nvSpPr>
        <p:spPr>
          <a:xfrm>
            <a:off x="1557189" y="7417445"/>
            <a:ext cx="4148828"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De examencommissie borgt de kwaliteit</a:t>
            </a:r>
          </a:p>
        </p:txBody>
      </p:sp>
      <p:sp>
        <p:nvSpPr>
          <p:cNvPr id="39" name="TextBox 38"/>
          <p:cNvSpPr txBox="1"/>
          <p:nvPr/>
        </p:nvSpPr>
        <p:spPr>
          <a:xfrm>
            <a:off x="1053405" y="7825383"/>
            <a:ext cx="2697980" cy="171450"/>
          </a:xfrm>
          <a:prstGeom prst="rect">
            <a:avLst/>
          </a:prstGeom>
          <a:noFill/>
        </p:spPr>
        <p:txBody>
          <a:bodyPr wrap="square" anchor="t" lIns="0" rIns="0" tIns="0" bIns="0">
            <a:noAutofit/>
          </a:bodyPr>
          <a:lstStyle/>
          <a:p>
            <a:pPr algn="l">
              <a:lnSpc>
                <a:spcPts val="1650"/>
              </a:lnSpc>
            </a:pPr>
            <a:r>
              <a:rPr sz="1100" b="0">
                <a:solidFill>
                  <a:srgbClr val="555A78"/>
                </a:solidFill>
                <a:latin typeface="Inter"/>
              </a:rPr>
              <a:t>Elke onderbouwing direct in te zien.</a:t>
            </a:r>
          </a:p>
        </p:txBody>
      </p:sp>
      <p:sp>
        <p:nvSpPr>
          <p:cNvPr id="40" name="Rectangle 39"/>
          <p:cNvSpPr/>
          <p:nvPr/>
        </p:nvSpPr>
        <p:spPr>
          <a:xfrm>
            <a:off x="719882" y="8709273"/>
            <a:ext cx="19050" cy="649635"/>
          </a:xfrm>
          <a:prstGeom prst="rect">
            <a:avLst/>
          </a:prstGeom>
          <a:solidFill>
            <a:srgbClr val="D6D9EA"/>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1" name="TextBox 40"/>
          <p:cNvSpPr txBox="1"/>
          <p:nvPr/>
        </p:nvSpPr>
        <p:spPr>
          <a:xfrm>
            <a:off x="918865" y="8728323"/>
            <a:ext cx="5753695" cy="604540"/>
          </a:xfrm>
          <a:prstGeom prst="rect">
            <a:avLst/>
          </a:prstGeom>
          <a:noFill/>
        </p:spPr>
        <p:txBody>
          <a:bodyPr wrap="square" anchor="t" lIns="0" rIns="0" tIns="0" bIns="0">
            <a:noAutofit/>
          </a:bodyPr>
          <a:lstStyle/>
          <a:p>
            <a:pPr algn="l">
              <a:lnSpc>
                <a:spcPts val="1704"/>
              </a:lnSpc>
            </a:pPr>
            <a:r>
              <a:rPr sz="1100" b="0">
                <a:solidFill>
                  <a:srgbClr val="FFFFFF"/>
                </a:solidFill>
                <a:latin typeface="Inter"/>
              </a:rPr>
              <a:t>Consistent beoordelen is een speerpunt van dit project. Daarmee helpt het om de eisen van de accreditatiepartij hierboven steviger te borgen, en dat kan een positieve impact hebben op de pabo, die nu in de accreditatie zit.</a:t>
            </a:r>
          </a:p>
        </p:txBody>
      </p:sp>
      <p:sp>
        <p:nvSpPr>
          <p:cNvPr id="42" name="Rounded Rectangle 41"/>
          <p:cNvSpPr/>
          <p:nvPr/>
        </p:nvSpPr>
        <p:spPr>
          <a:xfrm>
            <a:off x="666750" y="10125075"/>
            <a:ext cx="904875" cy="266700"/>
          </a:xfrm>
          <a:prstGeom prst="roundRect">
            <a:avLst>
              <a:gd name="adj" fmla="val 30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3" name="Picture 42" descr="academica.png"/>
          <p:cNvPicPr>
            <a:picLocks noChangeAspect="1"/>
          </p:cNvPicPr>
          <p:nvPr/>
        </p:nvPicPr>
        <p:blipFill>
          <a:blip r:embed="rId5"/>
          <a:stretch>
            <a:fillRect/>
          </a:stretch>
        </p:blipFill>
        <p:spPr>
          <a:xfrm>
            <a:off x="742950" y="10182225"/>
            <a:ext cx="784860" cy="152400"/>
          </a:xfrm>
          <a:prstGeom prst="rect">
            <a:avLst/>
          </a:prstGeom>
        </p:spPr>
      </p:pic>
      <p:sp>
        <p:nvSpPr>
          <p:cNvPr id="44" name="TextBox 43"/>
          <p:cNvSpPr txBox="1"/>
          <p:nvPr/>
        </p:nvSpPr>
        <p:spPr>
          <a:xfrm>
            <a:off x="6267450" y="10201275"/>
            <a:ext cx="571500" cy="152400"/>
          </a:xfrm>
          <a:prstGeom prst="rect">
            <a:avLst/>
          </a:prstGeom>
          <a:noFill/>
        </p:spPr>
        <p:txBody>
          <a:bodyPr wrap="none" lIns="0" rIns="0" tIns="0" bIns="0">
            <a:spAutoFit/>
          </a:bodyPr>
          <a:lstStyle/>
          <a:p>
            <a:pPr algn="r"/>
            <a:r>
              <a:rPr sz="800">
                <a:solidFill>
                  <a:srgbClr val="B3B5C6"/>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59873" cy="1605707"/>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23900" y="575965"/>
            <a:ext cx="240506" cy="142875"/>
          </a:xfrm>
          <a:prstGeom prst="rect">
            <a:avLst/>
          </a:prstGeom>
          <a:noFill/>
        </p:spPr>
        <p:txBody>
          <a:bodyPr wrap="square" anchor="t" lIns="0" rIns="0" tIns="0" bIns="0">
            <a:noAutofit/>
          </a:bodyPr>
          <a:lstStyle/>
          <a:p>
            <a:pPr algn="l">
              <a:lnSpc>
                <a:spcPts val="1080"/>
              </a:lnSpc>
            </a:pPr>
            <a:r>
              <a:rPr sz="900" b="1">
                <a:solidFill>
                  <a:srgbClr val="FFFFFF"/>
                </a:solidFill>
                <a:latin typeface="Inter"/>
              </a:rPr>
              <a:t>05</a:t>
            </a:r>
          </a:p>
        </p:txBody>
      </p:sp>
      <p:sp>
        <p:nvSpPr>
          <p:cNvPr id="4" name="TextBox 3"/>
          <p:cNvSpPr txBox="1"/>
          <p:nvPr/>
        </p:nvSpPr>
        <p:spPr>
          <a:xfrm>
            <a:off x="723900" y="819299"/>
            <a:ext cx="1860042" cy="352425"/>
          </a:xfrm>
          <a:prstGeom prst="rect">
            <a:avLst/>
          </a:prstGeom>
          <a:noFill/>
        </p:spPr>
        <p:txBody>
          <a:bodyPr wrap="square" anchor="t" lIns="0" rIns="0" tIns="0" bIns="0">
            <a:noAutofit/>
          </a:bodyPr>
          <a:lstStyle/>
          <a:p>
            <a:pPr algn="l">
              <a:lnSpc>
                <a:spcPts val="3300"/>
              </a:lnSpc>
            </a:pPr>
            <a:r>
              <a:rPr sz="3000" b="1">
                <a:solidFill>
                  <a:srgbClr val="FFFFFF"/>
                </a:solidFill>
                <a:latin typeface="League Spartan"/>
              </a:rPr>
              <a:t>Koersplan</a:t>
            </a:r>
          </a:p>
        </p:txBody>
      </p:sp>
      <p:sp>
        <p:nvSpPr>
          <p:cNvPr id="5" name="TextBox 4"/>
          <p:cNvSpPr txBox="1"/>
          <p:nvPr/>
        </p:nvSpPr>
        <p:spPr>
          <a:xfrm>
            <a:off x="723900" y="1984623"/>
            <a:ext cx="5916216" cy="662880"/>
          </a:xfrm>
          <a:prstGeom prst="rect">
            <a:avLst/>
          </a:prstGeom>
          <a:noFill/>
        </p:spPr>
        <p:txBody>
          <a:bodyPr wrap="square" anchor="t" lIns="0" rIns="0" tIns="0" bIns="0">
            <a:noAutofit/>
          </a:bodyPr>
          <a:lstStyle/>
          <a:p>
            <a:pPr algn="l">
              <a:lnSpc>
                <a:spcPts val="1860"/>
              </a:lnSpc>
            </a:pPr>
            <a:r>
              <a:rPr sz="1200" b="0">
                <a:solidFill>
                  <a:srgbClr val="000326"/>
                </a:solidFill>
                <a:latin typeface="Inter"/>
              </a:rPr>
              <a:t>Deze investering sluit naadloos aan op het kopje Efficiëntie uit het koersplan dat Academica voor de komende jaren heeft opgesteld. Binnen dat kopje versterkt het direct drie punten.</a:t>
            </a:r>
          </a:p>
        </p:txBody>
      </p:sp>
      <p:sp>
        <p:nvSpPr>
          <p:cNvPr id="6" name="Rounded Rectangle 5"/>
          <p:cNvSpPr/>
          <p:nvPr/>
        </p:nvSpPr>
        <p:spPr>
          <a:xfrm>
            <a:off x="719882" y="3034010"/>
            <a:ext cx="6120110" cy="3712815"/>
          </a:xfrm>
          <a:prstGeom prst="roundRect">
            <a:avLst>
              <a:gd name="adj" fmla="val 5817"/>
            </a:avLst>
          </a:prstGeom>
          <a:solidFill>
            <a:srgbClr val="DDE4F7"/>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TextBox 6"/>
          <p:cNvSpPr txBox="1"/>
          <p:nvPr/>
        </p:nvSpPr>
        <p:spPr>
          <a:xfrm>
            <a:off x="1043880" y="3358009"/>
            <a:ext cx="1837372" cy="142875"/>
          </a:xfrm>
          <a:prstGeom prst="rect">
            <a:avLst/>
          </a:prstGeom>
          <a:noFill/>
        </p:spPr>
        <p:txBody>
          <a:bodyPr wrap="square" anchor="t" lIns="0" rIns="0" tIns="0" bIns="0">
            <a:noAutofit/>
          </a:bodyPr>
          <a:lstStyle/>
          <a:p>
            <a:pPr algn="l">
              <a:lnSpc>
                <a:spcPts val="1080"/>
              </a:lnSpc>
            </a:pPr>
            <a:r>
              <a:rPr sz="900" b="1">
                <a:solidFill>
                  <a:srgbClr val="555A78"/>
                </a:solidFill>
                <a:latin typeface="Inter"/>
              </a:rPr>
              <a:t>KOERSPLAN ACADEMICA</a:t>
            </a:r>
          </a:p>
        </p:txBody>
      </p:sp>
      <p:sp>
        <p:nvSpPr>
          <p:cNvPr id="8" name="TextBox 7"/>
          <p:cNvSpPr txBox="1"/>
          <p:nvPr/>
        </p:nvSpPr>
        <p:spPr>
          <a:xfrm>
            <a:off x="1043880" y="3601343"/>
            <a:ext cx="1083278"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Efficiëntie</a:t>
            </a:r>
          </a:p>
        </p:txBody>
      </p:sp>
      <p:sp>
        <p:nvSpPr>
          <p:cNvPr id="9" name="Rounded Rectangle 8"/>
          <p:cNvSpPr/>
          <p:nvPr/>
        </p:nvSpPr>
        <p:spPr>
          <a:xfrm>
            <a:off x="1043880" y="3975795"/>
            <a:ext cx="5472112" cy="719733"/>
          </a:xfrm>
          <a:prstGeom prst="roundRect">
            <a:avLst>
              <a:gd name="adj" fmla="val 17506"/>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Rounded Rectangle 9"/>
          <p:cNvSpPr/>
          <p:nvPr/>
        </p:nvSpPr>
        <p:spPr>
          <a:xfrm>
            <a:off x="1223814" y="4155728"/>
            <a:ext cx="359866" cy="359866"/>
          </a:xfrm>
          <a:prstGeom prst="roundRect">
            <a:avLst>
              <a:gd name="adj" fmla="val 30011"/>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1" name="Picture 10" descr="svg-4-0.png"/>
          <p:cNvPicPr>
            <a:picLocks noChangeAspect="1"/>
          </p:cNvPicPr>
          <p:nvPr/>
        </p:nvPicPr>
        <p:blipFill>
          <a:blip r:embed="rId2"/>
          <a:stretch>
            <a:fillRect/>
          </a:stretch>
        </p:blipFill>
        <p:spPr>
          <a:xfrm>
            <a:off x="1313706" y="4245620"/>
            <a:ext cx="179933" cy="179933"/>
          </a:xfrm>
          <a:prstGeom prst="rect">
            <a:avLst/>
          </a:prstGeom>
        </p:spPr>
      </p:pic>
      <p:sp>
        <p:nvSpPr>
          <p:cNvPr id="12" name="TextBox 11"/>
          <p:cNvSpPr txBox="1"/>
          <p:nvPr/>
        </p:nvSpPr>
        <p:spPr>
          <a:xfrm>
            <a:off x="1727597" y="4234755"/>
            <a:ext cx="1734693" cy="190500"/>
          </a:xfrm>
          <a:prstGeom prst="rect">
            <a:avLst/>
          </a:prstGeom>
          <a:noFill/>
        </p:spPr>
        <p:txBody>
          <a:bodyPr wrap="square" anchor="t" lIns="0" rIns="0" tIns="0" bIns="0">
            <a:noAutofit/>
          </a:bodyPr>
          <a:lstStyle/>
          <a:p>
            <a:pPr algn="l">
              <a:lnSpc>
                <a:spcPts val="1739"/>
              </a:lnSpc>
            </a:pPr>
            <a:r>
              <a:rPr sz="1200" b="1">
                <a:solidFill>
                  <a:srgbClr val="000326"/>
                </a:solidFill>
                <a:latin typeface="Inter"/>
              </a:rPr>
              <a:t>Een stevig kernteam</a:t>
            </a:r>
          </a:p>
        </p:txBody>
      </p:sp>
      <p:sp>
        <p:nvSpPr>
          <p:cNvPr id="13" name="Rounded Rectangle 12"/>
          <p:cNvSpPr/>
          <p:nvPr/>
        </p:nvSpPr>
        <p:spPr>
          <a:xfrm>
            <a:off x="1043880" y="4839444"/>
            <a:ext cx="5472112" cy="719733"/>
          </a:xfrm>
          <a:prstGeom prst="roundRect">
            <a:avLst>
              <a:gd name="adj" fmla="val 17506"/>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Rounded Rectangle 13"/>
          <p:cNvSpPr/>
          <p:nvPr/>
        </p:nvSpPr>
        <p:spPr>
          <a:xfrm>
            <a:off x="1223814" y="5019377"/>
            <a:ext cx="359866" cy="359866"/>
          </a:xfrm>
          <a:prstGeom prst="roundRect">
            <a:avLst>
              <a:gd name="adj" fmla="val 30011"/>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5" name="Picture 14" descr="svg-4-1.png"/>
          <p:cNvPicPr>
            <a:picLocks noChangeAspect="1"/>
          </p:cNvPicPr>
          <p:nvPr/>
        </p:nvPicPr>
        <p:blipFill>
          <a:blip r:embed="rId3"/>
          <a:stretch>
            <a:fillRect/>
          </a:stretch>
        </p:blipFill>
        <p:spPr>
          <a:xfrm>
            <a:off x="1313706" y="5109270"/>
            <a:ext cx="179933" cy="179933"/>
          </a:xfrm>
          <a:prstGeom prst="rect">
            <a:avLst/>
          </a:prstGeom>
        </p:spPr>
      </p:pic>
      <p:sp>
        <p:nvSpPr>
          <p:cNvPr id="16" name="TextBox 15"/>
          <p:cNvSpPr txBox="1"/>
          <p:nvPr/>
        </p:nvSpPr>
        <p:spPr>
          <a:xfrm>
            <a:off x="1727597" y="5098405"/>
            <a:ext cx="1505831" cy="190500"/>
          </a:xfrm>
          <a:prstGeom prst="rect">
            <a:avLst/>
          </a:prstGeom>
          <a:noFill/>
        </p:spPr>
        <p:txBody>
          <a:bodyPr wrap="square" anchor="t" lIns="0" rIns="0" tIns="0" bIns="0">
            <a:noAutofit/>
          </a:bodyPr>
          <a:lstStyle/>
          <a:p>
            <a:pPr algn="l">
              <a:lnSpc>
                <a:spcPts val="1739"/>
              </a:lnSpc>
            </a:pPr>
            <a:r>
              <a:rPr sz="1200" b="1">
                <a:solidFill>
                  <a:srgbClr val="000326"/>
                </a:solidFill>
                <a:latin typeface="Inter"/>
              </a:rPr>
              <a:t>Betere processen</a:t>
            </a:r>
          </a:p>
        </p:txBody>
      </p:sp>
      <p:sp>
        <p:nvSpPr>
          <p:cNvPr id="17" name="Rounded Rectangle 16"/>
          <p:cNvSpPr/>
          <p:nvPr/>
        </p:nvSpPr>
        <p:spPr>
          <a:xfrm>
            <a:off x="1043880" y="5703094"/>
            <a:ext cx="5472112" cy="719733"/>
          </a:xfrm>
          <a:prstGeom prst="roundRect">
            <a:avLst>
              <a:gd name="adj" fmla="val 17506"/>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Rounded Rectangle 17"/>
          <p:cNvSpPr/>
          <p:nvPr/>
        </p:nvSpPr>
        <p:spPr>
          <a:xfrm>
            <a:off x="1223814" y="5883027"/>
            <a:ext cx="359866" cy="359866"/>
          </a:xfrm>
          <a:prstGeom prst="roundRect">
            <a:avLst>
              <a:gd name="adj" fmla="val 30011"/>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9" name="Picture 18" descr="svg-4-2.png"/>
          <p:cNvPicPr>
            <a:picLocks noChangeAspect="1"/>
          </p:cNvPicPr>
          <p:nvPr/>
        </p:nvPicPr>
        <p:blipFill>
          <a:blip r:embed="rId4"/>
          <a:stretch>
            <a:fillRect/>
          </a:stretch>
        </p:blipFill>
        <p:spPr>
          <a:xfrm>
            <a:off x="1313706" y="5972919"/>
            <a:ext cx="179933" cy="179933"/>
          </a:xfrm>
          <a:prstGeom prst="rect">
            <a:avLst/>
          </a:prstGeom>
        </p:spPr>
      </p:pic>
      <p:sp>
        <p:nvSpPr>
          <p:cNvPr id="20" name="TextBox 19"/>
          <p:cNvSpPr txBox="1"/>
          <p:nvPr/>
        </p:nvSpPr>
        <p:spPr>
          <a:xfrm>
            <a:off x="1727597" y="5962055"/>
            <a:ext cx="1215962" cy="190500"/>
          </a:xfrm>
          <a:prstGeom prst="rect">
            <a:avLst/>
          </a:prstGeom>
          <a:noFill/>
        </p:spPr>
        <p:txBody>
          <a:bodyPr wrap="square" anchor="t" lIns="0" rIns="0" tIns="0" bIns="0">
            <a:noAutofit/>
          </a:bodyPr>
          <a:lstStyle/>
          <a:p>
            <a:pPr algn="l">
              <a:lnSpc>
                <a:spcPts val="1739"/>
              </a:lnSpc>
            </a:pPr>
            <a:r>
              <a:rPr sz="1200" b="1">
                <a:solidFill>
                  <a:srgbClr val="000326"/>
                </a:solidFill>
                <a:latin typeface="Inter"/>
              </a:rPr>
              <a:t>Datagedreven</a:t>
            </a:r>
          </a:p>
        </p:txBody>
      </p:sp>
      <p:pic>
        <p:nvPicPr>
          <p:cNvPr id="21" name="Picture 20" descr="academica.png"/>
          <p:cNvPicPr>
            <a:picLocks noChangeAspect="1"/>
          </p:cNvPicPr>
          <p:nvPr/>
        </p:nvPicPr>
        <p:blipFill>
          <a:blip r:embed="rId5"/>
          <a:stretch>
            <a:fillRect/>
          </a:stretch>
        </p:blipFill>
        <p:spPr>
          <a:xfrm>
            <a:off x="742950" y="10182225"/>
            <a:ext cx="784860" cy="152400"/>
          </a:xfrm>
          <a:prstGeom prst="rect">
            <a:avLst/>
          </a:prstGeom>
        </p:spPr>
      </p:pic>
      <p:sp>
        <p:nvSpPr>
          <p:cNvPr id="22" name="TextBox 21"/>
          <p:cNvSpPr txBox="1"/>
          <p:nvPr/>
        </p:nvSpPr>
        <p:spPr>
          <a:xfrm>
            <a:off x="6267450" y="10201275"/>
            <a:ext cx="571500" cy="152400"/>
          </a:xfrm>
          <a:prstGeom prst="rect">
            <a:avLst/>
          </a:prstGeom>
          <a:noFill/>
        </p:spPr>
        <p:txBody>
          <a:bodyPr wrap="none" lIns="0" rIns="0" tIns="0" bIns="0">
            <a:spAutoFit/>
          </a:bodyPr>
          <a:lstStyle/>
          <a:p>
            <a:pPr algn="r"/>
            <a:r>
              <a:rPr sz="800">
                <a:solidFill>
                  <a:srgbClr val="555A78"/>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850" cy="10696575"/>
          </a:xfrm>
          <a:prstGeom prst="rect">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 name="TextBox 2"/>
          <p:cNvSpPr txBox="1"/>
          <p:nvPr/>
        </p:nvSpPr>
        <p:spPr>
          <a:xfrm>
            <a:off x="723900" y="575965"/>
            <a:ext cx="244007" cy="142875"/>
          </a:xfrm>
          <a:prstGeom prst="rect">
            <a:avLst/>
          </a:prstGeom>
          <a:noFill/>
        </p:spPr>
        <p:txBody>
          <a:bodyPr wrap="square" anchor="t" lIns="0" rIns="0" tIns="0" bIns="0">
            <a:noAutofit/>
          </a:bodyPr>
          <a:lstStyle/>
          <a:p>
            <a:pPr algn="l">
              <a:lnSpc>
                <a:spcPts val="1080"/>
              </a:lnSpc>
            </a:pPr>
            <a:r>
              <a:rPr sz="900" b="1">
                <a:solidFill>
                  <a:srgbClr val="FFFFFF"/>
                </a:solidFill>
                <a:latin typeface="Inter"/>
              </a:rPr>
              <a:t>06</a:t>
            </a:r>
          </a:p>
        </p:txBody>
      </p:sp>
      <p:sp>
        <p:nvSpPr>
          <p:cNvPr id="4" name="TextBox 3"/>
          <p:cNvSpPr txBox="1"/>
          <p:nvPr/>
        </p:nvSpPr>
        <p:spPr>
          <a:xfrm>
            <a:off x="723900" y="819299"/>
            <a:ext cx="1411486" cy="352425"/>
          </a:xfrm>
          <a:prstGeom prst="rect">
            <a:avLst/>
          </a:prstGeom>
          <a:noFill/>
        </p:spPr>
        <p:txBody>
          <a:bodyPr wrap="square" anchor="t" lIns="0" rIns="0" tIns="0" bIns="0">
            <a:noAutofit/>
          </a:bodyPr>
          <a:lstStyle/>
          <a:p>
            <a:pPr algn="l">
              <a:lnSpc>
                <a:spcPts val="3300"/>
              </a:lnSpc>
            </a:pPr>
            <a:r>
              <a:rPr sz="3000" b="1">
                <a:solidFill>
                  <a:srgbClr val="FFFFFF"/>
                </a:solidFill>
                <a:latin typeface="League Spartan"/>
              </a:rPr>
              <a:t>Privacy</a:t>
            </a:r>
          </a:p>
        </p:txBody>
      </p:sp>
      <p:sp>
        <p:nvSpPr>
          <p:cNvPr id="5" name="Rounded Rectangle 4"/>
          <p:cNvSpPr/>
          <p:nvPr/>
        </p:nvSpPr>
        <p:spPr>
          <a:xfrm>
            <a:off x="719882" y="1795165"/>
            <a:ext cx="6120110" cy="1166217"/>
          </a:xfrm>
          <a:prstGeom prst="roundRect">
            <a:avLst>
              <a:gd name="adj" fmla="val 18521"/>
            </a:avLst>
          </a:prstGeom>
          <a:solidFill>
            <a:srgbClr val="E6E8EE"/>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6" name="Rounded Rectangle 5"/>
          <p:cNvSpPr/>
          <p:nvPr/>
        </p:nvSpPr>
        <p:spPr>
          <a:xfrm>
            <a:off x="1043880" y="2198340"/>
            <a:ext cx="359866" cy="359866"/>
          </a:xfrm>
          <a:prstGeom prst="roundRect">
            <a:avLst>
              <a:gd name="adj" fmla="val 30011"/>
            </a:avLst>
          </a:prstGeom>
          <a:solidFill>
            <a:srgbClr val="000326"/>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7" name="Picture 6" descr="svg-5-0.png"/>
          <p:cNvPicPr>
            <a:picLocks noChangeAspect="1"/>
          </p:cNvPicPr>
          <p:nvPr/>
        </p:nvPicPr>
        <p:blipFill>
          <a:blip r:embed="rId2"/>
          <a:stretch>
            <a:fillRect/>
          </a:stretch>
        </p:blipFill>
        <p:spPr>
          <a:xfrm>
            <a:off x="1133773" y="2288232"/>
            <a:ext cx="179933" cy="179933"/>
          </a:xfrm>
          <a:prstGeom prst="rect">
            <a:avLst/>
          </a:prstGeom>
        </p:spPr>
      </p:pic>
      <p:sp>
        <p:nvSpPr>
          <p:cNvPr id="8" name="TextBox 7"/>
          <p:cNvSpPr txBox="1"/>
          <p:nvPr/>
        </p:nvSpPr>
        <p:spPr>
          <a:xfrm>
            <a:off x="1547664" y="2147739"/>
            <a:ext cx="4792563" cy="45913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Academica blijft eigenaar van al het studentenwerk en alle data.</a:t>
            </a:r>
          </a:p>
        </p:txBody>
      </p:sp>
      <p:sp>
        <p:nvSpPr>
          <p:cNvPr id="9" name="Rounded Rectangle 8"/>
          <p:cNvSpPr/>
          <p:nvPr/>
        </p:nvSpPr>
        <p:spPr>
          <a:xfrm>
            <a:off x="719882" y="3177332"/>
            <a:ext cx="6120110" cy="2138065"/>
          </a:xfrm>
          <a:prstGeom prst="roundRect">
            <a:avLst>
              <a:gd name="adj" fmla="val 10102"/>
            </a:avLst>
          </a:prstGeom>
          <a:solidFill>
            <a:srgbClr val="FFFFFF"/>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Rounded Rectangle 9"/>
          <p:cNvSpPr/>
          <p:nvPr/>
        </p:nvSpPr>
        <p:spPr>
          <a:xfrm>
            <a:off x="1053405" y="3510855"/>
            <a:ext cx="359866" cy="359866"/>
          </a:xfrm>
          <a:prstGeom prst="roundRect">
            <a:avLst>
              <a:gd name="adj" fmla="val 30011"/>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1" name="Picture 10" descr="svg-5-1.png"/>
          <p:cNvPicPr>
            <a:picLocks noChangeAspect="1"/>
          </p:cNvPicPr>
          <p:nvPr/>
        </p:nvPicPr>
        <p:blipFill>
          <a:blip r:embed="rId3"/>
          <a:stretch>
            <a:fillRect/>
          </a:stretch>
        </p:blipFill>
        <p:spPr>
          <a:xfrm>
            <a:off x="1143298" y="3600748"/>
            <a:ext cx="179933" cy="179933"/>
          </a:xfrm>
          <a:prstGeom prst="rect">
            <a:avLst/>
          </a:prstGeom>
        </p:spPr>
      </p:pic>
      <p:sp>
        <p:nvSpPr>
          <p:cNvPr id="12" name="TextBox 11"/>
          <p:cNvSpPr txBox="1"/>
          <p:nvPr/>
        </p:nvSpPr>
        <p:spPr>
          <a:xfrm>
            <a:off x="1557189" y="3589734"/>
            <a:ext cx="2204418"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Gebruik van de data</a:t>
            </a:r>
          </a:p>
        </p:txBody>
      </p:sp>
      <p:pic>
        <p:nvPicPr>
          <p:cNvPr id="13" name="Picture 12" descr="svg-5-2.png"/>
          <p:cNvPicPr>
            <a:picLocks noChangeAspect="1"/>
          </p:cNvPicPr>
          <p:nvPr/>
        </p:nvPicPr>
        <p:blipFill>
          <a:blip r:embed="rId4"/>
          <a:stretch>
            <a:fillRect/>
          </a:stretch>
        </p:blipFill>
        <p:spPr>
          <a:xfrm>
            <a:off x="1053405" y="4118818"/>
            <a:ext cx="179933" cy="179933"/>
          </a:xfrm>
          <a:prstGeom prst="rect">
            <a:avLst/>
          </a:prstGeom>
        </p:spPr>
      </p:pic>
      <p:sp>
        <p:nvSpPr>
          <p:cNvPr id="14" name="TextBox 13"/>
          <p:cNvSpPr txBox="1"/>
          <p:nvPr/>
        </p:nvSpPr>
        <p:spPr>
          <a:xfrm>
            <a:off x="1359247" y="4114056"/>
            <a:ext cx="4713732" cy="171450"/>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Studentenwerk wordt nooit gebruikt om AI-modellen te trainen.</a:t>
            </a:r>
          </a:p>
        </p:txBody>
      </p:sp>
      <p:pic>
        <p:nvPicPr>
          <p:cNvPr id="15" name="Picture 14" descr="svg-5-3.png"/>
          <p:cNvPicPr>
            <a:picLocks noChangeAspect="1"/>
          </p:cNvPicPr>
          <p:nvPr/>
        </p:nvPicPr>
        <p:blipFill>
          <a:blip r:embed="rId5"/>
          <a:stretch>
            <a:fillRect/>
          </a:stretch>
        </p:blipFill>
        <p:spPr>
          <a:xfrm>
            <a:off x="1053405" y="4501158"/>
            <a:ext cx="179933" cy="179933"/>
          </a:xfrm>
          <a:prstGeom prst="rect">
            <a:avLst/>
          </a:prstGeom>
        </p:spPr>
      </p:pic>
      <p:sp>
        <p:nvSpPr>
          <p:cNvPr id="16" name="TextBox 15"/>
          <p:cNvSpPr txBox="1"/>
          <p:nvPr/>
        </p:nvSpPr>
        <p:spPr>
          <a:xfrm>
            <a:off x="1359247" y="4496395"/>
            <a:ext cx="4700290" cy="374005"/>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Verwerking alleen voor het afgesproken onderwijsdoel, in opdracht van Academica.</a:t>
            </a:r>
          </a:p>
        </p:txBody>
      </p:sp>
      <p:sp>
        <p:nvSpPr>
          <p:cNvPr id="17" name="Rounded Rectangle 16"/>
          <p:cNvSpPr/>
          <p:nvPr/>
        </p:nvSpPr>
        <p:spPr>
          <a:xfrm>
            <a:off x="719882" y="5531346"/>
            <a:ext cx="6120110" cy="1935510"/>
          </a:xfrm>
          <a:prstGeom prst="roundRect">
            <a:avLst>
              <a:gd name="adj" fmla="val 11159"/>
            </a:avLst>
          </a:prstGeom>
          <a:solidFill>
            <a:srgbClr val="FFFFFF"/>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8" name="Rounded Rectangle 17"/>
          <p:cNvSpPr/>
          <p:nvPr/>
        </p:nvSpPr>
        <p:spPr>
          <a:xfrm>
            <a:off x="1053405" y="5864870"/>
            <a:ext cx="359866" cy="359866"/>
          </a:xfrm>
          <a:prstGeom prst="roundRect">
            <a:avLst>
              <a:gd name="adj" fmla="val 30011"/>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19" name="Picture 18" descr="svg-5-4.png"/>
          <p:cNvPicPr>
            <a:picLocks noChangeAspect="1"/>
          </p:cNvPicPr>
          <p:nvPr/>
        </p:nvPicPr>
        <p:blipFill>
          <a:blip r:embed="rId6"/>
          <a:stretch>
            <a:fillRect/>
          </a:stretch>
        </p:blipFill>
        <p:spPr>
          <a:xfrm>
            <a:off x="1143298" y="5954762"/>
            <a:ext cx="179933" cy="179933"/>
          </a:xfrm>
          <a:prstGeom prst="rect">
            <a:avLst/>
          </a:prstGeom>
        </p:spPr>
      </p:pic>
      <p:sp>
        <p:nvSpPr>
          <p:cNvPr id="20" name="TextBox 19"/>
          <p:cNvSpPr txBox="1"/>
          <p:nvPr/>
        </p:nvSpPr>
        <p:spPr>
          <a:xfrm>
            <a:off x="1557189" y="5943749"/>
            <a:ext cx="2089904"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Waar de data staat</a:t>
            </a:r>
          </a:p>
        </p:txBody>
      </p:sp>
      <p:pic>
        <p:nvPicPr>
          <p:cNvPr id="21" name="Picture 20" descr="svg-5-3.png"/>
          <p:cNvPicPr>
            <a:picLocks noChangeAspect="1"/>
          </p:cNvPicPr>
          <p:nvPr/>
        </p:nvPicPr>
        <p:blipFill>
          <a:blip r:embed="rId5"/>
          <a:stretch>
            <a:fillRect/>
          </a:stretch>
        </p:blipFill>
        <p:spPr>
          <a:xfrm>
            <a:off x="1053405" y="6472833"/>
            <a:ext cx="179933" cy="179933"/>
          </a:xfrm>
          <a:prstGeom prst="rect">
            <a:avLst/>
          </a:prstGeom>
        </p:spPr>
      </p:pic>
      <p:sp>
        <p:nvSpPr>
          <p:cNvPr id="22" name="TextBox 21"/>
          <p:cNvSpPr txBox="1"/>
          <p:nvPr/>
        </p:nvSpPr>
        <p:spPr>
          <a:xfrm>
            <a:off x="1359247" y="6468070"/>
            <a:ext cx="4346519" cy="171450"/>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Data alleen in de EU, ook bij Microsoft, Google en Railway.</a:t>
            </a:r>
          </a:p>
        </p:txBody>
      </p:sp>
      <p:pic>
        <p:nvPicPr>
          <p:cNvPr id="23" name="Picture 22" descr="svg-5-3.png"/>
          <p:cNvPicPr>
            <a:picLocks noChangeAspect="1"/>
          </p:cNvPicPr>
          <p:nvPr/>
        </p:nvPicPr>
        <p:blipFill>
          <a:blip r:embed="rId5"/>
          <a:stretch>
            <a:fillRect/>
          </a:stretch>
        </p:blipFill>
        <p:spPr>
          <a:xfrm>
            <a:off x="1053405" y="6855172"/>
            <a:ext cx="179933" cy="179933"/>
          </a:xfrm>
          <a:prstGeom prst="rect">
            <a:avLst/>
          </a:prstGeom>
        </p:spPr>
      </p:pic>
      <p:sp>
        <p:nvSpPr>
          <p:cNvPr id="24" name="TextBox 23"/>
          <p:cNvSpPr txBox="1"/>
          <p:nvPr/>
        </p:nvSpPr>
        <p:spPr>
          <a:xfrm>
            <a:off x="1359247" y="6850410"/>
            <a:ext cx="4116824" cy="171450"/>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Eigen model, geen koppeling met een extern AI-model.</a:t>
            </a:r>
          </a:p>
        </p:txBody>
      </p:sp>
      <p:sp>
        <p:nvSpPr>
          <p:cNvPr id="25" name="Rounded Rectangle 24"/>
          <p:cNvSpPr/>
          <p:nvPr/>
        </p:nvSpPr>
        <p:spPr>
          <a:xfrm>
            <a:off x="719882" y="7682805"/>
            <a:ext cx="6120110" cy="2317849"/>
          </a:xfrm>
          <a:prstGeom prst="roundRect">
            <a:avLst>
              <a:gd name="adj" fmla="val 9318"/>
            </a:avLst>
          </a:prstGeom>
          <a:solidFill>
            <a:srgbClr val="FFFFFF"/>
          </a:solidFill>
          <a:ln w="9525">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Rounded Rectangle 25"/>
          <p:cNvSpPr/>
          <p:nvPr/>
        </p:nvSpPr>
        <p:spPr>
          <a:xfrm>
            <a:off x="1053405" y="8016329"/>
            <a:ext cx="359866" cy="359866"/>
          </a:xfrm>
          <a:prstGeom prst="roundRect">
            <a:avLst>
              <a:gd name="adj" fmla="val 30011"/>
            </a:avLst>
          </a:prstGeom>
          <a:solidFill>
            <a:srgbClr val="F1F2F9"/>
          </a:solidFill>
          <a:ln>
            <a:noFill/>
          </a:ln>
        </p:spPr>
        <p:style>
          <a:lnRef idx="1">
            <a:schemeClr val="accent1"/>
          </a:lnRef>
          <a:fillRef idx="3">
            <a:schemeClr val="accent1"/>
          </a:fillRef>
          <a:effectRef idx="0">
            <a:schemeClr val="accent1"/>
          </a:effectRef>
          <a:fontRef idx="minor">
            <a:schemeClr val="lt1"/>
          </a:fontRef>
        </p:style>
        <p:txBody>
          <a:bodyPr rtlCol="0" anchor="ctr"/>
          <a:lstStyle/>
          <a:p/>
        </p:txBody>
      </p:sp>
      <p:pic>
        <p:nvPicPr>
          <p:cNvPr id="27" name="Picture 26" descr="svg-5-7.png"/>
          <p:cNvPicPr>
            <a:picLocks noChangeAspect="1"/>
          </p:cNvPicPr>
          <p:nvPr/>
        </p:nvPicPr>
        <p:blipFill>
          <a:blip r:embed="rId7"/>
          <a:stretch>
            <a:fillRect/>
          </a:stretch>
        </p:blipFill>
        <p:spPr>
          <a:xfrm>
            <a:off x="1143298" y="8106221"/>
            <a:ext cx="179933" cy="179933"/>
          </a:xfrm>
          <a:prstGeom prst="rect">
            <a:avLst/>
          </a:prstGeom>
        </p:spPr>
      </p:pic>
      <p:sp>
        <p:nvSpPr>
          <p:cNvPr id="28" name="TextBox 27"/>
          <p:cNvSpPr txBox="1"/>
          <p:nvPr/>
        </p:nvSpPr>
        <p:spPr>
          <a:xfrm>
            <a:off x="1557189" y="8095208"/>
            <a:ext cx="1364980" cy="200025"/>
          </a:xfrm>
          <a:prstGeom prst="rect">
            <a:avLst/>
          </a:prstGeom>
          <a:noFill/>
        </p:spPr>
        <p:txBody>
          <a:bodyPr wrap="square" anchor="t" lIns="0" rIns="0" tIns="0" bIns="0">
            <a:noAutofit/>
          </a:bodyPr>
          <a:lstStyle/>
          <a:p>
            <a:pPr algn="l">
              <a:lnSpc>
                <a:spcPts val="2039"/>
              </a:lnSpc>
            </a:pPr>
            <a:r>
              <a:rPr sz="1700" b="1">
                <a:solidFill>
                  <a:srgbClr val="000326"/>
                </a:solidFill>
                <a:latin typeface="League Spartan"/>
              </a:rPr>
              <a:t>Wet en regie</a:t>
            </a:r>
          </a:p>
        </p:txBody>
      </p:sp>
      <p:pic>
        <p:nvPicPr>
          <p:cNvPr id="29" name="Picture 28" descr="svg-5-8.png"/>
          <p:cNvPicPr>
            <a:picLocks noChangeAspect="1"/>
          </p:cNvPicPr>
          <p:nvPr/>
        </p:nvPicPr>
        <p:blipFill>
          <a:blip r:embed="rId8"/>
          <a:stretch>
            <a:fillRect/>
          </a:stretch>
        </p:blipFill>
        <p:spPr>
          <a:xfrm>
            <a:off x="1053405" y="8624292"/>
            <a:ext cx="179933" cy="179933"/>
          </a:xfrm>
          <a:prstGeom prst="rect">
            <a:avLst/>
          </a:prstGeom>
        </p:spPr>
      </p:pic>
      <p:sp>
        <p:nvSpPr>
          <p:cNvPr id="30" name="TextBox 29"/>
          <p:cNvSpPr txBox="1"/>
          <p:nvPr/>
        </p:nvSpPr>
        <p:spPr>
          <a:xfrm>
            <a:off x="1359247" y="8619530"/>
            <a:ext cx="4994434" cy="171450"/>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AVG: verwerkersovereenkomst, een datalek binnen 48 uur gemeld.</a:t>
            </a:r>
          </a:p>
        </p:txBody>
      </p:sp>
      <p:pic>
        <p:nvPicPr>
          <p:cNvPr id="31" name="Picture 30" descr="svg-5-9.png"/>
          <p:cNvPicPr>
            <a:picLocks noChangeAspect="1"/>
          </p:cNvPicPr>
          <p:nvPr/>
        </p:nvPicPr>
        <p:blipFill>
          <a:blip r:embed="rId9"/>
          <a:stretch>
            <a:fillRect/>
          </a:stretch>
        </p:blipFill>
        <p:spPr>
          <a:xfrm>
            <a:off x="1053405" y="9006632"/>
            <a:ext cx="179933" cy="179933"/>
          </a:xfrm>
          <a:prstGeom prst="rect">
            <a:avLst/>
          </a:prstGeom>
        </p:spPr>
      </p:pic>
      <p:sp>
        <p:nvSpPr>
          <p:cNvPr id="32" name="TextBox 31"/>
          <p:cNvSpPr txBox="1"/>
          <p:nvPr/>
        </p:nvSpPr>
        <p:spPr>
          <a:xfrm>
            <a:off x="1359247" y="9001869"/>
            <a:ext cx="3896963" cy="171450"/>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AI Act: audit trail voor elke summatieve beoordeling.</a:t>
            </a:r>
          </a:p>
        </p:txBody>
      </p:sp>
      <p:pic>
        <p:nvPicPr>
          <p:cNvPr id="33" name="Picture 32" descr="svg-5-3.png"/>
          <p:cNvPicPr>
            <a:picLocks noChangeAspect="1"/>
          </p:cNvPicPr>
          <p:nvPr/>
        </p:nvPicPr>
        <p:blipFill>
          <a:blip r:embed="rId5"/>
          <a:stretch>
            <a:fillRect/>
          </a:stretch>
        </p:blipFill>
        <p:spPr>
          <a:xfrm>
            <a:off x="1053405" y="9388971"/>
            <a:ext cx="179933" cy="179933"/>
          </a:xfrm>
          <a:prstGeom prst="rect">
            <a:avLst/>
          </a:prstGeom>
        </p:spPr>
      </p:pic>
      <p:sp>
        <p:nvSpPr>
          <p:cNvPr id="34" name="TextBox 33"/>
          <p:cNvSpPr txBox="1"/>
          <p:nvPr/>
        </p:nvSpPr>
        <p:spPr>
          <a:xfrm>
            <a:off x="1359247" y="9384209"/>
            <a:ext cx="2617970" cy="171450"/>
          </a:xfrm>
          <a:prstGeom prst="rect">
            <a:avLst/>
          </a:prstGeom>
          <a:noFill/>
        </p:spPr>
        <p:txBody>
          <a:bodyPr wrap="square" anchor="t" lIns="0" rIns="0" tIns="0" bIns="0">
            <a:noAutofit/>
          </a:bodyPr>
          <a:lstStyle/>
          <a:p>
            <a:pPr algn="l">
              <a:lnSpc>
                <a:spcPts val="1595"/>
              </a:lnSpc>
            </a:pPr>
            <a:r>
              <a:rPr sz="1100" b="0">
                <a:solidFill>
                  <a:srgbClr val="000326"/>
                </a:solidFill>
                <a:latin typeface="Inter"/>
              </a:rPr>
              <a:t>De docent beslist, de AI assisteert.</a:t>
            </a:r>
          </a:p>
        </p:txBody>
      </p:sp>
      <p:sp>
        <p:nvSpPr>
          <p:cNvPr id="35" name="Rounded Rectangle 34"/>
          <p:cNvSpPr/>
          <p:nvPr/>
        </p:nvSpPr>
        <p:spPr>
          <a:xfrm>
            <a:off x="666750" y="10125075"/>
            <a:ext cx="904875" cy="266700"/>
          </a:xfrm>
          <a:prstGeom prst="roundRect">
            <a:avLst>
              <a:gd name="adj" fmla="val 30000"/>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academica.png"/>
          <p:cNvPicPr>
            <a:picLocks noChangeAspect="1"/>
          </p:cNvPicPr>
          <p:nvPr/>
        </p:nvPicPr>
        <p:blipFill>
          <a:blip r:embed="rId10"/>
          <a:stretch>
            <a:fillRect/>
          </a:stretch>
        </p:blipFill>
        <p:spPr>
          <a:xfrm>
            <a:off x="742950" y="10182225"/>
            <a:ext cx="784860" cy="152400"/>
          </a:xfrm>
          <a:prstGeom prst="rect">
            <a:avLst/>
          </a:prstGeom>
        </p:spPr>
      </p:pic>
      <p:sp>
        <p:nvSpPr>
          <p:cNvPr id="37" name="TextBox 36"/>
          <p:cNvSpPr txBox="1"/>
          <p:nvPr/>
        </p:nvSpPr>
        <p:spPr>
          <a:xfrm>
            <a:off x="6267450" y="10201275"/>
            <a:ext cx="571500" cy="152400"/>
          </a:xfrm>
          <a:prstGeom prst="rect">
            <a:avLst/>
          </a:prstGeom>
          <a:noFill/>
        </p:spPr>
        <p:txBody>
          <a:bodyPr wrap="none" lIns="0" rIns="0" tIns="0" bIns="0">
            <a:spAutoFit/>
          </a:bodyPr>
          <a:lstStyle/>
          <a:p>
            <a:pPr algn="r"/>
            <a:r>
              <a:rPr sz="800">
                <a:solidFill>
                  <a:srgbClr val="B3B5C6"/>
                </a:solidFill>
                <a:latin typeface="Inter"/>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