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1007864"/>
            <a:ext cx="6120110"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MANAGEMENTSAMENVATTING</a:t>
            </a:r>
          </a:p>
        </p:txBody>
      </p:sp>
      <p:sp>
        <p:nvSpPr>
          <p:cNvPr id="3" name="TextBox 2"/>
          <p:cNvSpPr txBox="1"/>
          <p:nvPr/>
        </p:nvSpPr>
        <p:spPr>
          <a:xfrm>
            <a:off x="719882" y="1359247"/>
            <a:ext cx="6652474" cy="1943100"/>
          </a:xfrm>
          <a:prstGeom prst="rect">
            <a:avLst/>
          </a:prstGeom>
          <a:noFill/>
        </p:spPr>
        <p:txBody>
          <a:bodyPr wrap="square" anchor="t" lIns="0" rIns="0" tIns="0" bIns="0">
            <a:spAutoFit/>
          </a:bodyPr>
          <a:lstStyle/>
          <a:p>
            <a:pPr algn="l">
              <a:lnSpc>
                <a:spcPts val="2250"/>
              </a:lnSpc>
            </a:pPr>
            <a:r>
              <a:rPr sz="15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4" name="Rectangle 3"/>
          <p:cNvSpPr/>
          <p:nvPr/>
        </p:nvSpPr>
        <p:spPr>
          <a:xfrm>
            <a:off x="719882" y="3546872"/>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928390" y="3575447"/>
            <a:ext cx="6192083" cy="200025"/>
          </a:xfrm>
          <a:prstGeom prst="rect">
            <a:avLst/>
          </a:prstGeom>
          <a:noFill/>
        </p:spPr>
        <p:txBody>
          <a:bodyPr wrap="square" anchor="t" lIns="0" rIns="0" tIns="0" bIns="0">
            <a:spAutoFit/>
          </a:bodyPr>
          <a:lstStyle/>
          <a:p>
            <a:pPr algn="l">
              <a:lnSpc>
                <a:spcPts val="2124"/>
              </a:lnSpc>
            </a:pPr>
            <a:r>
              <a:rPr sz="1700" b="1">
                <a:solidFill>
                  <a:srgbClr val="000326"/>
                </a:solidFill>
                <a:latin typeface="League Spartan"/>
              </a:rPr>
              <a:t>Dat is een concrete invulling van het koerspunt efficiëntie.</a:t>
            </a:r>
          </a:p>
        </p:txBody>
      </p:sp>
      <p:sp>
        <p:nvSpPr>
          <p:cNvPr id="6" name="Rounded Rectangle 5"/>
          <p:cNvSpPr/>
          <p:nvPr/>
        </p:nvSpPr>
        <p:spPr>
          <a:xfrm>
            <a:off x="719882" y="4320629"/>
            <a:ext cx="2952006" cy="2335709"/>
          </a:xfrm>
          <a:prstGeom prst="roundRect">
            <a:avLst>
              <a:gd name="adj" fmla="val 9247"/>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053405" y="4654153"/>
            <a:ext cx="2284958"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NU</a:t>
            </a:r>
          </a:p>
        </p:txBody>
      </p:sp>
      <p:sp>
        <p:nvSpPr>
          <p:cNvPr id="8" name="TextBox 7"/>
          <p:cNvSpPr txBox="1"/>
          <p:nvPr/>
        </p:nvSpPr>
        <p:spPr>
          <a:xfrm>
            <a:off x="1053405" y="4923979"/>
            <a:ext cx="2312599" cy="466725"/>
          </a:xfrm>
          <a:prstGeom prst="rect">
            <a:avLst/>
          </a:prstGeom>
          <a:noFill/>
        </p:spPr>
        <p:txBody>
          <a:bodyPr wrap="square" anchor="t" lIns="0" rIns="0" tIns="0" bIns="0">
            <a:spAutoFit/>
          </a:bodyPr>
          <a:lstStyle/>
          <a:p>
            <a:pPr algn="l">
              <a:lnSpc>
                <a:spcPts val="3999"/>
              </a:lnSpc>
            </a:pPr>
            <a:r>
              <a:rPr sz="3999" b="1">
                <a:solidFill>
                  <a:srgbClr val="000326"/>
                </a:solidFill>
                <a:latin typeface="League Spartan"/>
              </a:rPr>
              <a:t>€ 37.000</a:t>
            </a:r>
          </a:p>
        </p:txBody>
      </p:sp>
      <p:sp>
        <p:nvSpPr>
          <p:cNvPr id="9" name="TextBox 8"/>
          <p:cNvSpPr txBox="1"/>
          <p:nvPr/>
        </p:nvSpPr>
        <p:spPr>
          <a:xfrm>
            <a:off x="1053405" y="5484763"/>
            <a:ext cx="2284958" cy="161925"/>
          </a:xfrm>
          <a:prstGeom prst="rect">
            <a:avLst/>
          </a:prstGeom>
          <a:noFill/>
        </p:spPr>
        <p:txBody>
          <a:bodyPr wrap="square" anchor="t" lIns="0" rIns="0" tIns="0" bIns="0">
            <a:spAutoFit/>
          </a:bodyPr>
          <a:lstStyle/>
          <a:p>
            <a:pPr algn="l">
              <a:lnSpc>
                <a:spcPts val="1260"/>
              </a:lnSpc>
            </a:pPr>
            <a:r>
              <a:rPr sz="1050" b="0">
                <a:solidFill>
                  <a:srgbClr val="555A78"/>
                </a:solidFill>
                <a:latin typeface="Inter"/>
              </a:rPr>
              <a:t>Feedback voor de helft</a:t>
            </a:r>
          </a:p>
        </p:txBody>
      </p:sp>
      <p:sp>
        <p:nvSpPr>
          <p:cNvPr id="10" name="Oval 9"/>
          <p:cNvSpPr/>
          <p:nvPr/>
        </p:nvSpPr>
        <p:spPr>
          <a:xfrm>
            <a:off x="1053405"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290638"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527870"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765102"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002334"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239566"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476798"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714030"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951262"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3188494"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1053405"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290638"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527870"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765102"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2002334"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239566"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476798"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714030"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951262"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3188494"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3887837" y="4320629"/>
            <a:ext cx="2952155" cy="2335709"/>
          </a:xfrm>
          <a:prstGeom prst="roundRect">
            <a:avLst>
              <a:gd name="adj" fmla="val 924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TextBox 30"/>
          <p:cNvSpPr txBox="1"/>
          <p:nvPr/>
        </p:nvSpPr>
        <p:spPr>
          <a:xfrm>
            <a:off x="4211836" y="4644628"/>
            <a:ext cx="2304157"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MET EDUFACE</a:t>
            </a:r>
          </a:p>
        </p:txBody>
      </p:sp>
      <p:sp>
        <p:nvSpPr>
          <p:cNvPr id="32" name="TextBox 31"/>
          <p:cNvSpPr txBox="1"/>
          <p:nvPr/>
        </p:nvSpPr>
        <p:spPr>
          <a:xfrm>
            <a:off x="4211836" y="4914454"/>
            <a:ext cx="2304157" cy="466725"/>
          </a:xfrm>
          <a:prstGeom prst="rect">
            <a:avLst/>
          </a:prstGeom>
          <a:noFill/>
        </p:spPr>
        <p:txBody>
          <a:bodyPr wrap="square" anchor="t" lIns="0" rIns="0" tIns="0" bIns="0">
            <a:spAutoFit/>
          </a:bodyPr>
          <a:lstStyle/>
          <a:p>
            <a:pPr algn="l">
              <a:lnSpc>
                <a:spcPts val="3999"/>
              </a:lnSpc>
            </a:pPr>
            <a:r>
              <a:rPr sz="3999" b="1">
                <a:solidFill>
                  <a:srgbClr val="000326"/>
                </a:solidFill>
                <a:latin typeface="League Spartan"/>
              </a:rPr>
              <a:t>€ 18.000</a:t>
            </a:r>
          </a:p>
        </p:txBody>
      </p:sp>
      <p:sp>
        <p:nvSpPr>
          <p:cNvPr id="33" name="TextBox 32"/>
          <p:cNvSpPr txBox="1"/>
          <p:nvPr/>
        </p:nvSpPr>
        <p:spPr>
          <a:xfrm>
            <a:off x="4211836" y="5475238"/>
            <a:ext cx="2304157" cy="161925"/>
          </a:xfrm>
          <a:prstGeom prst="rect">
            <a:avLst/>
          </a:prstGeom>
          <a:noFill/>
        </p:spPr>
        <p:txBody>
          <a:bodyPr wrap="square" anchor="t" lIns="0" rIns="0" tIns="0" bIns="0">
            <a:spAutoFit/>
          </a:bodyPr>
          <a:lstStyle/>
          <a:p>
            <a:pPr algn="l">
              <a:lnSpc>
                <a:spcPts val="1260"/>
              </a:lnSpc>
            </a:pPr>
            <a:r>
              <a:rPr sz="1050" b="0">
                <a:solidFill>
                  <a:srgbClr val="555A78"/>
                </a:solidFill>
                <a:latin typeface="Inter"/>
              </a:rPr>
              <a:t>Feedback voor elke student</a:t>
            </a:r>
          </a:p>
        </p:txBody>
      </p:sp>
      <p:sp>
        <p:nvSpPr>
          <p:cNvPr id="34" name="Oval 33"/>
          <p:cNvSpPr/>
          <p:nvPr/>
        </p:nvSpPr>
        <p:spPr>
          <a:xfrm>
            <a:off x="4211836"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Oval 34"/>
          <p:cNvSpPr/>
          <p:nvPr/>
        </p:nvSpPr>
        <p:spPr>
          <a:xfrm>
            <a:off x="4451003"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6901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929336"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5168503"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4076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646837"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886004"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61251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364337"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4211836"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451003"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6901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929336"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5168503"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4076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646837"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886004"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61251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364337"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TextBox 53"/>
          <p:cNvSpPr txBox="1"/>
          <p:nvPr/>
        </p:nvSpPr>
        <p:spPr>
          <a:xfrm>
            <a:off x="719882" y="6764238"/>
            <a:ext cx="6120110"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Elke stip is 5% van de studenten.</a:t>
            </a:r>
          </a:p>
        </p:txBody>
      </p:sp>
      <p:sp>
        <p:nvSpPr>
          <p:cNvPr id="55" name="Rounded Rectangle 54"/>
          <p:cNvSpPr/>
          <p:nvPr/>
        </p:nvSpPr>
        <p:spPr>
          <a:xfrm>
            <a:off x="719882" y="7123063"/>
            <a:ext cx="6120110" cy="1460748"/>
          </a:xfrm>
          <a:prstGeom prst="roundRect">
            <a:avLst>
              <a:gd name="adj" fmla="val 14786"/>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6" name="TextBox 55"/>
          <p:cNvSpPr txBox="1"/>
          <p:nvPr/>
        </p:nvSpPr>
        <p:spPr>
          <a:xfrm>
            <a:off x="1043880" y="7475637"/>
            <a:ext cx="1708023" cy="752475"/>
          </a:xfrm>
          <a:prstGeom prst="rect">
            <a:avLst/>
          </a:prstGeom>
          <a:noFill/>
        </p:spPr>
        <p:txBody>
          <a:bodyPr wrap="square" anchor="t" lIns="0" rIns="0" tIns="0" bIns="0">
            <a:spAutoFit/>
          </a:bodyPr>
          <a:lstStyle/>
          <a:p>
            <a:pPr algn="l">
              <a:lnSpc>
                <a:spcPts val="6399"/>
              </a:lnSpc>
            </a:pPr>
            <a:r>
              <a:rPr sz="6399" b="1">
                <a:solidFill>
                  <a:srgbClr val="000326"/>
                </a:solidFill>
                <a:latin typeface="League Spartan"/>
              </a:rPr>
              <a:t>76%</a:t>
            </a:r>
          </a:p>
        </p:txBody>
      </p:sp>
      <p:sp>
        <p:nvSpPr>
          <p:cNvPr id="57" name="TextBox 56"/>
          <p:cNvSpPr txBox="1"/>
          <p:nvPr/>
        </p:nvSpPr>
        <p:spPr>
          <a:xfrm>
            <a:off x="2805857" y="7622232"/>
            <a:ext cx="2528126" cy="449014"/>
          </a:xfrm>
          <a:prstGeom prst="rect">
            <a:avLst/>
          </a:prstGeom>
          <a:noFill/>
        </p:spPr>
        <p:txBody>
          <a:bodyPr wrap="square" anchor="t" lIns="0" rIns="0" tIns="0" bIns="0">
            <a:spAutoFit/>
          </a:bodyPr>
          <a:lstStyle/>
          <a:p>
            <a:pPr algn="l">
              <a:lnSpc>
                <a:spcPts val="1679"/>
              </a:lnSpc>
            </a:pPr>
          </a:p>
          <a:p>
            <a:pPr algn="l">
              <a:lnSpc>
                <a:spcPts val="1679"/>
              </a:lnSpc>
            </a:pPr>
            <a:r>
              <a:rPr sz="1400" b="1">
                <a:solidFill>
                  <a:srgbClr val="000326"/>
                </a:solidFill>
                <a:latin typeface="Inter"/>
              </a:rPr>
              <a:t>goedkoper</a:t>
            </a:r>
          </a:p>
          <a:p>
            <a:pPr algn="l">
              <a:lnSpc>
                <a:spcPts val="1679"/>
              </a:lnSpc>
            </a:pPr>
            <a:r>
              <a:rPr sz="1200" b="0">
                <a:solidFill>
                  <a:srgbClr val="000326"/>
                </a:solidFill>
                <a:latin typeface="Inter"/>
              </a:rPr>
              <a:t>per student die feedback krijgt</a:t>
            </a:r>
          </a:p>
        </p:txBody>
      </p:sp>
      <p:sp>
        <p:nvSpPr>
          <p:cNvPr id="58" name="TextBox 57"/>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Kosten</a:t>
            </a:r>
          </a:p>
        </p:txBody>
      </p:sp>
      <p:sp>
        <p:nvSpPr>
          <p:cNvPr id="3" name="Rounded Rectangle 2"/>
          <p:cNvSpPr/>
          <p:nvPr/>
        </p:nvSpPr>
        <p:spPr>
          <a:xfrm>
            <a:off x="719882" y="1695896"/>
            <a:ext cx="6120110" cy="5132933"/>
          </a:xfrm>
          <a:prstGeom prst="roundRect">
            <a:avLst>
              <a:gd name="adj" fmla="val 4208"/>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TextBox 3"/>
          <p:cNvSpPr txBox="1"/>
          <p:nvPr/>
        </p:nvSpPr>
        <p:spPr>
          <a:xfrm>
            <a:off x="1079748" y="2065288"/>
            <a:ext cx="5400377" cy="752475"/>
          </a:xfrm>
          <a:prstGeom prst="rect">
            <a:avLst/>
          </a:prstGeom>
          <a:noFill/>
        </p:spPr>
        <p:txBody>
          <a:bodyPr wrap="square" anchor="t" lIns="0" rIns="0" tIns="0" bIns="0">
            <a:spAutoFit/>
          </a:bodyPr>
          <a:lstStyle/>
          <a:p>
            <a:pPr algn="l">
              <a:lnSpc>
                <a:spcPts val="6080"/>
              </a:lnSpc>
            </a:pPr>
            <a:r>
              <a:rPr sz="6399" b="1">
                <a:solidFill>
                  <a:srgbClr val="000326"/>
                </a:solidFill>
                <a:latin typeface="League Spartan"/>
              </a:rPr>
              <a:t>€ 3,75</a:t>
            </a:r>
          </a:p>
        </p:txBody>
      </p:sp>
      <p:sp>
        <p:nvSpPr>
          <p:cNvPr id="5" name="TextBox 4"/>
          <p:cNvSpPr txBox="1"/>
          <p:nvPr/>
        </p:nvSpPr>
        <p:spPr>
          <a:xfrm>
            <a:off x="1079748" y="2935635"/>
            <a:ext cx="5400377" cy="190500"/>
          </a:xfrm>
          <a:prstGeom prst="rect">
            <a:avLst/>
          </a:prstGeom>
          <a:noFill/>
        </p:spPr>
        <p:txBody>
          <a:bodyPr wrap="square" anchor="t" lIns="0" rIns="0" tIns="0" bIns="0">
            <a:spAutoFit/>
          </a:bodyPr>
          <a:lstStyle/>
          <a:p>
            <a:pPr algn="l">
              <a:lnSpc>
                <a:spcPts val="1439"/>
              </a:lnSpc>
            </a:pPr>
            <a:r>
              <a:rPr sz="1200" b="0">
                <a:solidFill>
                  <a:srgbClr val="000326"/>
                </a:solidFill>
                <a:latin typeface="Inter"/>
              </a:rPr>
              <a:t>per student per maand* </a:t>
            </a:r>
            <a:r>
              <a:rPr sz="1200" b="0">
                <a:solidFill>
                  <a:srgbClr val="555A78"/>
                </a:solidFill>
                <a:latin typeface="Inter"/>
              </a:rPr>
              <a:t>· exclusief btw</a:t>
            </a:r>
          </a:p>
        </p:txBody>
      </p:sp>
      <p:sp>
        <p:nvSpPr>
          <p:cNvPr id="6" name="Rounded Rectangle 5"/>
          <p:cNvSpPr/>
          <p:nvPr/>
        </p:nvSpPr>
        <p:spPr>
          <a:xfrm>
            <a:off x="1079748" y="3450134"/>
            <a:ext cx="5400377" cy="2787104"/>
          </a:xfrm>
          <a:prstGeom prst="roundRect">
            <a:avLst>
              <a:gd name="adj" fmla="val 452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295698" y="3666083"/>
            <a:ext cx="4968478" cy="161925"/>
          </a:xfrm>
          <a:prstGeom prst="rect">
            <a:avLst/>
          </a:prstGeom>
          <a:noFill/>
        </p:spPr>
        <p:txBody>
          <a:bodyPr wrap="square" anchor="t" lIns="0" rIns="0" tIns="0" bIns="0">
            <a:spAutoFit/>
          </a:bodyPr>
          <a:lstStyle/>
          <a:p>
            <a:pPr algn="l">
              <a:lnSpc>
                <a:spcPts val="1260"/>
              </a:lnSpc>
            </a:pPr>
            <a:r>
              <a:rPr sz="1050" b="1">
                <a:solidFill>
                  <a:srgbClr val="000326"/>
                </a:solidFill>
                <a:latin typeface="Inter"/>
              </a:rPr>
              <a:t>Hoe meer studenten, hoe lager de prijs per student</a:t>
            </a:r>
          </a:p>
        </p:txBody>
      </p:sp>
      <p:sp>
        <p:nvSpPr>
          <p:cNvPr id="8" name="TextBox 7"/>
          <p:cNvSpPr txBox="1"/>
          <p:nvPr/>
        </p:nvSpPr>
        <p:spPr>
          <a:xfrm>
            <a:off x="1295698" y="3863876"/>
            <a:ext cx="4968478" cy="142875"/>
          </a:xfrm>
          <a:prstGeom prst="rect">
            <a:avLst/>
          </a:prstGeom>
          <a:noFill/>
        </p:spPr>
        <p:txBody>
          <a:bodyPr wrap="square" anchor="t" lIns="0" rIns="0" tIns="0" bIns="0">
            <a:spAutoFit/>
          </a:bodyPr>
          <a:lstStyle/>
          <a:p>
            <a:pPr algn="l">
              <a:lnSpc>
                <a:spcPts val="1140"/>
              </a:lnSpc>
            </a:pPr>
            <a:r>
              <a:rPr sz="950" b="0">
                <a:solidFill>
                  <a:srgbClr val="555A78"/>
                </a:solidFill>
                <a:latin typeface="Inter"/>
              </a:rPr>
              <a:t>Prijs per student per maand</a:t>
            </a:r>
          </a:p>
        </p:txBody>
      </p:sp>
      <p:sp>
        <p:nvSpPr>
          <p:cNvPr id="9" name="TextBox 8"/>
          <p:cNvSpPr txBox="1"/>
          <p:nvPr/>
        </p:nvSpPr>
        <p:spPr>
          <a:xfrm>
            <a:off x="2597944" y="4222700"/>
            <a:ext cx="486870"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€ 3,75</a:t>
            </a:r>
          </a:p>
        </p:txBody>
      </p:sp>
      <p:sp>
        <p:nvSpPr>
          <p:cNvPr id="10" name="Rounded Rectangle 9"/>
          <p:cNvSpPr/>
          <p:nvPr/>
        </p:nvSpPr>
        <p:spPr>
          <a:xfrm>
            <a:off x="2177802" y="4446984"/>
            <a:ext cx="1223962" cy="1223962"/>
          </a:xfrm>
          <a:prstGeom prst="roundRect">
            <a:avLst>
              <a:gd name="adj" fmla="val 5882"/>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2377976" y="5742831"/>
            <a:ext cx="979599"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Tot en met 400</a:t>
            </a:r>
          </a:p>
        </p:txBody>
      </p:sp>
      <p:sp>
        <p:nvSpPr>
          <p:cNvPr id="12" name="TextBox 11"/>
          <p:cNvSpPr txBox="1"/>
          <p:nvPr/>
        </p:nvSpPr>
        <p:spPr>
          <a:xfrm>
            <a:off x="4569768" y="4467523"/>
            <a:ext cx="505873"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€ 3,00</a:t>
            </a:r>
          </a:p>
        </p:txBody>
      </p:sp>
      <p:sp>
        <p:nvSpPr>
          <p:cNvPr id="13" name="Rounded Rectangle 12"/>
          <p:cNvSpPr/>
          <p:nvPr/>
        </p:nvSpPr>
        <p:spPr>
          <a:xfrm>
            <a:off x="4158109" y="4691807"/>
            <a:ext cx="1223962" cy="979140"/>
          </a:xfrm>
          <a:prstGeom prst="roundRect">
            <a:avLst>
              <a:gd name="adj" fmla="val 7353"/>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4388197" y="5742831"/>
            <a:ext cx="912424"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Meer dan 400</a:t>
            </a:r>
          </a:p>
        </p:txBody>
      </p:sp>
      <p:sp>
        <p:nvSpPr>
          <p:cNvPr id="15" name="TextBox 14"/>
          <p:cNvSpPr txBox="1"/>
          <p:nvPr/>
        </p:nvSpPr>
        <p:spPr>
          <a:xfrm>
            <a:off x="1295623" y="5914430"/>
            <a:ext cx="4968478" cy="142875"/>
          </a:xfrm>
          <a:prstGeom prst="rect">
            <a:avLst/>
          </a:prstGeom>
          <a:noFill/>
        </p:spPr>
        <p:txBody>
          <a:bodyPr wrap="square" anchor="t" lIns="0" rIns="0" tIns="0" bIns="0">
            <a:spAutoFit/>
          </a:bodyPr>
          <a:lstStyle/>
          <a:p>
            <a:pPr algn="ctr">
              <a:lnSpc>
                <a:spcPts val="1080"/>
              </a:lnSpc>
            </a:pPr>
            <a:r>
              <a:rPr sz="900" b="0">
                <a:solidFill>
                  <a:srgbClr val="555A78"/>
                </a:solidFill>
                <a:latin typeface="Inter"/>
              </a:rPr>
              <a:t>Aantal studenten</a:t>
            </a:r>
          </a:p>
        </p:txBody>
      </p:sp>
      <p:sp>
        <p:nvSpPr>
          <p:cNvPr id="16" name="TextBox 15"/>
          <p:cNvSpPr txBox="1"/>
          <p:nvPr/>
        </p:nvSpPr>
        <p:spPr>
          <a:xfrm>
            <a:off x="1079748" y="6345138"/>
            <a:ext cx="5400377" cy="123825"/>
          </a:xfrm>
          <a:prstGeom prst="rect">
            <a:avLst/>
          </a:prstGeom>
          <a:noFill/>
        </p:spPr>
        <p:txBody>
          <a:bodyPr wrap="square" anchor="t" lIns="0" rIns="0" tIns="0" bIns="0">
            <a:spAutoFit/>
          </a:bodyPr>
          <a:lstStyle/>
          <a:p>
            <a:pPr algn="l">
              <a:lnSpc>
                <a:spcPts val="960"/>
              </a:lnSpc>
            </a:pPr>
            <a:r>
              <a:rPr sz="800" b="0">
                <a:solidFill>
                  <a:srgbClr val="555A78"/>
                </a:solidFill>
                <a:latin typeface="Inter"/>
              </a:rPr>
              <a:t>* Minimaal € 1.500 per maand, dat dekt de eerste 400 studenten.</a:t>
            </a:r>
          </a:p>
        </p:txBody>
      </p:sp>
      <p:sp>
        <p:nvSpPr>
          <p:cNvPr id="17" name="TextBox 16"/>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Wat de instelling ervoor krijgt</a:t>
            </a:r>
          </a:p>
        </p:txBody>
      </p:sp>
      <p:sp>
        <p:nvSpPr>
          <p:cNvPr id="3" name="Rounded Rectangle 2"/>
          <p:cNvSpPr/>
          <p:nvPr/>
        </p:nvSpPr>
        <p:spPr>
          <a:xfrm>
            <a:off x="719882" y="1695896"/>
            <a:ext cx="6120110" cy="3085505"/>
          </a:xfrm>
          <a:prstGeom prst="roundRect">
            <a:avLst>
              <a:gd name="adj" fmla="val 7000"/>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2019895"/>
            <a:ext cx="431899" cy="431899"/>
          </a:xfrm>
          <a:prstGeom prst="roundRect">
            <a:avLst>
              <a:gd name="adj" fmla="val 25005"/>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51781" y="2127796"/>
            <a:ext cx="215950" cy="215950"/>
          </a:xfrm>
          <a:prstGeom prst="rect">
            <a:avLst/>
          </a:prstGeom>
        </p:spPr>
      </p:pic>
      <p:sp>
        <p:nvSpPr>
          <p:cNvPr id="6" name="TextBox 5"/>
          <p:cNvSpPr txBox="1"/>
          <p:nvPr/>
        </p:nvSpPr>
        <p:spPr>
          <a:xfrm>
            <a:off x="1655713" y="2101304"/>
            <a:ext cx="2949845" cy="257175"/>
          </a:xfrm>
          <a:prstGeom prst="rect">
            <a:avLst/>
          </a:prstGeom>
          <a:noFill/>
        </p:spPr>
        <p:txBody>
          <a:bodyPr wrap="square" anchor="t" lIns="0" rIns="0" tIns="0" bIns="0">
            <a:spAutoFit/>
          </a:bodyPr>
          <a:lstStyle/>
          <a:p>
            <a:pPr algn="l">
              <a:lnSpc>
                <a:spcPts val="2420"/>
              </a:lnSpc>
            </a:pPr>
            <a:r>
              <a:rPr sz="2199" b="1">
                <a:solidFill>
                  <a:srgbClr val="000326"/>
                </a:solidFill>
                <a:latin typeface="League Spartan"/>
              </a:rPr>
              <a:t>Uniforme beoordeling</a:t>
            </a:r>
          </a:p>
        </p:txBody>
      </p:sp>
      <p:sp>
        <p:nvSpPr>
          <p:cNvPr id="7" name="TextBox 6"/>
          <p:cNvSpPr txBox="1"/>
          <p:nvPr/>
        </p:nvSpPr>
        <p:spPr>
          <a:xfrm>
            <a:off x="1043880" y="2578745"/>
            <a:ext cx="5593675" cy="161925"/>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Elke opdracht wordt langs dezelfde criteria beoordeeld, door elke beoordelaar.</a:t>
            </a:r>
          </a:p>
        </p:txBody>
      </p:sp>
      <p:sp>
        <p:nvSpPr>
          <p:cNvPr id="8" name="Rounded Rectangle 7"/>
          <p:cNvSpPr/>
          <p:nvPr/>
        </p:nvSpPr>
        <p:spPr>
          <a:xfrm>
            <a:off x="1043880" y="3011686"/>
            <a:ext cx="2646015" cy="1445716"/>
          </a:xfrm>
          <a:prstGeom prst="roundRect">
            <a:avLst>
              <a:gd name="adj" fmla="val 871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227636"/>
            <a:ext cx="2536960" cy="340668"/>
          </a:xfrm>
          <a:prstGeom prst="rect">
            <a:avLst/>
          </a:prstGeom>
          <a:noFill/>
        </p:spPr>
        <p:txBody>
          <a:bodyPr wrap="square" anchor="t" lIns="0" rIns="0" tIns="0" bIns="0">
            <a:spAutoFit/>
          </a:bodyPr>
          <a:lstStyle/>
          <a:p>
            <a:pPr algn="l">
              <a:lnSpc>
                <a:spcPts val="1140"/>
              </a:lnSpc>
            </a:pPr>
          </a:p>
          <a:p>
            <a:pPr algn="l">
              <a:lnSpc>
                <a:spcPts val="1140"/>
              </a:lnSpc>
            </a:pPr>
            <a:r>
              <a:rPr sz="1050" b="1">
                <a:solidFill>
                  <a:srgbClr val="000326"/>
                </a:solidFill>
                <a:latin typeface="Inter"/>
              </a:rPr>
              <a:t>Zonder</a:t>
            </a:r>
          </a:p>
          <a:p>
            <a:pPr algn="l">
              <a:lnSpc>
                <a:spcPts val="1140"/>
              </a:lnSpc>
            </a:pPr>
            <a:r>
              <a:rPr sz="950" b="0">
                <a:solidFill>
                  <a:srgbClr val="555A78"/>
                </a:solidFill>
                <a:latin typeface="Inter"/>
              </a:rPr>
              <a:t>Elke beoordelaar met een eigen blik</a:t>
            </a:r>
          </a:p>
        </p:txBody>
      </p:sp>
      <p:sp>
        <p:nvSpPr>
          <p:cNvPr id="10" name="Rectangle 9"/>
          <p:cNvSpPr/>
          <p:nvPr/>
        </p:nvSpPr>
        <p:spPr>
          <a:xfrm>
            <a:off x="1259830" y="3928170"/>
            <a:ext cx="2214116"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494234"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2114252"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2579191"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3132683"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TextBox 14"/>
          <p:cNvSpPr txBox="1"/>
          <p:nvPr/>
        </p:nvSpPr>
        <p:spPr>
          <a:xfrm>
            <a:off x="1259830" y="4108103"/>
            <a:ext cx="549712"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Strenger</a:t>
            </a:r>
          </a:p>
        </p:txBody>
      </p:sp>
      <p:sp>
        <p:nvSpPr>
          <p:cNvPr id="16" name="TextBox 15"/>
          <p:cNvSpPr txBox="1"/>
          <p:nvPr/>
        </p:nvSpPr>
        <p:spPr>
          <a:xfrm>
            <a:off x="3154561" y="4108103"/>
            <a:ext cx="414861"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Milder</a:t>
            </a:r>
          </a:p>
        </p:txBody>
      </p:sp>
      <p:sp>
        <p:nvSpPr>
          <p:cNvPr id="17" name="Rounded Rectangle 16"/>
          <p:cNvSpPr/>
          <p:nvPr/>
        </p:nvSpPr>
        <p:spPr>
          <a:xfrm>
            <a:off x="3869829" y="3011686"/>
            <a:ext cx="2646164" cy="1445716"/>
          </a:xfrm>
          <a:prstGeom prst="roundRect">
            <a:avLst>
              <a:gd name="adj" fmla="val 871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4085779" y="3227636"/>
            <a:ext cx="2537127" cy="340668"/>
          </a:xfrm>
          <a:prstGeom prst="rect">
            <a:avLst/>
          </a:prstGeom>
          <a:noFill/>
        </p:spPr>
        <p:txBody>
          <a:bodyPr wrap="square" anchor="t" lIns="0" rIns="0" tIns="0" bIns="0">
            <a:spAutoFit/>
          </a:bodyPr>
          <a:lstStyle/>
          <a:p>
            <a:pPr algn="l">
              <a:lnSpc>
                <a:spcPts val="1140"/>
              </a:lnSpc>
            </a:pPr>
          </a:p>
          <a:p>
            <a:pPr algn="l">
              <a:lnSpc>
                <a:spcPts val="1140"/>
              </a:lnSpc>
            </a:pPr>
            <a:r>
              <a:rPr sz="1050" b="1">
                <a:solidFill>
                  <a:srgbClr val="000326"/>
                </a:solidFill>
                <a:latin typeface="Inter"/>
              </a:rPr>
              <a:t>Met Eduface</a:t>
            </a:r>
          </a:p>
          <a:p>
            <a:pPr algn="l">
              <a:lnSpc>
                <a:spcPts val="1140"/>
              </a:lnSpc>
            </a:pPr>
            <a:r>
              <a:rPr sz="950" b="0">
                <a:solidFill>
                  <a:srgbClr val="555A78"/>
                </a:solidFill>
                <a:latin typeface="Inter"/>
              </a:rPr>
              <a:t>Iedereen langs dezelfde criteria</a:t>
            </a:r>
          </a:p>
        </p:txBody>
      </p:sp>
      <p:sp>
        <p:nvSpPr>
          <p:cNvPr id="19" name="Rectangle 18"/>
          <p:cNvSpPr/>
          <p:nvPr/>
        </p:nvSpPr>
        <p:spPr>
          <a:xfrm>
            <a:off x="4085779" y="3928170"/>
            <a:ext cx="2214265"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4984552"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5117455"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5250210"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5383113"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TextBox 23"/>
          <p:cNvSpPr txBox="1"/>
          <p:nvPr/>
        </p:nvSpPr>
        <p:spPr>
          <a:xfrm>
            <a:off x="4085779" y="4108103"/>
            <a:ext cx="549712"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Strenger</a:t>
            </a:r>
          </a:p>
        </p:txBody>
      </p:sp>
      <p:sp>
        <p:nvSpPr>
          <p:cNvPr id="25" name="TextBox 24"/>
          <p:cNvSpPr txBox="1"/>
          <p:nvPr/>
        </p:nvSpPr>
        <p:spPr>
          <a:xfrm>
            <a:off x="5980658" y="4108103"/>
            <a:ext cx="414861"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Milder</a:t>
            </a:r>
          </a:p>
        </p:txBody>
      </p:sp>
      <p:sp>
        <p:nvSpPr>
          <p:cNvPr id="26" name="Rounded Rectangle 25"/>
          <p:cNvSpPr/>
          <p:nvPr/>
        </p:nvSpPr>
        <p:spPr>
          <a:xfrm>
            <a:off x="719882" y="4997351"/>
            <a:ext cx="6120110" cy="2376339"/>
          </a:xfrm>
          <a:prstGeom prst="roundRect">
            <a:avLst>
              <a:gd name="adj" fmla="val 9089"/>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Rounded Rectangle 26"/>
          <p:cNvSpPr/>
          <p:nvPr/>
        </p:nvSpPr>
        <p:spPr>
          <a:xfrm>
            <a:off x="1043880" y="5321350"/>
            <a:ext cx="431899" cy="431899"/>
          </a:xfrm>
          <a:prstGeom prst="roundRect">
            <a:avLst>
              <a:gd name="adj" fmla="val 2500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8" name="Picture 27" descr="svg-2-1.png"/>
          <p:cNvPicPr>
            <a:picLocks noChangeAspect="1"/>
          </p:cNvPicPr>
          <p:nvPr/>
        </p:nvPicPr>
        <p:blipFill>
          <a:blip r:embed="rId3"/>
          <a:stretch>
            <a:fillRect/>
          </a:stretch>
        </p:blipFill>
        <p:spPr>
          <a:xfrm>
            <a:off x="1151781" y="5429250"/>
            <a:ext cx="215950" cy="215950"/>
          </a:xfrm>
          <a:prstGeom prst="rect">
            <a:avLst/>
          </a:prstGeom>
        </p:spPr>
      </p:pic>
      <p:sp>
        <p:nvSpPr>
          <p:cNvPr id="29" name="TextBox 28"/>
          <p:cNvSpPr txBox="1"/>
          <p:nvPr/>
        </p:nvSpPr>
        <p:spPr>
          <a:xfrm>
            <a:off x="1655713" y="5432227"/>
            <a:ext cx="4066818" cy="200025"/>
          </a:xfrm>
          <a:prstGeom prst="rect">
            <a:avLst/>
          </a:prstGeom>
          <a:noFill/>
        </p:spPr>
        <p:txBody>
          <a:bodyPr wrap="square" anchor="t" lIns="0" rIns="0" tIns="0" bIns="0">
            <a:spAutoFit/>
          </a:bodyPr>
          <a:lstStyle/>
          <a:p>
            <a:pPr algn="l">
              <a:lnSpc>
                <a:spcPts val="1955"/>
              </a:lnSpc>
            </a:pPr>
            <a:r>
              <a:rPr sz="1700" b="1">
                <a:solidFill>
                  <a:srgbClr val="000326"/>
                </a:solidFill>
                <a:latin typeface="League Spartan"/>
              </a:rPr>
              <a:t>Formatieve feedback voor elke student</a:t>
            </a:r>
          </a:p>
        </p:txBody>
      </p:sp>
      <p:sp>
        <p:nvSpPr>
          <p:cNvPr id="30" name="TextBox 29"/>
          <p:cNvSpPr txBox="1"/>
          <p:nvPr/>
        </p:nvSpPr>
        <p:spPr>
          <a:xfrm>
            <a:off x="1043880" y="5880199"/>
            <a:ext cx="6089237" cy="161925"/>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Nu krijgt de helft van de studenten formatieve feedback. Met Eduface is dat iedereen.</a:t>
            </a:r>
          </a:p>
        </p:txBody>
      </p:sp>
      <p:sp>
        <p:nvSpPr>
          <p:cNvPr id="31" name="TextBox 30"/>
          <p:cNvSpPr txBox="1"/>
          <p:nvPr/>
        </p:nvSpPr>
        <p:spPr>
          <a:xfrm>
            <a:off x="1043880" y="6277124"/>
            <a:ext cx="1367879" cy="152400"/>
          </a:xfrm>
          <a:prstGeom prst="rect">
            <a:avLst/>
          </a:prstGeom>
          <a:noFill/>
        </p:spPr>
        <p:txBody>
          <a:bodyPr wrap="square" anchor="t" lIns="0" rIns="0" tIns="0" bIns="0">
            <a:spAutoFit/>
          </a:bodyPr>
          <a:lstStyle/>
          <a:p>
            <a:pPr algn="l">
              <a:lnSpc>
                <a:spcPts val="1199"/>
              </a:lnSpc>
            </a:pPr>
            <a:r>
              <a:rPr sz="999" b="0">
                <a:solidFill>
                  <a:srgbClr val="555A78"/>
                </a:solidFill>
                <a:latin typeface="Inter"/>
              </a:rPr>
              <a:t>Nu, voor de helft</a:t>
            </a:r>
          </a:p>
        </p:txBody>
      </p:sp>
      <p:sp>
        <p:nvSpPr>
          <p:cNvPr id="32" name="Rounded Rectangle 31"/>
          <p:cNvSpPr/>
          <p:nvPr/>
        </p:nvSpPr>
        <p:spPr>
          <a:xfrm>
            <a:off x="2555677" y="6281291"/>
            <a:ext cx="3024485" cy="14391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3" name="Rounded Rectangle 32"/>
          <p:cNvSpPr/>
          <p:nvPr/>
        </p:nvSpPr>
        <p:spPr>
          <a:xfrm>
            <a:off x="2555677" y="6281291"/>
            <a:ext cx="1512243" cy="143917"/>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5724079" y="6277124"/>
            <a:ext cx="791914" cy="152400"/>
          </a:xfrm>
          <a:prstGeom prst="rect">
            <a:avLst/>
          </a:prstGeom>
          <a:noFill/>
        </p:spPr>
        <p:txBody>
          <a:bodyPr wrap="square" anchor="t" lIns="0" rIns="0" tIns="0" bIns="0">
            <a:spAutoFit/>
          </a:bodyPr>
          <a:lstStyle/>
          <a:p>
            <a:pPr algn="r">
              <a:lnSpc>
                <a:spcPts val="1199"/>
              </a:lnSpc>
            </a:pPr>
            <a:r>
              <a:rPr sz="999" b="1">
                <a:solidFill>
                  <a:srgbClr val="000326"/>
                </a:solidFill>
                <a:latin typeface="Inter"/>
              </a:rPr>
              <a:t>€ 36.000</a:t>
            </a:r>
          </a:p>
        </p:txBody>
      </p:sp>
      <p:sp>
        <p:nvSpPr>
          <p:cNvPr id="35" name="TextBox 34"/>
          <p:cNvSpPr txBox="1"/>
          <p:nvPr/>
        </p:nvSpPr>
        <p:spPr>
          <a:xfrm>
            <a:off x="1043880" y="6555432"/>
            <a:ext cx="1388983"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Voor alle studenten</a:t>
            </a:r>
          </a:p>
        </p:txBody>
      </p:sp>
      <p:sp>
        <p:nvSpPr>
          <p:cNvPr id="36" name="Rounded Rectangle 35"/>
          <p:cNvSpPr/>
          <p:nvPr/>
        </p:nvSpPr>
        <p:spPr>
          <a:xfrm>
            <a:off x="2555677" y="6559600"/>
            <a:ext cx="3024485" cy="14391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Rounded Rectangle 36"/>
          <p:cNvSpPr/>
          <p:nvPr/>
        </p:nvSpPr>
        <p:spPr>
          <a:xfrm>
            <a:off x="2555677" y="6559600"/>
            <a:ext cx="3024485" cy="143917"/>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TextBox 37"/>
          <p:cNvSpPr txBox="1"/>
          <p:nvPr/>
        </p:nvSpPr>
        <p:spPr>
          <a:xfrm>
            <a:off x="5724079" y="6555432"/>
            <a:ext cx="791914" cy="152400"/>
          </a:xfrm>
          <a:prstGeom prst="rect">
            <a:avLst/>
          </a:prstGeom>
          <a:noFill/>
        </p:spPr>
        <p:txBody>
          <a:bodyPr wrap="square" anchor="t" lIns="0" rIns="0" tIns="0" bIns="0">
            <a:spAutoFit/>
          </a:bodyPr>
          <a:lstStyle/>
          <a:p>
            <a:pPr algn="r">
              <a:lnSpc>
                <a:spcPts val="1199"/>
              </a:lnSpc>
            </a:pPr>
            <a:r>
              <a:rPr sz="999" b="1">
                <a:solidFill>
                  <a:srgbClr val="000326"/>
                </a:solidFill>
                <a:latin typeface="Inter"/>
              </a:rPr>
              <a:t>€ 72.000</a:t>
            </a:r>
          </a:p>
        </p:txBody>
      </p:sp>
      <p:sp>
        <p:nvSpPr>
          <p:cNvPr id="39" name="TextBox 38"/>
          <p:cNvSpPr txBox="1"/>
          <p:nvPr/>
        </p:nvSpPr>
        <p:spPr>
          <a:xfrm>
            <a:off x="1043880" y="6887766"/>
            <a:ext cx="5472112" cy="161925"/>
          </a:xfrm>
          <a:prstGeom prst="rect">
            <a:avLst/>
          </a:prstGeom>
          <a:noFill/>
        </p:spPr>
        <p:txBody>
          <a:bodyPr wrap="square" anchor="t" lIns="0" rIns="0" tIns="0" bIns="0">
            <a:spAutoFit/>
          </a:bodyPr>
          <a:lstStyle/>
          <a:p>
            <a:pPr algn="l">
              <a:lnSpc>
                <a:spcPts val="1260"/>
              </a:lnSpc>
            </a:pPr>
            <a:r>
              <a:rPr sz="1050" b="1">
                <a:solidFill>
                  <a:srgbClr val="000326"/>
                </a:solidFill>
                <a:latin typeface="Inter"/>
              </a:rPr>
              <a:t>De feitelijke kosten om iedereen te bedienen liggen dus twee keer zo hoog.</a:t>
            </a:r>
          </a:p>
        </p:txBody>
      </p:sp>
      <p:sp>
        <p:nvSpPr>
          <p:cNvPr id="40" name="Rounded Rectangle 39"/>
          <p:cNvSpPr/>
          <p:nvPr/>
        </p:nvSpPr>
        <p:spPr>
          <a:xfrm>
            <a:off x="719882" y="7589639"/>
            <a:ext cx="6120110" cy="1534864"/>
          </a:xfrm>
          <a:prstGeom prst="roundRect">
            <a:avLst>
              <a:gd name="adj" fmla="val 14072"/>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Rounded Rectangle 40"/>
          <p:cNvSpPr/>
          <p:nvPr/>
        </p:nvSpPr>
        <p:spPr>
          <a:xfrm>
            <a:off x="1053405" y="7923163"/>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2" name="Picture 41" descr="svg-2-2.png"/>
          <p:cNvPicPr>
            <a:picLocks noChangeAspect="1"/>
          </p:cNvPicPr>
          <p:nvPr/>
        </p:nvPicPr>
        <p:blipFill>
          <a:blip r:embed="rId4"/>
          <a:stretch>
            <a:fillRect/>
          </a:stretch>
        </p:blipFill>
        <p:spPr>
          <a:xfrm>
            <a:off x="1143298" y="8013055"/>
            <a:ext cx="179933" cy="179933"/>
          </a:xfrm>
          <a:prstGeom prst="rect">
            <a:avLst/>
          </a:prstGeom>
        </p:spPr>
      </p:pic>
      <p:sp>
        <p:nvSpPr>
          <p:cNvPr id="43" name="TextBox 42"/>
          <p:cNvSpPr txBox="1"/>
          <p:nvPr/>
        </p:nvSpPr>
        <p:spPr>
          <a:xfrm>
            <a:off x="1593205" y="8015436"/>
            <a:ext cx="1965222"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Integratie in NEO LMS</a:t>
            </a:r>
          </a:p>
        </p:txBody>
      </p:sp>
      <p:sp>
        <p:nvSpPr>
          <p:cNvPr id="44" name="TextBox 43"/>
          <p:cNvSpPr txBox="1"/>
          <p:nvPr/>
        </p:nvSpPr>
        <p:spPr>
          <a:xfrm>
            <a:off x="1053405" y="8409980"/>
            <a:ext cx="6029897" cy="361950"/>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Opdrachten en cijfers lopen via NEO. Docenten en studenten werken in de omgeving die ze kennen.</a:t>
            </a:r>
          </a:p>
        </p:txBody>
      </p:sp>
      <p:sp>
        <p:nvSpPr>
          <p:cNvPr id="45" name="TextBox 44"/>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73472"/>
            <a:ext cx="6120110" cy="400050"/>
          </a:xfrm>
          <a:prstGeom prst="rect">
            <a:avLst/>
          </a:prstGeom>
          <a:noFill/>
        </p:spPr>
        <p:txBody>
          <a:bodyPr wrap="square" anchor="t" lIns="0" rIns="0" tIns="0" bIns="0">
            <a:spAutoFit/>
          </a:bodyPr>
          <a:lstStyle/>
          <a:p>
            <a:pPr algn="l">
              <a:lnSpc>
                <a:spcPts val="3399"/>
              </a:lnSpc>
            </a:pPr>
            <a:r>
              <a:rPr sz="3399" b="1">
                <a:solidFill>
                  <a:srgbClr val="000326"/>
                </a:solidFill>
                <a:latin typeface="League Spartan"/>
              </a:rPr>
              <a:t>Accreditatie</a:t>
            </a:r>
          </a:p>
        </p:txBody>
      </p:sp>
      <p:sp>
        <p:nvSpPr>
          <p:cNvPr id="3" name="Rounded Rectangle 2"/>
          <p:cNvSpPr/>
          <p:nvPr/>
        </p:nvSpPr>
        <p:spPr>
          <a:xfrm>
            <a:off x="719882" y="1799630"/>
            <a:ext cx="6120110" cy="3213795"/>
          </a:xfrm>
          <a:prstGeom prst="roundRect">
            <a:avLst>
              <a:gd name="adj" fmla="val 672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79748" y="2159496"/>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3-0.png"/>
          <p:cNvPicPr>
            <a:picLocks noChangeAspect="1"/>
          </p:cNvPicPr>
          <p:nvPr/>
        </p:nvPicPr>
        <p:blipFill>
          <a:blip r:embed="rId2"/>
          <a:stretch>
            <a:fillRect/>
          </a:stretch>
        </p:blipFill>
        <p:spPr>
          <a:xfrm>
            <a:off x="1187648" y="2267396"/>
            <a:ext cx="215950" cy="215950"/>
          </a:xfrm>
          <a:prstGeom prst="rect">
            <a:avLst/>
          </a:prstGeom>
        </p:spPr>
      </p:pic>
      <p:sp>
        <p:nvSpPr>
          <p:cNvPr id="6" name="TextBox 5"/>
          <p:cNvSpPr txBox="1"/>
          <p:nvPr/>
        </p:nvSpPr>
        <p:spPr>
          <a:xfrm>
            <a:off x="1691580" y="2236440"/>
            <a:ext cx="4868418" cy="276225"/>
          </a:xfrm>
          <a:prstGeom prst="rect">
            <a:avLst/>
          </a:prstGeom>
          <a:noFill/>
        </p:spPr>
        <p:txBody>
          <a:bodyPr wrap="square" anchor="t" lIns="0" rIns="0" tIns="0" bIns="0">
            <a:spAutoFit/>
          </a:bodyPr>
          <a:lstStyle/>
          <a:p>
            <a:pPr algn="l">
              <a:lnSpc>
                <a:spcPts val="2640"/>
              </a:lnSpc>
            </a:pPr>
            <a:r>
              <a:rPr sz="2400" b="1">
                <a:solidFill>
                  <a:srgbClr val="FFFFFF"/>
                </a:solidFill>
                <a:latin typeface="League Spartan"/>
              </a:rPr>
              <a:t>Beoordelaars oordelen consistent</a:t>
            </a:r>
          </a:p>
        </p:txBody>
      </p:sp>
      <p:sp>
        <p:nvSpPr>
          <p:cNvPr id="7" name="TextBox 6"/>
          <p:cNvSpPr txBox="1"/>
          <p:nvPr/>
        </p:nvSpPr>
        <p:spPr>
          <a:xfrm>
            <a:off x="1079748" y="2744837"/>
            <a:ext cx="5400377" cy="171450"/>
          </a:xfrm>
          <a:prstGeom prst="rect">
            <a:avLst/>
          </a:prstGeom>
          <a:noFill/>
        </p:spPr>
        <p:txBody>
          <a:bodyPr wrap="square" anchor="t" lIns="0" rIns="0" tIns="0" bIns="0">
            <a:spAutoFit/>
          </a:bodyPr>
          <a:lstStyle/>
          <a:p>
            <a:pPr algn="l">
              <a:lnSpc>
                <a:spcPts val="1595"/>
              </a:lnSpc>
            </a:pPr>
            <a:r>
              <a:rPr sz="1100" b="0">
                <a:solidFill>
                  <a:srgbClr val="B3B5C6"/>
                </a:solidFill>
                <a:latin typeface="Inter"/>
              </a:rPr>
              <a:t>Zie in één overzicht wie afwijkt van het team.</a:t>
            </a:r>
          </a:p>
        </p:txBody>
      </p:sp>
      <p:sp>
        <p:nvSpPr>
          <p:cNvPr id="8" name="Rounded Rectangle 7"/>
          <p:cNvSpPr/>
          <p:nvPr/>
        </p:nvSpPr>
        <p:spPr>
          <a:xfrm>
            <a:off x="1079748" y="3225850"/>
            <a:ext cx="5400377" cy="1427708"/>
          </a:xfrm>
          <a:prstGeom prst="roundRect">
            <a:avLst>
              <a:gd name="adj" fmla="val 7564"/>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95698" y="3441799"/>
            <a:ext cx="1373481" cy="142875"/>
          </a:xfrm>
          <a:prstGeom prst="rect">
            <a:avLst/>
          </a:prstGeom>
          <a:noFill/>
        </p:spPr>
        <p:txBody>
          <a:bodyPr wrap="square" anchor="t" lIns="0" rIns="0" tIns="0" bIns="0">
            <a:spAutoFit/>
          </a:bodyPr>
          <a:lstStyle/>
          <a:p>
            <a:pPr algn="l">
              <a:lnSpc>
                <a:spcPts val="1080"/>
              </a:lnSpc>
            </a:pPr>
            <a:r>
              <a:rPr sz="900" b="0">
                <a:solidFill>
                  <a:srgbClr val="B3B5C6"/>
                </a:solidFill>
                <a:latin typeface="Inter"/>
              </a:rPr>
              <a:t>Voorbeeld per docent</a:t>
            </a:r>
          </a:p>
        </p:txBody>
      </p:sp>
      <p:sp>
        <p:nvSpPr>
          <p:cNvPr id="10" name="TextBox 9"/>
          <p:cNvSpPr txBox="1"/>
          <p:nvPr/>
        </p:nvSpPr>
        <p:spPr>
          <a:xfrm>
            <a:off x="5461397" y="3441799"/>
            <a:ext cx="956262" cy="142875"/>
          </a:xfrm>
          <a:prstGeom prst="rect">
            <a:avLst/>
          </a:prstGeom>
          <a:noFill/>
        </p:spPr>
        <p:txBody>
          <a:bodyPr wrap="square" anchor="t" lIns="0" rIns="0" tIns="0" bIns="0">
            <a:spAutoFit/>
          </a:bodyPr>
          <a:lstStyle/>
          <a:p>
            <a:pPr algn="l">
              <a:lnSpc>
                <a:spcPts val="1080"/>
              </a:lnSpc>
            </a:pPr>
            <a:r>
              <a:rPr sz="900" b="0">
                <a:solidFill>
                  <a:srgbClr val="B3B5C6"/>
                </a:solidFill>
                <a:latin typeface="Inter"/>
              </a:rPr>
              <a:t>Gemiddelde 7,1</a:t>
            </a:r>
          </a:p>
        </p:txBody>
      </p:sp>
      <p:sp>
        <p:nvSpPr>
          <p:cNvPr id="11" name="TextBox 10"/>
          <p:cNvSpPr txBox="1"/>
          <p:nvPr/>
        </p:nvSpPr>
        <p:spPr>
          <a:xfrm>
            <a:off x="1295698" y="3728591"/>
            <a:ext cx="677894" cy="152400"/>
          </a:xfrm>
          <a:prstGeom prst="rect">
            <a:avLst/>
          </a:prstGeom>
          <a:noFill/>
        </p:spPr>
        <p:txBody>
          <a:bodyPr wrap="square" anchor="t" lIns="0" rIns="0" tIns="0" bIns="0">
            <a:spAutoFit/>
          </a:bodyPr>
          <a:lstStyle/>
          <a:p>
            <a:pPr algn="l">
              <a:lnSpc>
                <a:spcPts val="1199"/>
              </a:lnSpc>
            </a:pPr>
            <a:r>
              <a:rPr sz="999" b="0">
                <a:solidFill>
                  <a:srgbClr val="B3B5C6"/>
                </a:solidFill>
                <a:latin typeface="Inter"/>
              </a:rPr>
              <a:t>Docent A</a:t>
            </a:r>
          </a:p>
        </p:txBody>
      </p:sp>
      <p:sp>
        <p:nvSpPr>
          <p:cNvPr id="12" name="Rounded Rectangle 11"/>
          <p:cNvSpPr/>
          <p:nvPr/>
        </p:nvSpPr>
        <p:spPr>
          <a:xfrm>
            <a:off x="2015579" y="3765203"/>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015579" y="3765203"/>
            <a:ext cx="2773859" cy="79177"/>
          </a:xfrm>
          <a:prstGeom prst="roundRect">
            <a:avLst>
              <a:gd name="adj" fmla="val 50000"/>
            </a:avLst>
          </a:prstGeom>
          <a:solidFill>
            <a:srgbClr val="62657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976193" y="3728591"/>
            <a:ext cx="287982" cy="152400"/>
          </a:xfrm>
          <a:prstGeom prst="rect">
            <a:avLst/>
          </a:prstGeom>
          <a:noFill/>
        </p:spPr>
        <p:txBody>
          <a:bodyPr wrap="square" anchor="t" lIns="0" rIns="0" tIns="0" bIns="0">
            <a:spAutoFit/>
          </a:bodyPr>
          <a:lstStyle/>
          <a:p>
            <a:pPr algn="r">
              <a:lnSpc>
                <a:spcPts val="1199"/>
              </a:lnSpc>
            </a:pPr>
            <a:r>
              <a:rPr sz="999" b="1">
                <a:solidFill>
                  <a:srgbClr val="B3B5C6"/>
                </a:solidFill>
                <a:latin typeface="Inter"/>
              </a:rPr>
              <a:t>7,2</a:t>
            </a:r>
          </a:p>
        </p:txBody>
      </p:sp>
      <p:sp>
        <p:nvSpPr>
          <p:cNvPr id="15" name="TextBox 14"/>
          <p:cNvSpPr txBox="1"/>
          <p:nvPr/>
        </p:nvSpPr>
        <p:spPr>
          <a:xfrm>
            <a:off x="1295698" y="4006900"/>
            <a:ext cx="672727" cy="152400"/>
          </a:xfrm>
          <a:prstGeom prst="rect">
            <a:avLst/>
          </a:prstGeom>
          <a:noFill/>
        </p:spPr>
        <p:txBody>
          <a:bodyPr wrap="square" anchor="t" lIns="0" rIns="0" tIns="0" bIns="0">
            <a:spAutoFit/>
          </a:bodyPr>
          <a:lstStyle/>
          <a:p>
            <a:pPr algn="l">
              <a:lnSpc>
                <a:spcPts val="1199"/>
              </a:lnSpc>
            </a:pPr>
            <a:r>
              <a:rPr sz="999" b="0">
                <a:solidFill>
                  <a:srgbClr val="B3B5C6"/>
                </a:solidFill>
                <a:latin typeface="Inter"/>
              </a:rPr>
              <a:t>Docent B</a:t>
            </a:r>
          </a:p>
        </p:txBody>
      </p:sp>
      <p:sp>
        <p:nvSpPr>
          <p:cNvPr id="16" name="Rounded Rectangle 15"/>
          <p:cNvSpPr/>
          <p:nvPr/>
        </p:nvSpPr>
        <p:spPr>
          <a:xfrm>
            <a:off x="2015579" y="4043511"/>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015579" y="4043511"/>
            <a:ext cx="2696766" cy="79177"/>
          </a:xfrm>
          <a:prstGeom prst="roundRect">
            <a:avLst>
              <a:gd name="adj" fmla="val 50000"/>
            </a:avLst>
          </a:prstGeom>
          <a:solidFill>
            <a:srgbClr val="62657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976193" y="4006900"/>
            <a:ext cx="287982" cy="152400"/>
          </a:xfrm>
          <a:prstGeom prst="rect">
            <a:avLst/>
          </a:prstGeom>
          <a:noFill/>
        </p:spPr>
        <p:txBody>
          <a:bodyPr wrap="square" anchor="t" lIns="0" rIns="0" tIns="0" bIns="0">
            <a:spAutoFit/>
          </a:bodyPr>
          <a:lstStyle/>
          <a:p>
            <a:pPr algn="r">
              <a:lnSpc>
                <a:spcPts val="1199"/>
              </a:lnSpc>
            </a:pPr>
            <a:r>
              <a:rPr sz="999" b="1">
                <a:solidFill>
                  <a:srgbClr val="B3B5C6"/>
                </a:solidFill>
                <a:latin typeface="Inter"/>
              </a:rPr>
              <a:t>7,0</a:t>
            </a:r>
          </a:p>
        </p:txBody>
      </p:sp>
      <p:sp>
        <p:nvSpPr>
          <p:cNvPr id="19" name="TextBox 18"/>
          <p:cNvSpPr txBox="1"/>
          <p:nvPr/>
        </p:nvSpPr>
        <p:spPr>
          <a:xfrm>
            <a:off x="1295698" y="4285208"/>
            <a:ext cx="691229" cy="152400"/>
          </a:xfrm>
          <a:prstGeom prst="rect">
            <a:avLst/>
          </a:prstGeom>
          <a:noFill/>
        </p:spPr>
        <p:txBody>
          <a:bodyPr wrap="square" anchor="t" lIns="0" rIns="0" tIns="0" bIns="0">
            <a:spAutoFit/>
          </a:bodyPr>
          <a:lstStyle/>
          <a:p>
            <a:pPr algn="l">
              <a:lnSpc>
                <a:spcPts val="1199"/>
              </a:lnSpc>
            </a:pPr>
            <a:r>
              <a:rPr sz="999" b="1">
                <a:solidFill>
                  <a:srgbClr val="FFFFFF"/>
                </a:solidFill>
                <a:latin typeface="Inter"/>
              </a:rPr>
              <a:t>Docent C</a:t>
            </a:r>
          </a:p>
        </p:txBody>
      </p:sp>
      <p:sp>
        <p:nvSpPr>
          <p:cNvPr id="20" name="Rounded Rectangle 19"/>
          <p:cNvSpPr/>
          <p:nvPr/>
        </p:nvSpPr>
        <p:spPr>
          <a:xfrm>
            <a:off x="2015579" y="4321820"/>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ounded Rectangle 20"/>
          <p:cNvSpPr/>
          <p:nvPr/>
        </p:nvSpPr>
        <p:spPr>
          <a:xfrm>
            <a:off x="2015579" y="4321820"/>
            <a:ext cx="2157412" cy="7917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5976193" y="4285208"/>
            <a:ext cx="287982" cy="152400"/>
          </a:xfrm>
          <a:prstGeom prst="rect">
            <a:avLst/>
          </a:prstGeom>
          <a:noFill/>
        </p:spPr>
        <p:txBody>
          <a:bodyPr wrap="square" anchor="t" lIns="0" rIns="0" tIns="0" bIns="0">
            <a:spAutoFit/>
          </a:bodyPr>
          <a:lstStyle/>
          <a:p>
            <a:pPr algn="r">
              <a:lnSpc>
                <a:spcPts val="1199"/>
              </a:lnSpc>
            </a:pPr>
            <a:r>
              <a:rPr sz="999" b="1">
                <a:solidFill>
                  <a:srgbClr val="FFFFFF"/>
                </a:solidFill>
                <a:latin typeface="Inter"/>
              </a:rPr>
              <a:t>5,6</a:t>
            </a:r>
          </a:p>
        </p:txBody>
      </p:sp>
      <p:sp>
        <p:nvSpPr>
          <p:cNvPr id="23" name="Rectangle 22"/>
          <p:cNvSpPr/>
          <p:nvPr/>
        </p:nvSpPr>
        <p:spPr>
          <a:xfrm>
            <a:off x="4750891" y="3674715"/>
            <a:ext cx="17859" cy="816769"/>
          </a:xfrm>
          <a:prstGeom prst="rect">
            <a:avLst/>
          </a:prstGeom>
          <a:solidFill>
            <a:srgbClr val="B3B5C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ounded Rectangle 23"/>
          <p:cNvSpPr/>
          <p:nvPr/>
        </p:nvSpPr>
        <p:spPr>
          <a:xfrm>
            <a:off x="719882" y="5301407"/>
            <a:ext cx="6120110" cy="1830735"/>
          </a:xfrm>
          <a:prstGeom prst="roundRect">
            <a:avLst>
              <a:gd name="adj" fmla="val 11798"/>
            </a:avLst>
          </a:prstGeom>
          <a:noFill/>
          <a:ln w="9525">
            <a:solidFill>
              <a:srgbClr val="D0D1DC"/>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1053405" y="5634930"/>
            <a:ext cx="431899" cy="431899"/>
          </a:xfrm>
          <a:prstGeom prst="roundRect">
            <a:avLst>
              <a:gd name="adj" fmla="val 25005"/>
            </a:avLst>
          </a:prstGeom>
          <a:solidFill>
            <a:srgbClr val="F4F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6" name="Picture 25" descr="svg-3-1.png"/>
          <p:cNvPicPr>
            <a:picLocks noChangeAspect="1"/>
          </p:cNvPicPr>
          <p:nvPr/>
        </p:nvPicPr>
        <p:blipFill>
          <a:blip r:embed="rId3"/>
          <a:stretch>
            <a:fillRect/>
          </a:stretch>
        </p:blipFill>
        <p:spPr>
          <a:xfrm>
            <a:off x="1161306" y="5742831"/>
            <a:ext cx="215950" cy="215950"/>
          </a:xfrm>
          <a:prstGeom prst="rect">
            <a:avLst/>
          </a:prstGeom>
        </p:spPr>
      </p:pic>
      <p:sp>
        <p:nvSpPr>
          <p:cNvPr id="27" name="TextBox 26"/>
          <p:cNvSpPr txBox="1"/>
          <p:nvPr/>
        </p:nvSpPr>
        <p:spPr>
          <a:xfrm>
            <a:off x="1665238" y="5745807"/>
            <a:ext cx="2431613" cy="200025"/>
          </a:xfrm>
          <a:prstGeom prst="rect">
            <a:avLst/>
          </a:prstGeom>
          <a:noFill/>
        </p:spPr>
        <p:txBody>
          <a:bodyPr wrap="square" anchor="t" lIns="0" rIns="0" tIns="0" bIns="0">
            <a:spAutoFit/>
          </a:bodyPr>
          <a:lstStyle/>
          <a:p>
            <a:pPr algn="l">
              <a:lnSpc>
                <a:spcPts val="1955"/>
              </a:lnSpc>
            </a:pPr>
            <a:r>
              <a:rPr sz="1700" b="1">
                <a:solidFill>
                  <a:srgbClr val="000326"/>
                </a:solidFill>
                <a:latin typeface="League Spartan"/>
              </a:rPr>
              <a:t>Elk cijfer is navolgbaar</a:t>
            </a:r>
          </a:p>
        </p:txBody>
      </p:sp>
      <p:sp>
        <p:nvSpPr>
          <p:cNvPr id="28" name="TextBox 27"/>
          <p:cNvSpPr txBox="1"/>
          <p:nvPr/>
        </p:nvSpPr>
        <p:spPr>
          <a:xfrm>
            <a:off x="1053405" y="6184255"/>
            <a:ext cx="5453062" cy="161925"/>
          </a:xfrm>
          <a:prstGeom prst="rect">
            <a:avLst/>
          </a:prstGeom>
          <a:noFill/>
        </p:spPr>
        <p:txBody>
          <a:bodyPr wrap="square" anchor="t" lIns="0" rIns="0" tIns="0" bIns="0">
            <a:spAutoFit/>
          </a:bodyPr>
          <a:lstStyle/>
          <a:p>
            <a:pPr algn="l">
              <a:lnSpc>
                <a:spcPts val="1522"/>
              </a:lnSpc>
            </a:pPr>
            <a:r>
              <a:rPr sz="1050" b="0">
                <a:solidFill>
                  <a:srgbClr val="62657E"/>
                </a:solidFill>
                <a:latin typeface="Inter"/>
              </a:rPr>
              <a:t>Onderbouwing per rubriccriterium.</a:t>
            </a:r>
          </a:p>
        </p:txBody>
      </p:sp>
      <p:sp>
        <p:nvSpPr>
          <p:cNvPr id="29" name="Rounded Rectangle 28"/>
          <p:cNvSpPr/>
          <p:nvPr/>
        </p:nvSpPr>
        <p:spPr>
          <a:xfrm>
            <a:off x="1053405" y="6547991"/>
            <a:ext cx="1212800" cy="250627"/>
          </a:xfrm>
          <a:prstGeom prst="roundRect">
            <a:avLst>
              <a:gd name="adj" fmla="val 50000"/>
            </a:avLst>
          </a:prstGeom>
          <a:solidFill>
            <a:srgbClr val="F4F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TextBox 29"/>
          <p:cNvSpPr txBox="1"/>
          <p:nvPr/>
        </p:nvSpPr>
        <p:spPr>
          <a:xfrm>
            <a:off x="1197322" y="6601867"/>
            <a:ext cx="1212800" cy="142875"/>
          </a:xfrm>
          <a:prstGeom prst="rect">
            <a:avLst/>
          </a:prstGeom>
          <a:noFill/>
        </p:spPr>
        <p:txBody>
          <a:bodyPr wrap="square" anchor="t" lIns="0" rIns="0" tIns="0" bIns="0">
            <a:spAutoFit/>
          </a:bodyPr>
          <a:lstStyle/>
          <a:p>
            <a:pPr algn="l">
              <a:lnSpc>
                <a:spcPts val="1140"/>
              </a:lnSpc>
            </a:pPr>
            <a:r>
              <a:rPr sz="950" b="1">
                <a:solidFill>
                  <a:srgbClr val="000326"/>
                </a:solidFill>
                <a:latin typeface="Inter"/>
              </a:rPr>
              <a:t>AI Act audit trail</a:t>
            </a:r>
          </a:p>
        </p:txBody>
      </p:sp>
      <p:sp>
        <p:nvSpPr>
          <p:cNvPr id="31" name="Rounded Rectangle 30"/>
          <p:cNvSpPr/>
          <p:nvPr/>
        </p:nvSpPr>
        <p:spPr>
          <a:xfrm>
            <a:off x="719882" y="7348091"/>
            <a:ext cx="6120110" cy="1309092"/>
          </a:xfrm>
          <a:prstGeom prst="roundRect">
            <a:avLst>
              <a:gd name="adj" fmla="val 16500"/>
            </a:avLst>
          </a:prstGeom>
          <a:solidFill>
            <a:srgbClr val="E8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Rounded Rectangle 31"/>
          <p:cNvSpPr/>
          <p:nvPr/>
        </p:nvSpPr>
        <p:spPr>
          <a:xfrm>
            <a:off x="1043880" y="7672090"/>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3" name="Picture 32" descr="svg-3-2.png"/>
          <p:cNvPicPr>
            <a:picLocks noChangeAspect="1"/>
          </p:cNvPicPr>
          <p:nvPr/>
        </p:nvPicPr>
        <p:blipFill>
          <a:blip r:embed="rId4"/>
          <a:stretch>
            <a:fillRect/>
          </a:stretch>
        </p:blipFill>
        <p:spPr>
          <a:xfrm>
            <a:off x="1133773" y="7761982"/>
            <a:ext cx="179933" cy="179933"/>
          </a:xfrm>
          <a:prstGeom prst="rect">
            <a:avLst/>
          </a:prstGeom>
        </p:spPr>
      </p:pic>
      <p:sp>
        <p:nvSpPr>
          <p:cNvPr id="34" name="TextBox 33"/>
          <p:cNvSpPr txBox="1"/>
          <p:nvPr/>
        </p:nvSpPr>
        <p:spPr>
          <a:xfrm>
            <a:off x="1583680" y="7764363"/>
            <a:ext cx="3426404"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De examencommissie borgt de kwaliteit</a:t>
            </a:r>
          </a:p>
        </p:txBody>
      </p:sp>
      <p:sp>
        <p:nvSpPr>
          <p:cNvPr id="35" name="TextBox 34"/>
          <p:cNvSpPr txBox="1"/>
          <p:nvPr/>
        </p:nvSpPr>
        <p:spPr>
          <a:xfrm>
            <a:off x="1043880" y="8149382"/>
            <a:ext cx="5472112" cy="161925"/>
          </a:xfrm>
          <a:prstGeom prst="rect">
            <a:avLst/>
          </a:prstGeom>
          <a:noFill/>
        </p:spPr>
        <p:txBody>
          <a:bodyPr wrap="square" anchor="t" lIns="0" rIns="0" tIns="0" bIns="0">
            <a:spAutoFit/>
          </a:bodyPr>
          <a:lstStyle/>
          <a:p>
            <a:pPr algn="l">
              <a:lnSpc>
                <a:spcPts val="1522"/>
              </a:lnSpc>
            </a:pPr>
            <a:r>
              <a:rPr sz="1050" b="0">
                <a:solidFill>
                  <a:srgbClr val="62657E"/>
                </a:solidFill>
                <a:latin typeface="Inter"/>
              </a:rPr>
              <a:t>Elke onderbouwing direct in te zien.</a:t>
            </a:r>
          </a:p>
        </p:txBody>
      </p:sp>
      <p:sp>
        <p:nvSpPr>
          <p:cNvPr id="36" name="Rectangle 35"/>
          <p:cNvSpPr/>
          <p:nvPr/>
        </p:nvSpPr>
        <p:spPr>
          <a:xfrm>
            <a:off x="719882" y="9089082"/>
            <a:ext cx="19050" cy="639812"/>
          </a:xfrm>
          <a:prstGeom prst="rect">
            <a:avLst/>
          </a:prstGeom>
          <a:solidFill>
            <a:srgbClr val="D0D1DC"/>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TextBox 36"/>
          <p:cNvSpPr txBox="1"/>
          <p:nvPr/>
        </p:nvSpPr>
        <p:spPr>
          <a:xfrm>
            <a:off x="918865" y="9108132"/>
            <a:ext cx="5793200" cy="588466"/>
          </a:xfrm>
          <a:prstGeom prst="rect">
            <a:avLst/>
          </a:prstGeom>
          <a:noFill/>
        </p:spPr>
        <p:txBody>
          <a:bodyPr wrap="square" anchor="t" lIns="0" rIns="0" tIns="0" bIns="0">
            <a:spAutoFit/>
          </a:bodyPr>
          <a:lstStyle/>
          <a:p>
            <a:pPr algn="l">
              <a:lnSpc>
                <a:spcPts val="1679"/>
              </a:lnSpc>
            </a:pPr>
            <a:r>
              <a:rPr sz="1050" b="0">
                <a:solidFill>
                  <a:srgbClr val="000326"/>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
        <p:nvSpPr>
          <p:cNvPr id="38" name="TextBox 37"/>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73472"/>
            <a:ext cx="6120110" cy="400050"/>
          </a:xfrm>
          <a:prstGeom prst="rect">
            <a:avLst/>
          </a:prstGeom>
          <a:noFill/>
        </p:spPr>
        <p:txBody>
          <a:bodyPr wrap="square" anchor="t" lIns="0" rIns="0" tIns="0" bIns="0">
            <a:spAutoFit/>
          </a:bodyPr>
          <a:lstStyle/>
          <a:p>
            <a:pPr algn="l">
              <a:lnSpc>
                <a:spcPts val="3399"/>
              </a:lnSpc>
            </a:pPr>
            <a:r>
              <a:rPr sz="3399" b="1">
                <a:solidFill>
                  <a:srgbClr val="000326"/>
                </a:solidFill>
                <a:latin typeface="League Spartan"/>
              </a:rPr>
              <a:t>Koersplan</a:t>
            </a:r>
          </a:p>
        </p:txBody>
      </p:sp>
      <p:sp>
        <p:nvSpPr>
          <p:cNvPr id="3" name="TextBox 2"/>
          <p:cNvSpPr txBox="1"/>
          <p:nvPr/>
        </p:nvSpPr>
        <p:spPr>
          <a:xfrm>
            <a:off x="719882" y="1602730"/>
            <a:ext cx="6104573" cy="682526"/>
          </a:xfrm>
          <a:prstGeom prst="rect">
            <a:avLst/>
          </a:prstGeom>
          <a:noFill/>
        </p:spPr>
        <p:txBody>
          <a:bodyPr wrap="square" anchor="t" lIns="0" rIns="0" tIns="0" bIns="0">
            <a:spAutoFit/>
          </a:bodyPr>
          <a:lstStyle/>
          <a:p>
            <a:pPr algn="l">
              <a:lnSpc>
                <a:spcPts val="1937"/>
              </a:lnSpc>
            </a:pPr>
            <a:r>
              <a:rPr sz="1250" b="0">
                <a:solidFill>
                  <a:srgbClr val="000326"/>
                </a:solidFill>
                <a:latin typeface="Inter"/>
              </a:rPr>
              <a:t>Deze investering sluit naadloos aan op het kopje Efficiëntie uit het koersplan dat Academia voor de komende jaren heeft opgesteld. Binnen dat kopje versterkt het direct drie punten.</a:t>
            </a:r>
          </a:p>
        </p:txBody>
      </p:sp>
      <p:sp>
        <p:nvSpPr>
          <p:cNvPr id="4" name="Rounded Rectangle 3"/>
          <p:cNvSpPr/>
          <p:nvPr/>
        </p:nvSpPr>
        <p:spPr>
          <a:xfrm>
            <a:off x="719882" y="2825651"/>
            <a:ext cx="6120110" cy="4220766"/>
          </a:xfrm>
          <a:prstGeom prst="roundRect">
            <a:avLst>
              <a:gd name="adj" fmla="val 5117"/>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1079748" y="3185517"/>
            <a:ext cx="5400377" cy="142875"/>
          </a:xfrm>
          <a:prstGeom prst="rect">
            <a:avLst/>
          </a:prstGeom>
          <a:noFill/>
        </p:spPr>
        <p:txBody>
          <a:bodyPr wrap="square" anchor="t" lIns="0" rIns="0" tIns="0" bIns="0">
            <a:spAutoFit/>
          </a:bodyPr>
          <a:lstStyle/>
          <a:p>
            <a:pPr algn="l">
              <a:lnSpc>
                <a:spcPts val="1140"/>
              </a:lnSpc>
            </a:pPr>
            <a:r>
              <a:rPr sz="950" b="0">
                <a:solidFill>
                  <a:srgbClr val="B3B5C6"/>
                </a:solidFill>
                <a:latin typeface="Inter"/>
              </a:rPr>
              <a:t>Koersplan Academia</a:t>
            </a:r>
          </a:p>
        </p:txBody>
      </p:sp>
      <p:sp>
        <p:nvSpPr>
          <p:cNvPr id="6" name="TextBox 5"/>
          <p:cNvSpPr txBox="1"/>
          <p:nvPr/>
        </p:nvSpPr>
        <p:spPr>
          <a:xfrm>
            <a:off x="1079748" y="3428851"/>
            <a:ext cx="5400377" cy="276225"/>
          </a:xfrm>
          <a:prstGeom prst="rect">
            <a:avLst/>
          </a:prstGeom>
          <a:noFill/>
        </p:spPr>
        <p:txBody>
          <a:bodyPr wrap="square" anchor="t" lIns="0" rIns="0" tIns="0" bIns="0">
            <a:spAutoFit/>
          </a:bodyPr>
          <a:lstStyle/>
          <a:p>
            <a:pPr algn="l">
              <a:lnSpc>
                <a:spcPts val="2640"/>
              </a:lnSpc>
            </a:pPr>
            <a:r>
              <a:rPr sz="2400" b="1">
                <a:solidFill>
                  <a:srgbClr val="FFFFFF"/>
                </a:solidFill>
                <a:latin typeface="League Spartan"/>
              </a:rPr>
              <a:t>Efficiëntie</a:t>
            </a:r>
          </a:p>
        </p:txBody>
      </p:sp>
      <p:sp>
        <p:nvSpPr>
          <p:cNvPr id="7" name="Rounded Rectangle 6"/>
          <p:cNvSpPr/>
          <p:nvPr/>
        </p:nvSpPr>
        <p:spPr>
          <a:xfrm>
            <a:off x="1079748" y="4023420"/>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259681" y="4203353"/>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4-0.png"/>
          <p:cNvPicPr>
            <a:picLocks noChangeAspect="1"/>
          </p:cNvPicPr>
          <p:nvPr/>
        </p:nvPicPr>
        <p:blipFill>
          <a:blip r:embed="rId2"/>
          <a:stretch>
            <a:fillRect/>
          </a:stretch>
        </p:blipFill>
        <p:spPr>
          <a:xfrm>
            <a:off x="1367582" y="4311253"/>
            <a:ext cx="215950" cy="215950"/>
          </a:xfrm>
          <a:prstGeom prst="rect">
            <a:avLst/>
          </a:prstGeom>
        </p:spPr>
      </p:pic>
      <p:sp>
        <p:nvSpPr>
          <p:cNvPr id="10" name="TextBox 9"/>
          <p:cNvSpPr txBox="1"/>
          <p:nvPr/>
        </p:nvSpPr>
        <p:spPr>
          <a:xfrm>
            <a:off x="1871514" y="4321522"/>
            <a:ext cx="2048899"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Een stevig kernteam</a:t>
            </a:r>
          </a:p>
        </p:txBody>
      </p:sp>
      <p:sp>
        <p:nvSpPr>
          <p:cNvPr id="11" name="Rounded Rectangle 10"/>
          <p:cNvSpPr/>
          <p:nvPr/>
        </p:nvSpPr>
        <p:spPr>
          <a:xfrm>
            <a:off x="1079748" y="4959102"/>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Rounded Rectangle 11"/>
          <p:cNvSpPr/>
          <p:nvPr/>
        </p:nvSpPr>
        <p:spPr>
          <a:xfrm>
            <a:off x="1259681" y="5139035"/>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3" name="Picture 12" descr="svg-4-1.png"/>
          <p:cNvPicPr>
            <a:picLocks noChangeAspect="1"/>
          </p:cNvPicPr>
          <p:nvPr/>
        </p:nvPicPr>
        <p:blipFill>
          <a:blip r:embed="rId3"/>
          <a:stretch>
            <a:fillRect/>
          </a:stretch>
        </p:blipFill>
        <p:spPr>
          <a:xfrm>
            <a:off x="1367582" y="5246936"/>
            <a:ext cx="215950" cy="215950"/>
          </a:xfrm>
          <a:prstGeom prst="rect">
            <a:avLst/>
          </a:prstGeom>
        </p:spPr>
      </p:pic>
      <p:sp>
        <p:nvSpPr>
          <p:cNvPr id="14" name="TextBox 13"/>
          <p:cNvSpPr txBox="1"/>
          <p:nvPr/>
        </p:nvSpPr>
        <p:spPr>
          <a:xfrm>
            <a:off x="1871514" y="5257205"/>
            <a:ext cx="1696855"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Betere processen</a:t>
            </a:r>
          </a:p>
        </p:txBody>
      </p:sp>
      <p:sp>
        <p:nvSpPr>
          <p:cNvPr id="15" name="Rounded Rectangle 14"/>
          <p:cNvSpPr/>
          <p:nvPr/>
        </p:nvSpPr>
        <p:spPr>
          <a:xfrm>
            <a:off x="1079748" y="5894784"/>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259681" y="6074718"/>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4-2.png"/>
          <p:cNvPicPr>
            <a:picLocks noChangeAspect="1"/>
          </p:cNvPicPr>
          <p:nvPr/>
        </p:nvPicPr>
        <p:blipFill>
          <a:blip r:embed="rId4"/>
          <a:stretch>
            <a:fillRect/>
          </a:stretch>
        </p:blipFill>
        <p:spPr>
          <a:xfrm>
            <a:off x="1367582" y="6182618"/>
            <a:ext cx="215950" cy="215950"/>
          </a:xfrm>
          <a:prstGeom prst="rect">
            <a:avLst/>
          </a:prstGeom>
        </p:spPr>
      </p:pic>
      <p:sp>
        <p:nvSpPr>
          <p:cNvPr id="18" name="TextBox 17"/>
          <p:cNvSpPr txBox="1"/>
          <p:nvPr/>
        </p:nvSpPr>
        <p:spPr>
          <a:xfrm>
            <a:off x="1871514" y="6192887"/>
            <a:ext cx="1438823"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Datagedreven</a:t>
            </a:r>
          </a:p>
        </p:txBody>
      </p:sp>
      <p:sp>
        <p:nvSpPr>
          <p:cNvPr id="19" name="TextBox 1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Privacy</a:t>
            </a:r>
          </a:p>
        </p:txBody>
      </p:sp>
      <p:sp>
        <p:nvSpPr>
          <p:cNvPr id="3" name="Rounded Rectangle 2"/>
          <p:cNvSpPr/>
          <p:nvPr/>
        </p:nvSpPr>
        <p:spPr>
          <a:xfrm>
            <a:off x="719882" y="1695896"/>
            <a:ext cx="6120110" cy="1332905"/>
          </a:xfrm>
          <a:prstGeom prst="roundRect">
            <a:avLst>
              <a:gd name="adj" fmla="val 162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79748" y="2074366"/>
            <a:ext cx="575965" cy="575965"/>
          </a:xfrm>
          <a:prstGeom prst="roundRect">
            <a:avLst>
              <a:gd name="adj" fmla="val 2500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5-0.png"/>
          <p:cNvPicPr>
            <a:picLocks noChangeAspect="1"/>
          </p:cNvPicPr>
          <p:nvPr/>
        </p:nvPicPr>
        <p:blipFill>
          <a:blip r:embed="rId2"/>
          <a:stretch>
            <a:fillRect/>
          </a:stretch>
        </p:blipFill>
        <p:spPr>
          <a:xfrm>
            <a:off x="1223665" y="2218283"/>
            <a:ext cx="287982" cy="287982"/>
          </a:xfrm>
          <a:prstGeom prst="rect">
            <a:avLst/>
          </a:prstGeom>
        </p:spPr>
      </p:pic>
      <p:sp>
        <p:nvSpPr>
          <p:cNvPr id="6" name="TextBox 5"/>
          <p:cNvSpPr txBox="1"/>
          <p:nvPr/>
        </p:nvSpPr>
        <p:spPr>
          <a:xfrm>
            <a:off x="1907679" y="2084338"/>
            <a:ext cx="4715732" cy="554236"/>
          </a:xfrm>
          <a:prstGeom prst="rect">
            <a:avLst/>
          </a:prstGeom>
          <a:noFill/>
        </p:spPr>
        <p:txBody>
          <a:bodyPr wrap="square" anchor="t" lIns="0" rIns="0" tIns="0" bIns="0">
            <a:spAutoFit/>
          </a:bodyPr>
          <a:lstStyle/>
          <a:p>
            <a:pPr algn="l">
              <a:lnSpc>
                <a:spcPts val="2415"/>
              </a:lnSpc>
            </a:pPr>
            <a:r>
              <a:rPr sz="2100" b="1">
                <a:solidFill>
                  <a:srgbClr val="000326"/>
                </a:solidFill>
                <a:latin typeface="League Spartan"/>
              </a:rPr>
              <a:t>Academica blijft eigenaar van al het studentenwerk en alle data.</a:t>
            </a:r>
          </a:p>
        </p:txBody>
      </p:sp>
      <p:sp>
        <p:nvSpPr>
          <p:cNvPr id="7" name="Rounded Rectangle 6"/>
          <p:cNvSpPr/>
          <p:nvPr/>
        </p:nvSpPr>
        <p:spPr>
          <a:xfrm>
            <a:off x="719882" y="3244751"/>
            <a:ext cx="6120110" cy="2119908"/>
          </a:xfrm>
          <a:prstGeom prst="roundRect">
            <a:avLst>
              <a:gd name="adj" fmla="val 10189"/>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053405" y="3542258"/>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5-1.png"/>
          <p:cNvPicPr>
            <a:picLocks noChangeAspect="1"/>
          </p:cNvPicPr>
          <p:nvPr/>
        </p:nvPicPr>
        <p:blipFill>
          <a:blip r:embed="rId3"/>
          <a:stretch>
            <a:fillRect/>
          </a:stretch>
        </p:blipFill>
        <p:spPr>
          <a:xfrm>
            <a:off x="1143298" y="3632150"/>
            <a:ext cx="179933" cy="179933"/>
          </a:xfrm>
          <a:prstGeom prst="rect">
            <a:avLst/>
          </a:prstGeom>
        </p:spPr>
      </p:pic>
      <p:sp>
        <p:nvSpPr>
          <p:cNvPr id="10" name="TextBox 9"/>
          <p:cNvSpPr txBox="1"/>
          <p:nvPr/>
        </p:nvSpPr>
        <p:spPr>
          <a:xfrm>
            <a:off x="1557189" y="3634532"/>
            <a:ext cx="1825204"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Gebruik van de data</a:t>
            </a:r>
          </a:p>
        </p:txBody>
      </p:sp>
      <p:pic>
        <p:nvPicPr>
          <p:cNvPr id="11" name="Picture 10" descr="svg-5-2.png"/>
          <p:cNvPicPr>
            <a:picLocks noChangeAspect="1"/>
          </p:cNvPicPr>
          <p:nvPr/>
        </p:nvPicPr>
        <p:blipFill>
          <a:blip r:embed="rId4"/>
          <a:stretch>
            <a:fillRect/>
          </a:stretch>
        </p:blipFill>
        <p:spPr>
          <a:xfrm>
            <a:off x="1053405" y="4164657"/>
            <a:ext cx="179933" cy="179933"/>
          </a:xfrm>
          <a:prstGeom prst="rect">
            <a:avLst/>
          </a:prstGeom>
        </p:spPr>
      </p:pic>
      <p:sp>
        <p:nvSpPr>
          <p:cNvPr id="12" name="TextBox 11"/>
          <p:cNvSpPr txBox="1"/>
          <p:nvPr/>
        </p:nvSpPr>
        <p:spPr>
          <a:xfrm>
            <a:off x="1359247" y="4163467"/>
            <a:ext cx="4505206"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Studentenwerk wordt nooit gebruikt om AI-modellen te trainen.</a:t>
            </a:r>
          </a:p>
        </p:txBody>
      </p:sp>
      <p:sp>
        <p:nvSpPr>
          <p:cNvPr id="13" name="Rectangle 12"/>
          <p:cNvSpPr/>
          <p:nvPr/>
        </p:nvSpPr>
        <p:spPr>
          <a:xfrm>
            <a:off x="1053405" y="4455170"/>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5-3.png"/>
          <p:cNvPicPr>
            <a:picLocks noChangeAspect="1"/>
          </p:cNvPicPr>
          <p:nvPr/>
        </p:nvPicPr>
        <p:blipFill>
          <a:blip r:embed="rId5"/>
          <a:stretch>
            <a:fillRect/>
          </a:stretch>
        </p:blipFill>
        <p:spPr>
          <a:xfrm>
            <a:off x="1053405" y="4583311"/>
            <a:ext cx="179933" cy="179933"/>
          </a:xfrm>
          <a:prstGeom prst="rect">
            <a:avLst/>
          </a:prstGeom>
        </p:spPr>
      </p:pic>
      <p:sp>
        <p:nvSpPr>
          <p:cNvPr id="15" name="TextBox 14"/>
          <p:cNvSpPr txBox="1"/>
          <p:nvPr/>
        </p:nvSpPr>
        <p:spPr>
          <a:xfrm>
            <a:off x="1359247" y="4582120"/>
            <a:ext cx="5147221" cy="355253"/>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Verwerking alleen voor het afgesproken onderwijsdoel, in opdracht van Academica.</a:t>
            </a:r>
          </a:p>
        </p:txBody>
      </p:sp>
      <p:sp>
        <p:nvSpPr>
          <p:cNvPr id="16" name="Rounded Rectangle 15"/>
          <p:cNvSpPr/>
          <p:nvPr/>
        </p:nvSpPr>
        <p:spPr>
          <a:xfrm>
            <a:off x="719882" y="5580608"/>
            <a:ext cx="6120110" cy="1926580"/>
          </a:xfrm>
          <a:prstGeom prst="roundRect">
            <a:avLst>
              <a:gd name="adj" fmla="val 11211"/>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053405" y="587811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5-4.png"/>
          <p:cNvPicPr>
            <a:picLocks noChangeAspect="1"/>
          </p:cNvPicPr>
          <p:nvPr/>
        </p:nvPicPr>
        <p:blipFill>
          <a:blip r:embed="rId6"/>
          <a:stretch>
            <a:fillRect/>
          </a:stretch>
        </p:blipFill>
        <p:spPr>
          <a:xfrm>
            <a:off x="1143298" y="5968008"/>
            <a:ext cx="179933" cy="179933"/>
          </a:xfrm>
          <a:prstGeom prst="rect">
            <a:avLst/>
          </a:prstGeom>
        </p:spPr>
      </p:pic>
      <p:sp>
        <p:nvSpPr>
          <p:cNvPr id="19" name="TextBox 18"/>
          <p:cNvSpPr txBox="1"/>
          <p:nvPr/>
        </p:nvSpPr>
        <p:spPr>
          <a:xfrm>
            <a:off x="1557189" y="5970389"/>
            <a:ext cx="1731026"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Waar de data staat</a:t>
            </a:r>
          </a:p>
        </p:txBody>
      </p:sp>
      <p:pic>
        <p:nvPicPr>
          <p:cNvPr id="20" name="Picture 19" descr="svg-5-3.png"/>
          <p:cNvPicPr>
            <a:picLocks noChangeAspect="1"/>
          </p:cNvPicPr>
          <p:nvPr/>
        </p:nvPicPr>
        <p:blipFill>
          <a:blip r:embed="rId5"/>
          <a:stretch>
            <a:fillRect/>
          </a:stretch>
        </p:blipFill>
        <p:spPr>
          <a:xfrm>
            <a:off x="1053405" y="6500515"/>
            <a:ext cx="179933" cy="179933"/>
          </a:xfrm>
          <a:prstGeom prst="rect">
            <a:avLst/>
          </a:prstGeom>
        </p:spPr>
      </p:pic>
      <p:sp>
        <p:nvSpPr>
          <p:cNvPr id="21" name="TextBox 20"/>
          <p:cNvSpPr txBox="1"/>
          <p:nvPr/>
        </p:nvSpPr>
        <p:spPr>
          <a:xfrm>
            <a:off x="1359247" y="6499324"/>
            <a:ext cx="4154495"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Data alleen in de EU, ook bij Microsoft, Google en Railway.</a:t>
            </a:r>
          </a:p>
        </p:txBody>
      </p:sp>
      <p:sp>
        <p:nvSpPr>
          <p:cNvPr id="22" name="Rectangle 21"/>
          <p:cNvSpPr/>
          <p:nvPr/>
        </p:nvSpPr>
        <p:spPr>
          <a:xfrm>
            <a:off x="1053405" y="6791027"/>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3" name="Picture 22" descr="svg-5-3.png"/>
          <p:cNvPicPr>
            <a:picLocks noChangeAspect="1"/>
          </p:cNvPicPr>
          <p:nvPr/>
        </p:nvPicPr>
        <p:blipFill>
          <a:blip r:embed="rId5"/>
          <a:stretch>
            <a:fillRect/>
          </a:stretch>
        </p:blipFill>
        <p:spPr>
          <a:xfrm>
            <a:off x="1053405" y="6919168"/>
            <a:ext cx="179933" cy="179933"/>
          </a:xfrm>
          <a:prstGeom prst="rect">
            <a:avLst/>
          </a:prstGeom>
        </p:spPr>
      </p:pic>
      <p:sp>
        <p:nvSpPr>
          <p:cNvPr id="24" name="TextBox 23"/>
          <p:cNvSpPr txBox="1"/>
          <p:nvPr/>
        </p:nvSpPr>
        <p:spPr>
          <a:xfrm>
            <a:off x="1359247" y="6917978"/>
            <a:ext cx="3935135"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Eigen model, geen koppeling met een extern AI-model.</a:t>
            </a:r>
          </a:p>
        </p:txBody>
      </p:sp>
      <p:sp>
        <p:nvSpPr>
          <p:cNvPr id="25" name="Rounded Rectangle 24"/>
          <p:cNvSpPr/>
          <p:nvPr/>
        </p:nvSpPr>
        <p:spPr>
          <a:xfrm>
            <a:off x="719882" y="7723138"/>
            <a:ext cx="6120110" cy="2345234"/>
          </a:xfrm>
          <a:prstGeom prst="roundRect">
            <a:avLst>
              <a:gd name="adj" fmla="val 921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2064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10538"/>
            <a:ext cx="179933" cy="179933"/>
          </a:xfrm>
          <a:prstGeom prst="rect">
            <a:avLst/>
          </a:prstGeom>
        </p:spPr>
      </p:pic>
      <p:sp>
        <p:nvSpPr>
          <p:cNvPr id="28" name="TextBox 27"/>
          <p:cNvSpPr txBox="1"/>
          <p:nvPr/>
        </p:nvSpPr>
        <p:spPr>
          <a:xfrm>
            <a:off x="1557189" y="8112919"/>
            <a:ext cx="1134118"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Wet en regie</a:t>
            </a:r>
          </a:p>
        </p:txBody>
      </p:sp>
      <p:pic>
        <p:nvPicPr>
          <p:cNvPr id="29" name="Picture 28" descr="svg-5-3.png"/>
          <p:cNvPicPr>
            <a:picLocks noChangeAspect="1"/>
          </p:cNvPicPr>
          <p:nvPr/>
        </p:nvPicPr>
        <p:blipFill>
          <a:blip r:embed="rId5"/>
          <a:stretch>
            <a:fillRect/>
          </a:stretch>
        </p:blipFill>
        <p:spPr>
          <a:xfrm>
            <a:off x="1053405" y="8643045"/>
            <a:ext cx="179933" cy="179933"/>
          </a:xfrm>
          <a:prstGeom prst="rect">
            <a:avLst/>
          </a:prstGeom>
        </p:spPr>
      </p:pic>
      <p:sp>
        <p:nvSpPr>
          <p:cNvPr id="30" name="TextBox 29"/>
          <p:cNvSpPr txBox="1"/>
          <p:nvPr/>
        </p:nvSpPr>
        <p:spPr>
          <a:xfrm>
            <a:off x="1359247" y="8641854"/>
            <a:ext cx="4773406"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AVG: verwerkersovereenkomst, een datalek binnen 48 uur gemeld.</a:t>
            </a:r>
          </a:p>
        </p:txBody>
      </p:sp>
      <p:sp>
        <p:nvSpPr>
          <p:cNvPr id="31" name="Rectangle 30"/>
          <p:cNvSpPr/>
          <p:nvPr/>
        </p:nvSpPr>
        <p:spPr>
          <a:xfrm>
            <a:off x="1053405" y="8933557"/>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2" name="Picture 31" descr="svg-5-3.png"/>
          <p:cNvPicPr>
            <a:picLocks noChangeAspect="1"/>
          </p:cNvPicPr>
          <p:nvPr/>
        </p:nvPicPr>
        <p:blipFill>
          <a:blip r:embed="rId5"/>
          <a:stretch>
            <a:fillRect/>
          </a:stretch>
        </p:blipFill>
        <p:spPr>
          <a:xfrm>
            <a:off x="1053405" y="9061698"/>
            <a:ext cx="179933" cy="179933"/>
          </a:xfrm>
          <a:prstGeom prst="rect">
            <a:avLst/>
          </a:prstGeom>
        </p:spPr>
      </p:pic>
      <p:sp>
        <p:nvSpPr>
          <p:cNvPr id="33" name="TextBox 32"/>
          <p:cNvSpPr txBox="1"/>
          <p:nvPr/>
        </p:nvSpPr>
        <p:spPr>
          <a:xfrm>
            <a:off x="1359247" y="9060507"/>
            <a:ext cx="3724942"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AI Act: audit trail voor elke summatieve beoordeling.</a:t>
            </a:r>
          </a:p>
        </p:txBody>
      </p:sp>
      <p:sp>
        <p:nvSpPr>
          <p:cNvPr id="34" name="Rectangle 33"/>
          <p:cNvSpPr/>
          <p:nvPr/>
        </p:nvSpPr>
        <p:spPr>
          <a:xfrm>
            <a:off x="1053405" y="9352211"/>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5" name="Picture 34" descr="svg-5-3.png"/>
          <p:cNvPicPr>
            <a:picLocks noChangeAspect="1"/>
          </p:cNvPicPr>
          <p:nvPr/>
        </p:nvPicPr>
        <p:blipFill>
          <a:blip r:embed="rId5"/>
          <a:stretch>
            <a:fillRect/>
          </a:stretch>
        </p:blipFill>
        <p:spPr>
          <a:xfrm>
            <a:off x="1053405" y="9480352"/>
            <a:ext cx="179933" cy="179933"/>
          </a:xfrm>
          <a:prstGeom prst="rect">
            <a:avLst/>
          </a:prstGeom>
        </p:spPr>
      </p:pic>
      <p:sp>
        <p:nvSpPr>
          <p:cNvPr id="36" name="TextBox 35"/>
          <p:cNvSpPr txBox="1"/>
          <p:nvPr/>
        </p:nvSpPr>
        <p:spPr>
          <a:xfrm>
            <a:off x="1359247" y="9479161"/>
            <a:ext cx="2503289"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De docent beslist, de AI assisteert.</a:t>
            </a:r>
          </a:p>
        </p:txBody>
      </p:sp>
      <p:sp>
        <p:nvSpPr>
          <p:cNvPr id="37" name="TextBox 36"/>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