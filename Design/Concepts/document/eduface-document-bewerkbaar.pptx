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Lst>
  <p:sldSz cx="7562850" cy="10696575"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882" y="1007864"/>
            <a:ext cx="6120110" cy="142875"/>
          </a:xfrm>
          <a:prstGeom prst="rect">
            <a:avLst/>
          </a:prstGeom>
          <a:noFill/>
        </p:spPr>
        <p:txBody>
          <a:bodyPr wrap="square" anchor="t" lIns="0" rIns="0" tIns="0" bIns="0">
            <a:spAutoFit/>
          </a:bodyPr>
          <a:lstStyle/>
          <a:p>
            <a:pPr algn="l">
              <a:lnSpc>
                <a:spcPts val="1080"/>
              </a:lnSpc>
            </a:pPr>
            <a:r>
              <a:rPr sz="900" b="1">
                <a:solidFill>
                  <a:srgbClr val="555A78"/>
                </a:solidFill>
                <a:latin typeface="Inter"/>
              </a:rPr>
              <a:t>MANAGEMENTSAMENVATTING</a:t>
            </a:r>
          </a:p>
        </p:txBody>
      </p:sp>
      <p:sp>
        <p:nvSpPr>
          <p:cNvPr id="3" name="TextBox 2"/>
          <p:cNvSpPr txBox="1"/>
          <p:nvPr/>
        </p:nvSpPr>
        <p:spPr>
          <a:xfrm>
            <a:off x="719882" y="1359247"/>
            <a:ext cx="6652474" cy="1943100"/>
          </a:xfrm>
          <a:prstGeom prst="rect">
            <a:avLst/>
          </a:prstGeom>
          <a:noFill/>
        </p:spPr>
        <p:txBody>
          <a:bodyPr wrap="square" anchor="t" lIns="0" rIns="0" tIns="0" bIns="0">
            <a:spAutoFit/>
          </a:bodyPr>
          <a:lstStyle/>
          <a:p>
            <a:pPr algn="l">
              <a:lnSpc>
                <a:spcPts val="2250"/>
              </a:lnSpc>
            </a:pPr>
            <a:r>
              <a:rPr sz="1500" b="0">
                <a:solidFill>
                  <a:srgbClr val="000326"/>
                </a:solidFill>
                <a:latin typeface="Inter"/>
              </a:rPr>
              <a:t>Eduface is een onderwijskundig AI-model, ontwikkeld met hulp van de Universiteit Leiden en de Radboud Universiteit, dat formatieve en summatieve feedback geeft op studentopdrachten. Docenten besteden daardoor minder tijd aan het formuleren van feedback, elke student krijgt formatieve feedback, en een groeiend aantal studenten vraagt niet om evenredig meer nakijkers.</a:t>
            </a:r>
          </a:p>
        </p:txBody>
      </p:sp>
      <p:sp>
        <p:nvSpPr>
          <p:cNvPr id="4" name="Rectangle 3"/>
          <p:cNvSpPr/>
          <p:nvPr/>
        </p:nvSpPr>
        <p:spPr>
          <a:xfrm>
            <a:off x="719882" y="3546872"/>
            <a:ext cx="28575" cy="269825"/>
          </a:xfrm>
          <a:prstGeom prst="rect">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 name="TextBox 4"/>
          <p:cNvSpPr txBox="1"/>
          <p:nvPr/>
        </p:nvSpPr>
        <p:spPr>
          <a:xfrm>
            <a:off x="928390" y="3575447"/>
            <a:ext cx="6192083" cy="200025"/>
          </a:xfrm>
          <a:prstGeom prst="rect">
            <a:avLst/>
          </a:prstGeom>
          <a:noFill/>
        </p:spPr>
        <p:txBody>
          <a:bodyPr wrap="square" anchor="t" lIns="0" rIns="0" tIns="0" bIns="0">
            <a:spAutoFit/>
          </a:bodyPr>
          <a:lstStyle/>
          <a:p>
            <a:pPr algn="l">
              <a:lnSpc>
                <a:spcPts val="2124"/>
              </a:lnSpc>
            </a:pPr>
            <a:r>
              <a:rPr sz="1700" b="1">
                <a:solidFill>
                  <a:srgbClr val="000326"/>
                </a:solidFill>
                <a:latin typeface="League Spartan"/>
              </a:rPr>
              <a:t>Dat is een concrete invulling van het koerspunt efficiëntie.</a:t>
            </a:r>
          </a:p>
        </p:txBody>
      </p:sp>
      <p:sp>
        <p:nvSpPr>
          <p:cNvPr id="6" name="Rounded Rectangle 5"/>
          <p:cNvSpPr/>
          <p:nvPr/>
        </p:nvSpPr>
        <p:spPr>
          <a:xfrm>
            <a:off x="719882" y="4320629"/>
            <a:ext cx="2952006" cy="2335709"/>
          </a:xfrm>
          <a:prstGeom prst="roundRect">
            <a:avLst>
              <a:gd name="adj" fmla="val 9247"/>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7" name="TextBox 6"/>
          <p:cNvSpPr txBox="1"/>
          <p:nvPr/>
        </p:nvSpPr>
        <p:spPr>
          <a:xfrm>
            <a:off x="1053405" y="4654153"/>
            <a:ext cx="2284958" cy="142875"/>
          </a:xfrm>
          <a:prstGeom prst="rect">
            <a:avLst/>
          </a:prstGeom>
          <a:noFill/>
        </p:spPr>
        <p:txBody>
          <a:bodyPr wrap="square" anchor="t" lIns="0" rIns="0" tIns="0" bIns="0">
            <a:spAutoFit/>
          </a:bodyPr>
          <a:lstStyle/>
          <a:p>
            <a:pPr algn="l">
              <a:lnSpc>
                <a:spcPts val="1080"/>
              </a:lnSpc>
            </a:pPr>
            <a:r>
              <a:rPr sz="900" b="1">
                <a:solidFill>
                  <a:srgbClr val="555A78"/>
                </a:solidFill>
                <a:latin typeface="Inter"/>
              </a:rPr>
              <a:t>NU</a:t>
            </a:r>
          </a:p>
        </p:txBody>
      </p:sp>
      <p:sp>
        <p:nvSpPr>
          <p:cNvPr id="8" name="TextBox 7"/>
          <p:cNvSpPr txBox="1"/>
          <p:nvPr/>
        </p:nvSpPr>
        <p:spPr>
          <a:xfrm>
            <a:off x="1053405" y="4923979"/>
            <a:ext cx="2312599" cy="466725"/>
          </a:xfrm>
          <a:prstGeom prst="rect">
            <a:avLst/>
          </a:prstGeom>
          <a:noFill/>
        </p:spPr>
        <p:txBody>
          <a:bodyPr wrap="square" anchor="t" lIns="0" rIns="0" tIns="0" bIns="0">
            <a:spAutoFit/>
          </a:bodyPr>
          <a:lstStyle/>
          <a:p>
            <a:pPr algn="l">
              <a:lnSpc>
                <a:spcPts val="3999"/>
              </a:lnSpc>
            </a:pPr>
            <a:r>
              <a:rPr sz="3999" b="1">
                <a:solidFill>
                  <a:srgbClr val="000326"/>
                </a:solidFill>
                <a:latin typeface="League Spartan"/>
              </a:rPr>
              <a:t>€ 37.000</a:t>
            </a:r>
          </a:p>
        </p:txBody>
      </p:sp>
      <p:sp>
        <p:nvSpPr>
          <p:cNvPr id="9" name="TextBox 8"/>
          <p:cNvSpPr txBox="1"/>
          <p:nvPr/>
        </p:nvSpPr>
        <p:spPr>
          <a:xfrm>
            <a:off x="1053405" y="5484763"/>
            <a:ext cx="2284958" cy="161925"/>
          </a:xfrm>
          <a:prstGeom prst="rect">
            <a:avLst/>
          </a:prstGeom>
          <a:noFill/>
        </p:spPr>
        <p:txBody>
          <a:bodyPr wrap="square" anchor="t" lIns="0" rIns="0" tIns="0" bIns="0">
            <a:spAutoFit/>
          </a:bodyPr>
          <a:lstStyle/>
          <a:p>
            <a:pPr algn="l">
              <a:lnSpc>
                <a:spcPts val="1260"/>
              </a:lnSpc>
            </a:pPr>
            <a:r>
              <a:rPr sz="1050" b="0">
                <a:solidFill>
                  <a:srgbClr val="555A78"/>
                </a:solidFill>
                <a:latin typeface="Inter"/>
              </a:rPr>
              <a:t>Feedback voor de helft</a:t>
            </a:r>
          </a:p>
        </p:txBody>
      </p:sp>
      <p:sp>
        <p:nvSpPr>
          <p:cNvPr id="10" name="Oval 9"/>
          <p:cNvSpPr/>
          <p:nvPr/>
        </p:nvSpPr>
        <p:spPr>
          <a:xfrm>
            <a:off x="1053405" y="5934670"/>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1" name="Oval 10"/>
          <p:cNvSpPr/>
          <p:nvPr/>
        </p:nvSpPr>
        <p:spPr>
          <a:xfrm>
            <a:off x="1290638" y="5934670"/>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2" name="Oval 11"/>
          <p:cNvSpPr/>
          <p:nvPr/>
        </p:nvSpPr>
        <p:spPr>
          <a:xfrm>
            <a:off x="1527870" y="5934670"/>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Oval 12"/>
          <p:cNvSpPr/>
          <p:nvPr/>
        </p:nvSpPr>
        <p:spPr>
          <a:xfrm>
            <a:off x="1765102" y="5934670"/>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4" name="Oval 13"/>
          <p:cNvSpPr/>
          <p:nvPr/>
        </p:nvSpPr>
        <p:spPr>
          <a:xfrm>
            <a:off x="2002334" y="5934670"/>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5" name="Oval 14"/>
          <p:cNvSpPr/>
          <p:nvPr/>
        </p:nvSpPr>
        <p:spPr>
          <a:xfrm>
            <a:off x="2239566" y="5934670"/>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6" name="Oval 15"/>
          <p:cNvSpPr/>
          <p:nvPr/>
        </p:nvSpPr>
        <p:spPr>
          <a:xfrm>
            <a:off x="2476798" y="5934670"/>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Oval 16"/>
          <p:cNvSpPr/>
          <p:nvPr/>
        </p:nvSpPr>
        <p:spPr>
          <a:xfrm>
            <a:off x="2714030" y="5934670"/>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8" name="Oval 17"/>
          <p:cNvSpPr/>
          <p:nvPr/>
        </p:nvSpPr>
        <p:spPr>
          <a:xfrm>
            <a:off x="2951262" y="5934670"/>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9" name="Oval 18"/>
          <p:cNvSpPr/>
          <p:nvPr/>
        </p:nvSpPr>
        <p:spPr>
          <a:xfrm>
            <a:off x="3188494" y="5934670"/>
            <a:ext cx="150912" cy="150912"/>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0" name="Oval 19"/>
          <p:cNvSpPr/>
          <p:nvPr/>
        </p:nvSpPr>
        <p:spPr>
          <a:xfrm>
            <a:off x="1053405" y="6171902"/>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1" name="Oval 20"/>
          <p:cNvSpPr/>
          <p:nvPr/>
        </p:nvSpPr>
        <p:spPr>
          <a:xfrm>
            <a:off x="1290638" y="6171902"/>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2" name="Oval 21"/>
          <p:cNvSpPr/>
          <p:nvPr/>
        </p:nvSpPr>
        <p:spPr>
          <a:xfrm>
            <a:off x="1527870" y="6171902"/>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3" name="Oval 22"/>
          <p:cNvSpPr/>
          <p:nvPr/>
        </p:nvSpPr>
        <p:spPr>
          <a:xfrm>
            <a:off x="1765102" y="6171902"/>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4" name="Oval 23"/>
          <p:cNvSpPr/>
          <p:nvPr/>
        </p:nvSpPr>
        <p:spPr>
          <a:xfrm>
            <a:off x="2002334" y="6171902"/>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5" name="Oval 24"/>
          <p:cNvSpPr/>
          <p:nvPr/>
        </p:nvSpPr>
        <p:spPr>
          <a:xfrm>
            <a:off x="2239566" y="6171902"/>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6" name="Oval 25"/>
          <p:cNvSpPr/>
          <p:nvPr/>
        </p:nvSpPr>
        <p:spPr>
          <a:xfrm>
            <a:off x="2476798" y="6171902"/>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7" name="Oval 26"/>
          <p:cNvSpPr/>
          <p:nvPr/>
        </p:nvSpPr>
        <p:spPr>
          <a:xfrm>
            <a:off x="2714030" y="6171902"/>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8" name="Oval 27"/>
          <p:cNvSpPr/>
          <p:nvPr/>
        </p:nvSpPr>
        <p:spPr>
          <a:xfrm>
            <a:off x="2951262" y="6171902"/>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9" name="Oval 28"/>
          <p:cNvSpPr/>
          <p:nvPr/>
        </p:nvSpPr>
        <p:spPr>
          <a:xfrm>
            <a:off x="3188494" y="6171902"/>
            <a:ext cx="150912" cy="150912"/>
          </a:xfrm>
          <a:prstGeom prst="ellipse">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0" name="Rounded Rectangle 29"/>
          <p:cNvSpPr/>
          <p:nvPr/>
        </p:nvSpPr>
        <p:spPr>
          <a:xfrm>
            <a:off x="3887837" y="4320629"/>
            <a:ext cx="2952155" cy="2335709"/>
          </a:xfrm>
          <a:prstGeom prst="roundRect">
            <a:avLst>
              <a:gd name="adj" fmla="val 9247"/>
            </a:avLst>
          </a:prstGeom>
          <a:solidFill>
            <a:srgbClr val="E3E6F4"/>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1" name="TextBox 30"/>
          <p:cNvSpPr txBox="1"/>
          <p:nvPr/>
        </p:nvSpPr>
        <p:spPr>
          <a:xfrm>
            <a:off x="4211836" y="4644628"/>
            <a:ext cx="2304157" cy="142875"/>
          </a:xfrm>
          <a:prstGeom prst="rect">
            <a:avLst/>
          </a:prstGeom>
          <a:noFill/>
        </p:spPr>
        <p:txBody>
          <a:bodyPr wrap="square" anchor="t" lIns="0" rIns="0" tIns="0" bIns="0">
            <a:spAutoFit/>
          </a:bodyPr>
          <a:lstStyle/>
          <a:p>
            <a:pPr algn="l">
              <a:lnSpc>
                <a:spcPts val="1080"/>
              </a:lnSpc>
            </a:pPr>
            <a:r>
              <a:rPr sz="900" b="1">
                <a:solidFill>
                  <a:srgbClr val="555A78"/>
                </a:solidFill>
                <a:latin typeface="Inter"/>
              </a:rPr>
              <a:t>MET EDUFACE</a:t>
            </a:r>
          </a:p>
        </p:txBody>
      </p:sp>
      <p:sp>
        <p:nvSpPr>
          <p:cNvPr id="32" name="TextBox 31"/>
          <p:cNvSpPr txBox="1"/>
          <p:nvPr/>
        </p:nvSpPr>
        <p:spPr>
          <a:xfrm>
            <a:off x="4211836" y="4914454"/>
            <a:ext cx="2304157" cy="466725"/>
          </a:xfrm>
          <a:prstGeom prst="rect">
            <a:avLst/>
          </a:prstGeom>
          <a:noFill/>
        </p:spPr>
        <p:txBody>
          <a:bodyPr wrap="square" anchor="t" lIns="0" rIns="0" tIns="0" bIns="0">
            <a:spAutoFit/>
          </a:bodyPr>
          <a:lstStyle/>
          <a:p>
            <a:pPr algn="l">
              <a:lnSpc>
                <a:spcPts val="3999"/>
              </a:lnSpc>
            </a:pPr>
            <a:r>
              <a:rPr sz="3999" b="1">
                <a:solidFill>
                  <a:srgbClr val="000326"/>
                </a:solidFill>
                <a:latin typeface="League Spartan"/>
              </a:rPr>
              <a:t>€ 18.000</a:t>
            </a:r>
          </a:p>
        </p:txBody>
      </p:sp>
      <p:sp>
        <p:nvSpPr>
          <p:cNvPr id="33" name="TextBox 32"/>
          <p:cNvSpPr txBox="1"/>
          <p:nvPr/>
        </p:nvSpPr>
        <p:spPr>
          <a:xfrm>
            <a:off x="4211836" y="5475238"/>
            <a:ext cx="2304157" cy="161925"/>
          </a:xfrm>
          <a:prstGeom prst="rect">
            <a:avLst/>
          </a:prstGeom>
          <a:noFill/>
        </p:spPr>
        <p:txBody>
          <a:bodyPr wrap="square" anchor="t" lIns="0" rIns="0" tIns="0" bIns="0">
            <a:spAutoFit/>
          </a:bodyPr>
          <a:lstStyle/>
          <a:p>
            <a:pPr algn="l">
              <a:lnSpc>
                <a:spcPts val="1260"/>
              </a:lnSpc>
            </a:pPr>
            <a:r>
              <a:rPr sz="1050" b="0">
                <a:solidFill>
                  <a:srgbClr val="555A78"/>
                </a:solidFill>
                <a:latin typeface="Inter"/>
              </a:rPr>
              <a:t>Feedback voor elke student</a:t>
            </a:r>
          </a:p>
        </p:txBody>
      </p:sp>
      <p:sp>
        <p:nvSpPr>
          <p:cNvPr id="34" name="Oval 33"/>
          <p:cNvSpPr/>
          <p:nvPr/>
        </p:nvSpPr>
        <p:spPr>
          <a:xfrm>
            <a:off x="4211836" y="5925145"/>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5" name="Oval 34"/>
          <p:cNvSpPr/>
          <p:nvPr/>
        </p:nvSpPr>
        <p:spPr>
          <a:xfrm>
            <a:off x="4451003" y="5925145"/>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6" name="Oval 35"/>
          <p:cNvSpPr/>
          <p:nvPr/>
        </p:nvSpPr>
        <p:spPr>
          <a:xfrm>
            <a:off x="4690170" y="5925145"/>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7" name="Oval 36"/>
          <p:cNvSpPr/>
          <p:nvPr/>
        </p:nvSpPr>
        <p:spPr>
          <a:xfrm>
            <a:off x="4929336" y="5925145"/>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8" name="Oval 37"/>
          <p:cNvSpPr/>
          <p:nvPr/>
        </p:nvSpPr>
        <p:spPr>
          <a:xfrm>
            <a:off x="5168503" y="5925145"/>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9" name="Oval 38"/>
          <p:cNvSpPr/>
          <p:nvPr/>
        </p:nvSpPr>
        <p:spPr>
          <a:xfrm>
            <a:off x="5407670" y="5925145"/>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0" name="Oval 39"/>
          <p:cNvSpPr/>
          <p:nvPr/>
        </p:nvSpPr>
        <p:spPr>
          <a:xfrm>
            <a:off x="5646837" y="5925145"/>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1" name="Oval 40"/>
          <p:cNvSpPr/>
          <p:nvPr/>
        </p:nvSpPr>
        <p:spPr>
          <a:xfrm>
            <a:off x="5886004" y="5925145"/>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2" name="Oval 41"/>
          <p:cNvSpPr/>
          <p:nvPr/>
        </p:nvSpPr>
        <p:spPr>
          <a:xfrm>
            <a:off x="6125170" y="5925145"/>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3" name="Oval 42"/>
          <p:cNvSpPr/>
          <p:nvPr/>
        </p:nvSpPr>
        <p:spPr>
          <a:xfrm>
            <a:off x="6364337" y="5925145"/>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4" name="Oval 43"/>
          <p:cNvSpPr/>
          <p:nvPr/>
        </p:nvSpPr>
        <p:spPr>
          <a:xfrm>
            <a:off x="4211836" y="616431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5" name="Oval 44"/>
          <p:cNvSpPr/>
          <p:nvPr/>
        </p:nvSpPr>
        <p:spPr>
          <a:xfrm>
            <a:off x="4451003" y="616431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6" name="Oval 45"/>
          <p:cNvSpPr/>
          <p:nvPr/>
        </p:nvSpPr>
        <p:spPr>
          <a:xfrm>
            <a:off x="4690170" y="616431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7" name="Oval 46"/>
          <p:cNvSpPr/>
          <p:nvPr/>
        </p:nvSpPr>
        <p:spPr>
          <a:xfrm>
            <a:off x="4929336" y="616431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8" name="Oval 47"/>
          <p:cNvSpPr/>
          <p:nvPr/>
        </p:nvSpPr>
        <p:spPr>
          <a:xfrm>
            <a:off x="5168503" y="616431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9" name="Oval 48"/>
          <p:cNvSpPr/>
          <p:nvPr/>
        </p:nvSpPr>
        <p:spPr>
          <a:xfrm>
            <a:off x="5407670" y="616431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0" name="Oval 49"/>
          <p:cNvSpPr/>
          <p:nvPr/>
        </p:nvSpPr>
        <p:spPr>
          <a:xfrm>
            <a:off x="5646837" y="616431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1" name="Oval 50"/>
          <p:cNvSpPr/>
          <p:nvPr/>
        </p:nvSpPr>
        <p:spPr>
          <a:xfrm>
            <a:off x="5886004" y="616431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2" name="Oval 51"/>
          <p:cNvSpPr/>
          <p:nvPr/>
        </p:nvSpPr>
        <p:spPr>
          <a:xfrm>
            <a:off x="6125170" y="616431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3" name="Oval 52"/>
          <p:cNvSpPr/>
          <p:nvPr/>
        </p:nvSpPr>
        <p:spPr>
          <a:xfrm>
            <a:off x="6364337" y="6164312"/>
            <a:ext cx="152846" cy="152846"/>
          </a:xfrm>
          <a:prstGeom prst="ellipse">
            <a:avLst/>
          </a:prstGeom>
          <a:solidFill>
            <a:srgbClr val="000326"/>
          </a:solidFill>
          <a:ln w="9525">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4" name="TextBox 53"/>
          <p:cNvSpPr txBox="1"/>
          <p:nvPr/>
        </p:nvSpPr>
        <p:spPr>
          <a:xfrm>
            <a:off x="719882" y="6764238"/>
            <a:ext cx="6120110" cy="142875"/>
          </a:xfrm>
          <a:prstGeom prst="rect">
            <a:avLst/>
          </a:prstGeom>
          <a:noFill/>
        </p:spPr>
        <p:txBody>
          <a:bodyPr wrap="square" anchor="t" lIns="0" rIns="0" tIns="0" bIns="0">
            <a:spAutoFit/>
          </a:bodyPr>
          <a:lstStyle/>
          <a:p>
            <a:pPr algn="l">
              <a:lnSpc>
                <a:spcPts val="1080"/>
              </a:lnSpc>
            </a:pPr>
            <a:r>
              <a:rPr sz="900" b="0">
                <a:solidFill>
                  <a:srgbClr val="555A78"/>
                </a:solidFill>
                <a:latin typeface="Inter"/>
              </a:rPr>
              <a:t>Elke stip is 5% van de studenten.</a:t>
            </a:r>
          </a:p>
        </p:txBody>
      </p:sp>
      <p:sp>
        <p:nvSpPr>
          <p:cNvPr id="55" name="Rounded Rectangle 54"/>
          <p:cNvSpPr/>
          <p:nvPr/>
        </p:nvSpPr>
        <p:spPr>
          <a:xfrm>
            <a:off x="719882" y="7123063"/>
            <a:ext cx="6120110" cy="1460748"/>
          </a:xfrm>
          <a:prstGeom prst="roundRect">
            <a:avLst>
              <a:gd name="adj" fmla="val 14786"/>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6" name="TextBox 55"/>
          <p:cNvSpPr txBox="1"/>
          <p:nvPr/>
        </p:nvSpPr>
        <p:spPr>
          <a:xfrm>
            <a:off x="1043880" y="7475637"/>
            <a:ext cx="1708023" cy="752475"/>
          </a:xfrm>
          <a:prstGeom prst="rect">
            <a:avLst/>
          </a:prstGeom>
          <a:noFill/>
        </p:spPr>
        <p:txBody>
          <a:bodyPr wrap="square" anchor="t" lIns="0" rIns="0" tIns="0" bIns="0">
            <a:spAutoFit/>
          </a:bodyPr>
          <a:lstStyle/>
          <a:p>
            <a:pPr algn="l">
              <a:lnSpc>
                <a:spcPts val="6399"/>
              </a:lnSpc>
            </a:pPr>
            <a:r>
              <a:rPr sz="6399" b="1">
                <a:solidFill>
                  <a:srgbClr val="000326"/>
                </a:solidFill>
                <a:latin typeface="League Spartan"/>
              </a:rPr>
              <a:t>76%</a:t>
            </a:r>
          </a:p>
        </p:txBody>
      </p:sp>
      <p:sp>
        <p:nvSpPr>
          <p:cNvPr id="57" name="TextBox 56"/>
          <p:cNvSpPr txBox="1"/>
          <p:nvPr/>
        </p:nvSpPr>
        <p:spPr>
          <a:xfrm>
            <a:off x="2805857" y="7622232"/>
            <a:ext cx="2528126" cy="449014"/>
          </a:xfrm>
          <a:prstGeom prst="rect">
            <a:avLst/>
          </a:prstGeom>
          <a:noFill/>
        </p:spPr>
        <p:txBody>
          <a:bodyPr wrap="square" anchor="t" lIns="0" rIns="0" tIns="0" bIns="0">
            <a:spAutoFit/>
          </a:bodyPr>
          <a:lstStyle/>
          <a:p>
            <a:pPr algn="l">
              <a:lnSpc>
                <a:spcPts val="1679"/>
              </a:lnSpc>
            </a:pPr>
          </a:p>
          <a:p>
            <a:pPr algn="l">
              <a:lnSpc>
                <a:spcPts val="1679"/>
              </a:lnSpc>
            </a:pPr>
            <a:r>
              <a:rPr sz="1400" b="1">
                <a:solidFill>
                  <a:srgbClr val="000326"/>
                </a:solidFill>
                <a:latin typeface="Inter"/>
              </a:rPr>
              <a:t>goedkoper</a:t>
            </a:r>
          </a:p>
          <a:p>
            <a:pPr algn="l">
              <a:lnSpc>
                <a:spcPts val="1679"/>
              </a:lnSpc>
            </a:pPr>
            <a:r>
              <a:rPr sz="1200" b="0">
                <a:solidFill>
                  <a:srgbClr val="000326"/>
                </a:solidFill>
                <a:latin typeface="Inter"/>
              </a:rPr>
              <a:t>per student die feedback krijgt</a:t>
            </a:r>
          </a:p>
        </p:txBody>
      </p:sp>
      <p:pic>
        <p:nvPicPr>
          <p:cNvPr id="58" name="Picture 57" descr="academica.png"/>
          <p:cNvPicPr>
            <a:picLocks noChangeAspect="1"/>
          </p:cNvPicPr>
          <p:nvPr/>
        </p:nvPicPr>
        <p:blipFill>
          <a:blip r:embed="rId2"/>
          <a:stretch>
            <a:fillRect/>
          </a:stretch>
        </p:blipFill>
        <p:spPr>
          <a:xfrm>
            <a:off x="723900" y="381000"/>
            <a:ext cx="1569720" cy="304800"/>
          </a:xfrm>
          <a:prstGeom prst="rect">
            <a:avLst/>
          </a:prstGeom>
        </p:spPr>
      </p:pic>
      <p:sp>
        <p:nvSpPr>
          <p:cNvPr id="59" name="TextBox 58"/>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882" y="882997"/>
            <a:ext cx="6120110" cy="352425"/>
          </a:xfrm>
          <a:prstGeom prst="rect">
            <a:avLst/>
          </a:prstGeom>
          <a:noFill/>
        </p:spPr>
        <p:txBody>
          <a:bodyPr wrap="square" anchor="t" lIns="0" rIns="0" tIns="0" bIns="0">
            <a:spAutoFit/>
          </a:bodyPr>
          <a:lstStyle/>
          <a:p>
            <a:pPr algn="l">
              <a:lnSpc>
                <a:spcPts val="3150"/>
              </a:lnSpc>
            </a:pPr>
            <a:r>
              <a:rPr sz="3000" b="1">
                <a:solidFill>
                  <a:srgbClr val="000326"/>
                </a:solidFill>
                <a:latin typeface="League Spartan"/>
              </a:rPr>
              <a:t>Kosten</a:t>
            </a:r>
          </a:p>
        </p:txBody>
      </p:sp>
      <p:sp>
        <p:nvSpPr>
          <p:cNvPr id="3" name="Rounded Rectangle 2"/>
          <p:cNvSpPr/>
          <p:nvPr/>
        </p:nvSpPr>
        <p:spPr>
          <a:xfrm>
            <a:off x="719882" y="1695896"/>
            <a:ext cx="6120110" cy="5132933"/>
          </a:xfrm>
          <a:prstGeom prst="roundRect">
            <a:avLst>
              <a:gd name="adj" fmla="val 4208"/>
            </a:avLst>
          </a:prstGeom>
          <a:solidFill>
            <a:srgbClr val="E3E6F4"/>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 name="TextBox 3"/>
          <p:cNvSpPr txBox="1"/>
          <p:nvPr/>
        </p:nvSpPr>
        <p:spPr>
          <a:xfrm>
            <a:off x="1079748" y="2065288"/>
            <a:ext cx="5400377" cy="752475"/>
          </a:xfrm>
          <a:prstGeom prst="rect">
            <a:avLst/>
          </a:prstGeom>
          <a:noFill/>
        </p:spPr>
        <p:txBody>
          <a:bodyPr wrap="square" anchor="t" lIns="0" rIns="0" tIns="0" bIns="0">
            <a:spAutoFit/>
          </a:bodyPr>
          <a:lstStyle/>
          <a:p>
            <a:pPr algn="l">
              <a:lnSpc>
                <a:spcPts val="6080"/>
              </a:lnSpc>
            </a:pPr>
            <a:r>
              <a:rPr sz="6399" b="1">
                <a:solidFill>
                  <a:srgbClr val="000326"/>
                </a:solidFill>
                <a:latin typeface="League Spartan"/>
              </a:rPr>
              <a:t>€ 3,75</a:t>
            </a:r>
          </a:p>
        </p:txBody>
      </p:sp>
      <p:sp>
        <p:nvSpPr>
          <p:cNvPr id="5" name="TextBox 4"/>
          <p:cNvSpPr txBox="1"/>
          <p:nvPr/>
        </p:nvSpPr>
        <p:spPr>
          <a:xfrm>
            <a:off x="1079748" y="2935635"/>
            <a:ext cx="5400377" cy="190500"/>
          </a:xfrm>
          <a:prstGeom prst="rect">
            <a:avLst/>
          </a:prstGeom>
          <a:noFill/>
        </p:spPr>
        <p:txBody>
          <a:bodyPr wrap="square" anchor="t" lIns="0" rIns="0" tIns="0" bIns="0">
            <a:spAutoFit/>
          </a:bodyPr>
          <a:lstStyle/>
          <a:p>
            <a:pPr algn="l">
              <a:lnSpc>
                <a:spcPts val="1439"/>
              </a:lnSpc>
            </a:pPr>
            <a:r>
              <a:rPr sz="1200" b="0">
                <a:solidFill>
                  <a:srgbClr val="000326"/>
                </a:solidFill>
                <a:latin typeface="Inter"/>
              </a:rPr>
              <a:t>per student per maand* </a:t>
            </a:r>
            <a:r>
              <a:rPr sz="1200" b="0">
                <a:solidFill>
                  <a:srgbClr val="555A78"/>
                </a:solidFill>
                <a:latin typeface="Inter"/>
              </a:rPr>
              <a:t>· exclusief btw</a:t>
            </a:r>
          </a:p>
        </p:txBody>
      </p:sp>
      <p:sp>
        <p:nvSpPr>
          <p:cNvPr id="6" name="Rounded Rectangle 5"/>
          <p:cNvSpPr/>
          <p:nvPr/>
        </p:nvSpPr>
        <p:spPr>
          <a:xfrm>
            <a:off x="1079748" y="3450134"/>
            <a:ext cx="5400377" cy="2787104"/>
          </a:xfrm>
          <a:prstGeom prst="roundRect">
            <a:avLst>
              <a:gd name="adj" fmla="val 452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7" name="TextBox 6"/>
          <p:cNvSpPr txBox="1"/>
          <p:nvPr/>
        </p:nvSpPr>
        <p:spPr>
          <a:xfrm>
            <a:off x="1295698" y="3666083"/>
            <a:ext cx="4968478" cy="161925"/>
          </a:xfrm>
          <a:prstGeom prst="rect">
            <a:avLst/>
          </a:prstGeom>
          <a:noFill/>
        </p:spPr>
        <p:txBody>
          <a:bodyPr wrap="square" anchor="t" lIns="0" rIns="0" tIns="0" bIns="0">
            <a:spAutoFit/>
          </a:bodyPr>
          <a:lstStyle/>
          <a:p>
            <a:pPr algn="l">
              <a:lnSpc>
                <a:spcPts val="1260"/>
              </a:lnSpc>
            </a:pPr>
            <a:r>
              <a:rPr sz="1050" b="1">
                <a:solidFill>
                  <a:srgbClr val="000326"/>
                </a:solidFill>
                <a:latin typeface="Inter"/>
              </a:rPr>
              <a:t>Hoe meer studenten, hoe lager de prijs per student</a:t>
            </a:r>
          </a:p>
        </p:txBody>
      </p:sp>
      <p:sp>
        <p:nvSpPr>
          <p:cNvPr id="8" name="TextBox 7"/>
          <p:cNvSpPr txBox="1"/>
          <p:nvPr/>
        </p:nvSpPr>
        <p:spPr>
          <a:xfrm>
            <a:off x="1295698" y="3863876"/>
            <a:ext cx="4968478" cy="142875"/>
          </a:xfrm>
          <a:prstGeom prst="rect">
            <a:avLst/>
          </a:prstGeom>
          <a:noFill/>
        </p:spPr>
        <p:txBody>
          <a:bodyPr wrap="square" anchor="t" lIns="0" rIns="0" tIns="0" bIns="0">
            <a:spAutoFit/>
          </a:bodyPr>
          <a:lstStyle/>
          <a:p>
            <a:pPr algn="l">
              <a:lnSpc>
                <a:spcPts val="1140"/>
              </a:lnSpc>
            </a:pPr>
            <a:r>
              <a:rPr sz="950" b="0">
                <a:solidFill>
                  <a:srgbClr val="555A78"/>
                </a:solidFill>
                <a:latin typeface="Inter"/>
              </a:rPr>
              <a:t>Prijs per student per maand</a:t>
            </a:r>
          </a:p>
        </p:txBody>
      </p:sp>
      <p:sp>
        <p:nvSpPr>
          <p:cNvPr id="9" name="TextBox 8"/>
          <p:cNvSpPr txBox="1"/>
          <p:nvPr/>
        </p:nvSpPr>
        <p:spPr>
          <a:xfrm>
            <a:off x="2597944" y="4222700"/>
            <a:ext cx="486870" cy="152400"/>
          </a:xfrm>
          <a:prstGeom prst="rect">
            <a:avLst/>
          </a:prstGeom>
          <a:noFill/>
        </p:spPr>
        <p:txBody>
          <a:bodyPr wrap="square" anchor="t" lIns="0" rIns="0" tIns="0" bIns="0">
            <a:spAutoFit/>
          </a:bodyPr>
          <a:lstStyle/>
          <a:p>
            <a:pPr algn="l">
              <a:lnSpc>
                <a:spcPts val="1199"/>
              </a:lnSpc>
            </a:pPr>
            <a:r>
              <a:rPr sz="999" b="1">
                <a:solidFill>
                  <a:srgbClr val="000326"/>
                </a:solidFill>
                <a:latin typeface="Inter"/>
              </a:rPr>
              <a:t>€ 3,75</a:t>
            </a:r>
          </a:p>
        </p:txBody>
      </p:sp>
      <p:sp>
        <p:nvSpPr>
          <p:cNvPr id="10" name="Rounded Rectangle 9"/>
          <p:cNvSpPr/>
          <p:nvPr/>
        </p:nvSpPr>
        <p:spPr>
          <a:xfrm>
            <a:off x="2177802" y="4446984"/>
            <a:ext cx="1223962" cy="1223962"/>
          </a:xfrm>
          <a:prstGeom prst="roundRect">
            <a:avLst>
              <a:gd name="adj" fmla="val 5882"/>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1" name="TextBox 10"/>
          <p:cNvSpPr txBox="1"/>
          <p:nvPr/>
        </p:nvSpPr>
        <p:spPr>
          <a:xfrm>
            <a:off x="2377976" y="5742831"/>
            <a:ext cx="979599" cy="142875"/>
          </a:xfrm>
          <a:prstGeom prst="rect">
            <a:avLst/>
          </a:prstGeom>
          <a:noFill/>
        </p:spPr>
        <p:txBody>
          <a:bodyPr wrap="square" anchor="t" lIns="0" rIns="0" tIns="0" bIns="0">
            <a:spAutoFit/>
          </a:bodyPr>
          <a:lstStyle/>
          <a:p>
            <a:pPr algn="l">
              <a:lnSpc>
                <a:spcPts val="1080"/>
              </a:lnSpc>
            </a:pPr>
            <a:r>
              <a:rPr sz="900" b="0">
                <a:solidFill>
                  <a:srgbClr val="555A78"/>
                </a:solidFill>
                <a:latin typeface="Inter"/>
              </a:rPr>
              <a:t>Tot en met 400</a:t>
            </a:r>
          </a:p>
        </p:txBody>
      </p:sp>
      <p:sp>
        <p:nvSpPr>
          <p:cNvPr id="12" name="TextBox 11"/>
          <p:cNvSpPr txBox="1"/>
          <p:nvPr/>
        </p:nvSpPr>
        <p:spPr>
          <a:xfrm>
            <a:off x="4569768" y="4467523"/>
            <a:ext cx="505873" cy="152400"/>
          </a:xfrm>
          <a:prstGeom prst="rect">
            <a:avLst/>
          </a:prstGeom>
          <a:noFill/>
        </p:spPr>
        <p:txBody>
          <a:bodyPr wrap="square" anchor="t" lIns="0" rIns="0" tIns="0" bIns="0">
            <a:spAutoFit/>
          </a:bodyPr>
          <a:lstStyle/>
          <a:p>
            <a:pPr algn="l">
              <a:lnSpc>
                <a:spcPts val="1199"/>
              </a:lnSpc>
            </a:pPr>
            <a:r>
              <a:rPr sz="999" b="1">
                <a:solidFill>
                  <a:srgbClr val="000326"/>
                </a:solidFill>
                <a:latin typeface="Inter"/>
              </a:rPr>
              <a:t>€ 3,00</a:t>
            </a:r>
          </a:p>
        </p:txBody>
      </p:sp>
      <p:sp>
        <p:nvSpPr>
          <p:cNvPr id="13" name="Rounded Rectangle 12"/>
          <p:cNvSpPr/>
          <p:nvPr/>
        </p:nvSpPr>
        <p:spPr>
          <a:xfrm>
            <a:off x="4158109" y="4691807"/>
            <a:ext cx="1223962" cy="979140"/>
          </a:xfrm>
          <a:prstGeom prst="roundRect">
            <a:avLst>
              <a:gd name="adj" fmla="val 7353"/>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4" name="TextBox 13"/>
          <p:cNvSpPr txBox="1"/>
          <p:nvPr/>
        </p:nvSpPr>
        <p:spPr>
          <a:xfrm>
            <a:off x="4388197" y="5742831"/>
            <a:ext cx="912424" cy="142875"/>
          </a:xfrm>
          <a:prstGeom prst="rect">
            <a:avLst/>
          </a:prstGeom>
          <a:noFill/>
        </p:spPr>
        <p:txBody>
          <a:bodyPr wrap="square" anchor="t" lIns="0" rIns="0" tIns="0" bIns="0">
            <a:spAutoFit/>
          </a:bodyPr>
          <a:lstStyle/>
          <a:p>
            <a:pPr algn="l">
              <a:lnSpc>
                <a:spcPts val="1080"/>
              </a:lnSpc>
            </a:pPr>
            <a:r>
              <a:rPr sz="900" b="0">
                <a:solidFill>
                  <a:srgbClr val="555A78"/>
                </a:solidFill>
                <a:latin typeface="Inter"/>
              </a:rPr>
              <a:t>Meer dan 400</a:t>
            </a:r>
          </a:p>
        </p:txBody>
      </p:sp>
      <p:sp>
        <p:nvSpPr>
          <p:cNvPr id="15" name="TextBox 14"/>
          <p:cNvSpPr txBox="1"/>
          <p:nvPr/>
        </p:nvSpPr>
        <p:spPr>
          <a:xfrm>
            <a:off x="1295623" y="5914430"/>
            <a:ext cx="4968478" cy="142875"/>
          </a:xfrm>
          <a:prstGeom prst="rect">
            <a:avLst/>
          </a:prstGeom>
          <a:noFill/>
        </p:spPr>
        <p:txBody>
          <a:bodyPr wrap="square" anchor="t" lIns="0" rIns="0" tIns="0" bIns="0">
            <a:spAutoFit/>
          </a:bodyPr>
          <a:lstStyle/>
          <a:p>
            <a:pPr algn="ctr">
              <a:lnSpc>
                <a:spcPts val="1080"/>
              </a:lnSpc>
            </a:pPr>
            <a:r>
              <a:rPr sz="900" b="0">
                <a:solidFill>
                  <a:srgbClr val="555A78"/>
                </a:solidFill>
                <a:latin typeface="Inter"/>
              </a:rPr>
              <a:t>Aantal studenten</a:t>
            </a:r>
          </a:p>
        </p:txBody>
      </p:sp>
      <p:sp>
        <p:nvSpPr>
          <p:cNvPr id="16" name="TextBox 15"/>
          <p:cNvSpPr txBox="1"/>
          <p:nvPr/>
        </p:nvSpPr>
        <p:spPr>
          <a:xfrm>
            <a:off x="1079748" y="6345138"/>
            <a:ext cx="5400377" cy="123825"/>
          </a:xfrm>
          <a:prstGeom prst="rect">
            <a:avLst/>
          </a:prstGeom>
          <a:noFill/>
        </p:spPr>
        <p:txBody>
          <a:bodyPr wrap="square" anchor="t" lIns="0" rIns="0" tIns="0" bIns="0">
            <a:spAutoFit/>
          </a:bodyPr>
          <a:lstStyle/>
          <a:p>
            <a:pPr algn="l">
              <a:lnSpc>
                <a:spcPts val="960"/>
              </a:lnSpc>
            </a:pPr>
            <a:r>
              <a:rPr sz="800" b="0">
                <a:solidFill>
                  <a:srgbClr val="555A78"/>
                </a:solidFill>
                <a:latin typeface="Inter"/>
              </a:rPr>
              <a:t>* Minimaal € 1.500 per maand, dat dekt de eerste 400 studenten.</a:t>
            </a:r>
          </a:p>
        </p:txBody>
      </p:sp>
      <p:pic>
        <p:nvPicPr>
          <p:cNvPr id="17" name="Picture 16" descr="academica.png"/>
          <p:cNvPicPr>
            <a:picLocks noChangeAspect="1"/>
          </p:cNvPicPr>
          <p:nvPr/>
        </p:nvPicPr>
        <p:blipFill>
          <a:blip r:embed="rId2"/>
          <a:stretch>
            <a:fillRect/>
          </a:stretch>
        </p:blipFill>
        <p:spPr>
          <a:xfrm>
            <a:off x="723900" y="10182225"/>
            <a:ext cx="784860" cy="152400"/>
          </a:xfrm>
          <a:prstGeom prst="rect">
            <a:avLst/>
          </a:prstGeom>
        </p:spPr>
      </p:pic>
      <p:sp>
        <p:nvSpPr>
          <p:cNvPr id="18" name="TextBox 17"/>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882" y="882997"/>
            <a:ext cx="6120110" cy="352425"/>
          </a:xfrm>
          <a:prstGeom prst="rect">
            <a:avLst/>
          </a:prstGeom>
          <a:noFill/>
        </p:spPr>
        <p:txBody>
          <a:bodyPr wrap="square" anchor="t" lIns="0" rIns="0" tIns="0" bIns="0">
            <a:spAutoFit/>
          </a:bodyPr>
          <a:lstStyle/>
          <a:p>
            <a:pPr algn="l">
              <a:lnSpc>
                <a:spcPts val="3150"/>
              </a:lnSpc>
            </a:pPr>
            <a:r>
              <a:rPr sz="3000" b="1">
                <a:solidFill>
                  <a:srgbClr val="000326"/>
                </a:solidFill>
                <a:latin typeface="League Spartan"/>
              </a:rPr>
              <a:t>Wat de instelling ervoor krijgt</a:t>
            </a:r>
          </a:p>
        </p:txBody>
      </p:sp>
      <p:sp>
        <p:nvSpPr>
          <p:cNvPr id="3" name="Rounded Rectangle 2"/>
          <p:cNvSpPr/>
          <p:nvPr/>
        </p:nvSpPr>
        <p:spPr>
          <a:xfrm>
            <a:off x="719882" y="1695896"/>
            <a:ext cx="6120110" cy="3085505"/>
          </a:xfrm>
          <a:prstGeom prst="roundRect">
            <a:avLst>
              <a:gd name="adj" fmla="val 7000"/>
            </a:avLst>
          </a:prstGeom>
          <a:solidFill>
            <a:srgbClr val="E3E6F4"/>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 name="Rounded Rectangle 3"/>
          <p:cNvSpPr/>
          <p:nvPr/>
        </p:nvSpPr>
        <p:spPr>
          <a:xfrm>
            <a:off x="1043880" y="2019895"/>
            <a:ext cx="431899" cy="431899"/>
          </a:xfrm>
          <a:prstGeom prst="roundRect">
            <a:avLst>
              <a:gd name="adj" fmla="val 25005"/>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5" name="Picture 4" descr="svg-2-0.png"/>
          <p:cNvPicPr>
            <a:picLocks noChangeAspect="1"/>
          </p:cNvPicPr>
          <p:nvPr/>
        </p:nvPicPr>
        <p:blipFill>
          <a:blip r:embed="rId2"/>
          <a:stretch>
            <a:fillRect/>
          </a:stretch>
        </p:blipFill>
        <p:spPr>
          <a:xfrm>
            <a:off x="1151781" y="2127796"/>
            <a:ext cx="215950" cy="215950"/>
          </a:xfrm>
          <a:prstGeom prst="rect">
            <a:avLst/>
          </a:prstGeom>
        </p:spPr>
      </p:pic>
      <p:sp>
        <p:nvSpPr>
          <p:cNvPr id="6" name="TextBox 5"/>
          <p:cNvSpPr txBox="1"/>
          <p:nvPr/>
        </p:nvSpPr>
        <p:spPr>
          <a:xfrm>
            <a:off x="1655713" y="2101304"/>
            <a:ext cx="2949845" cy="257175"/>
          </a:xfrm>
          <a:prstGeom prst="rect">
            <a:avLst/>
          </a:prstGeom>
          <a:noFill/>
        </p:spPr>
        <p:txBody>
          <a:bodyPr wrap="square" anchor="t" lIns="0" rIns="0" tIns="0" bIns="0">
            <a:spAutoFit/>
          </a:bodyPr>
          <a:lstStyle/>
          <a:p>
            <a:pPr algn="l">
              <a:lnSpc>
                <a:spcPts val="2420"/>
              </a:lnSpc>
            </a:pPr>
            <a:r>
              <a:rPr sz="2199" b="1">
                <a:solidFill>
                  <a:srgbClr val="000326"/>
                </a:solidFill>
                <a:latin typeface="League Spartan"/>
              </a:rPr>
              <a:t>Uniforme beoordeling</a:t>
            </a:r>
          </a:p>
        </p:txBody>
      </p:sp>
      <p:sp>
        <p:nvSpPr>
          <p:cNvPr id="7" name="TextBox 6"/>
          <p:cNvSpPr txBox="1"/>
          <p:nvPr/>
        </p:nvSpPr>
        <p:spPr>
          <a:xfrm>
            <a:off x="1043880" y="2578745"/>
            <a:ext cx="5593675" cy="161925"/>
          </a:xfrm>
          <a:prstGeom prst="rect">
            <a:avLst/>
          </a:prstGeom>
          <a:noFill/>
        </p:spPr>
        <p:txBody>
          <a:bodyPr wrap="square" anchor="t" lIns="0" rIns="0" tIns="0" bIns="0">
            <a:spAutoFit/>
          </a:bodyPr>
          <a:lstStyle/>
          <a:p>
            <a:pPr algn="l">
              <a:lnSpc>
                <a:spcPts val="1575"/>
              </a:lnSpc>
            </a:pPr>
            <a:r>
              <a:rPr sz="1050" b="0">
                <a:solidFill>
                  <a:srgbClr val="555A78"/>
                </a:solidFill>
                <a:latin typeface="Inter"/>
              </a:rPr>
              <a:t>Elke opdracht wordt langs dezelfde criteria beoordeeld, door elke beoordelaar.</a:t>
            </a:r>
          </a:p>
        </p:txBody>
      </p:sp>
      <p:sp>
        <p:nvSpPr>
          <p:cNvPr id="8" name="Rounded Rectangle 7"/>
          <p:cNvSpPr/>
          <p:nvPr/>
        </p:nvSpPr>
        <p:spPr>
          <a:xfrm>
            <a:off x="1043880" y="3011686"/>
            <a:ext cx="2646015" cy="1445716"/>
          </a:xfrm>
          <a:prstGeom prst="roundRect">
            <a:avLst>
              <a:gd name="adj" fmla="val 8715"/>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9" name="TextBox 8"/>
          <p:cNvSpPr txBox="1"/>
          <p:nvPr/>
        </p:nvSpPr>
        <p:spPr>
          <a:xfrm>
            <a:off x="1259830" y="3227636"/>
            <a:ext cx="2536960" cy="340668"/>
          </a:xfrm>
          <a:prstGeom prst="rect">
            <a:avLst/>
          </a:prstGeom>
          <a:noFill/>
        </p:spPr>
        <p:txBody>
          <a:bodyPr wrap="square" anchor="t" lIns="0" rIns="0" tIns="0" bIns="0">
            <a:spAutoFit/>
          </a:bodyPr>
          <a:lstStyle/>
          <a:p>
            <a:pPr algn="l">
              <a:lnSpc>
                <a:spcPts val="1140"/>
              </a:lnSpc>
            </a:pPr>
          </a:p>
          <a:p>
            <a:pPr algn="l">
              <a:lnSpc>
                <a:spcPts val="1140"/>
              </a:lnSpc>
            </a:pPr>
            <a:r>
              <a:rPr sz="1050" b="1">
                <a:solidFill>
                  <a:srgbClr val="000326"/>
                </a:solidFill>
                <a:latin typeface="Inter"/>
              </a:rPr>
              <a:t>Zonder</a:t>
            </a:r>
          </a:p>
          <a:p>
            <a:pPr algn="l">
              <a:lnSpc>
                <a:spcPts val="1140"/>
              </a:lnSpc>
            </a:pPr>
            <a:r>
              <a:rPr sz="950" b="0">
                <a:solidFill>
                  <a:srgbClr val="555A78"/>
                </a:solidFill>
                <a:latin typeface="Inter"/>
              </a:rPr>
              <a:t>Elke beoordelaar met een eigen blik</a:t>
            </a:r>
          </a:p>
        </p:txBody>
      </p:sp>
      <p:sp>
        <p:nvSpPr>
          <p:cNvPr id="10" name="Rectangle 9"/>
          <p:cNvSpPr/>
          <p:nvPr/>
        </p:nvSpPr>
        <p:spPr>
          <a:xfrm>
            <a:off x="1259830" y="3928170"/>
            <a:ext cx="2214116" cy="14288"/>
          </a:xfrm>
          <a:prstGeom prst="rect">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1" name="Oval 10"/>
          <p:cNvSpPr/>
          <p:nvPr/>
        </p:nvSpPr>
        <p:spPr>
          <a:xfrm>
            <a:off x="1494234" y="3852714"/>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2" name="Oval 11"/>
          <p:cNvSpPr/>
          <p:nvPr/>
        </p:nvSpPr>
        <p:spPr>
          <a:xfrm>
            <a:off x="2114252" y="3852714"/>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Oval 12"/>
          <p:cNvSpPr/>
          <p:nvPr/>
        </p:nvSpPr>
        <p:spPr>
          <a:xfrm>
            <a:off x="2579191" y="3852714"/>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4" name="Oval 13"/>
          <p:cNvSpPr/>
          <p:nvPr/>
        </p:nvSpPr>
        <p:spPr>
          <a:xfrm>
            <a:off x="3132683" y="3852714"/>
            <a:ext cx="151061" cy="151061"/>
          </a:xfrm>
          <a:prstGeom prst="ellipse">
            <a:avLst/>
          </a:prstGeom>
          <a:solidFill>
            <a:srgbClr val="FFFFFF"/>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5" name="TextBox 14"/>
          <p:cNvSpPr txBox="1"/>
          <p:nvPr/>
        </p:nvSpPr>
        <p:spPr>
          <a:xfrm>
            <a:off x="1259830" y="4108103"/>
            <a:ext cx="549712" cy="133350"/>
          </a:xfrm>
          <a:prstGeom prst="rect">
            <a:avLst/>
          </a:prstGeom>
          <a:noFill/>
        </p:spPr>
        <p:txBody>
          <a:bodyPr wrap="square" anchor="t" lIns="0" rIns="0" tIns="0" bIns="0">
            <a:spAutoFit/>
          </a:bodyPr>
          <a:lstStyle/>
          <a:p>
            <a:pPr algn="l">
              <a:lnSpc>
                <a:spcPts val="1019"/>
              </a:lnSpc>
            </a:pPr>
            <a:r>
              <a:rPr sz="849" b="0">
                <a:solidFill>
                  <a:srgbClr val="555A78"/>
                </a:solidFill>
                <a:latin typeface="Inter"/>
              </a:rPr>
              <a:t>Strenger</a:t>
            </a:r>
          </a:p>
        </p:txBody>
      </p:sp>
      <p:sp>
        <p:nvSpPr>
          <p:cNvPr id="16" name="TextBox 15"/>
          <p:cNvSpPr txBox="1"/>
          <p:nvPr/>
        </p:nvSpPr>
        <p:spPr>
          <a:xfrm>
            <a:off x="3154561" y="4108103"/>
            <a:ext cx="414861" cy="133350"/>
          </a:xfrm>
          <a:prstGeom prst="rect">
            <a:avLst/>
          </a:prstGeom>
          <a:noFill/>
        </p:spPr>
        <p:txBody>
          <a:bodyPr wrap="square" anchor="t" lIns="0" rIns="0" tIns="0" bIns="0">
            <a:spAutoFit/>
          </a:bodyPr>
          <a:lstStyle/>
          <a:p>
            <a:pPr algn="l">
              <a:lnSpc>
                <a:spcPts val="1019"/>
              </a:lnSpc>
            </a:pPr>
            <a:r>
              <a:rPr sz="849" b="0">
                <a:solidFill>
                  <a:srgbClr val="555A78"/>
                </a:solidFill>
                <a:latin typeface="Inter"/>
              </a:rPr>
              <a:t>Milder</a:t>
            </a:r>
          </a:p>
        </p:txBody>
      </p:sp>
      <p:sp>
        <p:nvSpPr>
          <p:cNvPr id="17" name="Rounded Rectangle 16"/>
          <p:cNvSpPr/>
          <p:nvPr/>
        </p:nvSpPr>
        <p:spPr>
          <a:xfrm>
            <a:off x="3869829" y="3011686"/>
            <a:ext cx="2646164" cy="1445716"/>
          </a:xfrm>
          <a:prstGeom prst="roundRect">
            <a:avLst>
              <a:gd name="adj" fmla="val 8715"/>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8" name="TextBox 17"/>
          <p:cNvSpPr txBox="1"/>
          <p:nvPr/>
        </p:nvSpPr>
        <p:spPr>
          <a:xfrm>
            <a:off x="4085779" y="3227636"/>
            <a:ext cx="2537127" cy="340668"/>
          </a:xfrm>
          <a:prstGeom prst="rect">
            <a:avLst/>
          </a:prstGeom>
          <a:noFill/>
        </p:spPr>
        <p:txBody>
          <a:bodyPr wrap="square" anchor="t" lIns="0" rIns="0" tIns="0" bIns="0">
            <a:spAutoFit/>
          </a:bodyPr>
          <a:lstStyle/>
          <a:p>
            <a:pPr algn="l">
              <a:lnSpc>
                <a:spcPts val="1140"/>
              </a:lnSpc>
            </a:pPr>
          </a:p>
          <a:p>
            <a:pPr algn="l">
              <a:lnSpc>
                <a:spcPts val="1140"/>
              </a:lnSpc>
            </a:pPr>
            <a:r>
              <a:rPr sz="1050" b="1">
                <a:solidFill>
                  <a:srgbClr val="000326"/>
                </a:solidFill>
                <a:latin typeface="Inter"/>
              </a:rPr>
              <a:t>Met Eduface</a:t>
            </a:r>
          </a:p>
          <a:p>
            <a:pPr algn="l">
              <a:lnSpc>
                <a:spcPts val="1140"/>
              </a:lnSpc>
            </a:pPr>
            <a:r>
              <a:rPr sz="950" b="0">
                <a:solidFill>
                  <a:srgbClr val="555A78"/>
                </a:solidFill>
                <a:latin typeface="Inter"/>
              </a:rPr>
              <a:t>Iedereen langs dezelfde criteria</a:t>
            </a:r>
          </a:p>
        </p:txBody>
      </p:sp>
      <p:sp>
        <p:nvSpPr>
          <p:cNvPr id="19" name="Rectangle 18"/>
          <p:cNvSpPr/>
          <p:nvPr/>
        </p:nvSpPr>
        <p:spPr>
          <a:xfrm>
            <a:off x="4085779" y="3928170"/>
            <a:ext cx="2214265" cy="14288"/>
          </a:xfrm>
          <a:prstGeom prst="rect">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0" name="Oval 19"/>
          <p:cNvSpPr/>
          <p:nvPr/>
        </p:nvSpPr>
        <p:spPr>
          <a:xfrm>
            <a:off x="4984552" y="3852714"/>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1" name="Oval 20"/>
          <p:cNvSpPr/>
          <p:nvPr/>
        </p:nvSpPr>
        <p:spPr>
          <a:xfrm>
            <a:off x="5117455" y="3852714"/>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2" name="Oval 21"/>
          <p:cNvSpPr/>
          <p:nvPr/>
        </p:nvSpPr>
        <p:spPr>
          <a:xfrm>
            <a:off x="5250210" y="3852714"/>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3" name="Oval 22"/>
          <p:cNvSpPr/>
          <p:nvPr/>
        </p:nvSpPr>
        <p:spPr>
          <a:xfrm>
            <a:off x="5383113" y="3852714"/>
            <a:ext cx="151061" cy="151061"/>
          </a:xfrm>
          <a:prstGeom prst="ellipse">
            <a:avLst/>
          </a:prstGeom>
          <a:solidFill>
            <a:srgbClr val="000326"/>
          </a:solidFill>
          <a:ln w="19050">
            <a:solidFill>
              <a:srgbClr val="000326"/>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4" name="TextBox 23"/>
          <p:cNvSpPr txBox="1"/>
          <p:nvPr/>
        </p:nvSpPr>
        <p:spPr>
          <a:xfrm>
            <a:off x="4085779" y="4108103"/>
            <a:ext cx="549712" cy="133350"/>
          </a:xfrm>
          <a:prstGeom prst="rect">
            <a:avLst/>
          </a:prstGeom>
          <a:noFill/>
        </p:spPr>
        <p:txBody>
          <a:bodyPr wrap="square" anchor="t" lIns="0" rIns="0" tIns="0" bIns="0">
            <a:spAutoFit/>
          </a:bodyPr>
          <a:lstStyle/>
          <a:p>
            <a:pPr algn="l">
              <a:lnSpc>
                <a:spcPts val="1019"/>
              </a:lnSpc>
            </a:pPr>
            <a:r>
              <a:rPr sz="849" b="0">
                <a:solidFill>
                  <a:srgbClr val="555A78"/>
                </a:solidFill>
                <a:latin typeface="Inter"/>
              </a:rPr>
              <a:t>Strenger</a:t>
            </a:r>
          </a:p>
        </p:txBody>
      </p:sp>
      <p:sp>
        <p:nvSpPr>
          <p:cNvPr id="25" name="TextBox 24"/>
          <p:cNvSpPr txBox="1"/>
          <p:nvPr/>
        </p:nvSpPr>
        <p:spPr>
          <a:xfrm>
            <a:off x="5980658" y="4108103"/>
            <a:ext cx="414861" cy="133350"/>
          </a:xfrm>
          <a:prstGeom prst="rect">
            <a:avLst/>
          </a:prstGeom>
          <a:noFill/>
        </p:spPr>
        <p:txBody>
          <a:bodyPr wrap="square" anchor="t" lIns="0" rIns="0" tIns="0" bIns="0">
            <a:spAutoFit/>
          </a:bodyPr>
          <a:lstStyle/>
          <a:p>
            <a:pPr algn="l">
              <a:lnSpc>
                <a:spcPts val="1019"/>
              </a:lnSpc>
            </a:pPr>
            <a:r>
              <a:rPr sz="849" b="0">
                <a:solidFill>
                  <a:srgbClr val="555A78"/>
                </a:solidFill>
                <a:latin typeface="Inter"/>
              </a:rPr>
              <a:t>Milder</a:t>
            </a:r>
          </a:p>
        </p:txBody>
      </p:sp>
      <p:sp>
        <p:nvSpPr>
          <p:cNvPr id="26" name="Rounded Rectangle 25"/>
          <p:cNvSpPr/>
          <p:nvPr/>
        </p:nvSpPr>
        <p:spPr>
          <a:xfrm>
            <a:off x="719882" y="4997351"/>
            <a:ext cx="6120110" cy="2376339"/>
          </a:xfrm>
          <a:prstGeom prst="roundRect">
            <a:avLst>
              <a:gd name="adj" fmla="val 9089"/>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7" name="Rounded Rectangle 26"/>
          <p:cNvSpPr/>
          <p:nvPr/>
        </p:nvSpPr>
        <p:spPr>
          <a:xfrm>
            <a:off x="1043880" y="5321350"/>
            <a:ext cx="431899" cy="431899"/>
          </a:xfrm>
          <a:prstGeom prst="roundRect">
            <a:avLst>
              <a:gd name="adj" fmla="val 25005"/>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28" name="Picture 27" descr="svg-2-1.png"/>
          <p:cNvPicPr>
            <a:picLocks noChangeAspect="1"/>
          </p:cNvPicPr>
          <p:nvPr/>
        </p:nvPicPr>
        <p:blipFill>
          <a:blip r:embed="rId3"/>
          <a:stretch>
            <a:fillRect/>
          </a:stretch>
        </p:blipFill>
        <p:spPr>
          <a:xfrm>
            <a:off x="1151781" y="5429250"/>
            <a:ext cx="215950" cy="215950"/>
          </a:xfrm>
          <a:prstGeom prst="rect">
            <a:avLst/>
          </a:prstGeom>
        </p:spPr>
      </p:pic>
      <p:sp>
        <p:nvSpPr>
          <p:cNvPr id="29" name="TextBox 28"/>
          <p:cNvSpPr txBox="1"/>
          <p:nvPr/>
        </p:nvSpPr>
        <p:spPr>
          <a:xfrm>
            <a:off x="1655713" y="5432227"/>
            <a:ext cx="4066818" cy="200025"/>
          </a:xfrm>
          <a:prstGeom prst="rect">
            <a:avLst/>
          </a:prstGeom>
          <a:noFill/>
        </p:spPr>
        <p:txBody>
          <a:bodyPr wrap="square" anchor="t" lIns="0" rIns="0" tIns="0" bIns="0">
            <a:spAutoFit/>
          </a:bodyPr>
          <a:lstStyle/>
          <a:p>
            <a:pPr algn="l">
              <a:lnSpc>
                <a:spcPts val="1955"/>
              </a:lnSpc>
            </a:pPr>
            <a:r>
              <a:rPr sz="1700" b="1">
                <a:solidFill>
                  <a:srgbClr val="000326"/>
                </a:solidFill>
                <a:latin typeface="League Spartan"/>
              </a:rPr>
              <a:t>Formatieve feedback voor elke student</a:t>
            </a:r>
          </a:p>
        </p:txBody>
      </p:sp>
      <p:sp>
        <p:nvSpPr>
          <p:cNvPr id="30" name="TextBox 29"/>
          <p:cNvSpPr txBox="1"/>
          <p:nvPr/>
        </p:nvSpPr>
        <p:spPr>
          <a:xfrm>
            <a:off x="1043880" y="5880199"/>
            <a:ext cx="6089237" cy="161925"/>
          </a:xfrm>
          <a:prstGeom prst="rect">
            <a:avLst/>
          </a:prstGeom>
          <a:noFill/>
        </p:spPr>
        <p:txBody>
          <a:bodyPr wrap="square" anchor="t" lIns="0" rIns="0" tIns="0" bIns="0">
            <a:spAutoFit/>
          </a:bodyPr>
          <a:lstStyle/>
          <a:p>
            <a:pPr algn="l">
              <a:lnSpc>
                <a:spcPts val="1575"/>
              </a:lnSpc>
            </a:pPr>
            <a:r>
              <a:rPr sz="1050" b="0">
                <a:solidFill>
                  <a:srgbClr val="555A78"/>
                </a:solidFill>
                <a:latin typeface="Inter"/>
              </a:rPr>
              <a:t>Nu krijgt de helft van de studenten formatieve feedback. Met Eduface is dat iedereen.</a:t>
            </a:r>
          </a:p>
        </p:txBody>
      </p:sp>
      <p:sp>
        <p:nvSpPr>
          <p:cNvPr id="31" name="TextBox 30"/>
          <p:cNvSpPr txBox="1"/>
          <p:nvPr/>
        </p:nvSpPr>
        <p:spPr>
          <a:xfrm>
            <a:off x="1043880" y="6277124"/>
            <a:ext cx="1367879" cy="152400"/>
          </a:xfrm>
          <a:prstGeom prst="rect">
            <a:avLst/>
          </a:prstGeom>
          <a:noFill/>
        </p:spPr>
        <p:txBody>
          <a:bodyPr wrap="square" anchor="t" lIns="0" rIns="0" tIns="0" bIns="0">
            <a:spAutoFit/>
          </a:bodyPr>
          <a:lstStyle/>
          <a:p>
            <a:pPr algn="l">
              <a:lnSpc>
                <a:spcPts val="1199"/>
              </a:lnSpc>
            </a:pPr>
            <a:r>
              <a:rPr sz="999" b="0">
                <a:solidFill>
                  <a:srgbClr val="555A78"/>
                </a:solidFill>
                <a:latin typeface="Inter"/>
              </a:rPr>
              <a:t>Nu, voor de helft</a:t>
            </a:r>
          </a:p>
        </p:txBody>
      </p:sp>
      <p:sp>
        <p:nvSpPr>
          <p:cNvPr id="32" name="Rounded Rectangle 31"/>
          <p:cNvSpPr/>
          <p:nvPr/>
        </p:nvSpPr>
        <p:spPr>
          <a:xfrm>
            <a:off x="2555677" y="6281291"/>
            <a:ext cx="3024485" cy="143917"/>
          </a:xfrm>
          <a:prstGeom prst="roundRect">
            <a:avLst>
              <a:gd name="adj" fmla="val 5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3" name="Rounded Rectangle 32"/>
          <p:cNvSpPr/>
          <p:nvPr/>
        </p:nvSpPr>
        <p:spPr>
          <a:xfrm>
            <a:off x="2555677" y="6281291"/>
            <a:ext cx="1512243" cy="143917"/>
          </a:xfrm>
          <a:prstGeom prst="roundRect">
            <a:avLst>
              <a:gd name="adj" fmla="val 50000"/>
            </a:avLst>
          </a:prstGeom>
          <a:solidFill>
            <a:srgbClr val="D6D9EA"/>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4" name="TextBox 33"/>
          <p:cNvSpPr txBox="1"/>
          <p:nvPr/>
        </p:nvSpPr>
        <p:spPr>
          <a:xfrm>
            <a:off x="5724079" y="6277124"/>
            <a:ext cx="791914" cy="152400"/>
          </a:xfrm>
          <a:prstGeom prst="rect">
            <a:avLst/>
          </a:prstGeom>
          <a:noFill/>
        </p:spPr>
        <p:txBody>
          <a:bodyPr wrap="square" anchor="t" lIns="0" rIns="0" tIns="0" bIns="0">
            <a:spAutoFit/>
          </a:bodyPr>
          <a:lstStyle/>
          <a:p>
            <a:pPr algn="r">
              <a:lnSpc>
                <a:spcPts val="1199"/>
              </a:lnSpc>
            </a:pPr>
            <a:r>
              <a:rPr sz="999" b="1">
                <a:solidFill>
                  <a:srgbClr val="000326"/>
                </a:solidFill>
                <a:latin typeface="Inter"/>
              </a:rPr>
              <a:t>€ 36.000</a:t>
            </a:r>
          </a:p>
        </p:txBody>
      </p:sp>
      <p:sp>
        <p:nvSpPr>
          <p:cNvPr id="35" name="TextBox 34"/>
          <p:cNvSpPr txBox="1"/>
          <p:nvPr/>
        </p:nvSpPr>
        <p:spPr>
          <a:xfrm>
            <a:off x="1043880" y="6555432"/>
            <a:ext cx="1388983" cy="152400"/>
          </a:xfrm>
          <a:prstGeom prst="rect">
            <a:avLst/>
          </a:prstGeom>
          <a:noFill/>
        </p:spPr>
        <p:txBody>
          <a:bodyPr wrap="square" anchor="t" lIns="0" rIns="0" tIns="0" bIns="0">
            <a:spAutoFit/>
          </a:bodyPr>
          <a:lstStyle/>
          <a:p>
            <a:pPr algn="l">
              <a:lnSpc>
                <a:spcPts val="1199"/>
              </a:lnSpc>
            </a:pPr>
            <a:r>
              <a:rPr sz="999" b="1">
                <a:solidFill>
                  <a:srgbClr val="000326"/>
                </a:solidFill>
                <a:latin typeface="Inter"/>
              </a:rPr>
              <a:t>Voor alle studenten</a:t>
            </a:r>
          </a:p>
        </p:txBody>
      </p:sp>
      <p:sp>
        <p:nvSpPr>
          <p:cNvPr id="36" name="Rounded Rectangle 35"/>
          <p:cNvSpPr/>
          <p:nvPr/>
        </p:nvSpPr>
        <p:spPr>
          <a:xfrm>
            <a:off x="2555677" y="6559600"/>
            <a:ext cx="3024485" cy="143917"/>
          </a:xfrm>
          <a:prstGeom prst="roundRect">
            <a:avLst>
              <a:gd name="adj" fmla="val 5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7" name="Rounded Rectangle 36"/>
          <p:cNvSpPr/>
          <p:nvPr/>
        </p:nvSpPr>
        <p:spPr>
          <a:xfrm>
            <a:off x="2555677" y="6559600"/>
            <a:ext cx="3024485" cy="143917"/>
          </a:xfrm>
          <a:prstGeom prst="roundRect">
            <a:avLst>
              <a:gd name="adj" fmla="val 50000"/>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8" name="TextBox 37"/>
          <p:cNvSpPr txBox="1"/>
          <p:nvPr/>
        </p:nvSpPr>
        <p:spPr>
          <a:xfrm>
            <a:off x="5724079" y="6555432"/>
            <a:ext cx="791914" cy="152400"/>
          </a:xfrm>
          <a:prstGeom prst="rect">
            <a:avLst/>
          </a:prstGeom>
          <a:noFill/>
        </p:spPr>
        <p:txBody>
          <a:bodyPr wrap="square" anchor="t" lIns="0" rIns="0" tIns="0" bIns="0">
            <a:spAutoFit/>
          </a:bodyPr>
          <a:lstStyle/>
          <a:p>
            <a:pPr algn="r">
              <a:lnSpc>
                <a:spcPts val="1199"/>
              </a:lnSpc>
            </a:pPr>
            <a:r>
              <a:rPr sz="999" b="1">
                <a:solidFill>
                  <a:srgbClr val="000326"/>
                </a:solidFill>
                <a:latin typeface="Inter"/>
              </a:rPr>
              <a:t>€ 72.000</a:t>
            </a:r>
          </a:p>
        </p:txBody>
      </p:sp>
      <p:sp>
        <p:nvSpPr>
          <p:cNvPr id="39" name="TextBox 38"/>
          <p:cNvSpPr txBox="1"/>
          <p:nvPr/>
        </p:nvSpPr>
        <p:spPr>
          <a:xfrm>
            <a:off x="1043880" y="6887766"/>
            <a:ext cx="5472112" cy="161925"/>
          </a:xfrm>
          <a:prstGeom prst="rect">
            <a:avLst/>
          </a:prstGeom>
          <a:noFill/>
        </p:spPr>
        <p:txBody>
          <a:bodyPr wrap="square" anchor="t" lIns="0" rIns="0" tIns="0" bIns="0">
            <a:spAutoFit/>
          </a:bodyPr>
          <a:lstStyle/>
          <a:p>
            <a:pPr algn="l">
              <a:lnSpc>
                <a:spcPts val="1260"/>
              </a:lnSpc>
            </a:pPr>
            <a:r>
              <a:rPr sz="1050" b="1">
                <a:solidFill>
                  <a:srgbClr val="000326"/>
                </a:solidFill>
                <a:latin typeface="Inter"/>
              </a:rPr>
              <a:t>De feitelijke kosten om iedereen te bedienen liggen dus twee keer zo hoog.</a:t>
            </a:r>
          </a:p>
        </p:txBody>
      </p:sp>
      <p:sp>
        <p:nvSpPr>
          <p:cNvPr id="40" name="Rounded Rectangle 39"/>
          <p:cNvSpPr/>
          <p:nvPr/>
        </p:nvSpPr>
        <p:spPr>
          <a:xfrm>
            <a:off x="719882" y="7589639"/>
            <a:ext cx="6120110" cy="1534864"/>
          </a:xfrm>
          <a:prstGeom prst="roundRect">
            <a:avLst>
              <a:gd name="adj" fmla="val 14072"/>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1" name="Rounded Rectangle 40"/>
          <p:cNvSpPr/>
          <p:nvPr/>
        </p:nvSpPr>
        <p:spPr>
          <a:xfrm>
            <a:off x="1053405" y="7923163"/>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42" name="Picture 41" descr="svg-2-2.png"/>
          <p:cNvPicPr>
            <a:picLocks noChangeAspect="1"/>
          </p:cNvPicPr>
          <p:nvPr/>
        </p:nvPicPr>
        <p:blipFill>
          <a:blip r:embed="rId4"/>
          <a:stretch>
            <a:fillRect/>
          </a:stretch>
        </p:blipFill>
        <p:spPr>
          <a:xfrm>
            <a:off x="1143298" y="8013055"/>
            <a:ext cx="179933" cy="179933"/>
          </a:xfrm>
          <a:prstGeom prst="rect">
            <a:avLst/>
          </a:prstGeom>
        </p:spPr>
      </p:pic>
      <p:sp>
        <p:nvSpPr>
          <p:cNvPr id="43" name="TextBox 42"/>
          <p:cNvSpPr txBox="1"/>
          <p:nvPr/>
        </p:nvSpPr>
        <p:spPr>
          <a:xfrm>
            <a:off x="1593205" y="8015436"/>
            <a:ext cx="1965222" cy="161925"/>
          </a:xfrm>
          <a:prstGeom prst="rect">
            <a:avLst/>
          </a:prstGeom>
          <a:noFill/>
        </p:spPr>
        <p:txBody>
          <a:bodyPr wrap="square" anchor="t" lIns="0" rIns="0" tIns="0" bIns="0">
            <a:spAutoFit/>
          </a:bodyPr>
          <a:lstStyle/>
          <a:p>
            <a:pPr algn="l">
              <a:lnSpc>
                <a:spcPts val="1679"/>
              </a:lnSpc>
            </a:pPr>
            <a:r>
              <a:rPr sz="1400" b="1">
                <a:solidFill>
                  <a:srgbClr val="000326"/>
                </a:solidFill>
                <a:latin typeface="League Spartan"/>
              </a:rPr>
              <a:t>Integratie in NEO LMS</a:t>
            </a:r>
          </a:p>
        </p:txBody>
      </p:sp>
      <p:sp>
        <p:nvSpPr>
          <p:cNvPr id="44" name="TextBox 43"/>
          <p:cNvSpPr txBox="1"/>
          <p:nvPr/>
        </p:nvSpPr>
        <p:spPr>
          <a:xfrm>
            <a:off x="1053405" y="8409980"/>
            <a:ext cx="6029897" cy="361950"/>
          </a:xfrm>
          <a:prstGeom prst="rect">
            <a:avLst/>
          </a:prstGeom>
          <a:noFill/>
        </p:spPr>
        <p:txBody>
          <a:bodyPr wrap="square" anchor="t" lIns="0" rIns="0" tIns="0" bIns="0">
            <a:spAutoFit/>
          </a:bodyPr>
          <a:lstStyle/>
          <a:p>
            <a:pPr algn="l">
              <a:lnSpc>
                <a:spcPts val="1575"/>
              </a:lnSpc>
            </a:pPr>
            <a:r>
              <a:rPr sz="1050" b="0">
                <a:solidFill>
                  <a:srgbClr val="555A78"/>
                </a:solidFill>
                <a:latin typeface="Inter"/>
              </a:rPr>
              <a:t>Opdrachten en cijfers lopen via NEO. Docenten en studenten werken in de omgeving die ze kennen.</a:t>
            </a:r>
          </a:p>
        </p:txBody>
      </p:sp>
      <p:pic>
        <p:nvPicPr>
          <p:cNvPr id="45" name="Picture 44" descr="academica.png"/>
          <p:cNvPicPr>
            <a:picLocks noChangeAspect="1"/>
          </p:cNvPicPr>
          <p:nvPr/>
        </p:nvPicPr>
        <p:blipFill>
          <a:blip r:embed="rId5"/>
          <a:stretch>
            <a:fillRect/>
          </a:stretch>
        </p:blipFill>
        <p:spPr>
          <a:xfrm>
            <a:off x="723900" y="10182225"/>
            <a:ext cx="784860" cy="152400"/>
          </a:xfrm>
          <a:prstGeom prst="rect">
            <a:avLst/>
          </a:prstGeom>
        </p:spPr>
      </p:pic>
      <p:sp>
        <p:nvSpPr>
          <p:cNvPr id="46" name="TextBox 45"/>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882" y="873472"/>
            <a:ext cx="6120110" cy="400050"/>
          </a:xfrm>
          <a:prstGeom prst="rect">
            <a:avLst/>
          </a:prstGeom>
          <a:noFill/>
        </p:spPr>
        <p:txBody>
          <a:bodyPr wrap="square" anchor="t" lIns="0" rIns="0" tIns="0" bIns="0">
            <a:spAutoFit/>
          </a:bodyPr>
          <a:lstStyle/>
          <a:p>
            <a:pPr algn="l">
              <a:lnSpc>
                <a:spcPts val="3399"/>
              </a:lnSpc>
            </a:pPr>
            <a:r>
              <a:rPr sz="3399" b="1">
                <a:solidFill>
                  <a:srgbClr val="000326"/>
                </a:solidFill>
                <a:latin typeface="League Spartan"/>
              </a:rPr>
              <a:t>Accreditatie</a:t>
            </a:r>
          </a:p>
        </p:txBody>
      </p:sp>
      <p:sp>
        <p:nvSpPr>
          <p:cNvPr id="3" name="Rounded Rectangle 2"/>
          <p:cNvSpPr/>
          <p:nvPr/>
        </p:nvSpPr>
        <p:spPr>
          <a:xfrm>
            <a:off x="719882" y="1799630"/>
            <a:ext cx="6120110" cy="3213795"/>
          </a:xfrm>
          <a:prstGeom prst="roundRect">
            <a:avLst>
              <a:gd name="adj" fmla="val 672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 name="Rounded Rectangle 3"/>
          <p:cNvSpPr/>
          <p:nvPr/>
        </p:nvSpPr>
        <p:spPr>
          <a:xfrm>
            <a:off x="1079748" y="2159496"/>
            <a:ext cx="431899" cy="431899"/>
          </a:xfrm>
          <a:prstGeom prst="roundRect">
            <a:avLst>
              <a:gd name="adj" fmla="val 25005"/>
            </a:avLst>
          </a:prstGeom>
          <a:solidFill>
            <a:srgbClr val="141737"/>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5" name="Picture 4" descr="svg-3-0.png"/>
          <p:cNvPicPr>
            <a:picLocks noChangeAspect="1"/>
          </p:cNvPicPr>
          <p:nvPr/>
        </p:nvPicPr>
        <p:blipFill>
          <a:blip r:embed="rId2"/>
          <a:stretch>
            <a:fillRect/>
          </a:stretch>
        </p:blipFill>
        <p:spPr>
          <a:xfrm>
            <a:off x="1187648" y="2267396"/>
            <a:ext cx="215950" cy="215950"/>
          </a:xfrm>
          <a:prstGeom prst="rect">
            <a:avLst/>
          </a:prstGeom>
        </p:spPr>
      </p:pic>
      <p:sp>
        <p:nvSpPr>
          <p:cNvPr id="6" name="TextBox 5"/>
          <p:cNvSpPr txBox="1"/>
          <p:nvPr/>
        </p:nvSpPr>
        <p:spPr>
          <a:xfrm>
            <a:off x="1691580" y="2236440"/>
            <a:ext cx="4868418" cy="276225"/>
          </a:xfrm>
          <a:prstGeom prst="rect">
            <a:avLst/>
          </a:prstGeom>
          <a:noFill/>
        </p:spPr>
        <p:txBody>
          <a:bodyPr wrap="square" anchor="t" lIns="0" rIns="0" tIns="0" bIns="0">
            <a:spAutoFit/>
          </a:bodyPr>
          <a:lstStyle/>
          <a:p>
            <a:pPr algn="l">
              <a:lnSpc>
                <a:spcPts val="2640"/>
              </a:lnSpc>
            </a:pPr>
            <a:r>
              <a:rPr sz="2400" b="1">
                <a:solidFill>
                  <a:srgbClr val="FFFFFF"/>
                </a:solidFill>
                <a:latin typeface="League Spartan"/>
              </a:rPr>
              <a:t>Beoordelaars oordelen consistent</a:t>
            </a:r>
          </a:p>
        </p:txBody>
      </p:sp>
      <p:sp>
        <p:nvSpPr>
          <p:cNvPr id="7" name="TextBox 6"/>
          <p:cNvSpPr txBox="1"/>
          <p:nvPr/>
        </p:nvSpPr>
        <p:spPr>
          <a:xfrm>
            <a:off x="1079748" y="2744837"/>
            <a:ext cx="5400377" cy="171450"/>
          </a:xfrm>
          <a:prstGeom prst="rect">
            <a:avLst/>
          </a:prstGeom>
          <a:noFill/>
        </p:spPr>
        <p:txBody>
          <a:bodyPr wrap="square" anchor="t" lIns="0" rIns="0" tIns="0" bIns="0">
            <a:spAutoFit/>
          </a:bodyPr>
          <a:lstStyle/>
          <a:p>
            <a:pPr algn="l">
              <a:lnSpc>
                <a:spcPts val="1595"/>
              </a:lnSpc>
            </a:pPr>
            <a:r>
              <a:rPr sz="1100" b="0">
                <a:solidFill>
                  <a:srgbClr val="B3B5C6"/>
                </a:solidFill>
                <a:latin typeface="Inter"/>
              </a:rPr>
              <a:t>Zie in één overzicht wie afwijkt van het team.</a:t>
            </a:r>
          </a:p>
        </p:txBody>
      </p:sp>
      <p:sp>
        <p:nvSpPr>
          <p:cNvPr id="8" name="Rounded Rectangle 7"/>
          <p:cNvSpPr/>
          <p:nvPr/>
        </p:nvSpPr>
        <p:spPr>
          <a:xfrm>
            <a:off x="1079748" y="3225850"/>
            <a:ext cx="5400377" cy="1427708"/>
          </a:xfrm>
          <a:prstGeom prst="roundRect">
            <a:avLst>
              <a:gd name="adj" fmla="val 7564"/>
            </a:avLst>
          </a:prstGeom>
          <a:solidFill>
            <a:srgbClr val="0C1040"/>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9" name="TextBox 8"/>
          <p:cNvSpPr txBox="1"/>
          <p:nvPr/>
        </p:nvSpPr>
        <p:spPr>
          <a:xfrm>
            <a:off x="1295698" y="3441799"/>
            <a:ext cx="1373481" cy="142875"/>
          </a:xfrm>
          <a:prstGeom prst="rect">
            <a:avLst/>
          </a:prstGeom>
          <a:noFill/>
        </p:spPr>
        <p:txBody>
          <a:bodyPr wrap="square" anchor="t" lIns="0" rIns="0" tIns="0" bIns="0">
            <a:spAutoFit/>
          </a:bodyPr>
          <a:lstStyle/>
          <a:p>
            <a:pPr algn="l">
              <a:lnSpc>
                <a:spcPts val="1080"/>
              </a:lnSpc>
            </a:pPr>
            <a:r>
              <a:rPr sz="900" b="0">
                <a:solidFill>
                  <a:srgbClr val="B3B5C6"/>
                </a:solidFill>
                <a:latin typeface="Inter"/>
              </a:rPr>
              <a:t>Voorbeeld per docent</a:t>
            </a:r>
          </a:p>
        </p:txBody>
      </p:sp>
      <p:sp>
        <p:nvSpPr>
          <p:cNvPr id="10" name="TextBox 9"/>
          <p:cNvSpPr txBox="1"/>
          <p:nvPr/>
        </p:nvSpPr>
        <p:spPr>
          <a:xfrm>
            <a:off x="5461397" y="3441799"/>
            <a:ext cx="956262" cy="142875"/>
          </a:xfrm>
          <a:prstGeom prst="rect">
            <a:avLst/>
          </a:prstGeom>
          <a:noFill/>
        </p:spPr>
        <p:txBody>
          <a:bodyPr wrap="square" anchor="t" lIns="0" rIns="0" tIns="0" bIns="0">
            <a:spAutoFit/>
          </a:bodyPr>
          <a:lstStyle/>
          <a:p>
            <a:pPr algn="l">
              <a:lnSpc>
                <a:spcPts val="1080"/>
              </a:lnSpc>
            </a:pPr>
            <a:r>
              <a:rPr sz="900" b="0">
                <a:solidFill>
                  <a:srgbClr val="B3B5C6"/>
                </a:solidFill>
                <a:latin typeface="Inter"/>
              </a:rPr>
              <a:t>Gemiddelde 7,1</a:t>
            </a:r>
          </a:p>
        </p:txBody>
      </p:sp>
      <p:sp>
        <p:nvSpPr>
          <p:cNvPr id="11" name="TextBox 10"/>
          <p:cNvSpPr txBox="1"/>
          <p:nvPr/>
        </p:nvSpPr>
        <p:spPr>
          <a:xfrm>
            <a:off x="1295698" y="3728591"/>
            <a:ext cx="677894" cy="152400"/>
          </a:xfrm>
          <a:prstGeom prst="rect">
            <a:avLst/>
          </a:prstGeom>
          <a:noFill/>
        </p:spPr>
        <p:txBody>
          <a:bodyPr wrap="square" anchor="t" lIns="0" rIns="0" tIns="0" bIns="0">
            <a:spAutoFit/>
          </a:bodyPr>
          <a:lstStyle/>
          <a:p>
            <a:pPr algn="l">
              <a:lnSpc>
                <a:spcPts val="1199"/>
              </a:lnSpc>
            </a:pPr>
            <a:r>
              <a:rPr sz="999" b="0">
                <a:solidFill>
                  <a:srgbClr val="B3B5C6"/>
                </a:solidFill>
                <a:latin typeface="Inter"/>
              </a:rPr>
              <a:t>Docent A</a:t>
            </a:r>
          </a:p>
        </p:txBody>
      </p:sp>
      <p:sp>
        <p:nvSpPr>
          <p:cNvPr id="12" name="Rounded Rectangle 11"/>
          <p:cNvSpPr/>
          <p:nvPr/>
        </p:nvSpPr>
        <p:spPr>
          <a:xfrm>
            <a:off x="2015579" y="3765203"/>
            <a:ext cx="3852714" cy="79177"/>
          </a:xfrm>
          <a:prstGeom prst="roundRect">
            <a:avLst>
              <a:gd name="adj" fmla="val 50000"/>
            </a:avLst>
          </a:prstGeom>
          <a:solidFill>
            <a:srgbClr val="1D2152"/>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3" name="Rounded Rectangle 12"/>
          <p:cNvSpPr/>
          <p:nvPr/>
        </p:nvSpPr>
        <p:spPr>
          <a:xfrm>
            <a:off x="2015579" y="3765203"/>
            <a:ext cx="2773859" cy="79177"/>
          </a:xfrm>
          <a:prstGeom prst="roundRect">
            <a:avLst>
              <a:gd name="adj" fmla="val 50000"/>
            </a:avLst>
          </a:prstGeom>
          <a:solidFill>
            <a:srgbClr val="62657E"/>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4" name="TextBox 13"/>
          <p:cNvSpPr txBox="1"/>
          <p:nvPr/>
        </p:nvSpPr>
        <p:spPr>
          <a:xfrm>
            <a:off x="5976193" y="3728591"/>
            <a:ext cx="287982" cy="152400"/>
          </a:xfrm>
          <a:prstGeom prst="rect">
            <a:avLst/>
          </a:prstGeom>
          <a:noFill/>
        </p:spPr>
        <p:txBody>
          <a:bodyPr wrap="square" anchor="t" lIns="0" rIns="0" tIns="0" bIns="0">
            <a:spAutoFit/>
          </a:bodyPr>
          <a:lstStyle/>
          <a:p>
            <a:pPr algn="r">
              <a:lnSpc>
                <a:spcPts val="1199"/>
              </a:lnSpc>
            </a:pPr>
            <a:r>
              <a:rPr sz="999" b="1">
                <a:solidFill>
                  <a:srgbClr val="B3B5C6"/>
                </a:solidFill>
                <a:latin typeface="Inter"/>
              </a:rPr>
              <a:t>7,2</a:t>
            </a:r>
          </a:p>
        </p:txBody>
      </p:sp>
      <p:sp>
        <p:nvSpPr>
          <p:cNvPr id="15" name="TextBox 14"/>
          <p:cNvSpPr txBox="1"/>
          <p:nvPr/>
        </p:nvSpPr>
        <p:spPr>
          <a:xfrm>
            <a:off x="1295698" y="4006900"/>
            <a:ext cx="672727" cy="152400"/>
          </a:xfrm>
          <a:prstGeom prst="rect">
            <a:avLst/>
          </a:prstGeom>
          <a:noFill/>
        </p:spPr>
        <p:txBody>
          <a:bodyPr wrap="square" anchor="t" lIns="0" rIns="0" tIns="0" bIns="0">
            <a:spAutoFit/>
          </a:bodyPr>
          <a:lstStyle/>
          <a:p>
            <a:pPr algn="l">
              <a:lnSpc>
                <a:spcPts val="1199"/>
              </a:lnSpc>
            </a:pPr>
            <a:r>
              <a:rPr sz="999" b="0">
                <a:solidFill>
                  <a:srgbClr val="B3B5C6"/>
                </a:solidFill>
                <a:latin typeface="Inter"/>
              </a:rPr>
              <a:t>Docent B</a:t>
            </a:r>
          </a:p>
        </p:txBody>
      </p:sp>
      <p:sp>
        <p:nvSpPr>
          <p:cNvPr id="16" name="Rounded Rectangle 15"/>
          <p:cNvSpPr/>
          <p:nvPr/>
        </p:nvSpPr>
        <p:spPr>
          <a:xfrm>
            <a:off x="2015579" y="4043511"/>
            <a:ext cx="3852714" cy="79177"/>
          </a:xfrm>
          <a:prstGeom prst="roundRect">
            <a:avLst>
              <a:gd name="adj" fmla="val 50000"/>
            </a:avLst>
          </a:prstGeom>
          <a:solidFill>
            <a:srgbClr val="1D2152"/>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Rounded Rectangle 16"/>
          <p:cNvSpPr/>
          <p:nvPr/>
        </p:nvSpPr>
        <p:spPr>
          <a:xfrm>
            <a:off x="2015579" y="4043511"/>
            <a:ext cx="2696766" cy="79177"/>
          </a:xfrm>
          <a:prstGeom prst="roundRect">
            <a:avLst>
              <a:gd name="adj" fmla="val 50000"/>
            </a:avLst>
          </a:prstGeom>
          <a:solidFill>
            <a:srgbClr val="62657E"/>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8" name="TextBox 17"/>
          <p:cNvSpPr txBox="1"/>
          <p:nvPr/>
        </p:nvSpPr>
        <p:spPr>
          <a:xfrm>
            <a:off x="5976193" y="4006900"/>
            <a:ext cx="287982" cy="152400"/>
          </a:xfrm>
          <a:prstGeom prst="rect">
            <a:avLst/>
          </a:prstGeom>
          <a:noFill/>
        </p:spPr>
        <p:txBody>
          <a:bodyPr wrap="square" anchor="t" lIns="0" rIns="0" tIns="0" bIns="0">
            <a:spAutoFit/>
          </a:bodyPr>
          <a:lstStyle/>
          <a:p>
            <a:pPr algn="r">
              <a:lnSpc>
                <a:spcPts val="1199"/>
              </a:lnSpc>
            </a:pPr>
            <a:r>
              <a:rPr sz="999" b="1">
                <a:solidFill>
                  <a:srgbClr val="B3B5C6"/>
                </a:solidFill>
                <a:latin typeface="Inter"/>
              </a:rPr>
              <a:t>7,0</a:t>
            </a:r>
          </a:p>
        </p:txBody>
      </p:sp>
      <p:sp>
        <p:nvSpPr>
          <p:cNvPr id="19" name="TextBox 18"/>
          <p:cNvSpPr txBox="1"/>
          <p:nvPr/>
        </p:nvSpPr>
        <p:spPr>
          <a:xfrm>
            <a:off x="1295698" y="4285208"/>
            <a:ext cx="691229" cy="152400"/>
          </a:xfrm>
          <a:prstGeom prst="rect">
            <a:avLst/>
          </a:prstGeom>
          <a:noFill/>
        </p:spPr>
        <p:txBody>
          <a:bodyPr wrap="square" anchor="t" lIns="0" rIns="0" tIns="0" bIns="0">
            <a:spAutoFit/>
          </a:bodyPr>
          <a:lstStyle/>
          <a:p>
            <a:pPr algn="l">
              <a:lnSpc>
                <a:spcPts val="1199"/>
              </a:lnSpc>
            </a:pPr>
            <a:r>
              <a:rPr sz="999" b="1">
                <a:solidFill>
                  <a:srgbClr val="FFFFFF"/>
                </a:solidFill>
                <a:latin typeface="Inter"/>
              </a:rPr>
              <a:t>Docent C</a:t>
            </a:r>
          </a:p>
        </p:txBody>
      </p:sp>
      <p:sp>
        <p:nvSpPr>
          <p:cNvPr id="20" name="Rounded Rectangle 19"/>
          <p:cNvSpPr/>
          <p:nvPr/>
        </p:nvSpPr>
        <p:spPr>
          <a:xfrm>
            <a:off x="2015579" y="4321820"/>
            <a:ext cx="3852714" cy="79177"/>
          </a:xfrm>
          <a:prstGeom prst="roundRect">
            <a:avLst>
              <a:gd name="adj" fmla="val 50000"/>
            </a:avLst>
          </a:prstGeom>
          <a:solidFill>
            <a:srgbClr val="1D2152"/>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1" name="Rounded Rectangle 20"/>
          <p:cNvSpPr/>
          <p:nvPr/>
        </p:nvSpPr>
        <p:spPr>
          <a:xfrm>
            <a:off x="2015579" y="4321820"/>
            <a:ext cx="2157412" cy="79177"/>
          </a:xfrm>
          <a:prstGeom prst="roundRect">
            <a:avLst>
              <a:gd name="adj" fmla="val 50000"/>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2" name="TextBox 21"/>
          <p:cNvSpPr txBox="1"/>
          <p:nvPr/>
        </p:nvSpPr>
        <p:spPr>
          <a:xfrm>
            <a:off x="5976193" y="4285208"/>
            <a:ext cx="287982" cy="152400"/>
          </a:xfrm>
          <a:prstGeom prst="rect">
            <a:avLst/>
          </a:prstGeom>
          <a:noFill/>
        </p:spPr>
        <p:txBody>
          <a:bodyPr wrap="square" anchor="t" lIns="0" rIns="0" tIns="0" bIns="0">
            <a:spAutoFit/>
          </a:bodyPr>
          <a:lstStyle/>
          <a:p>
            <a:pPr algn="r">
              <a:lnSpc>
                <a:spcPts val="1199"/>
              </a:lnSpc>
            </a:pPr>
            <a:r>
              <a:rPr sz="999" b="1">
                <a:solidFill>
                  <a:srgbClr val="FFFFFF"/>
                </a:solidFill>
                <a:latin typeface="Inter"/>
              </a:rPr>
              <a:t>5,6</a:t>
            </a:r>
          </a:p>
        </p:txBody>
      </p:sp>
      <p:sp>
        <p:nvSpPr>
          <p:cNvPr id="23" name="Rectangle 22"/>
          <p:cNvSpPr/>
          <p:nvPr/>
        </p:nvSpPr>
        <p:spPr>
          <a:xfrm>
            <a:off x="4750891" y="3674715"/>
            <a:ext cx="17859" cy="816769"/>
          </a:xfrm>
          <a:prstGeom prst="rect">
            <a:avLst/>
          </a:prstGeom>
          <a:solidFill>
            <a:srgbClr val="B3B5C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4" name="Rounded Rectangle 23"/>
          <p:cNvSpPr/>
          <p:nvPr/>
        </p:nvSpPr>
        <p:spPr>
          <a:xfrm>
            <a:off x="719882" y="5301407"/>
            <a:ext cx="6120110" cy="1830735"/>
          </a:xfrm>
          <a:prstGeom prst="roundRect">
            <a:avLst>
              <a:gd name="adj" fmla="val 11798"/>
            </a:avLst>
          </a:prstGeom>
          <a:noFill/>
          <a:ln w="9525">
            <a:solidFill>
              <a:srgbClr val="D0D1DC"/>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5" name="Rounded Rectangle 24"/>
          <p:cNvSpPr/>
          <p:nvPr/>
        </p:nvSpPr>
        <p:spPr>
          <a:xfrm>
            <a:off x="1053405" y="5634930"/>
            <a:ext cx="431899" cy="431899"/>
          </a:xfrm>
          <a:prstGeom prst="roundRect">
            <a:avLst>
              <a:gd name="adj" fmla="val 25005"/>
            </a:avLst>
          </a:prstGeom>
          <a:solidFill>
            <a:srgbClr val="F4F4F7"/>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26" name="Picture 25" descr="svg-3-1.png"/>
          <p:cNvPicPr>
            <a:picLocks noChangeAspect="1"/>
          </p:cNvPicPr>
          <p:nvPr/>
        </p:nvPicPr>
        <p:blipFill>
          <a:blip r:embed="rId3"/>
          <a:stretch>
            <a:fillRect/>
          </a:stretch>
        </p:blipFill>
        <p:spPr>
          <a:xfrm>
            <a:off x="1161306" y="5742831"/>
            <a:ext cx="215950" cy="215950"/>
          </a:xfrm>
          <a:prstGeom prst="rect">
            <a:avLst/>
          </a:prstGeom>
        </p:spPr>
      </p:pic>
      <p:sp>
        <p:nvSpPr>
          <p:cNvPr id="27" name="TextBox 26"/>
          <p:cNvSpPr txBox="1"/>
          <p:nvPr/>
        </p:nvSpPr>
        <p:spPr>
          <a:xfrm>
            <a:off x="1665238" y="5745807"/>
            <a:ext cx="2431613" cy="200025"/>
          </a:xfrm>
          <a:prstGeom prst="rect">
            <a:avLst/>
          </a:prstGeom>
          <a:noFill/>
        </p:spPr>
        <p:txBody>
          <a:bodyPr wrap="square" anchor="t" lIns="0" rIns="0" tIns="0" bIns="0">
            <a:spAutoFit/>
          </a:bodyPr>
          <a:lstStyle/>
          <a:p>
            <a:pPr algn="l">
              <a:lnSpc>
                <a:spcPts val="1955"/>
              </a:lnSpc>
            </a:pPr>
            <a:r>
              <a:rPr sz="1700" b="1">
                <a:solidFill>
                  <a:srgbClr val="000326"/>
                </a:solidFill>
                <a:latin typeface="League Spartan"/>
              </a:rPr>
              <a:t>Elk cijfer is navolgbaar</a:t>
            </a:r>
          </a:p>
        </p:txBody>
      </p:sp>
      <p:sp>
        <p:nvSpPr>
          <p:cNvPr id="28" name="TextBox 27"/>
          <p:cNvSpPr txBox="1"/>
          <p:nvPr/>
        </p:nvSpPr>
        <p:spPr>
          <a:xfrm>
            <a:off x="1053405" y="6184255"/>
            <a:ext cx="5453062" cy="161925"/>
          </a:xfrm>
          <a:prstGeom prst="rect">
            <a:avLst/>
          </a:prstGeom>
          <a:noFill/>
        </p:spPr>
        <p:txBody>
          <a:bodyPr wrap="square" anchor="t" lIns="0" rIns="0" tIns="0" bIns="0">
            <a:spAutoFit/>
          </a:bodyPr>
          <a:lstStyle/>
          <a:p>
            <a:pPr algn="l">
              <a:lnSpc>
                <a:spcPts val="1522"/>
              </a:lnSpc>
            </a:pPr>
            <a:r>
              <a:rPr sz="1050" b="0">
                <a:solidFill>
                  <a:srgbClr val="62657E"/>
                </a:solidFill>
                <a:latin typeface="Inter"/>
              </a:rPr>
              <a:t>Onderbouwing per rubriccriterium.</a:t>
            </a:r>
          </a:p>
        </p:txBody>
      </p:sp>
      <p:sp>
        <p:nvSpPr>
          <p:cNvPr id="29" name="Rounded Rectangle 28"/>
          <p:cNvSpPr/>
          <p:nvPr/>
        </p:nvSpPr>
        <p:spPr>
          <a:xfrm>
            <a:off x="1053405" y="6547991"/>
            <a:ext cx="1212800" cy="250627"/>
          </a:xfrm>
          <a:prstGeom prst="roundRect">
            <a:avLst>
              <a:gd name="adj" fmla="val 50000"/>
            </a:avLst>
          </a:prstGeom>
          <a:solidFill>
            <a:srgbClr val="F4F4F7"/>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0" name="TextBox 29"/>
          <p:cNvSpPr txBox="1"/>
          <p:nvPr/>
        </p:nvSpPr>
        <p:spPr>
          <a:xfrm>
            <a:off x="1197322" y="6601867"/>
            <a:ext cx="1212800" cy="142875"/>
          </a:xfrm>
          <a:prstGeom prst="rect">
            <a:avLst/>
          </a:prstGeom>
          <a:noFill/>
        </p:spPr>
        <p:txBody>
          <a:bodyPr wrap="square" anchor="t" lIns="0" rIns="0" tIns="0" bIns="0">
            <a:spAutoFit/>
          </a:bodyPr>
          <a:lstStyle/>
          <a:p>
            <a:pPr algn="l">
              <a:lnSpc>
                <a:spcPts val="1140"/>
              </a:lnSpc>
            </a:pPr>
            <a:r>
              <a:rPr sz="950" b="1">
                <a:solidFill>
                  <a:srgbClr val="000326"/>
                </a:solidFill>
                <a:latin typeface="Inter"/>
              </a:rPr>
              <a:t>AI Act audit trail</a:t>
            </a:r>
          </a:p>
        </p:txBody>
      </p:sp>
      <p:sp>
        <p:nvSpPr>
          <p:cNvPr id="31" name="Rounded Rectangle 30"/>
          <p:cNvSpPr/>
          <p:nvPr/>
        </p:nvSpPr>
        <p:spPr>
          <a:xfrm>
            <a:off x="719882" y="7348091"/>
            <a:ext cx="6120110" cy="1309092"/>
          </a:xfrm>
          <a:prstGeom prst="roundRect">
            <a:avLst>
              <a:gd name="adj" fmla="val 16500"/>
            </a:avLst>
          </a:prstGeom>
          <a:solidFill>
            <a:srgbClr val="E8E8EE"/>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2" name="Rounded Rectangle 31"/>
          <p:cNvSpPr/>
          <p:nvPr/>
        </p:nvSpPr>
        <p:spPr>
          <a:xfrm>
            <a:off x="1043880" y="7672090"/>
            <a:ext cx="359866" cy="359866"/>
          </a:xfrm>
          <a:prstGeom prst="roundRect">
            <a:avLst>
              <a:gd name="adj" fmla="val 30011"/>
            </a:avLst>
          </a:prstGeom>
          <a:solidFill>
            <a:srgbClr val="FFFFFF"/>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33" name="Picture 32" descr="svg-3-2.png"/>
          <p:cNvPicPr>
            <a:picLocks noChangeAspect="1"/>
          </p:cNvPicPr>
          <p:nvPr/>
        </p:nvPicPr>
        <p:blipFill>
          <a:blip r:embed="rId4"/>
          <a:stretch>
            <a:fillRect/>
          </a:stretch>
        </p:blipFill>
        <p:spPr>
          <a:xfrm>
            <a:off x="1133773" y="7761982"/>
            <a:ext cx="179933" cy="179933"/>
          </a:xfrm>
          <a:prstGeom prst="rect">
            <a:avLst/>
          </a:prstGeom>
        </p:spPr>
      </p:pic>
      <p:sp>
        <p:nvSpPr>
          <p:cNvPr id="34" name="TextBox 33"/>
          <p:cNvSpPr txBox="1"/>
          <p:nvPr/>
        </p:nvSpPr>
        <p:spPr>
          <a:xfrm>
            <a:off x="1583680" y="7764363"/>
            <a:ext cx="3426404" cy="161925"/>
          </a:xfrm>
          <a:prstGeom prst="rect">
            <a:avLst/>
          </a:prstGeom>
          <a:noFill/>
        </p:spPr>
        <p:txBody>
          <a:bodyPr wrap="square" anchor="t" lIns="0" rIns="0" tIns="0" bIns="0">
            <a:spAutoFit/>
          </a:bodyPr>
          <a:lstStyle/>
          <a:p>
            <a:pPr algn="l">
              <a:lnSpc>
                <a:spcPts val="1679"/>
              </a:lnSpc>
            </a:pPr>
            <a:r>
              <a:rPr sz="1400" b="1">
                <a:solidFill>
                  <a:srgbClr val="000326"/>
                </a:solidFill>
                <a:latin typeface="League Spartan"/>
              </a:rPr>
              <a:t>De examencommissie borgt de kwaliteit</a:t>
            </a:r>
          </a:p>
        </p:txBody>
      </p:sp>
      <p:sp>
        <p:nvSpPr>
          <p:cNvPr id="35" name="TextBox 34"/>
          <p:cNvSpPr txBox="1"/>
          <p:nvPr/>
        </p:nvSpPr>
        <p:spPr>
          <a:xfrm>
            <a:off x="1043880" y="8149382"/>
            <a:ext cx="5472112" cy="161925"/>
          </a:xfrm>
          <a:prstGeom prst="rect">
            <a:avLst/>
          </a:prstGeom>
          <a:noFill/>
        </p:spPr>
        <p:txBody>
          <a:bodyPr wrap="square" anchor="t" lIns="0" rIns="0" tIns="0" bIns="0">
            <a:spAutoFit/>
          </a:bodyPr>
          <a:lstStyle/>
          <a:p>
            <a:pPr algn="l">
              <a:lnSpc>
                <a:spcPts val="1522"/>
              </a:lnSpc>
            </a:pPr>
            <a:r>
              <a:rPr sz="1050" b="0">
                <a:solidFill>
                  <a:srgbClr val="62657E"/>
                </a:solidFill>
                <a:latin typeface="Inter"/>
              </a:rPr>
              <a:t>Elke onderbouwing direct in te zien.</a:t>
            </a:r>
          </a:p>
        </p:txBody>
      </p:sp>
      <p:sp>
        <p:nvSpPr>
          <p:cNvPr id="36" name="Rectangle 35"/>
          <p:cNvSpPr/>
          <p:nvPr/>
        </p:nvSpPr>
        <p:spPr>
          <a:xfrm>
            <a:off x="719882" y="9089082"/>
            <a:ext cx="19050" cy="639812"/>
          </a:xfrm>
          <a:prstGeom prst="rect">
            <a:avLst/>
          </a:prstGeom>
          <a:solidFill>
            <a:srgbClr val="D0D1DC"/>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37" name="TextBox 36"/>
          <p:cNvSpPr txBox="1"/>
          <p:nvPr/>
        </p:nvSpPr>
        <p:spPr>
          <a:xfrm>
            <a:off x="918865" y="9108132"/>
            <a:ext cx="5793200" cy="588466"/>
          </a:xfrm>
          <a:prstGeom prst="rect">
            <a:avLst/>
          </a:prstGeom>
          <a:noFill/>
        </p:spPr>
        <p:txBody>
          <a:bodyPr wrap="square" anchor="t" lIns="0" rIns="0" tIns="0" bIns="0">
            <a:spAutoFit/>
          </a:bodyPr>
          <a:lstStyle/>
          <a:p>
            <a:pPr algn="l">
              <a:lnSpc>
                <a:spcPts val="1679"/>
              </a:lnSpc>
            </a:pPr>
            <a:r>
              <a:rPr sz="1050" b="0">
                <a:solidFill>
                  <a:srgbClr val="000326"/>
                </a:solidFill>
                <a:latin typeface="Inter"/>
              </a:rPr>
              <a:t>Consistent beoordelen is een speerpunt van dit project. Daarmee helpt het om de eisen van de accreditatiepartij hierboven steviger te borgen, en dat kan een positieve impact hebben op de pabo, die nu in de accreditatie zit.</a:t>
            </a:r>
          </a:p>
        </p:txBody>
      </p:sp>
      <p:pic>
        <p:nvPicPr>
          <p:cNvPr id="38" name="Picture 37" descr="academica.png"/>
          <p:cNvPicPr>
            <a:picLocks noChangeAspect="1"/>
          </p:cNvPicPr>
          <p:nvPr/>
        </p:nvPicPr>
        <p:blipFill>
          <a:blip r:embed="rId5"/>
          <a:stretch>
            <a:fillRect/>
          </a:stretch>
        </p:blipFill>
        <p:spPr>
          <a:xfrm>
            <a:off x="723900" y="10182225"/>
            <a:ext cx="784860" cy="152400"/>
          </a:xfrm>
          <a:prstGeom prst="rect">
            <a:avLst/>
          </a:prstGeom>
        </p:spPr>
      </p:pic>
      <p:sp>
        <p:nvSpPr>
          <p:cNvPr id="39" name="TextBox 38"/>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882" y="873472"/>
            <a:ext cx="6120110" cy="400050"/>
          </a:xfrm>
          <a:prstGeom prst="rect">
            <a:avLst/>
          </a:prstGeom>
          <a:noFill/>
        </p:spPr>
        <p:txBody>
          <a:bodyPr wrap="square" anchor="t" lIns="0" rIns="0" tIns="0" bIns="0">
            <a:spAutoFit/>
          </a:bodyPr>
          <a:lstStyle/>
          <a:p>
            <a:pPr algn="l">
              <a:lnSpc>
                <a:spcPts val="3399"/>
              </a:lnSpc>
            </a:pPr>
            <a:r>
              <a:rPr sz="3399" b="1">
                <a:solidFill>
                  <a:srgbClr val="000326"/>
                </a:solidFill>
                <a:latin typeface="League Spartan"/>
              </a:rPr>
              <a:t>Koersplan</a:t>
            </a:r>
          </a:p>
        </p:txBody>
      </p:sp>
      <p:sp>
        <p:nvSpPr>
          <p:cNvPr id="3" name="TextBox 2"/>
          <p:cNvSpPr txBox="1"/>
          <p:nvPr/>
        </p:nvSpPr>
        <p:spPr>
          <a:xfrm>
            <a:off x="719882" y="1602730"/>
            <a:ext cx="5580007" cy="682526"/>
          </a:xfrm>
          <a:prstGeom prst="rect">
            <a:avLst/>
          </a:prstGeom>
          <a:noFill/>
        </p:spPr>
        <p:txBody>
          <a:bodyPr wrap="square" anchor="t" lIns="0" rIns="0" tIns="0" bIns="0">
            <a:spAutoFit/>
          </a:bodyPr>
          <a:lstStyle/>
          <a:p>
            <a:pPr algn="l">
              <a:lnSpc>
                <a:spcPts val="1937"/>
              </a:lnSpc>
            </a:pPr>
            <a:r>
              <a:rPr sz="1250" b="0">
                <a:solidFill>
                  <a:srgbClr val="000326"/>
                </a:solidFill>
                <a:latin typeface="Inter"/>
              </a:rPr>
              <a:t>Deze investering sluit naadloos aan op het kopje Efficiëntie uit het koersplan dat Academica voor de komende jaren heeft opgesteld. Binnen dat kopje versterkt het direct drie punten.</a:t>
            </a:r>
          </a:p>
        </p:txBody>
      </p:sp>
      <p:sp>
        <p:nvSpPr>
          <p:cNvPr id="4" name="Rounded Rectangle 3"/>
          <p:cNvSpPr/>
          <p:nvPr/>
        </p:nvSpPr>
        <p:spPr>
          <a:xfrm>
            <a:off x="719882" y="2825651"/>
            <a:ext cx="6120110" cy="4220766"/>
          </a:xfrm>
          <a:prstGeom prst="roundRect">
            <a:avLst>
              <a:gd name="adj" fmla="val 5117"/>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5" name="TextBox 4"/>
          <p:cNvSpPr txBox="1"/>
          <p:nvPr/>
        </p:nvSpPr>
        <p:spPr>
          <a:xfrm>
            <a:off x="1079748" y="3185517"/>
            <a:ext cx="5400377" cy="142875"/>
          </a:xfrm>
          <a:prstGeom prst="rect">
            <a:avLst/>
          </a:prstGeom>
          <a:noFill/>
        </p:spPr>
        <p:txBody>
          <a:bodyPr wrap="square" anchor="t" lIns="0" rIns="0" tIns="0" bIns="0">
            <a:spAutoFit/>
          </a:bodyPr>
          <a:lstStyle/>
          <a:p>
            <a:pPr algn="l">
              <a:lnSpc>
                <a:spcPts val="1140"/>
              </a:lnSpc>
            </a:pPr>
            <a:r>
              <a:rPr sz="950" b="0">
                <a:solidFill>
                  <a:srgbClr val="B3B5C6"/>
                </a:solidFill>
                <a:latin typeface="Inter"/>
              </a:rPr>
              <a:t>Koersplan Academica</a:t>
            </a:r>
          </a:p>
        </p:txBody>
      </p:sp>
      <p:sp>
        <p:nvSpPr>
          <p:cNvPr id="6" name="TextBox 5"/>
          <p:cNvSpPr txBox="1"/>
          <p:nvPr/>
        </p:nvSpPr>
        <p:spPr>
          <a:xfrm>
            <a:off x="1079748" y="3428851"/>
            <a:ext cx="5400377" cy="276225"/>
          </a:xfrm>
          <a:prstGeom prst="rect">
            <a:avLst/>
          </a:prstGeom>
          <a:noFill/>
        </p:spPr>
        <p:txBody>
          <a:bodyPr wrap="square" anchor="t" lIns="0" rIns="0" tIns="0" bIns="0">
            <a:spAutoFit/>
          </a:bodyPr>
          <a:lstStyle/>
          <a:p>
            <a:pPr algn="l">
              <a:lnSpc>
                <a:spcPts val="2640"/>
              </a:lnSpc>
            </a:pPr>
            <a:r>
              <a:rPr sz="2400" b="1">
                <a:solidFill>
                  <a:srgbClr val="FFFFFF"/>
                </a:solidFill>
                <a:latin typeface="League Spartan"/>
              </a:rPr>
              <a:t>Efficiëntie</a:t>
            </a:r>
          </a:p>
        </p:txBody>
      </p:sp>
      <p:sp>
        <p:nvSpPr>
          <p:cNvPr id="7" name="Rounded Rectangle 6"/>
          <p:cNvSpPr/>
          <p:nvPr/>
        </p:nvSpPr>
        <p:spPr>
          <a:xfrm>
            <a:off x="1079748" y="4023420"/>
            <a:ext cx="5400377" cy="791766"/>
          </a:xfrm>
          <a:prstGeom prst="roundRect">
            <a:avLst>
              <a:gd name="adj" fmla="val 15913"/>
            </a:avLst>
          </a:prstGeom>
          <a:solidFill>
            <a:srgbClr val="0C1040"/>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8" name="Rounded Rectangle 7"/>
          <p:cNvSpPr/>
          <p:nvPr/>
        </p:nvSpPr>
        <p:spPr>
          <a:xfrm>
            <a:off x="1259681" y="4203353"/>
            <a:ext cx="431899" cy="431899"/>
          </a:xfrm>
          <a:prstGeom prst="roundRect">
            <a:avLst>
              <a:gd name="adj" fmla="val 25005"/>
            </a:avLst>
          </a:prstGeom>
          <a:solidFill>
            <a:srgbClr val="141737"/>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9" name="Picture 8" descr="svg-4-0.png"/>
          <p:cNvPicPr>
            <a:picLocks noChangeAspect="1"/>
          </p:cNvPicPr>
          <p:nvPr/>
        </p:nvPicPr>
        <p:blipFill>
          <a:blip r:embed="rId2"/>
          <a:stretch>
            <a:fillRect/>
          </a:stretch>
        </p:blipFill>
        <p:spPr>
          <a:xfrm>
            <a:off x="1367582" y="4311253"/>
            <a:ext cx="215950" cy="215950"/>
          </a:xfrm>
          <a:prstGeom prst="rect">
            <a:avLst/>
          </a:prstGeom>
        </p:spPr>
      </p:pic>
      <p:sp>
        <p:nvSpPr>
          <p:cNvPr id="10" name="TextBox 9"/>
          <p:cNvSpPr txBox="1"/>
          <p:nvPr/>
        </p:nvSpPr>
        <p:spPr>
          <a:xfrm>
            <a:off x="1871514" y="4321522"/>
            <a:ext cx="2048899" cy="190500"/>
          </a:xfrm>
          <a:prstGeom prst="rect">
            <a:avLst/>
          </a:prstGeom>
          <a:noFill/>
        </p:spPr>
        <p:txBody>
          <a:bodyPr wrap="square" anchor="t" lIns="0" rIns="0" tIns="0" bIns="0">
            <a:spAutoFit/>
          </a:bodyPr>
          <a:lstStyle/>
          <a:p>
            <a:pPr algn="l">
              <a:lnSpc>
                <a:spcPts val="1839"/>
              </a:lnSpc>
            </a:pPr>
            <a:r>
              <a:rPr sz="1599" b="1">
                <a:solidFill>
                  <a:srgbClr val="FFFFFF"/>
                </a:solidFill>
                <a:latin typeface="League Spartan"/>
              </a:rPr>
              <a:t>Een stevig kernteam</a:t>
            </a:r>
          </a:p>
        </p:txBody>
      </p:sp>
      <p:sp>
        <p:nvSpPr>
          <p:cNvPr id="11" name="Rounded Rectangle 10"/>
          <p:cNvSpPr/>
          <p:nvPr/>
        </p:nvSpPr>
        <p:spPr>
          <a:xfrm>
            <a:off x="1079748" y="4959102"/>
            <a:ext cx="5400377" cy="791766"/>
          </a:xfrm>
          <a:prstGeom prst="roundRect">
            <a:avLst>
              <a:gd name="adj" fmla="val 15913"/>
            </a:avLst>
          </a:prstGeom>
          <a:solidFill>
            <a:srgbClr val="0C1040"/>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2" name="Rounded Rectangle 11"/>
          <p:cNvSpPr/>
          <p:nvPr/>
        </p:nvSpPr>
        <p:spPr>
          <a:xfrm>
            <a:off x="1259681" y="5139035"/>
            <a:ext cx="431899" cy="431899"/>
          </a:xfrm>
          <a:prstGeom prst="roundRect">
            <a:avLst>
              <a:gd name="adj" fmla="val 25005"/>
            </a:avLst>
          </a:prstGeom>
          <a:solidFill>
            <a:srgbClr val="141737"/>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3" name="Picture 12" descr="svg-4-1.png"/>
          <p:cNvPicPr>
            <a:picLocks noChangeAspect="1"/>
          </p:cNvPicPr>
          <p:nvPr/>
        </p:nvPicPr>
        <p:blipFill>
          <a:blip r:embed="rId3"/>
          <a:stretch>
            <a:fillRect/>
          </a:stretch>
        </p:blipFill>
        <p:spPr>
          <a:xfrm>
            <a:off x="1367582" y="5246936"/>
            <a:ext cx="215950" cy="215950"/>
          </a:xfrm>
          <a:prstGeom prst="rect">
            <a:avLst/>
          </a:prstGeom>
        </p:spPr>
      </p:pic>
      <p:sp>
        <p:nvSpPr>
          <p:cNvPr id="14" name="TextBox 13"/>
          <p:cNvSpPr txBox="1"/>
          <p:nvPr/>
        </p:nvSpPr>
        <p:spPr>
          <a:xfrm>
            <a:off x="1871514" y="5257205"/>
            <a:ext cx="1696855" cy="190500"/>
          </a:xfrm>
          <a:prstGeom prst="rect">
            <a:avLst/>
          </a:prstGeom>
          <a:noFill/>
        </p:spPr>
        <p:txBody>
          <a:bodyPr wrap="square" anchor="t" lIns="0" rIns="0" tIns="0" bIns="0">
            <a:spAutoFit/>
          </a:bodyPr>
          <a:lstStyle/>
          <a:p>
            <a:pPr algn="l">
              <a:lnSpc>
                <a:spcPts val="1839"/>
              </a:lnSpc>
            </a:pPr>
            <a:r>
              <a:rPr sz="1599" b="1">
                <a:solidFill>
                  <a:srgbClr val="FFFFFF"/>
                </a:solidFill>
                <a:latin typeface="League Spartan"/>
              </a:rPr>
              <a:t>Betere processen</a:t>
            </a:r>
          </a:p>
        </p:txBody>
      </p:sp>
      <p:sp>
        <p:nvSpPr>
          <p:cNvPr id="15" name="Rounded Rectangle 14"/>
          <p:cNvSpPr/>
          <p:nvPr/>
        </p:nvSpPr>
        <p:spPr>
          <a:xfrm>
            <a:off x="1079748" y="5894784"/>
            <a:ext cx="5400377" cy="791766"/>
          </a:xfrm>
          <a:prstGeom prst="roundRect">
            <a:avLst>
              <a:gd name="adj" fmla="val 15913"/>
            </a:avLst>
          </a:prstGeom>
          <a:solidFill>
            <a:srgbClr val="0C1040"/>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6" name="Rounded Rectangle 15"/>
          <p:cNvSpPr/>
          <p:nvPr/>
        </p:nvSpPr>
        <p:spPr>
          <a:xfrm>
            <a:off x="1259681" y="6074718"/>
            <a:ext cx="431899" cy="431899"/>
          </a:xfrm>
          <a:prstGeom prst="roundRect">
            <a:avLst>
              <a:gd name="adj" fmla="val 25005"/>
            </a:avLst>
          </a:prstGeom>
          <a:solidFill>
            <a:srgbClr val="141737"/>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7" name="Picture 16" descr="svg-4-2.png"/>
          <p:cNvPicPr>
            <a:picLocks noChangeAspect="1"/>
          </p:cNvPicPr>
          <p:nvPr/>
        </p:nvPicPr>
        <p:blipFill>
          <a:blip r:embed="rId4"/>
          <a:stretch>
            <a:fillRect/>
          </a:stretch>
        </p:blipFill>
        <p:spPr>
          <a:xfrm>
            <a:off x="1367582" y="6182618"/>
            <a:ext cx="215950" cy="215950"/>
          </a:xfrm>
          <a:prstGeom prst="rect">
            <a:avLst/>
          </a:prstGeom>
        </p:spPr>
      </p:pic>
      <p:sp>
        <p:nvSpPr>
          <p:cNvPr id="18" name="TextBox 17"/>
          <p:cNvSpPr txBox="1"/>
          <p:nvPr/>
        </p:nvSpPr>
        <p:spPr>
          <a:xfrm>
            <a:off x="1871514" y="6192887"/>
            <a:ext cx="1438823" cy="190500"/>
          </a:xfrm>
          <a:prstGeom prst="rect">
            <a:avLst/>
          </a:prstGeom>
          <a:noFill/>
        </p:spPr>
        <p:txBody>
          <a:bodyPr wrap="square" anchor="t" lIns="0" rIns="0" tIns="0" bIns="0">
            <a:spAutoFit/>
          </a:bodyPr>
          <a:lstStyle/>
          <a:p>
            <a:pPr algn="l">
              <a:lnSpc>
                <a:spcPts val="1839"/>
              </a:lnSpc>
            </a:pPr>
            <a:r>
              <a:rPr sz="1599" b="1">
                <a:solidFill>
                  <a:srgbClr val="FFFFFF"/>
                </a:solidFill>
                <a:latin typeface="League Spartan"/>
              </a:rPr>
              <a:t>Datagedreven</a:t>
            </a:r>
          </a:p>
        </p:txBody>
      </p:sp>
      <p:pic>
        <p:nvPicPr>
          <p:cNvPr id="19" name="Picture 18" descr="academica.png"/>
          <p:cNvPicPr>
            <a:picLocks noChangeAspect="1"/>
          </p:cNvPicPr>
          <p:nvPr/>
        </p:nvPicPr>
        <p:blipFill>
          <a:blip r:embed="rId5"/>
          <a:stretch>
            <a:fillRect/>
          </a:stretch>
        </p:blipFill>
        <p:spPr>
          <a:xfrm>
            <a:off x="723900" y="10182225"/>
            <a:ext cx="784860" cy="152400"/>
          </a:xfrm>
          <a:prstGeom prst="rect">
            <a:avLst/>
          </a:prstGeom>
        </p:spPr>
      </p:pic>
      <p:sp>
        <p:nvSpPr>
          <p:cNvPr id="20" name="TextBox 19"/>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19882" y="882997"/>
            <a:ext cx="6120110" cy="352425"/>
          </a:xfrm>
          <a:prstGeom prst="rect">
            <a:avLst/>
          </a:prstGeom>
          <a:noFill/>
        </p:spPr>
        <p:txBody>
          <a:bodyPr wrap="square" anchor="t" lIns="0" rIns="0" tIns="0" bIns="0">
            <a:spAutoFit/>
          </a:bodyPr>
          <a:lstStyle/>
          <a:p>
            <a:pPr algn="l">
              <a:lnSpc>
                <a:spcPts val="3150"/>
              </a:lnSpc>
            </a:pPr>
            <a:r>
              <a:rPr sz="3000" b="1">
                <a:solidFill>
                  <a:srgbClr val="000326"/>
                </a:solidFill>
                <a:latin typeface="League Spartan"/>
              </a:rPr>
              <a:t>Privacy</a:t>
            </a:r>
          </a:p>
        </p:txBody>
      </p:sp>
      <p:sp>
        <p:nvSpPr>
          <p:cNvPr id="3" name="Rounded Rectangle 2"/>
          <p:cNvSpPr/>
          <p:nvPr/>
        </p:nvSpPr>
        <p:spPr>
          <a:xfrm>
            <a:off x="719882" y="1695896"/>
            <a:ext cx="6120110" cy="1332905"/>
          </a:xfrm>
          <a:prstGeom prst="roundRect">
            <a:avLst>
              <a:gd name="adj" fmla="val 16205"/>
            </a:avLst>
          </a:prstGeom>
          <a:solidFill>
            <a:srgbClr val="E3E6F4"/>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4" name="Rounded Rectangle 3"/>
          <p:cNvSpPr/>
          <p:nvPr/>
        </p:nvSpPr>
        <p:spPr>
          <a:xfrm>
            <a:off x="1079748" y="2074366"/>
            <a:ext cx="575965" cy="575965"/>
          </a:xfrm>
          <a:prstGeom prst="roundRect">
            <a:avLst>
              <a:gd name="adj" fmla="val 25001"/>
            </a:avLst>
          </a:prstGeom>
          <a:solidFill>
            <a:srgbClr val="000326"/>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5" name="Picture 4" descr="svg-5-0.png"/>
          <p:cNvPicPr>
            <a:picLocks noChangeAspect="1"/>
          </p:cNvPicPr>
          <p:nvPr/>
        </p:nvPicPr>
        <p:blipFill>
          <a:blip r:embed="rId2"/>
          <a:stretch>
            <a:fillRect/>
          </a:stretch>
        </p:blipFill>
        <p:spPr>
          <a:xfrm>
            <a:off x="1223665" y="2218283"/>
            <a:ext cx="287982" cy="287982"/>
          </a:xfrm>
          <a:prstGeom prst="rect">
            <a:avLst/>
          </a:prstGeom>
        </p:spPr>
      </p:pic>
      <p:sp>
        <p:nvSpPr>
          <p:cNvPr id="6" name="TextBox 5"/>
          <p:cNvSpPr txBox="1"/>
          <p:nvPr/>
        </p:nvSpPr>
        <p:spPr>
          <a:xfrm>
            <a:off x="1907679" y="2084338"/>
            <a:ext cx="4715732" cy="554236"/>
          </a:xfrm>
          <a:prstGeom prst="rect">
            <a:avLst/>
          </a:prstGeom>
          <a:noFill/>
        </p:spPr>
        <p:txBody>
          <a:bodyPr wrap="square" anchor="t" lIns="0" rIns="0" tIns="0" bIns="0">
            <a:spAutoFit/>
          </a:bodyPr>
          <a:lstStyle/>
          <a:p>
            <a:pPr algn="l">
              <a:lnSpc>
                <a:spcPts val="2415"/>
              </a:lnSpc>
            </a:pPr>
            <a:r>
              <a:rPr sz="2100" b="1">
                <a:solidFill>
                  <a:srgbClr val="000326"/>
                </a:solidFill>
                <a:latin typeface="League Spartan"/>
              </a:rPr>
              <a:t>Academica blijft eigenaar van al het studentenwerk en alle data.</a:t>
            </a:r>
          </a:p>
        </p:txBody>
      </p:sp>
      <p:sp>
        <p:nvSpPr>
          <p:cNvPr id="7" name="Rounded Rectangle 6"/>
          <p:cNvSpPr/>
          <p:nvPr/>
        </p:nvSpPr>
        <p:spPr>
          <a:xfrm>
            <a:off x="719882" y="3244751"/>
            <a:ext cx="6120110" cy="2119908"/>
          </a:xfrm>
          <a:prstGeom prst="roundRect">
            <a:avLst>
              <a:gd name="adj" fmla="val 10189"/>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8" name="Rounded Rectangle 7"/>
          <p:cNvSpPr/>
          <p:nvPr/>
        </p:nvSpPr>
        <p:spPr>
          <a:xfrm>
            <a:off x="1053405" y="3542258"/>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9" name="Picture 8" descr="svg-5-1.png"/>
          <p:cNvPicPr>
            <a:picLocks noChangeAspect="1"/>
          </p:cNvPicPr>
          <p:nvPr/>
        </p:nvPicPr>
        <p:blipFill>
          <a:blip r:embed="rId3"/>
          <a:stretch>
            <a:fillRect/>
          </a:stretch>
        </p:blipFill>
        <p:spPr>
          <a:xfrm>
            <a:off x="1143298" y="3632150"/>
            <a:ext cx="179933" cy="179933"/>
          </a:xfrm>
          <a:prstGeom prst="rect">
            <a:avLst/>
          </a:prstGeom>
        </p:spPr>
      </p:pic>
      <p:sp>
        <p:nvSpPr>
          <p:cNvPr id="10" name="TextBox 9"/>
          <p:cNvSpPr txBox="1"/>
          <p:nvPr/>
        </p:nvSpPr>
        <p:spPr>
          <a:xfrm>
            <a:off x="1557189" y="3634532"/>
            <a:ext cx="1825204" cy="161925"/>
          </a:xfrm>
          <a:prstGeom prst="rect">
            <a:avLst/>
          </a:prstGeom>
          <a:noFill/>
        </p:spPr>
        <p:txBody>
          <a:bodyPr wrap="square" anchor="t" lIns="0" rIns="0" tIns="0" bIns="0">
            <a:spAutoFit/>
          </a:bodyPr>
          <a:lstStyle/>
          <a:p>
            <a:pPr algn="l">
              <a:lnSpc>
                <a:spcPts val="1679"/>
              </a:lnSpc>
            </a:pPr>
            <a:r>
              <a:rPr sz="1400" b="1">
                <a:solidFill>
                  <a:srgbClr val="000326"/>
                </a:solidFill>
                <a:latin typeface="League Spartan"/>
              </a:rPr>
              <a:t>Gebruik van de data</a:t>
            </a:r>
          </a:p>
        </p:txBody>
      </p:sp>
      <p:pic>
        <p:nvPicPr>
          <p:cNvPr id="11" name="Picture 10" descr="svg-5-2.png"/>
          <p:cNvPicPr>
            <a:picLocks noChangeAspect="1"/>
          </p:cNvPicPr>
          <p:nvPr/>
        </p:nvPicPr>
        <p:blipFill>
          <a:blip r:embed="rId4"/>
          <a:stretch>
            <a:fillRect/>
          </a:stretch>
        </p:blipFill>
        <p:spPr>
          <a:xfrm>
            <a:off x="1053405" y="4164657"/>
            <a:ext cx="179933" cy="179933"/>
          </a:xfrm>
          <a:prstGeom prst="rect">
            <a:avLst/>
          </a:prstGeom>
        </p:spPr>
      </p:pic>
      <p:sp>
        <p:nvSpPr>
          <p:cNvPr id="12" name="TextBox 11"/>
          <p:cNvSpPr txBox="1"/>
          <p:nvPr/>
        </p:nvSpPr>
        <p:spPr>
          <a:xfrm>
            <a:off x="1359247" y="4163467"/>
            <a:ext cx="4505206" cy="161925"/>
          </a:xfrm>
          <a:prstGeom prst="rect">
            <a:avLst/>
          </a:prstGeom>
          <a:noFill/>
        </p:spPr>
        <p:txBody>
          <a:bodyPr wrap="square" anchor="t" lIns="0" rIns="0" tIns="0" bIns="0">
            <a:spAutoFit/>
          </a:bodyPr>
          <a:lstStyle/>
          <a:p>
            <a:pPr algn="l">
              <a:lnSpc>
                <a:spcPts val="1522"/>
              </a:lnSpc>
            </a:pPr>
            <a:r>
              <a:rPr sz="1050" b="0">
                <a:solidFill>
                  <a:srgbClr val="000326"/>
                </a:solidFill>
                <a:latin typeface="Inter"/>
              </a:rPr>
              <a:t>Studentenwerk wordt nooit gebruikt om AI-modellen te trainen.</a:t>
            </a:r>
          </a:p>
        </p:txBody>
      </p:sp>
      <p:sp>
        <p:nvSpPr>
          <p:cNvPr id="13" name="Rectangle 12"/>
          <p:cNvSpPr/>
          <p:nvPr/>
        </p:nvSpPr>
        <p:spPr>
          <a:xfrm>
            <a:off x="1053405" y="4455170"/>
            <a:ext cx="5453062" cy="9525"/>
          </a:xfrm>
          <a:prstGeom prst="rect">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4" name="Picture 13" descr="svg-5-3.png"/>
          <p:cNvPicPr>
            <a:picLocks noChangeAspect="1"/>
          </p:cNvPicPr>
          <p:nvPr/>
        </p:nvPicPr>
        <p:blipFill>
          <a:blip r:embed="rId5"/>
          <a:stretch>
            <a:fillRect/>
          </a:stretch>
        </p:blipFill>
        <p:spPr>
          <a:xfrm>
            <a:off x="1053405" y="4583311"/>
            <a:ext cx="179933" cy="179933"/>
          </a:xfrm>
          <a:prstGeom prst="rect">
            <a:avLst/>
          </a:prstGeom>
        </p:spPr>
      </p:pic>
      <p:sp>
        <p:nvSpPr>
          <p:cNvPr id="15" name="TextBox 14"/>
          <p:cNvSpPr txBox="1"/>
          <p:nvPr/>
        </p:nvSpPr>
        <p:spPr>
          <a:xfrm>
            <a:off x="1359247" y="4582120"/>
            <a:ext cx="5147221" cy="355253"/>
          </a:xfrm>
          <a:prstGeom prst="rect">
            <a:avLst/>
          </a:prstGeom>
          <a:noFill/>
        </p:spPr>
        <p:txBody>
          <a:bodyPr wrap="square" anchor="t" lIns="0" rIns="0" tIns="0" bIns="0">
            <a:spAutoFit/>
          </a:bodyPr>
          <a:lstStyle/>
          <a:p>
            <a:pPr algn="l">
              <a:lnSpc>
                <a:spcPts val="1522"/>
              </a:lnSpc>
            </a:pPr>
            <a:r>
              <a:rPr sz="1050" b="0">
                <a:solidFill>
                  <a:srgbClr val="000326"/>
                </a:solidFill>
                <a:latin typeface="Inter"/>
              </a:rPr>
              <a:t>Verwerking alleen voor het afgesproken onderwijsdoel, in opdracht van Academica.</a:t>
            </a:r>
          </a:p>
        </p:txBody>
      </p:sp>
      <p:sp>
        <p:nvSpPr>
          <p:cNvPr id="16" name="Rounded Rectangle 15"/>
          <p:cNvSpPr/>
          <p:nvPr/>
        </p:nvSpPr>
        <p:spPr>
          <a:xfrm>
            <a:off x="719882" y="5580608"/>
            <a:ext cx="6120110" cy="1926580"/>
          </a:xfrm>
          <a:prstGeom prst="roundRect">
            <a:avLst>
              <a:gd name="adj" fmla="val 11211"/>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17" name="Rounded Rectangle 16"/>
          <p:cNvSpPr/>
          <p:nvPr/>
        </p:nvSpPr>
        <p:spPr>
          <a:xfrm>
            <a:off x="1053405" y="5878116"/>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18" name="Picture 17" descr="svg-5-4.png"/>
          <p:cNvPicPr>
            <a:picLocks noChangeAspect="1"/>
          </p:cNvPicPr>
          <p:nvPr/>
        </p:nvPicPr>
        <p:blipFill>
          <a:blip r:embed="rId6"/>
          <a:stretch>
            <a:fillRect/>
          </a:stretch>
        </p:blipFill>
        <p:spPr>
          <a:xfrm>
            <a:off x="1143298" y="5968008"/>
            <a:ext cx="179933" cy="179933"/>
          </a:xfrm>
          <a:prstGeom prst="rect">
            <a:avLst/>
          </a:prstGeom>
        </p:spPr>
      </p:pic>
      <p:sp>
        <p:nvSpPr>
          <p:cNvPr id="19" name="TextBox 18"/>
          <p:cNvSpPr txBox="1"/>
          <p:nvPr/>
        </p:nvSpPr>
        <p:spPr>
          <a:xfrm>
            <a:off x="1557189" y="5970389"/>
            <a:ext cx="1731026" cy="161925"/>
          </a:xfrm>
          <a:prstGeom prst="rect">
            <a:avLst/>
          </a:prstGeom>
          <a:noFill/>
        </p:spPr>
        <p:txBody>
          <a:bodyPr wrap="square" anchor="t" lIns="0" rIns="0" tIns="0" bIns="0">
            <a:spAutoFit/>
          </a:bodyPr>
          <a:lstStyle/>
          <a:p>
            <a:pPr algn="l">
              <a:lnSpc>
                <a:spcPts val="1679"/>
              </a:lnSpc>
            </a:pPr>
            <a:r>
              <a:rPr sz="1400" b="1">
                <a:solidFill>
                  <a:srgbClr val="000326"/>
                </a:solidFill>
                <a:latin typeface="League Spartan"/>
              </a:rPr>
              <a:t>Waar de data staat</a:t>
            </a:r>
          </a:p>
        </p:txBody>
      </p:sp>
      <p:pic>
        <p:nvPicPr>
          <p:cNvPr id="20" name="Picture 19" descr="svg-5-3.png"/>
          <p:cNvPicPr>
            <a:picLocks noChangeAspect="1"/>
          </p:cNvPicPr>
          <p:nvPr/>
        </p:nvPicPr>
        <p:blipFill>
          <a:blip r:embed="rId5"/>
          <a:stretch>
            <a:fillRect/>
          </a:stretch>
        </p:blipFill>
        <p:spPr>
          <a:xfrm>
            <a:off x="1053405" y="6500515"/>
            <a:ext cx="179933" cy="179933"/>
          </a:xfrm>
          <a:prstGeom prst="rect">
            <a:avLst/>
          </a:prstGeom>
        </p:spPr>
      </p:pic>
      <p:sp>
        <p:nvSpPr>
          <p:cNvPr id="21" name="TextBox 20"/>
          <p:cNvSpPr txBox="1"/>
          <p:nvPr/>
        </p:nvSpPr>
        <p:spPr>
          <a:xfrm>
            <a:off x="1359247" y="6499324"/>
            <a:ext cx="4154495" cy="161925"/>
          </a:xfrm>
          <a:prstGeom prst="rect">
            <a:avLst/>
          </a:prstGeom>
          <a:noFill/>
        </p:spPr>
        <p:txBody>
          <a:bodyPr wrap="square" anchor="t" lIns="0" rIns="0" tIns="0" bIns="0">
            <a:spAutoFit/>
          </a:bodyPr>
          <a:lstStyle/>
          <a:p>
            <a:pPr algn="l">
              <a:lnSpc>
                <a:spcPts val="1522"/>
              </a:lnSpc>
            </a:pPr>
            <a:r>
              <a:rPr sz="1050" b="0">
                <a:solidFill>
                  <a:srgbClr val="000326"/>
                </a:solidFill>
                <a:latin typeface="Inter"/>
              </a:rPr>
              <a:t>Data alleen in de EU, ook bij Microsoft, Google en Railway.</a:t>
            </a:r>
          </a:p>
        </p:txBody>
      </p:sp>
      <p:sp>
        <p:nvSpPr>
          <p:cNvPr id="22" name="Rectangle 21"/>
          <p:cNvSpPr/>
          <p:nvPr/>
        </p:nvSpPr>
        <p:spPr>
          <a:xfrm>
            <a:off x="1053405" y="6791027"/>
            <a:ext cx="5453062" cy="9525"/>
          </a:xfrm>
          <a:prstGeom prst="rect">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23" name="Picture 22" descr="svg-5-3.png"/>
          <p:cNvPicPr>
            <a:picLocks noChangeAspect="1"/>
          </p:cNvPicPr>
          <p:nvPr/>
        </p:nvPicPr>
        <p:blipFill>
          <a:blip r:embed="rId5"/>
          <a:stretch>
            <a:fillRect/>
          </a:stretch>
        </p:blipFill>
        <p:spPr>
          <a:xfrm>
            <a:off x="1053405" y="6919168"/>
            <a:ext cx="179933" cy="179933"/>
          </a:xfrm>
          <a:prstGeom prst="rect">
            <a:avLst/>
          </a:prstGeom>
        </p:spPr>
      </p:pic>
      <p:sp>
        <p:nvSpPr>
          <p:cNvPr id="24" name="TextBox 23"/>
          <p:cNvSpPr txBox="1"/>
          <p:nvPr/>
        </p:nvSpPr>
        <p:spPr>
          <a:xfrm>
            <a:off x="1359247" y="6917978"/>
            <a:ext cx="3935135" cy="161925"/>
          </a:xfrm>
          <a:prstGeom prst="rect">
            <a:avLst/>
          </a:prstGeom>
          <a:noFill/>
        </p:spPr>
        <p:txBody>
          <a:bodyPr wrap="square" anchor="t" lIns="0" rIns="0" tIns="0" bIns="0">
            <a:spAutoFit/>
          </a:bodyPr>
          <a:lstStyle/>
          <a:p>
            <a:pPr algn="l">
              <a:lnSpc>
                <a:spcPts val="1522"/>
              </a:lnSpc>
            </a:pPr>
            <a:r>
              <a:rPr sz="1050" b="0">
                <a:solidFill>
                  <a:srgbClr val="000326"/>
                </a:solidFill>
                <a:latin typeface="Inter"/>
              </a:rPr>
              <a:t>Eigen model, geen koppeling met een extern AI-model.</a:t>
            </a:r>
          </a:p>
        </p:txBody>
      </p:sp>
      <p:sp>
        <p:nvSpPr>
          <p:cNvPr id="25" name="Rounded Rectangle 24"/>
          <p:cNvSpPr/>
          <p:nvPr/>
        </p:nvSpPr>
        <p:spPr>
          <a:xfrm>
            <a:off x="719882" y="7723138"/>
            <a:ext cx="6120110" cy="2345234"/>
          </a:xfrm>
          <a:prstGeom prst="roundRect">
            <a:avLst>
              <a:gd name="adj" fmla="val 9210"/>
            </a:avLst>
          </a:prstGeom>
          <a:noFill/>
          <a:ln w="9525">
            <a:solidFill>
              <a:srgbClr val="D6D9EA"/>
            </a:solidFill>
          </a:ln>
        </p:spPr>
        <p:style>
          <a:lnRef idx="1">
            <a:schemeClr val="accent1"/>
          </a:lnRef>
          <a:fillRef idx="3">
            <a:schemeClr val="accent1"/>
          </a:fillRef>
          <a:effectRef idx="0">
            <a:schemeClr val="accent1"/>
          </a:effectRef>
          <a:fontRef idx="minor">
            <a:schemeClr val="lt1"/>
          </a:fontRef>
        </p:style>
        <p:txBody>
          <a:bodyPr rtlCol="0" anchor="ctr"/>
          <a:lstStyle/>
          <a:p/>
        </p:txBody>
      </p:sp>
      <p:sp>
        <p:nvSpPr>
          <p:cNvPr id="26" name="Rounded Rectangle 25"/>
          <p:cNvSpPr/>
          <p:nvPr/>
        </p:nvSpPr>
        <p:spPr>
          <a:xfrm>
            <a:off x="1053405" y="8020645"/>
            <a:ext cx="359866" cy="359866"/>
          </a:xfrm>
          <a:prstGeom prst="roundRect">
            <a:avLst>
              <a:gd name="adj" fmla="val 30011"/>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27" name="Picture 26" descr="svg-5-7.png"/>
          <p:cNvPicPr>
            <a:picLocks noChangeAspect="1"/>
          </p:cNvPicPr>
          <p:nvPr/>
        </p:nvPicPr>
        <p:blipFill>
          <a:blip r:embed="rId7"/>
          <a:stretch>
            <a:fillRect/>
          </a:stretch>
        </p:blipFill>
        <p:spPr>
          <a:xfrm>
            <a:off x="1143298" y="8110538"/>
            <a:ext cx="179933" cy="179933"/>
          </a:xfrm>
          <a:prstGeom prst="rect">
            <a:avLst/>
          </a:prstGeom>
        </p:spPr>
      </p:pic>
      <p:sp>
        <p:nvSpPr>
          <p:cNvPr id="28" name="TextBox 27"/>
          <p:cNvSpPr txBox="1"/>
          <p:nvPr/>
        </p:nvSpPr>
        <p:spPr>
          <a:xfrm>
            <a:off x="1557189" y="8112919"/>
            <a:ext cx="1134118" cy="161925"/>
          </a:xfrm>
          <a:prstGeom prst="rect">
            <a:avLst/>
          </a:prstGeom>
          <a:noFill/>
        </p:spPr>
        <p:txBody>
          <a:bodyPr wrap="square" anchor="t" lIns="0" rIns="0" tIns="0" bIns="0">
            <a:spAutoFit/>
          </a:bodyPr>
          <a:lstStyle/>
          <a:p>
            <a:pPr algn="l">
              <a:lnSpc>
                <a:spcPts val="1679"/>
              </a:lnSpc>
            </a:pPr>
            <a:r>
              <a:rPr sz="1400" b="1">
                <a:solidFill>
                  <a:srgbClr val="000326"/>
                </a:solidFill>
                <a:latin typeface="League Spartan"/>
              </a:rPr>
              <a:t>Wet en regie</a:t>
            </a:r>
          </a:p>
        </p:txBody>
      </p:sp>
      <p:pic>
        <p:nvPicPr>
          <p:cNvPr id="29" name="Picture 28" descr="svg-5-3.png"/>
          <p:cNvPicPr>
            <a:picLocks noChangeAspect="1"/>
          </p:cNvPicPr>
          <p:nvPr/>
        </p:nvPicPr>
        <p:blipFill>
          <a:blip r:embed="rId5"/>
          <a:stretch>
            <a:fillRect/>
          </a:stretch>
        </p:blipFill>
        <p:spPr>
          <a:xfrm>
            <a:off x="1053405" y="8643045"/>
            <a:ext cx="179933" cy="179933"/>
          </a:xfrm>
          <a:prstGeom prst="rect">
            <a:avLst/>
          </a:prstGeom>
        </p:spPr>
      </p:pic>
      <p:sp>
        <p:nvSpPr>
          <p:cNvPr id="30" name="TextBox 29"/>
          <p:cNvSpPr txBox="1"/>
          <p:nvPr/>
        </p:nvSpPr>
        <p:spPr>
          <a:xfrm>
            <a:off x="1359247" y="8641854"/>
            <a:ext cx="4773406" cy="161925"/>
          </a:xfrm>
          <a:prstGeom prst="rect">
            <a:avLst/>
          </a:prstGeom>
          <a:noFill/>
        </p:spPr>
        <p:txBody>
          <a:bodyPr wrap="square" anchor="t" lIns="0" rIns="0" tIns="0" bIns="0">
            <a:spAutoFit/>
          </a:bodyPr>
          <a:lstStyle/>
          <a:p>
            <a:pPr algn="l">
              <a:lnSpc>
                <a:spcPts val="1522"/>
              </a:lnSpc>
            </a:pPr>
            <a:r>
              <a:rPr sz="1050" b="0">
                <a:solidFill>
                  <a:srgbClr val="000326"/>
                </a:solidFill>
                <a:latin typeface="Inter"/>
              </a:rPr>
              <a:t>AVG: verwerkersovereenkomst, een datalek binnen 48 uur gemeld.</a:t>
            </a:r>
          </a:p>
        </p:txBody>
      </p:sp>
      <p:sp>
        <p:nvSpPr>
          <p:cNvPr id="31" name="Rectangle 30"/>
          <p:cNvSpPr/>
          <p:nvPr/>
        </p:nvSpPr>
        <p:spPr>
          <a:xfrm>
            <a:off x="1053405" y="8933557"/>
            <a:ext cx="5453062" cy="9525"/>
          </a:xfrm>
          <a:prstGeom prst="rect">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32" name="Picture 31" descr="svg-5-3.png"/>
          <p:cNvPicPr>
            <a:picLocks noChangeAspect="1"/>
          </p:cNvPicPr>
          <p:nvPr/>
        </p:nvPicPr>
        <p:blipFill>
          <a:blip r:embed="rId5"/>
          <a:stretch>
            <a:fillRect/>
          </a:stretch>
        </p:blipFill>
        <p:spPr>
          <a:xfrm>
            <a:off x="1053405" y="9061698"/>
            <a:ext cx="179933" cy="179933"/>
          </a:xfrm>
          <a:prstGeom prst="rect">
            <a:avLst/>
          </a:prstGeom>
        </p:spPr>
      </p:pic>
      <p:sp>
        <p:nvSpPr>
          <p:cNvPr id="33" name="TextBox 32"/>
          <p:cNvSpPr txBox="1"/>
          <p:nvPr/>
        </p:nvSpPr>
        <p:spPr>
          <a:xfrm>
            <a:off x="1359247" y="9060507"/>
            <a:ext cx="3724942" cy="161925"/>
          </a:xfrm>
          <a:prstGeom prst="rect">
            <a:avLst/>
          </a:prstGeom>
          <a:noFill/>
        </p:spPr>
        <p:txBody>
          <a:bodyPr wrap="square" anchor="t" lIns="0" rIns="0" tIns="0" bIns="0">
            <a:spAutoFit/>
          </a:bodyPr>
          <a:lstStyle/>
          <a:p>
            <a:pPr algn="l">
              <a:lnSpc>
                <a:spcPts val="1522"/>
              </a:lnSpc>
            </a:pPr>
            <a:r>
              <a:rPr sz="1050" b="0">
                <a:solidFill>
                  <a:srgbClr val="000326"/>
                </a:solidFill>
                <a:latin typeface="Inter"/>
              </a:rPr>
              <a:t>AI Act: audit trail voor elke summatieve beoordeling.</a:t>
            </a:r>
          </a:p>
        </p:txBody>
      </p:sp>
      <p:sp>
        <p:nvSpPr>
          <p:cNvPr id="34" name="Rectangle 33"/>
          <p:cNvSpPr/>
          <p:nvPr/>
        </p:nvSpPr>
        <p:spPr>
          <a:xfrm>
            <a:off x="1053405" y="9352211"/>
            <a:ext cx="5453062" cy="9525"/>
          </a:xfrm>
          <a:prstGeom prst="rect">
            <a:avLst/>
          </a:prstGeom>
          <a:solidFill>
            <a:srgbClr val="F1F2F9"/>
          </a:solidFill>
          <a:ln>
            <a:noFill/>
          </a:ln>
        </p:spPr>
        <p:style>
          <a:lnRef idx="1">
            <a:schemeClr val="accent1"/>
          </a:lnRef>
          <a:fillRef idx="3">
            <a:schemeClr val="accent1"/>
          </a:fillRef>
          <a:effectRef idx="0">
            <a:schemeClr val="accent1"/>
          </a:effectRef>
          <a:fontRef idx="minor">
            <a:schemeClr val="lt1"/>
          </a:fontRef>
        </p:style>
        <p:txBody>
          <a:bodyPr rtlCol="0" anchor="ctr"/>
          <a:lstStyle/>
          <a:p/>
        </p:txBody>
      </p:sp>
      <p:pic>
        <p:nvPicPr>
          <p:cNvPr id="35" name="Picture 34" descr="svg-5-3.png"/>
          <p:cNvPicPr>
            <a:picLocks noChangeAspect="1"/>
          </p:cNvPicPr>
          <p:nvPr/>
        </p:nvPicPr>
        <p:blipFill>
          <a:blip r:embed="rId5"/>
          <a:stretch>
            <a:fillRect/>
          </a:stretch>
        </p:blipFill>
        <p:spPr>
          <a:xfrm>
            <a:off x="1053405" y="9480352"/>
            <a:ext cx="179933" cy="179933"/>
          </a:xfrm>
          <a:prstGeom prst="rect">
            <a:avLst/>
          </a:prstGeom>
        </p:spPr>
      </p:pic>
      <p:sp>
        <p:nvSpPr>
          <p:cNvPr id="36" name="TextBox 35"/>
          <p:cNvSpPr txBox="1"/>
          <p:nvPr/>
        </p:nvSpPr>
        <p:spPr>
          <a:xfrm>
            <a:off x="1359247" y="9479161"/>
            <a:ext cx="2503289" cy="161925"/>
          </a:xfrm>
          <a:prstGeom prst="rect">
            <a:avLst/>
          </a:prstGeom>
          <a:noFill/>
        </p:spPr>
        <p:txBody>
          <a:bodyPr wrap="square" anchor="t" lIns="0" rIns="0" tIns="0" bIns="0">
            <a:spAutoFit/>
          </a:bodyPr>
          <a:lstStyle/>
          <a:p>
            <a:pPr algn="l">
              <a:lnSpc>
                <a:spcPts val="1522"/>
              </a:lnSpc>
            </a:pPr>
            <a:r>
              <a:rPr sz="1050" b="0">
                <a:solidFill>
                  <a:srgbClr val="000326"/>
                </a:solidFill>
                <a:latin typeface="Inter"/>
              </a:rPr>
              <a:t>De docent beslist, de AI assisteert.</a:t>
            </a:r>
          </a:p>
        </p:txBody>
      </p:sp>
      <p:pic>
        <p:nvPicPr>
          <p:cNvPr id="37" name="Picture 36" descr="academica.png"/>
          <p:cNvPicPr>
            <a:picLocks noChangeAspect="1"/>
          </p:cNvPicPr>
          <p:nvPr/>
        </p:nvPicPr>
        <p:blipFill>
          <a:blip r:embed="rId8"/>
          <a:stretch>
            <a:fillRect/>
          </a:stretch>
        </p:blipFill>
        <p:spPr>
          <a:xfrm>
            <a:off x="723900" y="10182225"/>
            <a:ext cx="784860" cy="152400"/>
          </a:xfrm>
          <a:prstGeom prst="rect">
            <a:avLst/>
          </a:prstGeom>
        </p:spPr>
      </p:pic>
      <p:sp>
        <p:nvSpPr>
          <p:cNvPr id="38" name="TextBox 37"/>
          <p:cNvSpPr txBox="1"/>
          <p:nvPr/>
        </p:nvSpPr>
        <p:spPr>
          <a:xfrm>
            <a:off x="6267450" y="10201275"/>
            <a:ext cx="571500" cy="152400"/>
          </a:xfrm>
          <a:prstGeom prst="rect">
            <a:avLst/>
          </a:prstGeom>
          <a:noFill/>
        </p:spPr>
        <p:txBody>
          <a:bodyPr wrap="none" lIns="0" rIns="0" tIns="0" bIns="0">
            <a:spAutoFit/>
          </a:bodyPr>
          <a:lstStyle/>
          <a:p>
            <a:pPr algn="r"/>
            <a:r>
              <a:rPr sz="800">
                <a:solidFill>
                  <a:srgbClr val="555A78"/>
                </a:solidFill>
                <a:latin typeface="Inter"/>
              </a:rPr>
              <a:t>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