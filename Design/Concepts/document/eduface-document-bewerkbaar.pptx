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1180505"/>
            <a:ext cx="6120110"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Managementsamenvatting</a:t>
            </a:r>
          </a:p>
        </p:txBody>
      </p:sp>
      <p:sp>
        <p:nvSpPr>
          <p:cNvPr id="3" name="TextBox 2"/>
          <p:cNvSpPr txBox="1"/>
          <p:nvPr/>
        </p:nvSpPr>
        <p:spPr>
          <a:xfrm>
            <a:off x="719882" y="1949946"/>
            <a:ext cx="6875502" cy="1135261"/>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4" name="Rectangle 3"/>
          <p:cNvSpPr/>
          <p:nvPr/>
        </p:nvSpPr>
        <p:spPr>
          <a:xfrm>
            <a:off x="719882" y="3399830"/>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928390" y="3428405"/>
            <a:ext cx="6120110" cy="200025"/>
          </a:xfrm>
          <a:prstGeom prst="rect">
            <a:avLst/>
          </a:prstGeom>
          <a:noFill/>
        </p:spPr>
        <p:txBody>
          <a:bodyPr wrap="square" anchor="t" lIns="0" rIns="0" tIns="0" bIns="0">
            <a:noAutofit/>
          </a:bodyPr>
          <a:lstStyle/>
          <a:p>
            <a:pPr algn="l">
              <a:lnSpc>
                <a:spcPts val="2124"/>
              </a:lnSpc>
            </a:pPr>
            <a:r>
              <a:rPr sz="1700" b="1">
                <a:solidFill>
                  <a:srgbClr val="000326"/>
                </a:solidFill>
                <a:latin typeface="League Spartan"/>
              </a:rPr>
              <a:t>Dat is een concrete invulling van het koerspunt efficiëntie.</a:t>
            </a:r>
          </a:p>
        </p:txBody>
      </p:sp>
      <p:sp>
        <p:nvSpPr>
          <p:cNvPr id="6" name="Rounded Rectangle 5"/>
          <p:cNvSpPr/>
          <p:nvPr/>
        </p:nvSpPr>
        <p:spPr>
          <a:xfrm>
            <a:off x="719882" y="4029521"/>
            <a:ext cx="2952006" cy="2296567"/>
          </a:xfrm>
          <a:prstGeom prst="roundRect">
            <a:avLst>
              <a:gd name="adj" fmla="val 9405"/>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053405" y="4363045"/>
            <a:ext cx="2284958"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NU</a:t>
            </a:r>
          </a:p>
        </p:txBody>
      </p:sp>
      <p:sp>
        <p:nvSpPr>
          <p:cNvPr id="8" name="TextBox 7"/>
          <p:cNvSpPr txBox="1"/>
          <p:nvPr/>
        </p:nvSpPr>
        <p:spPr>
          <a:xfrm>
            <a:off x="1053405" y="4623346"/>
            <a:ext cx="2284958"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€ 37.000</a:t>
            </a:r>
          </a:p>
        </p:txBody>
      </p:sp>
      <p:sp>
        <p:nvSpPr>
          <p:cNvPr id="9" name="TextBox 8"/>
          <p:cNvSpPr txBox="1"/>
          <p:nvPr/>
        </p:nvSpPr>
        <p:spPr>
          <a:xfrm>
            <a:off x="1053405" y="5197971"/>
            <a:ext cx="2284958"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de helft</a:t>
            </a:r>
          </a:p>
        </p:txBody>
      </p:sp>
      <p:sp>
        <p:nvSpPr>
          <p:cNvPr id="10" name="Oval 9"/>
          <p:cNvSpPr/>
          <p:nvPr/>
        </p:nvSpPr>
        <p:spPr>
          <a:xfrm>
            <a:off x="1053405"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Oval 10"/>
          <p:cNvSpPr/>
          <p:nvPr/>
        </p:nvSpPr>
        <p:spPr>
          <a:xfrm>
            <a:off x="1290638"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527870"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765102"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002334"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239566"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2476798"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Oval 16"/>
          <p:cNvSpPr/>
          <p:nvPr/>
        </p:nvSpPr>
        <p:spPr>
          <a:xfrm>
            <a:off x="2714030"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Oval 17"/>
          <p:cNvSpPr/>
          <p:nvPr/>
        </p:nvSpPr>
        <p:spPr>
          <a:xfrm>
            <a:off x="2951262"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Oval 18"/>
          <p:cNvSpPr/>
          <p:nvPr/>
        </p:nvSpPr>
        <p:spPr>
          <a:xfrm>
            <a:off x="3188494" y="5604421"/>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1053405"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1290638"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1527870"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1765102"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2002334"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2239566"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2476798"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Oval 26"/>
          <p:cNvSpPr/>
          <p:nvPr/>
        </p:nvSpPr>
        <p:spPr>
          <a:xfrm>
            <a:off x="2714030"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8" name="Oval 27"/>
          <p:cNvSpPr/>
          <p:nvPr/>
        </p:nvSpPr>
        <p:spPr>
          <a:xfrm>
            <a:off x="2951262"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Oval 28"/>
          <p:cNvSpPr/>
          <p:nvPr/>
        </p:nvSpPr>
        <p:spPr>
          <a:xfrm>
            <a:off x="3188494" y="5841653"/>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3887837" y="4029521"/>
            <a:ext cx="2952155" cy="2296567"/>
          </a:xfrm>
          <a:prstGeom prst="roundRect">
            <a:avLst>
              <a:gd name="adj" fmla="val 9405"/>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1" name="TextBox 30"/>
          <p:cNvSpPr txBox="1"/>
          <p:nvPr/>
        </p:nvSpPr>
        <p:spPr>
          <a:xfrm>
            <a:off x="4211836" y="4353520"/>
            <a:ext cx="2304157"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MET EDUFACE</a:t>
            </a:r>
          </a:p>
        </p:txBody>
      </p:sp>
      <p:sp>
        <p:nvSpPr>
          <p:cNvPr id="32" name="TextBox 31"/>
          <p:cNvSpPr txBox="1"/>
          <p:nvPr/>
        </p:nvSpPr>
        <p:spPr>
          <a:xfrm>
            <a:off x="4211836" y="4613821"/>
            <a:ext cx="2304157"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€ 18.000</a:t>
            </a:r>
          </a:p>
        </p:txBody>
      </p:sp>
      <p:sp>
        <p:nvSpPr>
          <p:cNvPr id="33" name="TextBox 32"/>
          <p:cNvSpPr txBox="1"/>
          <p:nvPr/>
        </p:nvSpPr>
        <p:spPr>
          <a:xfrm>
            <a:off x="4211836" y="5188446"/>
            <a:ext cx="2304157"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elke student</a:t>
            </a:r>
          </a:p>
        </p:txBody>
      </p:sp>
      <p:sp>
        <p:nvSpPr>
          <p:cNvPr id="34" name="Oval 33"/>
          <p:cNvSpPr/>
          <p:nvPr/>
        </p:nvSpPr>
        <p:spPr>
          <a:xfrm>
            <a:off x="4211836"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Oval 34"/>
          <p:cNvSpPr/>
          <p:nvPr/>
        </p:nvSpPr>
        <p:spPr>
          <a:xfrm>
            <a:off x="4451003"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Oval 35"/>
          <p:cNvSpPr/>
          <p:nvPr/>
        </p:nvSpPr>
        <p:spPr>
          <a:xfrm>
            <a:off x="4690170"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Oval 36"/>
          <p:cNvSpPr/>
          <p:nvPr/>
        </p:nvSpPr>
        <p:spPr>
          <a:xfrm>
            <a:off x="4929336"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Oval 37"/>
          <p:cNvSpPr/>
          <p:nvPr/>
        </p:nvSpPr>
        <p:spPr>
          <a:xfrm>
            <a:off x="5168503"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Oval 38"/>
          <p:cNvSpPr/>
          <p:nvPr/>
        </p:nvSpPr>
        <p:spPr>
          <a:xfrm>
            <a:off x="5407670"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Oval 39"/>
          <p:cNvSpPr/>
          <p:nvPr/>
        </p:nvSpPr>
        <p:spPr>
          <a:xfrm>
            <a:off x="5646837"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Oval 40"/>
          <p:cNvSpPr/>
          <p:nvPr/>
        </p:nvSpPr>
        <p:spPr>
          <a:xfrm>
            <a:off x="5886004"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2" name="Oval 41"/>
          <p:cNvSpPr/>
          <p:nvPr/>
        </p:nvSpPr>
        <p:spPr>
          <a:xfrm>
            <a:off x="6125170"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Oval 42"/>
          <p:cNvSpPr/>
          <p:nvPr/>
        </p:nvSpPr>
        <p:spPr>
          <a:xfrm>
            <a:off x="6364337" y="5594896"/>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Oval 43"/>
          <p:cNvSpPr/>
          <p:nvPr/>
        </p:nvSpPr>
        <p:spPr>
          <a:xfrm>
            <a:off x="4211836"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5" name="Oval 44"/>
          <p:cNvSpPr/>
          <p:nvPr/>
        </p:nvSpPr>
        <p:spPr>
          <a:xfrm>
            <a:off x="4451003"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6" name="Oval 45"/>
          <p:cNvSpPr/>
          <p:nvPr/>
        </p:nvSpPr>
        <p:spPr>
          <a:xfrm>
            <a:off x="4690170"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7" name="Oval 46"/>
          <p:cNvSpPr/>
          <p:nvPr/>
        </p:nvSpPr>
        <p:spPr>
          <a:xfrm>
            <a:off x="4929336"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8" name="Oval 47"/>
          <p:cNvSpPr/>
          <p:nvPr/>
        </p:nvSpPr>
        <p:spPr>
          <a:xfrm>
            <a:off x="5168503"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9" name="Oval 48"/>
          <p:cNvSpPr/>
          <p:nvPr/>
        </p:nvSpPr>
        <p:spPr>
          <a:xfrm>
            <a:off x="5407670"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0" name="Oval 49"/>
          <p:cNvSpPr/>
          <p:nvPr/>
        </p:nvSpPr>
        <p:spPr>
          <a:xfrm>
            <a:off x="5646837"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1" name="Oval 50"/>
          <p:cNvSpPr/>
          <p:nvPr/>
        </p:nvSpPr>
        <p:spPr>
          <a:xfrm>
            <a:off x="5886004"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2" name="Oval 51"/>
          <p:cNvSpPr/>
          <p:nvPr/>
        </p:nvSpPr>
        <p:spPr>
          <a:xfrm>
            <a:off x="6125170"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3" name="Oval 52"/>
          <p:cNvSpPr/>
          <p:nvPr/>
        </p:nvSpPr>
        <p:spPr>
          <a:xfrm>
            <a:off x="6364337" y="583406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4" name="TextBox 53"/>
          <p:cNvSpPr txBox="1"/>
          <p:nvPr/>
        </p:nvSpPr>
        <p:spPr>
          <a:xfrm>
            <a:off x="719882" y="6433989"/>
            <a:ext cx="6120110"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stip is 5% van de studenten.</a:t>
            </a:r>
          </a:p>
        </p:txBody>
      </p:sp>
      <p:sp>
        <p:nvSpPr>
          <p:cNvPr id="55" name="Rounded Rectangle 54"/>
          <p:cNvSpPr/>
          <p:nvPr/>
        </p:nvSpPr>
        <p:spPr>
          <a:xfrm>
            <a:off x="719882" y="6809929"/>
            <a:ext cx="6120110" cy="1422648"/>
          </a:xfrm>
          <a:prstGeom prst="roundRect">
            <a:avLst>
              <a:gd name="adj" fmla="val 15182"/>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6" name="TextBox 55"/>
          <p:cNvSpPr txBox="1"/>
          <p:nvPr/>
        </p:nvSpPr>
        <p:spPr>
          <a:xfrm>
            <a:off x="1043880" y="7143452"/>
            <a:ext cx="5472112"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76% goedkoper</a:t>
            </a:r>
          </a:p>
        </p:txBody>
      </p:sp>
      <p:sp>
        <p:nvSpPr>
          <p:cNvPr id="57" name="TextBox 56"/>
          <p:cNvSpPr txBox="1"/>
          <p:nvPr/>
        </p:nvSpPr>
        <p:spPr>
          <a:xfrm>
            <a:off x="1043880" y="7718078"/>
            <a:ext cx="547211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die feedback krijgt</a:t>
            </a:r>
          </a:p>
        </p:txBody>
      </p:sp>
      <p:pic>
        <p:nvPicPr>
          <p:cNvPr id="58" name="Picture 57" descr="academica.png"/>
          <p:cNvPicPr>
            <a:picLocks noChangeAspect="1"/>
          </p:cNvPicPr>
          <p:nvPr/>
        </p:nvPicPr>
        <p:blipFill>
          <a:blip r:embed="rId2"/>
          <a:stretch>
            <a:fillRect/>
          </a:stretch>
        </p:blipFill>
        <p:spPr>
          <a:xfrm>
            <a:off x="723900" y="381000"/>
            <a:ext cx="1569720" cy="304800"/>
          </a:xfrm>
          <a:prstGeom prst="rect">
            <a:avLst/>
          </a:prstGeom>
        </p:spPr>
      </p:pic>
      <p:sp>
        <p:nvSpPr>
          <p:cNvPr id="59" name="TextBox 58"/>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92522"/>
            <a:ext cx="6120110"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Kosten</a:t>
            </a:r>
          </a:p>
        </p:txBody>
      </p:sp>
      <p:sp>
        <p:nvSpPr>
          <p:cNvPr id="3" name="Rounded Rectangle 2"/>
          <p:cNvSpPr/>
          <p:nvPr/>
        </p:nvSpPr>
        <p:spPr>
          <a:xfrm>
            <a:off x="719882" y="1642914"/>
            <a:ext cx="6120110" cy="3347591"/>
          </a:xfrm>
          <a:prstGeom prst="roundRect">
            <a:avLst>
              <a:gd name="adj" fmla="val 6452"/>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TextBox 3"/>
          <p:cNvSpPr txBox="1"/>
          <p:nvPr/>
        </p:nvSpPr>
        <p:spPr>
          <a:xfrm>
            <a:off x="1043880" y="1976438"/>
            <a:ext cx="5472112"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€ 3,75</a:t>
            </a:r>
          </a:p>
        </p:txBody>
      </p:sp>
      <p:sp>
        <p:nvSpPr>
          <p:cNvPr id="5" name="TextBox 4"/>
          <p:cNvSpPr txBox="1"/>
          <p:nvPr/>
        </p:nvSpPr>
        <p:spPr>
          <a:xfrm>
            <a:off x="1043880" y="2551063"/>
            <a:ext cx="547211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per maand* · exclusief btw</a:t>
            </a:r>
          </a:p>
        </p:txBody>
      </p:sp>
      <p:sp>
        <p:nvSpPr>
          <p:cNvPr id="6" name="Rounded Rectangle 5"/>
          <p:cNvSpPr/>
          <p:nvPr/>
        </p:nvSpPr>
        <p:spPr>
          <a:xfrm>
            <a:off x="1043880" y="2957512"/>
            <a:ext cx="5472112" cy="1405086"/>
          </a:xfrm>
          <a:prstGeom prst="roundRect">
            <a:avLst>
              <a:gd name="adj" fmla="val 8967"/>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259830" y="3182987"/>
            <a:ext cx="5040213"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Hoe meer studenten, hoe lager de prijs per student</a:t>
            </a:r>
          </a:p>
        </p:txBody>
      </p:sp>
      <p:sp>
        <p:nvSpPr>
          <p:cNvPr id="8" name="TextBox 7"/>
          <p:cNvSpPr txBox="1"/>
          <p:nvPr/>
        </p:nvSpPr>
        <p:spPr>
          <a:xfrm>
            <a:off x="1259830" y="3376017"/>
            <a:ext cx="5040213"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Prijs per student per maand</a:t>
            </a:r>
          </a:p>
        </p:txBody>
      </p:sp>
      <p:sp>
        <p:nvSpPr>
          <p:cNvPr id="9" name="TextBox 8"/>
          <p:cNvSpPr txBox="1"/>
          <p:nvPr/>
        </p:nvSpPr>
        <p:spPr>
          <a:xfrm>
            <a:off x="1259830" y="3715941"/>
            <a:ext cx="1223962"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Tot en met 400</a:t>
            </a:r>
          </a:p>
        </p:txBody>
      </p:sp>
      <p:sp>
        <p:nvSpPr>
          <p:cNvPr id="10" name="Rounded Rectangle 9"/>
          <p:cNvSpPr/>
          <p:nvPr/>
        </p:nvSpPr>
        <p:spPr>
          <a:xfrm>
            <a:off x="2627709" y="373811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Rounded Rectangle 10"/>
          <p:cNvSpPr/>
          <p:nvPr/>
        </p:nvSpPr>
        <p:spPr>
          <a:xfrm>
            <a:off x="2627709" y="3738116"/>
            <a:ext cx="2808536"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TextBox 11"/>
          <p:cNvSpPr txBox="1"/>
          <p:nvPr/>
        </p:nvSpPr>
        <p:spPr>
          <a:xfrm>
            <a:off x="5580162" y="3715941"/>
            <a:ext cx="719882"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€ 3,75</a:t>
            </a:r>
          </a:p>
        </p:txBody>
      </p:sp>
      <p:sp>
        <p:nvSpPr>
          <p:cNvPr id="13" name="TextBox 12"/>
          <p:cNvSpPr txBox="1"/>
          <p:nvPr/>
        </p:nvSpPr>
        <p:spPr>
          <a:xfrm>
            <a:off x="1259830" y="3994249"/>
            <a:ext cx="122396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Meer dan 400</a:t>
            </a:r>
          </a:p>
        </p:txBody>
      </p:sp>
      <p:sp>
        <p:nvSpPr>
          <p:cNvPr id="14" name="Rounded Rectangle 13"/>
          <p:cNvSpPr/>
          <p:nvPr/>
        </p:nvSpPr>
        <p:spPr>
          <a:xfrm>
            <a:off x="2627709" y="4016425"/>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Rounded Rectangle 14"/>
          <p:cNvSpPr/>
          <p:nvPr/>
        </p:nvSpPr>
        <p:spPr>
          <a:xfrm>
            <a:off x="2627709" y="4016425"/>
            <a:ext cx="2246709"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TextBox 15"/>
          <p:cNvSpPr txBox="1"/>
          <p:nvPr/>
        </p:nvSpPr>
        <p:spPr>
          <a:xfrm>
            <a:off x="5580162" y="3994249"/>
            <a:ext cx="719882"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€ 3,00</a:t>
            </a:r>
          </a:p>
        </p:txBody>
      </p:sp>
      <p:sp>
        <p:nvSpPr>
          <p:cNvPr id="17" name="TextBox 16"/>
          <p:cNvSpPr txBox="1"/>
          <p:nvPr/>
        </p:nvSpPr>
        <p:spPr>
          <a:xfrm>
            <a:off x="1043880" y="4506516"/>
            <a:ext cx="547211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 Minimaal € 1.500 per maand, dat dekt de eerste 400 studenten.</a:t>
            </a:r>
          </a:p>
        </p:txBody>
      </p:sp>
      <p:pic>
        <p:nvPicPr>
          <p:cNvPr id="18" name="Picture 17" descr="academica.png"/>
          <p:cNvPicPr>
            <a:picLocks noChangeAspect="1"/>
          </p:cNvPicPr>
          <p:nvPr/>
        </p:nvPicPr>
        <p:blipFill>
          <a:blip r:embed="rId2"/>
          <a:stretch>
            <a:fillRect/>
          </a:stretch>
        </p:blipFill>
        <p:spPr>
          <a:xfrm>
            <a:off x="723900" y="10182225"/>
            <a:ext cx="784860" cy="152400"/>
          </a:xfrm>
          <a:prstGeom prst="rect">
            <a:avLst/>
          </a:prstGeom>
        </p:spPr>
      </p:pic>
      <p:sp>
        <p:nvSpPr>
          <p:cNvPr id="19" name="TextBox 18"/>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92522"/>
            <a:ext cx="6120110"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Wat de instelling ervoor krijgt</a:t>
            </a:r>
          </a:p>
        </p:txBody>
      </p:sp>
      <p:sp>
        <p:nvSpPr>
          <p:cNvPr id="3" name="Rounded Rectangle 2"/>
          <p:cNvSpPr/>
          <p:nvPr/>
        </p:nvSpPr>
        <p:spPr>
          <a:xfrm>
            <a:off x="719882" y="1642914"/>
            <a:ext cx="6120110" cy="2999482"/>
          </a:xfrm>
          <a:prstGeom prst="roundRect">
            <a:avLst>
              <a:gd name="adj" fmla="val 7201"/>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43880" y="1966912"/>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2-0.png"/>
          <p:cNvPicPr>
            <a:picLocks noChangeAspect="1"/>
          </p:cNvPicPr>
          <p:nvPr/>
        </p:nvPicPr>
        <p:blipFill>
          <a:blip r:embed="rId2"/>
          <a:stretch>
            <a:fillRect/>
          </a:stretch>
        </p:blipFill>
        <p:spPr>
          <a:xfrm>
            <a:off x="1133773" y="2056805"/>
            <a:ext cx="179933" cy="179933"/>
          </a:xfrm>
          <a:prstGeom prst="rect">
            <a:avLst/>
          </a:prstGeom>
        </p:spPr>
      </p:pic>
      <p:sp>
        <p:nvSpPr>
          <p:cNvPr id="6" name="TextBox 5"/>
          <p:cNvSpPr txBox="1"/>
          <p:nvPr/>
        </p:nvSpPr>
        <p:spPr>
          <a:xfrm>
            <a:off x="1547664" y="2045791"/>
            <a:ext cx="229176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Uniforme beoordeling</a:t>
            </a:r>
          </a:p>
        </p:txBody>
      </p:sp>
      <p:sp>
        <p:nvSpPr>
          <p:cNvPr id="7" name="TextBox 6"/>
          <p:cNvSpPr txBox="1"/>
          <p:nvPr/>
        </p:nvSpPr>
        <p:spPr>
          <a:xfrm>
            <a:off x="1043880" y="2453729"/>
            <a:ext cx="5853208"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opdracht wordt langs dezelfde criteria beoordeeld, door elke beoordelaar.</a:t>
            </a:r>
          </a:p>
        </p:txBody>
      </p:sp>
      <p:sp>
        <p:nvSpPr>
          <p:cNvPr id="8" name="Rounded Rectangle 7"/>
          <p:cNvSpPr/>
          <p:nvPr/>
        </p:nvSpPr>
        <p:spPr>
          <a:xfrm>
            <a:off x="1043880" y="2860179"/>
            <a:ext cx="2628007"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085654"/>
            <a:ext cx="2196108"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Zonder</a:t>
            </a:r>
          </a:p>
        </p:txBody>
      </p:sp>
      <p:sp>
        <p:nvSpPr>
          <p:cNvPr id="10" name="TextBox 9"/>
          <p:cNvSpPr txBox="1"/>
          <p:nvPr/>
        </p:nvSpPr>
        <p:spPr>
          <a:xfrm>
            <a:off x="1259830" y="3278684"/>
            <a:ext cx="2214420"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beoordelaar met een eigen blik</a:t>
            </a:r>
          </a:p>
        </p:txBody>
      </p:sp>
      <p:sp>
        <p:nvSpPr>
          <p:cNvPr id="11" name="Rectangle 10"/>
          <p:cNvSpPr/>
          <p:nvPr/>
        </p:nvSpPr>
        <p:spPr>
          <a:xfrm>
            <a:off x="1259830" y="3755380"/>
            <a:ext cx="2196108"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491555" y="3686919"/>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2106513" y="3686919"/>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567732" y="3686919"/>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3116759" y="3686919"/>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TextBox 15"/>
          <p:cNvSpPr txBox="1"/>
          <p:nvPr/>
        </p:nvSpPr>
        <p:spPr>
          <a:xfrm>
            <a:off x="1259830" y="3942457"/>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17" name="TextBox 16"/>
          <p:cNvSpPr txBox="1"/>
          <p:nvPr/>
        </p:nvSpPr>
        <p:spPr>
          <a:xfrm>
            <a:off x="3117652" y="3942457"/>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18" name="Rounded Rectangle 17"/>
          <p:cNvSpPr/>
          <p:nvPr/>
        </p:nvSpPr>
        <p:spPr>
          <a:xfrm>
            <a:off x="3887837" y="2860179"/>
            <a:ext cx="2628156"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TextBox 18"/>
          <p:cNvSpPr txBox="1"/>
          <p:nvPr/>
        </p:nvSpPr>
        <p:spPr>
          <a:xfrm>
            <a:off x="4103787" y="3085654"/>
            <a:ext cx="2196257"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Met Eduface</a:t>
            </a:r>
          </a:p>
        </p:txBody>
      </p:sp>
      <p:sp>
        <p:nvSpPr>
          <p:cNvPr id="20" name="TextBox 19"/>
          <p:cNvSpPr txBox="1"/>
          <p:nvPr/>
        </p:nvSpPr>
        <p:spPr>
          <a:xfrm>
            <a:off x="4103787" y="3278684"/>
            <a:ext cx="2196257"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Iedereen langs dezelfde criteria</a:t>
            </a:r>
          </a:p>
        </p:txBody>
      </p:sp>
      <p:sp>
        <p:nvSpPr>
          <p:cNvPr id="21" name="Rectangle 20"/>
          <p:cNvSpPr/>
          <p:nvPr/>
        </p:nvSpPr>
        <p:spPr>
          <a:xfrm>
            <a:off x="4103787" y="3755380"/>
            <a:ext cx="2196257"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4994523" y="3686919"/>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5126236" y="3686919"/>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5257949" y="3686919"/>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5389811" y="3686919"/>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TextBox 25"/>
          <p:cNvSpPr txBox="1"/>
          <p:nvPr/>
        </p:nvSpPr>
        <p:spPr>
          <a:xfrm>
            <a:off x="4103787" y="3942457"/>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27" name="TextBox 26"/>
          <p:cNvSpPr txBox="1"/>
          <p:nvPr/>
        </p:nvSpPr>
        <p:spPr>
          <a:xfrm>
            <a:off x="5961757" y="3942457"/>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28" name="Rounded Rectangle 27"/>
          <p:cNvSpPr/>
          <p:nvPr/>
        </p:nvSpPr>
        <p:spPr>
          <a:xfrm>
            <a:off x="719882" y="4858345"/>
            <a:ext cx="6120110" cy="2527995"/>
          </a:xfrm>
          <a:prstGeom prst="roundRect">
            <a:avLst>
              <a:gd name="adj" fmla="val 8544"/>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Rounded Rectangle 28"/>
          <p:cNvSpPr/>
          <p:nvPr/>
        </p:nvSpPr>
        <p:spPr>
          <a:xfrm>
            <a:off x="1043880" y="5182344"/>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0" name="Picture 29" descr="svg-2-1.png"/>
          <p:cNvPicPr>
            <a:picLocks noChangeAspect="1"/>
          </p:cNvPicPr>
          <p:nvPr/>
        </p:nvPicPr>
        <p:blipFill>
          <a:blip r:embed="rId3"/>
          <a:stretch>
            <a:fillRect/>
          </a:stretch>
        </p:blipFill>
        <p:spPr>
          <a:xfrm>
            <a:off x="1133773" y="5272236"/>
            <a:ext cx="179933" cy="179933"/>
          </a:xfrm>
          <a:prstGeom prst="rect">
            <a:avLst/>
          </a:prstGeom>
        </p:spPr>
      </p:pic>
      <p:sp>
        <p:nvSpPr>
          <p:cNvPr id="31" name="TextBox 30"/>
          <p:cNvSpPr txBox="1"/>
          <p:nvPr/>
        </p:nvSpPr>
        <p:spPr>
          <a:xfrm>
            <a:off x="1547664" y="5261223"/>
            <a:ext cx="40668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Formatieve feedback voor elke student</a:t>
            </a:r>
          </a:p>
        </p:txBody>
      </p:sp>
      <p:sp>
        <p:nvSpPr>
          <p:cNvPr id="32" name="TextBox 31"/>
          <p:cNvSpPr txBox="1"/>
          <p:nvPr/>
        </p:nvSpPr>
        <p:spPr>
          <a:xfrm>
            <a:off x="1043880" y="5669161"/>
            <a:ext cx="5636181"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Nu krijgt de helft van de studenten formatieve feedback. Met Eduface is dat iedereen.</a:t>
            </a:r>
          </a:p>
        </p:txBody>
      </p:sp>
      <p:sp>
        <p:nvSpPr>
          <p:cNvPr id="33" name="TextBox 32"/>
          <p:cNvSpPr txBox="1"/>
          <p:nvPr/>
        </p:nvSpPr>
        <p:spPr>
          <a:xfrm>
            <a:off x="1043880" y="6249144"/>
            <a:ext cx="122396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Nu, voor de helft</a:t>
            </a:r>
          </a:p>
        </p:txBody>
      </p:sp>
      <p:sp>
        <p:nvSpPr>
          <p:cNvPr id="34" name="Rounded Rectangle 33"/>
          <p:cNvSpPr/>
          <p:nvPr/>
        </p:nvSpPr>
        <p:spPr>
          <a:xfrm>
            <a:off x="2411760" y="6271320"/>
            <a:ext cx="3240435" cy="107900"/>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Rounded Rectangle 34"/>
          <p:cNvSpPr/>
          <p:nvPr/>
        </p:nvSpPr>
        <p:spPr>
          <a:xfrm>
            <a:off x="2411760" y="6271320"/>
            <a:ext cx="1620143"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TextBox 35"/>
          <p:cNvSpPr txBox="1"/>
          <p:nvPr/>
        </p:nvSpPr>
        <p:spPr>
          <a:xfrm>
            <a:off x="5796111" y="6249144"/>
            <a:ext cx="719882"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€ 36.000</a:t>
            </a:r>
          </a:p>
        </p:txBody>
      </p:sp>
      <p:sp>
        <p:nvSpPr>
          <p:cNvPr id="37" name="TextBox 36"/>
          <p:cNvSpPr txBox="1"/>
          <p:nvPr/>
        </p:nvSpPr>
        <p:spPr>
          <a:xfrm>
            <a:off x="1043880" y="6527453"/>
            <a:ext cx="1388983"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Voor alle studenten</a:t>
            </a:r>
          </a:p>
        </p:txBody>
      </p:sp>
      <p:sp>
        <p:nvSpPr>
          <p:cNvPr id="38" name="Rounded Rectangle 37"/>
          <p:cNvSpPr/>
          <p:nvPr/>
        </p:nvSpPr>
        <p:spPr>
          <a:xfrm>
            <a:off x="2411760" y="6549628"/>
            <a:ext cx="3240435" cy="107900"/>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Rounded Rectangle 38"/>
          <p:cNvSpPr/>
          <p:nvPr/>
        </p:nvSpPr>
        <p:spPr>
          <a:xfrm>
            <a:off x="2411760" y="6549628"/>
            <a:ext cx="3240435"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TextBox 39"/>
          <p:cNvSpPr txBox="1"/>
          <p:nvPr/>
        </p:nvSpPr>
        <p:spPr>
          <a:xfrm>
            <a:off x="5796111" y="6527453"/>
            <a:ext cx="719882"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€ 72.000</a:t>
            </a:r>
          </a:p>
        </p:txBody>
      </p:sp>
      <p:sp>
        <p:nvSpPr>
          <p:cNvPr id="41" name="TextBox 40"/>
          <p:cNvSpPr txBox="1"/>
          <p:nvPr/>
        </p:nvSpPr>
        <p:spPr>
          <a:xfrm>
            <a:off x="1043880" y="6869311"/>
            <a:ext cx="5694021"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De feitelijke kosten om iedereen te bedienen liggen dus twee keer zo hoog.</a:t>
            </a:r>
          </a:p>
        </p:txBody>
      </p:sp>
      <p:sp>
        <p:nvSpPr>
          <p:cNvPr id="42" name="Rounded Rectangle 41"/>
          <p:cNvSpPr/>
          <p:nvPr/>
        </p:nvSpPr>
        <p:spPr>
          <a:xfrm>
            <a:off x="719882" y="7602289"/>
            <a:ext cx="6120110" cy="1553914"/>
          </a:xfrm>
          <a:prstGeom prst="roundRect">
            <a:avLst>
              <a:gd name="adj" fmla="val 1390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Rounded Rectangle 42"/>
          <p:cNvSpPr/>
          <p:nvPr/>
        </p:nvSpPr>
        <p:spPr>
          <a:xfrm>
            <a:off x="1053405" y="7935813"/>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44" name="Picture 43" descr="svg-2-2.png"/>
          <p:cNvPicPr>
            <a:picLocks noChangeAspect="1"/>
          </p:cNvPicPr>
          <p:nvPr/>
        </p:nvPicPr>
        <p:blipFill>
          <a:blip r:embed="rId4"/>
          <a:stretch>
            <a:fillRect/>
          </a:stretch>
        </p:blipFill>
        <p:spPr>
          <a:xfrm>
            <a:off x="1143298" y="8025705"/>
            <a:ext cx="179933" cy="179933"/>
          </a:xfrm>
          <a:prstGeom prst="rect">
            <a:avLst/>
          </a:prstGeom>
        </p:spPr>
      </p:pic>
      <p:sp>
        <p:nvSpPr>
          <p:cNvPr id="45" name="TextBox 44"/>
          <p:cNvSpPr txBox="1"/>
          <p:nvPr/>
        </p:nvSpPr>
        <p:spPr>
          <a:xfrm>
            <a:off x="1557189" y="8014692"/>
            <a:ext cx="237444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Integratie in NEO LMS</a:t>
            </a:r>
          </a:p>
        </p:txBody>
      </p:sp>
      <p:sp>
        <p:nvSpPr>
          <p:cNvPr id="46" name="TextBox 45"/>
          <p:cNvSpPr txBox="1"/>
          <p:nvPr/>
        </p:nvSpPr>
        <p:spPr>
          <a:xfrm>
            <a:off x="1053405" y="8422630"/>
            <a:ext cx="5537168"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Opdrachten en cijfers lopen via NEO. Docenten en studenten werken in de omgeving die ze kennen.</a:t>
            </a:r>
          </a:p>
        </p:txBody>
      </p:sp>
      <p:pic>
        <p:nvPicPr>
          <p:cNvPr id="47" name="Picture 46" descr="academica.png"/>
          <p:cNvPicPr>
            <a:picLocks noChangeAspect="1"/>
          </p:cNvPicPr>
          <p:nvPr/>
        </p:nvPicPr>
        <p:blipFill>
          <a:blip r:embed="rId5"/>
          <a:stretch>
            <a:fillRect/>
          </a:stretch>
        </p:blipFill>
        <p:spPr>
          <a:xfrm>
            <a:off x="723900" y="10182225"/>
            <a:ext cx="784860" cy="152400"/>
          </a:xfrm>
          <a:prstGeom prst="rect">
            <a:avLst/>
          </a:prstGeom>
        </p:spPr>
      </p:pic>
      <p:sp>
        <p:nvSpPr>
          <p:cNvPr id="48" name="TextBox 47"/>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92522"/>
            <a:ext cx="6120110"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Accreditatie</a:t>
            </a:r>
          </a:p>
        </p:txBody>
      </p:sp>
      <p:sp>
        <p:nvSpPr>
          <p:cNvPr id="3" name="Rounded Rectangle 2"/>
          <p:cNvSpPr/>
          <p:nvPr/>
        </p:nvSpPr>
        <p:spPr>
          <a:xfrm>
            <a:off x="719882" y="1642914"/>
            <a:ext cx="6120110" cy="3022104"/>
          </a:xfrm>
          <a:prstGeom prst="roundRect">
            <a:avLst>
              <a:gd name="adj" fmla="val 7147"/>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43880" y="1966912"/>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2-0.png"/>
          <p:cNvPicPr>
            <a:picLocks noChangeAspect="1"/>
          </p:cNvPicPr>
          <p:nvPr/>
        </p:nvPicPr>
        <p:blipFill>
          <a:blip r:embed="rId2"/>
          <a:stretch>
            <a:fillRect/>
          </a:stretch>
        </p:blipFill>
        <p:spPr>
          <a:xfrm>
            <a:off x="1133773" y="2056805"/>
            <a:ext cx="179933" cy="179933"/>
          </a:xfrm>
          <a:prstGeom prst="rect">
            <a:avLst/>
          </a:prstGeom>
        </p:spPr>
      </p:pic>
      <p:sp>
        <p:nvSpPr>
          <p:cNvPr id="6" name="TextBox 5"/>
          <p:cNvSpPr txBox="1"/>
          <p:nvPr/>
        </p:nvSpPr>
        <p:spPr>
          <a:xfrm>
            <a:off x="1547664" y="2045791"/>
            <a:ext cx="3463576"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Beoordelaars oordelen consistent</a:t>
            </a:r>
          </a:p>
        </p:txBody>
      </p:sp>
      <p:sp>
        <p:nvSpPr>
          <p:cNvPr id="7" name="TextBox 6"/>
          <p:cNvSpPr txBox="1"/>
          <p:nvPr/>
        </p:nvSpPr>
        <p:spPr>
          <a:xfrm>
            <a:off x="1043880" y="2453729"/>
            <a:ext cx="547211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Zie in één overzicht wie afwijkt van het team.</a:t>
            </a:r>
          </a:p>
        </p:txBody>
      </p:sp>
      <p:sp>
        <p:nvSpPr>
          <p:cNvPr id="8" name="Rounded Rectangle 7"/>
          <p:cNvSpPr/>
          <p:nvPr/>
        </p:nvSpPr>
        <p:spPr>
          <a:xfrm>
            <a:off x="1043880" y="2860179"/>
            <a:ext cx="5472112" cy="1480840"/>
          </a:xfrm>
          <a:prstGeom prst="roundRect">
            <a:avLst>
              <a:gd name="adj" fmla="val 8508"/>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076129"/>
            <a:ext cx="137348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Voorbeeld per docent</a:t>
            </a:r>
          </a:p>
        </p:txBody>
      </p:sp>
      <p:sp>
        <p:nvSpPr>
          <p:cNvPr id="10" name="TextBox 9"/>
          <p:cNvSpPr txBox="1"/>
          <p:nvPr/>
        </p:nvSpPr>
        <p:spPr>
          <a:xfrm>
            <a:off x="5497264" y="3076129"/>
            <a:ext cx="95626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Gemiddelde 7,1</a:t>
            </a:r>
          </a:p>
        </p:txBody>
      </p:sp>
      <p:sp>
        <p:nvSpPr>
          <p:cNvPr id="11" name="TextBox 10"/>
          <p:cNvSpPr txBox="1"/>
          <p:nvPr/>
        </p:nvSpPr>
        <p:spPr>
          <a:xfrm>
            <a:off x="1259830" y="3416052"/>
            <a:ext cx="122396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A</a:t>
            </a:r>
          </a:p>
        </p:txBody>
      </p:sp>
      <p:sp>
        <p:nvSpPr>
          <p:cNvPr id="12" name="Rounded Rectangle 11"/>
          <p:cNvSpPr/>
          <p:nvPr/>
        </p:nvSpPr>
        <p:spPr>
          <a:xfrm>
            <a:off x="2627709" y="343822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627709" y="3438227"/>
            <a:ext cx="2022128"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Rectangle 13"/>
          <p:cNvSpPr/>
          <p:nvPr/>
        </p:nvSpPr>
        <p:spPr>
          <a:xfrm>
            <a:off x="4621709" y="3384352"/>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TextBox 14"/>
          <p:cNvSpPr txBox="1"/>
          <p:nvPr/>
        </p:nvSpPr>
        <p:spPr>
          <a:xfrm>
            <a:off x="5580162" y="3416052"/>
            <a:ext cx="719882"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7,2</a:t>
            </a:r>
          </a:p>
        </p:txBody>
      </p:sp>
      <p:sp>
        <p:nvSpPr>
          <p:cNvPr id="16" name="TextBox 15"/>
          <p:cNvSpPr txBox="1"/>
          <p:nvPr/>
        </p:nvSpPr>
        <p:spPr>
          <a:xfrm>
            <a:off x="1259830" y="3694361"/>
            <a:ext cx="122396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B</a:t>
            </a:r>
          </a:p>
        </p:txBody>
      </p:sp>
      <p:sp>
        <p:nvSpPr>
          <p:cNvPr id="17" name="Rounded Rectangle 16"/>
          <p:cNvSpPr/>
          <p:nvPr/>
        </p:nvSpPr>
        <p:spPr>
          <a:xfrm>
            <a:off x="2627709" y="371653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Rounded Rectangle 17"/>
          <p:cNvSpPr/>
          <p:nvPr/>
        </p:nvSpPr>
        <p:spPr>
          <a:xfrm>
            <a:off x="2627709" y="3716536"/>
            <a:ext cx="1965871"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Rectangle 18"/>
          <p:cNvSpPr/>
          <p:nvPr/>
        </p:nvSpPr>
        <p:spPr>
          <a:xfrm>
            <a:off x="4621709" y="3662660"/>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TextBox 19"/>
          <p:cNvSpPr txBox="1"/>
          <p:nvPr/>
        </p:nvSpPr>
        <p:spPr>
          <a:xfrm>
            <a:off x="5580162" y="3694361"/>
            <a:ext cx="719882"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7,0</a:t>
            </a:r>
          </a:p>
        </p:txBody>
      </p:sp>
      <p:sp>
        <p:nvSpPr>
          <p:cNvPr id="21" name="TextBox 20"/>
          <p:cNvSpPr txBox="1"/>
          <p:nvPr/>
        </p:nvSpPr>
        <p:spPr>
          <a:xfrm>
            <a:off x="1259830" y="3972669"/>
            <a:ext cx="1223962"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Docent C</a:t>
            </a:r>
          </a:p>
        </p:txBody>
      </p:sp>
      <p:sp>
        <p:nvSpPr>
          <p:cNvPr id="22" name="Rounded Rectangle 21"/>
          <p:cNvSpPr/>
          <p:nvPr/>
        </p:nvSpPr>
        <p:spPr>
          <a:xfrm>
            <a:off x="2627709" y="3994845"/>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Rounded Rectangle 22"/>
          <p:cNvSpPr/>
          <p:nvPr/>
        </p:nvSpPr>
        <p:spPr>
          <a:xfrm>
            <a:off x="2627709" y="3994845"/>
            <a:ext cx="1572667"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Rectangle 23"/>
          <p:cNvSpPr/>
          <p:nvPr/>
        </p:nvSpPr>
        <p:spPr>
          <a:xfrm>
            <a:off x="4621709" y="3940969"/>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TextBox 24"/>
          <p:cNvSpPr txBox="1"/>
          <p:nvPr/>
        </p:nvSpPr>
        <p:spPr>
          <a:xfrm>
            <a:off x="5580162" y="3972669"/>
            <a:ext cx="719882"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5,6</a:t>
            </a:r>
          </a:p>
        </p:txBody>
      </p:sp>
      <p:sp>
        <p:nvSpPr>
          <p:cNvPr id="26" name="Rounded Rectangle 25"/>
          <p:cNvSpPr/>
          <p:nvPr/>
        </p:nvSpPr>
        <p:spPr>
          <a:xfrm>
            <a:off x="719882" y="4880967"/>
            <a:ext cx="6120110" cy="1755874"/>
          </a:xfrm>
          <a:prstGeom prst="roundRect">
            <a:avLst>
              <a:gd name="adj" fmla="val 1230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Rounded Rectangle 26"/>
          <p:cNvSpPr/>
          <p:nvPr/>
        </p:nvSpPr>
        <p:spPr>
          <a:xfrm>
            <a:off x="1043880" y="5204966"/>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8" name="Picture 27" descr="svg-3-1.png"/>
          <p:cNvPicPr>
            <a:picLocks noChangeAspect="1"/>
          </p:cNvPicPr>
          <p:nvPr/>
        </p:nvPicPr>
        <p:blipFill>
          <a:blip r:embed="rId3"/>
          <a:stretch>
            <a:fillRect/>
          </a:stretch>
        </p:blipFill>
        <p:spPr>
          <a:xfrm>
            <a:off x="1133773" y="5294858"/>
            <a:ext cx="179933" cy="179933"/>
          </a:xfrm>
          <a:prstGeom prst="rect">
            <a:avLst/>
          </a:prstGeom>
        </p:spPr>
      </p:pic>
      <p:sp>
        <p:nvSpPr>
          <p:cNvPr id="29" name="TextBox 28"/>
          <p:cNvSpPr txBox="1"/>
          <p:nvPr/>
        </p:nvSpPr>
        <p:spPr>
          <a:xfrm>
            <a:off x="1547664" y="5283845"/>
            <a:ext cx="243161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Elk cijfer is navolgbaar</a:t>
            </a:r>
          </a:p>
        </p:txBody>
      </p:sp>
      <p:sp>
        <p:nvSpPr>
          <p:cNvPr id="30" name="TextBox 29"/>
          <p:cNvSpPr txBox="1"/>
          <p:nvPr/>
        </p:nvSpPr>
        <p:spPr>
          <a:xfrm>
            <a:off x="1043880" y="5691783"/>
            <a:ext cx="547211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Onderbouwing per rubriccriterium.</a:t>
            </a:r>
          </a:p>
        </p:txBody>
      </p:sp>
      <p:sp>
        <p:nvSpPr>
          <p:cNvPr id="31" name="Rounded Rectangle 30"/>
          <p:cNvSpPr/>
          <p:nvPr/>
        </p:nvSpPr>
        <p:spPr>
          <a:xfrm>
            <a:off x="1043880" y="6062216"/>
            <a:ext cx="1164729" cy="25062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2" name="TextBox 31"/>
          <p:cNvSpPr txBox="1"/>
          <p:nvPr/>
        </p:nvSpPr>
        <p:spPr>
          <a:xfrm>
            <a:off x="1187797" y="6116092"/>
            <a:ext cx="1164729" cy="142875"/>
          </a:xfrm>
          <a:prstGeom prst="rect">
            <a:avLst/>
          </a:prstGeom>
          <a:noFill/>
        </p:spPr>
        <p:txBody>
          <a:bodyPr wrap="square" anchor="t" lIns="0" rIns="0" tIns="0" bIns="0">
            <a:noAutofit/>
          </a:bodyPr>
          <a:lstStyle/>
          <a:p>
            <a:pPr algn="l">
              <a:lnSpc>
                <a:spcPts val="1080"/>
              </a:lnSpc>
            </a:pPr>
            <a:r>
              <a:rPr sz="900" b="1">
                <a:solidFill>
                  <a:srgbClr val="000326"/>
                </a:solidFill>
                <a:latin typeface="Inter"/>
              </a:rPr>
              <a:t>AI Act audit trail</a:t>
            </a:r>
          </a:p>
        </p:txBody>
      </p:sp>
      <p:sp>
        <p:nvSpPr>
          <p:cNvPr id="33" name="Rounded Rectangle 32"/>
          <p:cNvSpPr/>
          <p:nvPr/>
        </p:nvSpPr>
        <p:spPr>
          <a:xfrm>
            <a:off x="719882" y="6852791"/>
            <a:ext cx="6120110" cy="1344364"/>
          </a:xfrm>
          <a:prstGeom prst="roundRect">
            <a:avLst>
              <a:gd name="adj" fmla="val 16067"/>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Rounded Rectangle 33"/>
          <p:cNvSpPr/>
          <p:nvPr/>
        </p:nvSpPr>
        <p:spPr>
          <a:xfrm>
            <a:off x="1053405" y="718631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5" name="Picture 34" descr="svg-3-2.png"/>
          <p:cNvPicPr>
            <a:picLocks noChangeAspect="1"/>
          </p:cNvPicPr>
          <p:nvPr/>
        </p:nvPicPr>
        <p:blipFill>
          <a:blip r:embed="rId4"/>
          <a:stretch>
            <a:fillRect/>
          </a:stretch>
        </p:blipFill>
        <p:spPr>
          <a:xfrm>
            <a:off x="1143298" y="7276207"/>
            <a:ext cx="179933" cy="179933"/>
          </a:xfrm>
          <a:prstGeom prst="rect">
            <a:avLst/>
          </a:prstGeom>
        </p:spPr>
      </p:pic>
      <p:sp>
        <p:nvSpPr>
          <p:cNvPr id="36" name="TextBox 35"/>
          <p:cNvSpPr txBox="1"/>
          <p:nvPr/>
        </p:nvSpPr>
        <p:spPr>
          <a:xfrm>
            <a:off x="1557189" y="7265194"/>
            <a:ext cx="414882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De examencommissie borgt de kwaliteit</a:t>
            </a:r>
          </a:p>
        </p:txBody>
      </p:sp>
      <p:sp>
        <p:nvSpPr>
          <p:cNvPr id="37" name="TextBox 36"/>
          <p:cNvSpPr txBox="1"/>
          <p:nvPr/>
        </p:nvSpPr>
        <p:spPr>
          <a:xfrm>
            <a:off x="1053405" y="7673132"/>
            <a:ext cx="545306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onderbouwing direct in te zien.</a:t>
            </a:r>
          </a:p>
        </p:txBody>
      </p:sp>
      <p:sp>
        <p:nvSpPr>
          <p:cNvPr id="38" name="Rectangle 37"/>
          <p:cNvSpPr/>
          <p:nvPr/>
        </p:nvSpPr>
        <p:spPr>
          <a:xfrm>
            <a:off x="719882" y="8557022"/>
            <a:ext cx="19050" cy="649635"/>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TextBox 38"/>
          <p:cNvSpPr txBox="1"/>
          <p:nvPr/>
        </p:nvSpPr>
        <p:spPr>
          <a:xfrm>
            <a:off x="918865" y="8576072"/>
            <a:ext cx="6501289" cy="604540"/>
          </a:xfrm>
          <a:prstGeom prst="rect">
            <a:avLst/>
          </a:prstGeom>
          <a:noFill/>
        </p:spPr>
        <p:txBody>
          <a:bodyPr wrap="square" anchor="t" lIns="0" rIns="0" tIns="0" bIns="0">
            <a:noAutofit/>
          </a:bodyPr>
          <a:lstStyle/>
          <a:p>
            <a:pPr algn="l">
              <a:lnSpc>
                <a:spcPts val="1704"/>
              </a:lnSpc>
            </a:pPr>
            <a:r>
              <a:rPr sz="1100" b="0">
                <a:solidFill>
                  <a:srgbClr val="000326"/>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pic>
        <p:nvPicPr>
          <p:cNvPr id="40" name="Picture 39" descr="academica.png"/>
          <p:cNvPicPr>
            <a:picLocks noChangeAspect="1"/>
          </p:cNvPicPr>
          <p:nvPr/>
        </p:nvPicPr>
        <p:blipFill>
          <a:blip r:embed="rId5"/>
          <a:stretch>
            <a:fillRect/>
          </a:stretch>
        </p:blipFill>
        <p:spPr>
          <a:xfrm>
            <a:off x="723900" y="10182225"/>
            <a:ext cx="784860" cy="152400"/>
          </a:xfrm>
          <a:prstGeom prst="rect">
            <a:avLst/>
          </a:prstGeom>
        </p:spPr>
      </p:pic>
      <p:sp>
        <p:nvSpPr>
          <p:cNvPr id="41" name="TextBox 40"/>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92522"/>
            <a:ext cx="6120110"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Koersplan</a:t>
            </a:r>
          </a:p>
        </p:txBody>
      </p:sp>
      <p:sp>
        <p:nvSpPr>
          <p:cNvPr id="3" name="TextBox 2"/>
          <p:cNvSpPr txBox="1"/>
          <p:nvPr/>
        </p:nvSpPr>
        <p:spPr>
          <a:xfrm>
            <a:off x="719882" y="1661964"/>
            <a:ext cx="6683312" cy="662880"/>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Deze investering sluit naadloos aan op het kopje Efficiëntie uit het koersplan dat Academica voor de komende jaren heeft opgesteld. Binnen dat kopje versterkt het direct drie punten.</a:t>
            </a:r>
          </a:p>
        </p:txBody>
      </p:sp>
      <p:sp>
        <p:nvSpPr>
          <p:cNvPr id="4" name="Rounded Rectangle 3"/>
          <p:cNvSpPr/>
          <p:nvPr/>
        </p:nvSpPr>
        <p:spPr>
          <a:xfrm>
            <a:off x="719882" y="2711351"/>
            <a:ext cx="6120110" cy="3712815"/>
          </a:xfrm>
          <a:prstGeom prst="roundRect">
            <a:avLst>
              <a:gd name="adj" fmla="val 5817"/>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1043880" y="3035350"/>
            <a:ext cx="5472112"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KOERSPLAN ACADEMICA</a:t>
            </a:r>
          </a:p>
        </p:txBody>
      </p:sp>
      <p:sp>
        <p:nvSpPr>
          <p:cNvPr id="6" name="TextBox 5"/>
          <p:cNvSpPr txBox="1"/>
          <p:nvPr/>
        </p:nvSpPr>
        <p:spPr>
          <a:xfrm>
            <a:off x="1043880" y="3278684"/>
            <a:ext cx="5472112"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Efficiëntie</a:t>
            </a:r>
          </a:p>
        </p:txBody>
      </p:sp>
      <p:sp>
        <p:nvSpPr>
          <p:cNvPr id="7" name="Rounded Rectangle 6"/>
          <p:cNvSpPr/>
          <p:nvPr/>
        </p:nvSpPr>
        <p:spPr>
          <a:xfrm>
            <a:off x="1043880" y="3653135"/>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223814" y="3833068"/>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4-0.png"/>
          <p:cNvPicPr>
            <a:picLocks noChangeAspect="1"/>
          </p:cNvPicPr>
          <p:nvPr/>
        </p:nvPicPr>
        <p:blipFill>
          <a:blip r:embed="rId2"/>
          <a:stretch>
            <a:fillRect/>
          </a:stretch>
        </p:blipFill>
        <p:spPr>
          <a:xfrm>
            <a:off x="1313706" y="3922961"/>
            <a:ext cx="179933" cy="179933"/>
          </a:xfrm>
          <a:prstGeom prst="rect">
            <a:avLst/>
          </a:prstGeom>
        </p:spPr>
      </p:pic>
      <p:sp>
        <p:nvSpPr>
          <p:cNvPr id="10" name="TextBox 9"/>
          <p:cNvSpPr txBox="1"/>
          <p:nvPr/>
        </p:nvSpPr>
        <p:spPr>
          <a:xfrm>
            <a:off x="1727597" y="3912096"/>
            <a:ext cx="1734693"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Een stevig kernteam</a:t>
            </a:r>
          </a:p>
        </p:txBody>
      </p:sp>
      <p:sp>
        <p:nvSpPr>
          <p:cNvPr id="11" name="Rounded Rectangle 10"/>
          <p:cNvSpPr/>
          <p:nvPr/>
        </p:nvSpPr>
        <p:spPr>
          <a:xfrm>
            <a:off x="1043880" y="4516785"/>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Rounded Rectangle 11"/>
          <p:cNvSpPr/>
          <p:nvPr/>
        </p:nvSpPr>
        <p:spPr>
          <a:xfrm>
            <a:off x="1223814" y="4696718"/>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3" name="Picture 12" descr="svg-4-1.png"/>
          <p:cNvPicPr>
            <a:picLocks noChangeAspect="1"/>
          </p:cNvPicPr>
          <p:nvPr/>
        </p:nvPicPr>
        <p:blipFill>
          <a:blip r:embed="rId3"/>
          <a:stretch>
            <a:fillRect/>
          </a:stretch>
        </p:blipFill>
        <p:spPr>
          <a:xfrm>
            <a:off x="1313706" y="4786610"/>
            <a:ext cx="179933" cy="179933"/>
          </a:xfrm>
          <a:prstGeom prst="rect">
            <a:avLst/>
          </a:prstGeom>
        </p:spPr>
      </p:pic>
      <p:sp>
        <p:nvSpPr>
          <p:cNvPr id="14" name="TextBox 13"/>
          <p:cNvSpPr txBox="1"/>
          <p:nvPr/>
        </p:nvSpPr>
        <p:spPr>
          <a:xfrm>
            <a:off x="1727597" y="4775746"/>
            <a:ext cx="1505831"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Betere processen</a:t>
            </a:r>
          </a:p>
        </p:txBody>
      </p:sp>
      <p:sp>
        <p:nvSpPr>
          <p:cNvPr id="15" name="Rounded Rectangle 14"/>
          <p:cNvSpPr/>
          <p:nvPr/>
        </p:nvSpPr>
        <p:spPr>
          <a:xfrm>
            <a:off x="1043880" y="5380434"/>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ounded Rectangle 15"/>
          <p:cNvSpPr/>
          <p:nvPr/>
        </p:nvSpPr>
        <p:spPr>
          <a:xfrm>
            <a:off x="1223814" y="5560368"/>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7" name="Picture 16" descr="svg-4-2.png"/>
          <p:cNvPicPr>
            <a:picLocks noChangeAspect="1"/>
          </p:cNvPicPr>
          <p:nvPr/>
        </p:nvPicPr>
        <p:blipFill>
          <a:blip r:embed="rId4"/>
          <a:stretch>
            <a:fillRect/>
          </a:stretch>
        </p:blipFill>
        <p:spPr>
          <a:xfrm>
            <a:off x="1313706" y="5650260"/>
            <a:ext cx="179933" cy="179933"/>
          </a:xfrm>
          <a:prstGeom prst="rect">
            <a:avLst/>
          </a:prstGeom>
        </p:spPr>
      </p:pic>
      <p:sp>
        <p:nvSpPr>
          <p:cNvPr id="18" name="TextBox 17"/>
          <p:cNvSpPr txBox="1"/>
          <p:nvPr/>
        </p:nvSpPr>
        <p:spPr>
          <a:xfrm>
            <a:off x="1727597" y="5639395"/>
            <a:ext cx="1215962"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Datagedreven</a:t>
            </a:r>
          </a:p>
        </p:txBody>
      </p:sp>
      <p:pic>
        <p:nvPicPr>
          <p:cNvPr id="19" name="Picture 18" descr="academica.png"/>
          <p:cNvPicPr>
            <a:picLocks noChangeAspect="1"/>
          </p:cNvPicPr>
          <p:nvPr/>
        </p:nvPicPr>
        <p:blipFill>
          <a:blip r:embed="rId5"/>
          <a:stretch>
            <a:fillRect/>
          </a:stretch>
        </p:blipFill>
        <p:spPr>
          <a:xfrm>
            <a:off x="723900" y="10182225"/>
            <a:ext cx="784860" cy="152400"/>
          </a:xfrm>
          <a:prstGeom prst="rect">
            <a:avLst/>
          </a:prstGeom>
        </p:spPr>
      </p:pic>
      <p:sp>
        <p:nvSpPr>
          <p:cNvPr id="20" name="TextBox 1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92522"/>
            <a:ext cx="6120110"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Privacy</a:t>
            </a:r>
          </a:p>
        </p:txBody>
      </p:sp>
      <p:sp>
        <p:nvSpPr>
          <p:cNvPr id="3" name="Rounded Rectangle 2"/>
          <p:cNvSpPr/>
          <p:nvPr/>
        </p:nvSpPr>
        <p:spPr>
          <a:xfrm>
            <a:off x="719882" y="1642914"/>
            <a:ext cx="6120110" cy="1166217"/>
          </a:xfrm>
          <a:prstGeom prst="roundRect">
            <a:avLst>
              <a:gd name="adj" fmla="val 18521"/>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43880" y="204608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5-0.png"/>
          <p:cNvPicPr>
            <a:picLocks noChangeAspect="1"/>
          </p:cNvPicPr>
          <p:nvPr/>
        </p:nvPicPr>
        <p:blipFill>
          <a:blip r:embed="rId2"/>
          <a:stretch>
            <a:fillRect/>
          </a:stretch>
        </p:blipFill>
        <p:spPr>
          <a:xfrm>
            <a:off x="1133773" y="2135981"/>
            <a:ext cx="179933" cy="179933"/>
          </a:xfrm>
          <a:prstGeom prst="rect">
            <a:avLst/>
          </a:prstGeom>
        </p:spPr>
      </p:pic>
      <p:sp>
        <p:nvSpPr>
          <p:cNvPr id="6" name="TextBox 5"/>
          <p:cNvSpPr txBox="1"/>
          <p:nvPr/>
        </p:nvSpPr>
        <p:spPr>
          <a:xfrm>
            <a:off x="1547664" y="1995488"/>
            <a:ext cx="5424821" cy="45913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Academica blijft eigenaar van al het studentenwerk en alle data.</a:t>
            </a:r>
          </a:p>
        </p:txBody>
      </p:sp>
      <p:sp>
        <p:nvSpPr>
          <p:cNvPr id="7" name="Rounded Rectangle 6"/>
          <p:cNvSpPr/>
          <p:nvPr/>
        </p:nvSpPr>
        <p:spPr>
          <a:xfrm>
            <a:off x="719882" y="3025080"/>
            <a:ext cx="6120110" cy="2138065"/>
          </a:xfrm>
          <a:prstGeom prst="roundRect">
            <a:avLst>
              <a:gd name="adj" fmla="val 10102"/>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053405" y="3358604"/>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5-1.png"/>
          <p:cNvPicPr>
            <a:picLocks noChangeAspect="1"/>
          </p:cNvPicPr>
          <p:nvPr/>
        </p:nvPicPr>
        <p:blipFill>
          <a:blip r:embed="rId3"/>
          <a:stretch>
            <a:fillRect/>
          </a:stretch>
        </p:blipFill>
        <p:spPr>
          <a:xfrm>
            <a:off x="1143298" y="3448496"/>
            <a:ext cx="179933" cy="179933"/>
          </a:xfrm>
          <a:prstGeom prst="rect">
            <a:avLst/>
          </a:prstGeom>
        </p:spPr>
      </p:pic>
      <p:sp>
        <p:nvSpPr>
          <p:cNvPr id="10" name="TextBox 9"/>
          <p:cNvSpPr txBox="1"/>
          <p:nvPr/>
        </p:nvSpPr>
        <p:spPr>
          <a:xfrm>
            <a:off x="1557189" y="3437483"/>
            <a:ext cx="22044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Gebruik van de data</a:t>
            </a:r>
          </a:p>
        </p:txBody>
      </p:sp>
      <p:pic>
        <p:nvPicPr>
          <p:cNvPr id="11" name="Picture 10" descr="svg-5-2.png"/>
          <p:cNvPicPr>
            <a:picLocks noChangeAspect="1"/>
          </p:cNvPicPr>
          <p:nvPr/>
        </p:nvPicPr>
        <p:blipFill>
          <a:blip r:embed="rId4"/>
          <a:stretch>
            <a:fillRect/>
          </a:stretch>
        </p:blipFill>
        <p:spPr>
          <a:xfrm>
            <a:off x="1053405" y="3966567"/>
            <a:ext cx="179933" cy="179933"/>
          </a:xfrm>
          <a:prstGeom prst="rect">
            <a:avLst/>
          </a:prstGeom>
        </p:spPr>
      </p:pic>
      <p:sp>
        <p:nvSpPr>
          <p:cNvPr id="12" name="TextBox 11"/>
          <p:cNvSpPr txBox="1"/>
          <p:nvPr/>
        </p:nvSpPr>
        <p:spPr>
          <a:xfrm>
            <a:off x="1359247" y="3961805"/>
            <a:ext cx="4713732"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Studentenwerk wordt nooit gebruikt om AI-modellen te trainen.</a:t>
            </a:r>
          </a:p>
        </p:txBody>
      </p:sp>
      <p:pic>
        <p:nvPicPr>
          <p:cNvPr id="13" name="Picture 12" descr="svg-5-3.png"/>
          <p:cNvPicPr>
            <a:picLocks noChangeAspect="1"/>
          </p:cNvPicPr>
          <p:nvPr/>
        </p:nvPicPr>
        <p:blipFill>
          <a:blip r:embed="rId5"/>
          <a:stretch>
            <a:fillRect/>
          </a:stretch>
        </p:blipFill>
        <p:spPr>
          <a:xfrm>
            <a:off x="1053405" y="4348907"/>
            <a:ext cx="179933" cy="179933"/>
          </a:xfrm>
          <a:prstGeom prst="rect">
            <a:avLst/>
          </a:prstGeom>
        </p:spPr>
      </p:pic>
      <p:sp>
        <p:nvSpPr>
          <p:cNvPr id="14" name="TextBox 13"/>
          <p:cNvSpPr txBox="1"/>
          <p:nvPr/>
        </p:nvSpPr>
        <p:spPr>
          <a:xfrm>
            <a:off x="1359247" y="4344144"/>
            <a:ext cx="5321475" cy="374005"/>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Verwerking alleen voor het afgesproken onderwijsdoel, in opdracht van Academica.</a:t>
            </a:r>
          </a:p>
        </p:txBody>
      </p:sp>
      <p:sp>
        <p:nvSpPr>
          <p:cNvPr id="15" name="Rounded Rectangle 14"/>
          <p:cNvSpPr/>
          <p:nvPr/>
        </p:nvSpPr>
        <p:spPr>
          <a:xfrm>
            <a:off x="719882" y="5379095"/>
            <a:ext cx="6120110" cy="1935510"/>
          </a:xfrm>
          <a:prstGeom prst="roundRect">
            <a:avLst>
              <a:gd name="adj" fmla="val 11159"/>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ounded Rectangle 15"/>
          <p:cNvSpPr/>
          <p:nvPr/>
        </p:nvSpPr>
        <p:spPr>
          <a:xfrm>
            <a:off x="1053405" y="5712619"/>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7" name="Picture 16" descr="svg-5-4.png"/>
          <p:cNvPicPr>
            <a:picLocks noChangeAspect="1"/>
          </p:cNvPicPr>
          <p:nvPr/>
        </p:nvPicPr>
        <p:blipFill>
          <a:blip r:embed="rId6"/>
          <a:stretch>
            <a:fillRect/>
          </a:stretch>
        </p:blipFill>
        <p:spPr>
          <a:xfrm>
            <a:off x="1143298" y="5802511"/>
            <a:ext cx="179933" cy="179933"/>
          </a:xfrm>
          <a:prstGeom prst="rect">
            <a:avLst/>
          </a:prstGeom>
        </p:spPr>
      </p:pic>
      <p:sp>
        <p:nvSpPr>
          <p:cNvPr id="18" name="TextBox 17"/>
          <p:cNvSpPr txBox="1"/>
          <p:nvPr/>
        </p:nvSpPr>
        <p:spPr>
          <a:xfrm>
            <a:off x="1557189" y="5791498"/>
            <a:ext cx="2089904"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Waar de data staat</a:t>
            </a:r>
          </a:p>
        </p:txBody>
      </p:sp>
      <p:pic>
        <p:nvPicPr>
          <p:cNvPr id="19" name="Picture 18" descr="svg-5-3.png"/>
          <p:cNvPicPr>
            <a:picLocks noChangeAspect="1"/>
          </p:cNvPicPr>
          <p:nvPr/>
        </p:nvPicPr>
        <p:blipFill>
          <a:blip r:embed="rId5"/>
          <a:stretch>
            <a:fillRect/>
          </a:stretch>
        </p:blipFill>
        <p:spPr>
          <a:xfrm>
            <a:off x="1053405" y="6320582"/>
            <a:ext cx="179933" cy="179933"/>
          </a:xfrm>
          <a:prstGeom prst="rect">
            <a:avLst/>
          </a:prstGeom>
        </p:spPr>
      </p:pic>
      <p:sp>
        <p:nvSpPr>
          <p:cNvPr id="20" name="TextBox 19"/>
          <p:cNvSpPr txBox="1"/>
          <p:nvPr/>
        </p:nvSpPr>
        <p:spPr>
          <a:xfrm>
            <a:off x="1359247" y="6315819"/>
            <a:ext cx="4346519"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Data alleen in de EU, ook bij Microsoft, Google en Railway.</a:t>
            </a:r>
          </a:p>
        </p:txBody>
      </p:sp>
      <p:pic>
        <p:nvPicPr>
          <p:cNvPr id="21" name="Picture 20" descr="svg-5-3.png"/>
          <p:cNvPicPr>
            <a:picLocks noChangeAspect="1"/>
          </p:cNvPicPr>
          <p:nvPr/>
        </p:nvPicPr>
        <p:blipFill>
          <a:blip r:embed="rId5"/>
          <a:stretch>
            <a:fillRect/>
          </a:stretch>
        </p:blipFill>
        <p:spPr>
          <a:xfrm>
            <a:off x="1053405" y="6702921"/>
            <a:ext cx="179933" cy="179933"/>
          </a:xfrm>
          <a:prstGeom prst="rect">
            <a:avLst/>
          </a:prstGeom>
        </p:spPr>
      </p:pic>
      <p:sp>
        <p:nvSpPr>
          <p:cNvPr id="22" name="TextBox 21"/>
          <p:cNvSpPr txBox="1"/>
          <p:nvPr/>
        </p:nvSpPr>
        <p:spPr>
          <a:xfrm>
            <a:off x="1359247" y="6698159"/>
            <a:ext cx="411682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Eigen model, geen koppeling met een extern AI-model.</a:t>
            </a:r>
          </a:p>
        </p:txBody>
      </p:sp>
      <p:sp>
        <p:nvSpPr>
          <p:cNvPr id="23" name="Rounded Rectangle 22"/>
          <p:cNvSpPr/>
          <p:nvPr/>
        </p:nvSpPr>
        <p:spPr>
          <a:xfrm>
            <a:off x="719882" y="7530554"/>
            <a:ext cx="6120110" cy="2317849"/>
          </a:xfrm>
          <a:prstGeom prst="roundRect">
            <a:avLst>
              <a:gd name="adj" fmla="val 9318"/>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Rounded Rectangle 23"/>
          <p:cNvSpPr/>
          <p:nvPr/>
        </p:nvSpPr>
        <p:spPr>
          <a:xfrm>
            <a:off x="1053405" y="7864078"/>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5" name="Picture 24" descr="svg-5-7.png"/>
          <p:cNvPicPr>
            <a:picLocks noChangeAspect="1"/>
          </p:cNvPicPr>
          <p:nvPr/>
        </p:nvPicPr>
        <p:blipFill>
          <a:blip r:embed="rId7"/>
          <a:stretch>
            <a:fillRect/>
          </a:stretch>
        </p:blipFill>
        <p:spPr>
          <a:xfrm>
            <a:off x="1143298" y="7953970"/>
            <a:ext cx="179933" cy="179933"/>
          </a:xfrm>
          <a:prstGeom prst="rect">
            <a:avLst/>
          </a:prstGeom>
        </p:spPr>
      </p:pic>
      <p:sp>
        <p:nvSpPr>
          <p:cNvPr id="26" name="TextBox 25"/>
          <p:cNvSpPr txBox="1"/>
          <p:nvPr/>
        </p:nvSpPr>
        <p:spPr>
          <a:xfrm>
            <a:off x="1557189" y="7942957"/>
            <a:ext cx="136498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Wet en regie</a:t>
            </a:r>
          </a:p>
        </p:txBody>
      </p:sp>
      <p:pic>
        <p:nvPicPr>
          <p:cNvPr id="27" name="Picture 26" descr="svg-5-2.png"/>
          <p:cNvPicPr>
            <a:picLocks noChangeAspect="1"/>
          </p:cNvPicPr>
          <p:nvPr/>
        </p:nvPicPr>
        <p:blipFill>
          <a:blip r:embed="rId4"/>
          <a:stretch>
            <a:fillRect/>
          </a:stretch>
        </p:blipFill>
        <p:spPr>
          <a:xfrm>
            <a:off x="1053405" y="8472041"/>
            <a:ext cx="179933" cy="179933"/>
          </a:xfrm>
          <a:prstGeom prst="rect">
            <a:avLst/>
          </a:prstGeom>
        </p:spPr>
      </p:pic>
      <p:sp>
        <p:nvSpPr>
          <p:cNvPr id="28" name="TextBox 27"/>
          <p:cNvSpPr txBox="1"/>
          <p:nvPr/>
        </p:nvSpPr>
        <p:spPr>
          <a:xfrm>
            <a:off x="1359247" y="8467279"/>
            <a:ext cx="499443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AVG: verwerkersovereenkomst, een datalek binnen 48 uur gemeld.</a:t>
            </a:r>
          </a:p>
        </p:txBody>
      </p:sp>
      <p:pic>
        <p:nvPicPr>
          <p:cNvPr id="29" name="Picture 28" descr="svg-5-3.png"/>
          <p:cNvPicPr>
            <a:picLocks noChangeAspect="1"/>
          </p:cNvPicPr>
          <p:nvPr/>
        </p:nvPicPr>
        <p:blipFill>
          <a:blip r:embed="rId5"/>
          <a:stretch>
            <a:fillRect/>
          </a:stretch>
        </p:blipFill>
        <p:spPr>
          <a:xfrm>
            <a:off x="1053405" y="8854380"/>
            <a:ext cx="179933" cy="179933"/>
          </a:xfrm>
          <a:prstGeom prst="rect">
            <a:avLst/>
          </a:prstGeom>
        </p:spPr>
      </p:pic>
      <p:sp>
        <p:nvSpPr>
          <p:cNvPr id="30" name="TextBox 29"/>
          <p:cNvSpPr txBox="1"/>
          <p:nvPr/>
        </p:nvSpPr>
        <p:spPr>
          <a:xfrm>
            <a:off x="1359247" y="8849618"/>
            <a:ext cx="3896963"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AI Act: audit trail voor elke summatieve beoordeling.</a:t>
            </a:r>
          </a:p>
        </p:txBody>
      </p:sp>
      <p:pic>
        <p:nvPicPr>
          <p:cNvPr id="31" name="Picture 30" descr="svg-5-3.png"/>
          <p:cNvPicPr>
            <a:picLocks noChangeAspect="1"/>
          </p:cNvPicPr>
          <p:nvPr/>
        </p:nvPicPr>
        <p:blipFill>
          <a:blip r:embed="rId5"/>
          <a:stretch>
            <a:fillRect/>
          </a:stretch>
        </p:blipFill>
        <p:spPr>
          <a:xfrm>
            <a:off x="1053405" y="9236720"/>
            <a:ext cx="179933" cy="179933"/>
          </a:xfrm>
          <a:prstGeom prst="rect">
            <a:avLst/>
          </a:prstGeom>
        </p:spPr>
      </p:pic>
      <p:sp>
        <p:nvSpPr>
          <p:cNvPr id="32" name="TextBox 31"/>
          <p:cNvSpPr txBox="1"/>
          <p:nvPr/>
        </p:nvSpPr>
        <p:spPr>
          <a:xfrm>
            <a:off x="1359247" y="9231957"/>
            <a:ext cx="2617970"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De docent beslist, de AI assisteert.</a:t>
            </a:r>
          </a:p>
        </p:txBody>
      </p:sp>
      <p:pic>
        <p:nvPicPr>
          <p:cNvPr id="33" name="Picture 32" descr="academica.png"/>
          <p:cNvPicPr>
            <a:picLocks noChangeAspect="1"/>
          </p:cNvPicPr>
          <p:nvPr/>
        </p:nvPicPr>
        <p:blipFill>
          <a:blip r:embed="rId8"/>
          <a:stretch>
            <a:fillRect/>
          </a:stretch>
        </p:blipFill>
        <p:spPr>
          <a:xfrm>
            <a:off x="723900" y="10182225"/>
            <a:ext cx="784860" cy="152400"/>
          </a:xfrm>
          <a:prstGeom prst="rect">
            <a:avLst/>
          </a:prstGeom>
        </p:spPr>
      </p:pic>
      <p:sp>
        <p:nvSpPr>
          <p:cNvPr id="34" name="TextBox 33"/>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